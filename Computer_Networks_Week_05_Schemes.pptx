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notesMasterIdLst>
    <p:notesMasterId r:id="rId7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d276f3c-88e7-c314-c1c0-b83aa82f8a0c}">
          <p14:sldIdLst>
            <p14:sldId id="256"/>
            <p14:sldId id="257"/>
            <p14:sldId id="258"/>
          </p14:sldIdLst>
        </p14:section>
        <p14:section name="A · Lecture 5" id="{f17dd4f8-bcc9-e729-e17c-4ad3ea244ed1}">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Lst>
        </p14:section>
        <p14:section name="B · Seminar 5" id="{9ef8a7f1-790e-a267-9623-5c253e336862}">
          <p14:sldIdLst>
            <p14:sldId id="302"/>
            <p14:sldId id="303"/>
            <p14:sldId id="304"/>
            <p14:sldId id="305"/>
            <p14:sldId id="306"/>
            <p14:sldId id="307"/>
            <p14:sldId id="308"/>
            <p14:sldId id="309"/>
            <p14:sldId id="310"/>
            <p14:sldId id="311"/>
            <p14:sldId id="312"/>
            <p14:sldId id="313"/>
            <p14:sldId id="314"/>
          </p14:sldIdLst>
        </p14:section>
        <p14:section name="C · Laboratory 5 · Linux" id="{2d2dfc9a-ccfa-09d2-78e0-3cfa19fb8d11}">
          <p14:sldIdLst>
            <p14:sldId id="315"/>
            <p14:sldId id="316"/>
            <p14:sldId id="317"/>
            <p14:sldId id="318"/>
            <p14:sldId id="319"/>
            <p14:sldId id="320"/>
            <p14:sldId id="321"/>
            <p14:sldId id="322"/>
            <p14:sldId id="323"/>
            <p14:sldId id="324"/>
            <p14:sldId id="325"/>
          </p14:sldIdLst>
        </p14:section>
        <p14:section name="D · Laboratory 5 · Windows" id="{d9535526-1636-abcf-7e14-37809703f7e3}">
          <p14:sldIdLst>
            <p14:sldId id="326"/>
            <p14:sldId id="327"/>
            <p14:sldId id="328"/>
            <p14:sldId id="329"/>
            <p14:sldId id="330"/>
            <p14:sldId id="331"/>
            <p14:sldId id="33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slide in this deck is a scheme. Each scheme has numbered explanations and one key idea at the bottom. The deck follows the four parts of the Week 5 material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parts of the week, in the order they are taught. The lecture gives the concepts, the seminar the readings and calculations, the two laboratories the tools and the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3, 4 and 5 together cover every application-layer topic of the syllabus. This week fills the last four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Lecture 5. The scheme at the top shows where we are in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Alice’s user agent pushes the message to her provider’s server; that server pushes it to the server named in the recipient domain’s MX (mail exchanger) record; Bob’s user agent later pulls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text protocol over TCP (Transmission Control Protocol): commands and three-digit replies, as in FTP (File Transfer Protocol). Several messages may follow on one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commands carry a message; extensions announced after EHLO (extended hello) add size limits, encryption and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ends at a line holding a single dot. A message line that starts with a dot gets an extra dot on the wire, which the receiver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uses only the envelope (MAIL FROM, RCPT (recipient) TO). The From: and To: lines are part of the message, shown to the reader — and checked by nobody in plain SMTP (Simple Mail Transfer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submit on 587 or 465 after authenticating; servers relay on 25. A sending server finds the receiving one in DNS (Domain Name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text protocols with three-digit codes over persistent TCP (Transmission Control Protocol) connections; they differ in direction and in how they carry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Lines of text ending in CR (carriage return) LF (line feed): header fields, an empty line, the body. Each relaying server adds a Received field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MIME (Multipurpose Internet Mail Extensions) (RFCs 2045–2049) adds a few header fields that let a message carry any media, in several parts, with non-ASCII (American Standard Code for Information Interchange)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boundary string separates the parts; each part has its own small header. The last boundary ends with two dashes.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24 bits are cut into four 6-bit groups; each group picks one of 64 safe characters (A–Z, a–z, 0–9, +, /). Lines of at most 76 characters.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POP3 (Post Office Protocol version 3) (RFC (Request for Comments) 1939, port 110, 995 over TLS (Transport Layer Security)) downloads mail from a mailbox. Messages marked for deletion are removed only after QUIT.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IMAP (Internet Message Access Protocol) (RFC (Request for Comments) 3501, IMAP4rev2 RFC 9051; port 143, 993 over TLS (Transport Layer Security)) keeps folders and flags on the server, so every device sees the same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tags each command; the server sends untagged * lines with data and ends each command with a line carrying its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by where the mail should live and how many devices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webmail the user agent is a web page: the browser speaks HTTPS (HyperText Transfer Protocol Secure); the webmail server speaks SMTP (Simple Mail Transfer Protocol) and reads the mailbox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TLS (Transport Layer Security) (STARTTLS (start TLS on this connection), ports 465/587/993/995) protects each hop; every server along the way still reads the message. Only S/MIME (Multipurpose Internet Mail Extensions) or OpenPGP hide it from the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SMTP (Simple Mail Transfer Protocol) lets anyone write any MAIL FROM and From:. The receiving server checks three records published in the sender domain’s DNS (Domain Name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Usenet (1979–80) is a worldwide discussion system older than the Web: articles are posted to newsgroups organised in hierarchies.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central server. Each server offers each new article to its peers; a peer accepts it only if it has not seen the Message-ID. Path records the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NNTP (Network News Transfer Protocol) (RFC (Request for Comments) 3977; port 119, 563 over TLS (Transport Layer Security)) serves both readers and server-to-server feeds, with three-digit replies like SMTP (Simple Mail Transfer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Name System (Mockapetris, 1983; RFCs 1034–1035) is a distributed database, queried normally over UDP (User Datagram Protocol) port 53 by hosts at the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name server would fail all four tests below. DNS (Domain Name System) is instead a hierarchy of zones, each run by its owner, with caching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root knows the TLD (top-level domain) servers; a TLD knows each domain’s servers; a domain’s authoritative servers hold its records and may delegate subdomains.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root server identities (a … m.root-servers.net), run by 12 organisations, answer from well over a thousand sites by anycast.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host asks once and waits (recursive). The resolver, with an empty cache, walks the hierarchy (iterative): root → .ro → unibuc.ro.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record carries a TTL (time to live) chosen by its owner. While it lasts, resolvers answer from their cache, counting it down. Then they ask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zone is a set of records (name, TTL (time to live), class, type, value). The class is almost always IN (Internet class),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a domain you register it through a registrar; the TLD (top-level domain)’s registry then publishes your NS (name server) records — and glue addresses for servers inside your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Queries and replies share one format; all numbers in network byte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name is a sequence of length-prefixed labels ending with a zero byte. A name already in the message is replaced by a 2-byte pointer: first two bits 11, then a 14-bit offset.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DNS (Domain Name System) exchange is normally one UDP (User Datagram Protocol) datagram each way. Large answers use EDNS (Extension Mechanisms for DNS)(0) or fall back to TCP (Transmission Control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DNS (Domain Name System) is unauthenticated and unencrypted. Three additions fix different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2³² ≈ 4.3 billion addresses; the regional registries ran out of new blocks between 2011 and 2019. RFC (Request for Comments) 1918 sets aside ranges that anyone may use inside a network and nobody routes on the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hosts with the same source port reach the same server through one public address. The router tells their replies apart by the public port it gave each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translation table is the router’s memory of who asked. Checksums are updated with every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64 000 ports per public address per protocol. ISPs short of addresses put customers behind a second NAT (network address translation) of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packet for a port with no mapping has nowhere to go. A server behind NAT (network address translation) needs a static mapping — or one requested by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 (network address translation) rewrites network and transport headers. Anything that relies on a stable address, or writes addresses inside its messages, suffers.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peers behind NAT (network address translation) learn their public mappings from a STUN (Session Traversal Utilities for NAT) server and send to each other at once; if that fails, a TURN (Traversal Using Relays around NAT) server relays.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2¹²⁸ addresses every device can have a globally unique address again; protection comes from a firewall, not from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ideas, one per topic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Seminar 5. The scheme at the top shows where we are in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MAIL FROM:&lt;list-bounces@uni.ro&gt;; RCPT (recipient) TO bob (250), carol (550), dan (250); the header says From: ionescu@uni.ro, To: cn-2026@uni.ro.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4.5 MB photograph (base64, 76 characters + CR (carriage return) LF (line feed) per line) and 1 KB of text. Three Received fields, read from the bottom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users, four answers — decided by where the mail must live and how much may cross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a server-side SEARCH, a size-aware FETCH and a deletion in two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A–B, A–C, B–C, B–D, C–D, D–E; one minute per offer; posted on A at t = 0. Each server offers to neighbours not in Path and accepts only unseen Message-IDs.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 → resolver 2 ms. Resolver → root 20, .ro 30, unibuc.ro 15, .com 25, cdn-provider.com 40 ms. www.unibuc.ro is a CNAME (canonical name) (TTL (time to live) 3600) for unibuc.cdn-provider.com, whose A has TTL 60. Bars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66 bytes captured on UDP (User Datagram Protocol) port 53. Header, question, then two answers that use compression pointers.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retele-lab.ro: two name servers (one in-zone), a web server for the apex and www, a mail server with a backup, and only the own server may send 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Router 86.120.4.7, LAN (local area network) 192.168.1.0/24, port-preserving: keep the source port if free, else the next free from 40000.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2 048 public addresses, 100 000 customers, 64 000 usable ports per address. Then: how often must an idle connection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 and Bob know only their private addresses. Packets to private addresses are not routed; packets to a public address with no mapping are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short tasks to finish before Seminar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C: Laboratory 5 · Linux. The scheme at the top shows where we are in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aiosmtpd accepts mail into a Maildir; pop3_server.py serves the same Maildir; talk.py is a terminal for typing text protocols.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dialogue yourself: greeting, envelope with two recipients, a header, a body line that starts with a dot, the final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send_mail.py builds the message with Python’s email package; the stored file shows the MIME (Multipurpose Internet Mail Extensions) structure and the base64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delete with POP3 (Post Office Protocol version 3) on your own server; then ask a real IMAP (Internet Message Access Protocol) server for its capabilities — no account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 shows the four sections of a reply; +trace repeats the resolver’s walk from the root; TTLs count down between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query in network byte order, send one UDP (User Datagram Protocol) datagram, wait up to 2 s (three tries), decode every record, following compression pointers.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length byte below 64 starts a label; a byte with the two top bits set starts a 2-byte pointer. The function follows pointers but counts its jumps.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nat_lab.sh creates three network namespaces joined by virtual Ethernet cables; the router masquerades the LAN (local area network) with one nftables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masquerading the server’s replies have no way back. With a DNAT rule, a server inside the LAN (local area network) becomes reachable on the router’s public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STUN (Session Traversal Utilities for NAT (network address translation)) server reports the address and port from which your UDP (User Datagram Protocol) packet arrived. Two requests from the same socket show whether the mapping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 Laboratory 5 · Windows. The scheme at the top shows where we are in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aiosmtpd, pop3_server.py and talk.py are the same Python programs; PowerShell replaces the shell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Resolve-DnsName gives structured answers; nslookup -debug shows header flags and TTLs; Windows keeps its own DNS (Domain Name System)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dns_query_win.c is the Linux program with the Winsock spelling — and one detail that differs: the receive timeout is a DWORD in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four addresses: your PC’s, the gateway, the router’s WAN (wide area network) address, and the address the Internet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WSL (Windows Subsystem for Linux) 2 and Hyper-V’s Default Switch put the Linux virtual machine on a private network behind a NAT (network address translation) inside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6 moves down to the transport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45920"/>
            <a:ext cx="1069848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474720"/>
            <a:ext cx="10698480" cy="82296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Computer Networks · Week 5</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05840"/>
            <a:ext cx="10698480" cy="457200"/>
          </a:xfrm>
          <a:prstGeom prst="rect">
            <a:avLst/>
          </a:prstGeom>
          <a:noFill/>
          <a:ln/>
        </p:spPr>
        <p:txBody>
          <a:bodyPr wrap="square" lIns="0" tIns="0" rIns="0" bIns="0" rtlCol="0" anchor="ctr"/>
          <a:lstStyle/>
          <a:p>
            <a:pPr indent="0" marL="0">
              <a:buNone/>
            </a:pPr>
            <a:r>
              <a:rPr lang="en-US" sz="1400" b="1" spc="400" kern="0" dirty="0">
                <a:solidFill>
                  <a:srgbClr val="DDF0F2"/>
                </a:solidFill>
              </a:rPr>
              <a:t>COMPUTER NETWORKS · SEMESTER 1 · WEEK 5</a:t>
            </a:r>
            <a:endParaRPr lang="en-US" sz="1400" dirty="0"/>
          </a:p>
        </p:txBody>
      </p:sp>
      <p:sp>
        <p:nvSpPr>
          <p:cNvPr id="3" name="Text 0"/>
          <p:cNvSpPr/>
          <p:nvPr>
            <p:ph idx="100" type="title" hasCustomPrompt="1"/>
          </p:nvPr>
        </p:nvSpPr>
        <p:spPr>
          <a:xfrm>
            <a:off x="731520" y="1645920"/>
            <a:ext cx="10698480" cy="173736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The application layer III in schemes</a:t>
            </a:r>
            <a:endParaRPr lang="en-US" sz="4000" dirty="0"/>
          </a:p>
        </p:txBody>
      </p:sp>
      <p:sp>
        <p:nvSpPr>
          <p:cNvPr id="4" name="Text 0"/>
          <p:cNvSpPr/>
          <p:nvPr>
            <p:ph idx="101" type="body" hasCustomPrompt="1"/>
          </p:nvPr>
        </p:nvSpPr>
        <p:spPr>
          <a:xfrm>
            <a:off x="731520" y="3474720"/>
            <a:ext cx="10698480" cy="822960"/>
          </a:xfrm>
          <a:prstGeom prst="rect">
            <a:avLst/>
          </a:prstGeom>
          <a:noFill/>
          <a:ln/>
        </p:spPr>
        <p:txBody>
          <a:bodyPr wrap="square" rtlCol="0"/>
          <a:lstStyle/>
          <a:p>
            <a:pPr algn="l" indent="0" marL="0">
              <a:buNone/>
            </a:pPr>
            <a:r>
              <a:rPr lang="en-US" sz="2000" dirty="0">
                <a:solidFill>
                  <a:schemeClr val="accent5"/>
                </a:solidFill>
              </a:rPr>
              <a:t>Electronic mail, Usenet, DNS and NAT — lecture, seminar and laboratories</a:t>
            </a:r>
            <a:endParaRPr lang="en-US" sz="2000" dirty="0"/>
          </a:p>
        </p:txBody>
      </p:sp>
      <p:sp>
        <p:nvSpPr>
          <p:cNvPr id="5" name="Text 3"/>
          <p:cNvSpPr txBox="1"/>
          <p:nvPr/>
        </p:nvSpPr>
        <p:spPr>
          <a:xfrm>
            <a:off x="731520" y="5029200"/>
            <a:ext cx="10698480" cy="822960"/>
          </a:xfrm>
          <a:prstGeom prst="rect">
            <a:avLst/>
          </a:prstGeom>
          <a:noFill/>
          <a:ln/>
        </p:spPr>
        <p:txBody>
          <a:bodyPr wrap="square" lIns="0" tIns="0" rIns="0" bIns="0" rtlCol="0" anchor="ctr"/>
          <a:lstStyle/>
          <a:p>
            <a:pPr indent="0" marL="0">
              <a:buNone/>
            </a:pPr>
            <a:r>
              <a:rPr lang="en-US" sz="1600" b="1" dirty="0">
                <a:solidFill>
                  <a:srgbClr val="FFFFFF"/>
                </a:solidFill>
              </a:rPr>
              <a:t>Assoc. Prof. Nicolaie Popescu-Bodorin, PhD · 2026</a:t>
            </a:r>
            <a:endParaRPr lang="en-US" sz="1600" dirty="0"/>
          </a:p>
          <a:p>
            <a:pPr indent="0" marL="0">
              <a:buNone/>
            </a:pPr>
            <a:r>
              <a:rPr lang="en-US" sz="1600" dirty="0">
                <a:solidFill>
                  <a:srgbClr val="FFFFFF"/>
                </a:solidFill>
              </a:rPr>
              <a:t>+40722882471 · bodorin(on)live.com · https://lmrec.org/bodorin/</a:t>
            </a:r>
            <a:endParaRPr lang="en-US" sz="1600" dirty="0"/>
          </a:p>
        </p:txBody>
      </p:sp>
      <p:sp>
        <p:nvSpPr>
          <p:cNvPr id="7" name="Text 4"/>
          <p:cNvSpPr txBox="1"/>
          <p:nvPr/>
        </p:nvSpPr>
        <p:spPr>
          <a:xfrm>
            <a:off x="731520" y="6172200"/>
            <a:ext cx="10698480" cy="457200"/>
          </a:xfrm>
          <a:prstGeom prst="rect">
            <a:avLst/>
          </a:prstGeom>
          <a:noFill/>
          <a:ln/>
        </p:spPr>
        <p:txBody>
          <a:bodyPr wrap="square" lIns="0" tIns="0" rIns="0" bIns="0" rtlCol="0" anchor="t"/>
          <a:lstStyle/>
          <a:p>
            <a:pPr indent="0" marL="0">
              <a:buNone/>
            </a:pPr>
            <a:r>
              <a:rPr lang="en-US" sz="1100" dirty="0">
                <a:solidFill>
                  <a:srgbClr val="C9D6E3"/>
                </a:solidFill>
              </a:rPr>
              <a:t>DNS (Domain Name System) · NAT (network address translation)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this week is organised</a:t>
            </a:r>
            <a:endParaRPr lang="en-US" sz="3000" dirty="0"/>
          </a:p>
        </p:txBody>
      </p:sp>
      <p:sp>
        <p:nvSpPr>
          <p:cNvPr id="4" name="box"/>
          <p:cNvSpPr/>
          <p:nvPr/>
        </p:nvSpPr>
        <p:spPr>
          <a:xfrm>
            <a:off x="731520" y="1463040"/>
            <a:ext cx="2514600" cy="1371600"/>
          </a:xfrm>
          <a:prstGeom prst="roundRect">
            <a:avLst>
              <a:gd name="adj" fmla="val 5333"/>
            </a:avLst>
          </a:prstGeom>
          <a:solidFill>
            <a:srgbClr val="2B4A70"/>
          </a:solidFill>
          <a:ln w="12700">
            <a:solidFill>
              <a:srgbClr val="2B4A70"/>
            </a:solidFill>
            <a:prstDash val="solid"/>
          </a:ln>
        </p:spPr>
      </p:sp>
      <p:sp>
        <p:nvSpPr>
          <p:cNvPr id="5" name="Text 2"/>
          <p:cNvSpPr txBox="1"/>
          <p:nvPr/>
        </p:nvSpPr>
        <p:spPr>
          <a:xfrm>
            <a:off x="731520" y="146304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A · Lecture 5</a:t>
            </a:r>
            <a:endParaRPr lang="en-US" sz="1500" dirty="0"/>
          </a:p>
          <a:p>
            <a:pPr algn="ctr" indent="0" marL="0">
              <a:spcAft>
                <a:spcPts val="400"/>
              </a:spcAft>
              <a:buNone/>
            </a:pPr>
            <a:r>
              <a:rPr lang="en-US" sz="1500" dirty="0">
                <a:solidFill>
                  <a:srgbClr val="FFFFFF"/>
                </a:solidFill>
              </a:rPr>
              <a:t>Mail, news, names, NAT</a:t>
            </a:r>
            <a:endParaRPr lang="en-US" sz="1500" dirty="0"/>
          </a:p>
        </p:txBody>
      </p:sp>
      <p:sp>
        <p:nvSpPr>
          <p:cNvPr id="6" name="Shape 3"/>
          <p:cNvSpPr/>
          <p:nvPr/>
        </p:nvSpPr>
        <p:spPr>
          <a:xfrm>
            <a:off x="3273552" y="2148840"/>
            <a:ext cx="219456" cy="914"/>
          </a:xfrm>
          <a:prstGeom prst="line">
            <a:avLst/>
          </a:prstGeom>
          <a:noFill/>
          <a:ln w="25400">
            <a:solidFill>
              <a:srgbClr val="9FB3C8"/>
            </a:solidFill>
            <a:prstDash val="solid"/>
            <a:tailEnd type="triangle"/>
          </a:ln>
        </p:spPr>
      </p:sp>
      <p:sp>
        <p:nvSpPr>
          <p:cNvPr id="7" name="box"/>
          <p:cNvSpPr/>
          <p:nvPr/>
        </p:nvSpPr>
        <p:spPr>
          <a:xfrm>
            <a:off x="3520440" y="1463040"/>
            <a:ext cx="2514600" cy="1371600"/>
          </a:xfrm>
          <a:prstGeom prst="roundRect">
            <a:avLst>
              <a:gd name="adj" fmla="val 5333"/>
            </a:avLst>
          </a:prstGeom>
          <a:solidFill>
            <a:srgbClr val="2B4A70"/>
          </a:solidFill>
          <a:ln w="12700">
            <a:solidFill>
              <a:srgbClr val="2B4A70"/>
            </a:solidFill>
            <a:prstDash val="solid"/>
          </a:ln>
        </p:spPr>
      </p:sp>
      <p:sp>
        <p:nvSpPr>
          <p:cNvPr id="8" name="Text 5"/>
          <p:cNvSpPr txBox="1"/>
          <p:nvPr/>
        </p:nvSpPr>
        <p:spPr>
          <a:xfrm>
            <a:off x="3520440" y="146304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B · Seminar 5</a:t>
            </a:r>
            <a:endParaRPr lang="en-US" sz="1500" dirty="0"/>
          </a:p>
          <a:p>
            <a:pPr algn="ctr" indent="0" marL="0">
              <a:spcAft>
                <a:spcPts val="400"/>
              </a:spcAft>
              <a:buNone/>
            </a:pPr>
            <a:r>
              <a:rPr lang="en-US" sz="1500" dirty="0">
                <a:solidFill>
                  <a:srgbClr val="FFFFFF"/>
                </a:solidFill>
              </a:rPr>
              <a:t>Problems with solutions</a:t>
            </a:r>
            <a:endParaRPr lang="en-US" sz="1500" dirty="0"/>
          </a:p>
        </p:txBody>
      </p:sp>
      <p:sp>
        <p:nvSpPr>
          <p:cNvPr id="9" name="Shape 6"/>
          <p:cNvSpPr/>
          <p:nvPr/>
        </p:nvSpPr>
        <p:spPr>
          <a:xfrm>
            <a:off x="6062472" y="2148840"/>
            <a:ext cx="219456" cy="914"/>
          </a:xfrm>
          <a:prstGeom prst="line">
            <a:avLst/>
          </a:prstGeom>
          <a:noFill/>
          <a:ln w="25400">
            <a:solidFill>
              <a:srgbClr val="9FB3C8"/>
            </a:solidFill>
            <a:prstDash val="solid"/>
            <a:tailEnd type="triangle"/>
          </a:ln>
        </p:spPr>
      </p:sp>
      <p:sp>
        <p:nvSpPr>
          <p:cNvPr id="10" name="box"/>
          <p:cNvSpPr/>
          <p:nvPr/>
        </p:nvSpPr>
        <p:spPr>
          <a:xfrm>
            <a:off x="6309360" y="1463040"/>
            <a:ext cx="2514600" cy="1371600"/>
          </a:xfrm>
          <a:prstGeom prst="roundRect">
            <a:avLst>
              <a:gd name="adj" fmla="val 5333"/>
            </a:avLst>
          </a:prstGeom>
          <a:solidFill>
            <a:srgbClr val="2B4A70"/>
          </a:solidFill>
          <a:ln w="12700">
            <a:solidFill>
              <a:srgbClr val="2B4A70"/>
            </a:solidFill>
            <a:prstDash val="solid"/>
          </a:ln>
        </p:spPr>
      </p:sp>
      <p:sp>
        <p:nvSpPr>
          <p:cNvPr id="11" name="Text 8"/>
          <p:cNvSpPr txBox="1"/>
          <p:nvPr/>
        </p:nvSpPr>
        <p:spPr>
          <a:xfrm>
            <a:off x="6309360" y="146304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C · Laboratory 5 · Linux</a:t>
            </a:r>
            <a:endParaRPr lang="en-US" sz="1500" dirty="0"/>
          </a:p>
          <a:p>
            <a:pPr algn="ctr" indent="0" marL="0">
              <a:spcAft>
                <a:spcPts val="400"/>
              </a:spcAft>
              <a:buNone/>
            </a:pPr>
            <a:r>
              <a:rPr lang="en-US" sz="1500" dirty="0">
                <a:solidFill>
                  <a:srgbClr val="FFFFFF"/>
                </a:solidFill>
              </a:rPr>
              <a:t>SMTP, POP3, dig, DNS in C, NAT</a:t>
            </a:r>
            <a:endParaRPr lang="en-US" sz="1500" dirty="0"/>
          </a:p>
        </p:txBody>
      </p:sp>
      <p:sp>
        <p:nvSpPr>
          <p:cNvPr id="12" name="Shape 9"/>
          <p:cNvSpPr/>
          <p:nvPr/>
        </p:nvSpPr>
        <p:spPr>
          <a:xfrm>
            <a:off x="8851392" y="2148840"/>
            <a:ext cx="219456" cy="914"/>
          </a:xfrm>
          <a:prstGeom prst="line">
            <a:avLst/>
          </a:prstGeom>
          <a:noFill/>
          <a:ln w="25400">
            <a:solidFill>
              <a:srgbClr val="9FB3C8"/>
            </a:solidFill>
            <a:prstDash val="solid"/>
            <a:tailEnd type="triangle"/>
          </a:ln>
        </p:spPr>
      </p:sp>
      <p:sp>
        <p:nvSpPr>
          <p:cNvPr id="13" name="box"/>
          <p:cNvSpPr/>
          <p:nvPr/>
        </p:nvSpPr>
        <p:spPr>
          <a:xfrm>
            <a:off x="9098280" y="1463040"/>
            <a:ext cx="2514600" cy="1371600"/>
          </a:xfrm>
          <a:prstGeom prst="roundRect">
            <a:avLst>
              <a:gd name="adj" fmla="val 5333"/>
            </a:avLst>
          </a:prstGeom>
          <a:solidFill>
            <a:srgbClr val="2B4A70"/>
          </a:solidFill>
          <a:ln w="12700">
            <a:solidFill>
              <a:srgbClr val="2B4A70"/>
            </a:solidFill>
            <a:prstDash val="solid"/>
          </a:ln>
        </p:spPr>
      </p:sp>
      <p:sp>
        <p:nvSpPr>
          <p:cNvPr id="14" name="Text 11"/>
          <p:cNvSpPr txBox="1"/>
          <p:nvPr/>
        </p:nvSpPr>
        <p:spPr>
          <a:xfrm>
            <a:off x="9098280" y="146304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D · Laboratory 5 · Windows</a:t>
            </a:r>
            <a:endParaRPr lang="en-US" sz="1500" dirty="0"/>
          </a:p>
          <a:p>
            <a:pPr algn="ctr" indent="0" marL="0">
              <a:spcAft>
                <a:spcPts val="400"/>
              </a:spcAft>
              <a:buNone/>
            </a:pPr>
            <a:r>
              <a:rPr lang="en-US" sz="1500" dirty="0">
                <a:solidFill>
                  <a:srgbClr val="FFFFFF"/>
                </a:solidFill>
              </a:rPr>
              <a:t>PowerShell, Winsock, your NAT</a:t>
            </a:r>
            <a:endParaRPr lang="en-US" sz="1500" dirty="0"/>
          </a:p>
        </p:txBody>
      </p:sp>
      <p:sp>
        <p:nvSpPr>
          <p:cNvPr id="15" name="Shape 12"/>
          <p:cNvSpPr/>
          <p:nvPr/>
        </p:nvSpPr>
        <p:spPr>
          <a:xfrm>
            <a:off x="1984248" y="2880360"/>
            <a:ext cx="914" cy="365760"/>
          </a:xfrm>
          <a:prstGeom prst="line">
            <a:avLst/>
          </a:prstGeom>
          <a:noFill/>
          <a:ln w="22225">
            <a:solidFill>
              <a:srgbClr val="9AA5AE"/>
            </a:solidFill>
            <a:prstDash val="solid"/>
            <a:tailEnd type="triangle"/>
          </a:ln>
        </p:spPr>
      </p:sp>
      <p:sp>
        <p:nvSpPr>
          <p:cNvPr id="16" name="box"/>
          <p:cNvSpPr/>
          <p:nvPr/>
        </p:nvSpPr>
        <p:spPr>
          <a:xfrm>
            <a:off x="731520" y="3291840"/>
            <a:ext cx="2514600" cy="2194560"/>
          </a:xfrm>
          <a:prstGeom prst="roundRect">
            <a:avLst>
              <a:gd name="adj" fmla="val 3333"/>
            </a:avLst>
          </a:prstGeom>
          <a:solidFill>
            <a:srgbClr val="EEF2F6"/>
          </a:solidFill>
          <a:ln w="12700">
            <a:solidFill>
              <a:srgbClr val="EEF2F6"/>
            </a:solidFill>
            <a:prstDash val="solid"/>
          </a:ln>
        </p:spPr>
      </p:sp>
      <p:sp>
        <p:nvSpPr>
          <p:cNvPr id="17" name="Text 14"/>
          <p:cNvSpPr txBox="1"/>
          <p:nvPr/>
        </p:nvSpPr>
        <p:spPr>
          <a:xfrm>
            <a:off x="731520" y="3291840"/>
            <a:ext cx="2514600" cy="2194560"/>
          </a:xfrm>
          <a:prstGeom prst="rect">
            <a:avLst/>
          </a:prstGeom>
          <a:noFill/>
          <a:ln/>
        </p:spPr>
        <p:txBody>
          <a:bodyPr wrap="square" lIns="152400" tIns="152400" rIns="152400" bIns="152400" rtlCol="0" anchor="t"/>
          <a:lstStyle/>
          <a:p>
            <a:pPr algn="ctr" indent="0" marL="0">
              <a:spcAft>
                <a:spcPts val="600"/>
              </a:spcAft>
              <a:buNone/>
            </a:pPr>
            <a:r>
              <a:rPr lang="en-US" sz="1400" b="1" dirty="0">
                <a:solidFill>
                  <a:srgbClr val="1B2430"/>
                </a:solidFill>
              </a:rPr>
              <a:t>Concepts</a:t>
            </a:r>
            <a:endParaRPr lang="en-US" sz="1400" dirty="0"/>
          </a:p>
          <a:p>
            <a:pPr algn="ctr" indent="0" marL="0">
              <a:spcAft>
                <a:spcPts val="600"/>
              </a:spcAft>
              <a:buNone/>
            </a:pPr>
            <a:r>
              <a:rPr lang="en-US" sz="1400" dirty="0">
                <a:solidFill>
                  <a:srgbClr val="1B2430"/>
                </a:solidFill>
              </a:rPr>
              <a:t>e-mail: SMTP, MIME, POP3, IMAP · Usenet · DNS · NAT</a:t>
            </a:r>
            <a:endParaRPr lang="en-US" sz="1400" dirty="0"/>
          </a:p>
        </p:txBody>
      </p:sp>
      <p:sp>
        <p:nvSpPr>
          <p:cNvPr id="18" name="Shape 15"/>
          <p:cNvSpPr/>
          <p:nvPr/>
        </p:nvSpPr>
        <p:spPr>
          <a:xfrm>
            <a:off x="4773168" y="2880360"/>
            <a:ext cx="914" cy="365760"/>
          </a:xfrm>
          <a:prstGeom prst="line">
            <a:avLst/>
          </a:prstGeom>
          <a:noFill/>
          <a:ln w="22225">
            <a:solidFill>
              <a:srgbClr val="9AA5AE"/>
            </a:solidFill>
            <a:prstDash val="solid"/>
            <a:tailEnd type="triangle"/>
          </a:ln>
        </p:spPr>
      </p:sp>
      <p:sp>
        <p:nvSpPr>
          <p:cNvPr id="19" name="box"/>
          <p:cNvSpPr/>
          <p:nvPr/>
        </p:nvSpPr>
        <p:spPr>
          <a:xfrm>
            <a:off x="3520440" y="3291840"/>
            <a:ext cx="2514600" cy="2194560"/>
          </a:xfrm>
          <a:prstGeom prst="roundRect">
            <a:avLst>
              <a:gd name="adj" fmla="val 3333"/>
            </a:avLst>
          </a:prstGeom>
          <a:solidFill>
            <a:srgbClr val="EEF2F6"/>
          </a:solidFill>
          <a:ln w="12700">
            <a:solidFill>
              <a:srgbClr val="EEF2F6"/>
            </a:solidFill>
            <a:prstDash val="solid"/>
          </a:ln>
        </p:spPr>
      </p:sp>
      <p:sp>
        <p:nvSpPr>
          <p:cNvPr id="20" name="Text 17"/>
          <p:cNvSpPr txBox="1"/>
          <p:nvPr/>
        </p:nvSpPr>
        <p:spPr>
          <a:xfrm>
            <a:off x="3520440" y="3291840"/>
            <a:ext cx="2514600" cy="2194560"/>
          </a:xfrm>
          <a:prstGeom prst="rect">
            <a:avLst/>
          </a:prstGeom>
          <a:noFill/>
          <a:ln/>
        </p:spPr>
        <p:txBody>
          <a:bodyPr wrap="square" lIns="152400" tIns="152400" rIns="152400" bIns="152400" rtlCol="0" anchor="t"/>
          <a:lstStyle/>
          <a:p>
            <a:pPr algn="ctr" indent="0" marL="0">
              <a:spcAft>
                <a:spcPts val="600"/>
              </a:spcAft>
              <a:buNone/>
            </a:pPr>
            <a:r>
              <a:rPr lang="en-US" sz="1400" b="1" dirty="0">
                <a:solidFill>
                  <a:srgbClr val="1B2430"/>
                </a:solidFill>
              </a:rPr>
              <a:t>Calculations</a:t>
            </a:r>
            <a:endParaRPr lang="en-US" sz="1400" dirty="0"/>
          </a:p>
          <a:p>
            <a:pPr algn="ctr" indent="0" marL="0">
              <a:spcAft>
                <a:spcPts val="600"/>
              </a:spcAft>
              <a:buNone/>
            </a:pPr>
            <a:r>
              <a:rPr lang="en-US" sz="1400" dirty="0">
                <a:solidFill>
                  <a:srgbClr val="1B2430"/>
                </a:solidFill>
              </a:rPr>
              <a:t>SMTP and IMAP transcripts, base64 sizes, flooding, DNS timing and bytes, NAT tables</a:t>
            </a:r>
            <a:endParaRPr lang="en-US" sz="1400" dirty="0"/>
          </a:p>
        </p:txBody>
      </p:sp>
      <p:sp>
        <p:nvSpPr>
          <p:cNvPr id="21" name="Shape 18"/>
          <p:cNvSpPr/>
          <p:nvPr/>
        </p:nvSpPr>
        <p:spPr>
          <a:xfrm>
            <a:off x="7562088" y="2880360"/>
            <a:ext cx="914" cy="365760"/>
          </a:xfrm>
          <a:prstGeom prst="line">
            <a:avLst/>
          </a:prstGeom>
          <a:noFill/>
          <a:ln w="22225">
            <a:solidFill>
              <a:srgbClr val="9AA5AE"/>
            </a:solidFill>
            <a:prstDash val="solid"/>
            <a:tailEnd type="triangle"/>
          </a:ln>
        </p:spPr>
      </p:sp>
      <p:sp>
        <p:nvSpPr>
          <p:cNvPr id="22" name="box"/>
          <p:cNvSpPr/>
          <p:nvPr/>
        </p:nvSpPr>
        <p:spPr>
          <a:xfrm>
            <a:off x="6309360" y="3291840"/>
            <a:ext cx="2514600" cy="2194560"/>
          </a:xfrm>
          <a:prstGeom prst="roundRect">
            <a:avLst>
              <a:gd name="adj" fmla="val 3333"/>
            </a:avLst>
          </a:prstGeom>
          <a:solidFill>
            <a:srgbClr val="EEF2F6"/>
          </a:solidFill>
          <a:ln w="12700">
            <a:solidFill>
              <a:srgbClr val="EEF2F6"/>
            </a:solidFill>
            <a:prstDash val="solid"/>
          </a:ln>
        </p:spPr>
      </p:sp>
      <p:sp>
        <p:nvSpPr>
          <p:cNvPr id="23" name="Text 20"/>
          <p:cNvSpPr txBox="1"/>
          <p:nvPr/>
        </p:nvSpPr>
        <p:spPr>
          <a:xfrm>
            <a:off x="6309360" y="3291840"/>
            <a:ext cx="2514600" cy="2194560"/>
          </a:xfrm>
          <a:prstGeom prst="rect">
            <a:avLst/>
          </a:prstGeom>
          <a:noFill/>
          <a:ln/>
        </p:spPr>
        <p:txBody>
          <a:bodyPr wrap="square" lIns="152400" tIns="152400" rIns="152400" bIns="152400" rtlCol="0" anchor="t"/>
          <a:lstStyle/>
          <a:p>
            <a:pPr algn="ctr" indent="0" marL="0">
              <a:spcAft>
                <a:spcPts val="600"/>
              </a:spcAft>
              <a:buNone/>
            </a:pPr>
            <a:r>
              <a:rPr lang="en-US" sz="1400" b="1" dirty="0">
                <a:solidFill>
                  <a:srgbClr val="1B2430"/>
                </a:solidFill>
              </a:rPr>
              <a:t>Tools on Linux</a:t>
            </a:r>
            <a:endParaRPr lang="en-US" sz="1400" dirty="0"/>
          </a:p>
          <a:p>
            <a:pPr algn="ctr" indent="0" marL="0">
              <a:spcAft>
                <a:spcPts val="600"/>
              </a:spcAft>
              <a:buNone/>
            </a:pPr>
            <a:r>
              <a:rPr lang="en-US" sz="1400" dirty="0">
                <a:solidFill>
                  <a:srgbClr val="1B2430"/>
                </a:solidFill>
              </a:rPr>
              <a:t>SMTP and POP3 by hand, dig, a DNS client in C, a NAT router in namespaces</a:t>
            </a:r>
            <a:endParaRPr lang="en-US" sz="1400" dirty="0"/>
          </a:p>
        </p:txBody>
      </p:sp>
      <p:sp>
        <p:nvSpPr>
          <p:cNvPr id="24" name="Shape 21"/>
          <p:cNvSpPr/>
          <p:nvPr/>
        </p:nvSpPr>
        <p:spPr>
          <a:xfrm>
            <a:off x="10351008" y="2880360"/>
            <a:ext cx="914" cy="365760"/>
          </a:xfrm>
          <a:prstGeom prst="line">
            <a:avLst/>
          </a:prstGeom>
          <a:noFill/>
          <a:ln w="22225">
            <a:solidFill>
              <a:srgbClr val="9AA5AE"/>
            </a:solidFill>
            <a:prstDash val="solid"/>
            <a:tailEnd type="triangle"/>
          </a:ln>
        </p:spPr>
      </p:sp>
      <p:sp>
        <p:nvSpPr>
          <p:cNvPr id="25" name="box"/>
          <p:cNvSpPr/>
          <p:nvPr/>
        </p:nvSpPr>
        <p:spPr>
          <a:xfrm>
            <a:off x="9098280" y="3291840"/>
            <a:ext cx="2514600" cy="2194560"/>
          </a:xfrm>
          <a:prstGeom prst="roundRect">
            <a:avLst>
              <a:gd name="adj" fmla="val 3333"/>
            </a:avLst>
          </a:prstGeom>
          <a:solidFill>
            <a:srgbClr val="EEF2F6"/>
          </a:solidFill>
          <a:ln w="12700">
            <a:solidFill>
              <a:srgbClr val="EEF2F6"/>
            </a:solidFill>
            <a:prstDash val="solid"/>
          </a:ln>
        </p:spPr>
      </p:sp>
      <p:sp>
        <p:nvSpPr>
          <p:cNvPr id="26" name="Text 23"/>
          <p:cNvSpPr txBox="1"/>
          <p:nvPr/>
        </p:nvSpPr>
        <p:spPr>
          <a:xfrm>
            <a:off x="9098280" y="3291840"/>
            <a:ext cx="2514600" cy="2194560"/>
          </a:xfrm>
          <a:prstGeom prst="rect">
            <a:avLst/>
          </a:prstGeom>
          <a:noFill/>
          <a:ln/>
        </p:spPr>
        <p:txBody>
          <a:bodyPr wrap="square" lIns="152400" tIns="152400" rIns="152400" bIns="152400" rtlCol="0" anchor="t"/>
          <a:lstStyle/>
          <a:p>
            <a:pPr algn="ctr" indent="0" marL="0">
              <a:spcAft>
                <a:spcPts val="600"/>
              </a:spcAft>
              <a:buNone/>
            </a:pPr>
            <a:r>
              <a:rPr lang="en-US" sz="1400" b="1" dirty="0">
                <a:solidFill>
                  <a:srgbClr val="1B2430"/>
                </a:solidFill>
              </a:rPr>
              <a:t>Tools on Windows</a:t>
            </a:r>
            <a:endParaRPr lang="en-US" sz="1400" dirty="0"/>
          </a:p>
          <a:p>
            <a:pPr algn="ctr" indent="0" marL="0">
              <a:spcAft>
                <a:spcPts val="600"/>
              </a:spcAft>
              <a:buNone/>
            </a:pPr>
            <a:r>
              <a:rPr lang="en-US" sz="1400" dirty="0">
                <a:solidFill>
                  <a:srgbClr val="1B2430"/>
                </a:solidFill>
              </a:rPr>
              <a:t>the same mail servers, Resolve-DnsName, Winsock, finding your own NAT</a:t>
            </a:r>
            <a:endParaRPr lang="en-US" sz="1400" dirty="0"/>
          </a:p>
        </p:txBody>
      </p:sp>
      <p:sp>
        <p:nvSpPr>
          <p:cNvPr id="2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8" name="Text 2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This week completes the application layer: every protocol in the syllabus list is then covered.</a:t>
            </a:r>
            <a:endParaRPr lang="en-US" sz="1400" dirty="0"/>
          </a:p>
        </p:txBody>
      </p:sp>
      <p:sp>
        <p:nvSpPr>
          <p:cNvPr id="29" name="Text 26"/>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SMTP (Simple Mail Transfer Protocol) · MIME (Multipurpose Internet Mail Extensions) · POP3 (Post Office Protocol version 3) · IMAP (Internet Message Access Protocol) · DNS (Domain Name System) · NAT (network address translation)</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application layer, complete</a:t>
            </a:r>
            <a:endParaRPr lang="en-US" sz="3000" dirty="0"/>
          </a:p>
        </p:txBody>
      </p:sp>
      <p:sp>
        <p:nvSpPr>
          <p:cNvPr id="4" name="box"/>
          <p:cNvSpPr/>
          <p:nvPr/>
        </p:nvSpPr>
        <p:spPr>
          <a:xfrm>
            <a:off x="548640" y="1325880"/>
            <a:ext cx="3657600" cy="493776"/>
          </a:xfrm>
          <a:prstGeom prst="roundRect">
            <a:avLst>
              <a:gd name="adj" fmla="val 14815"/>
            </a:avLst>
          </a:prstGeom>
          <a:solidFill>
            <a:srgbClr val="1F3A5F"/>
          </a:solidFill>
          <a:ln w="12700">
            <a:solidFill>
              <a:srgbClr val="1F3A5F"/>
            </a:solidFill>
            <a:prstDash val="solid"/>
          </a:ln>
        </p:spPr>
      </p:sp>
      <p:sp>
        <p:nvSpPr>
          <p:cNvPr id="5" name="Text 2"/>
          <p:cNvSpPr txBox="1"/>
          <p:nvPr/>
        </p:nvSpPr>
        <p:spPr>
          <a:xfrm>
            <a:off x="548640" y="1325880"/>
            <a:ext cx="3657600" cy="493776"/>
          </a:xfrm>
          <a:prstGeom prst="rect">
            <a:avLst/>
          </a:prstGeom>
          <a:noFill/>
          <a:ln/>
        </p:spPr>
        <p:txBody>
          <a:bodyPr wrap="square" lIns="635" tIns="635" rIns="635" bIns="635" rtlCol="0" anchor="ctr"/>
          <a:lstStyle/>
          <a:p>
            <a:pPr algn="ctr" indent="0" marL="0">
              <a:buNone/>
            </a:pPr>
            <a:r>
              <a:rPr lang="en-US" sz="1400" b="1" dirty="0">
                <a:solidFill>
                  <a:srgbClr val="FFFFFF"/>
                </a:solidFill>
              </a:rPr>
              <a:t>HTTP · HTTPS</a:t>
            </a:r>
            <a:endParaRPr lang="en-US" sz="1400" dirty="0"/>
          </a:p>
        </p:txBody>
      </p:sp>
      <p:sp>
        <p:nvSpPr>
          <p:cNvPr id="6" name="box"/>
          <p:cNvSpPr/>
          <p:nvPr/>
        </p:nvSpPr>
        <p:spPr>
          <a:xfrm>
            <a:off x="4297680" y="1325880"/>
            <a:ext cx="3291840" cy="493776"/>
          </a:xfrm>
          <a:prstGeom prst="roundRect">
            <a:avLst>
              <a:gd name="adj" fmla="val 14815"/>
            </a:avLst>
          </a:prstGeom>
          <a:solidFill>
            <a:srgbClr val="EEF2F6"/>
          </a:solidFill>
          <a:ln w="12700">
            <a:solidFill>
              <a:srgbClr val="EEF2F6"/>
            </a:solidFill>
            <a:prstDash val="solid"/>
          </a:ln>
        </p:spPr>
      </p:sp>
      <p:sp>
        <p:nvSpPr>
          <p:cNvPr id="7" name="Text 4"/>
          <p:cNvSpPr txBox="1"/>
          <p:nvPr/>
        </p:nvSpPr>
        <p:spPr>
          <a:xfrm>
            <a:off x="4297680" y="1325880"/>
            <a:ext cx="3291840" cy="493776"/>
          </a:xfrm>
          <a:prstGeom prst="rect">
            <a:avLst/>
          </a:prstGeom>
          <a:noFill/>
          <a:ln/>
        </p:spPr>
        <p:txBody>
          <a:bodyPr wrap="square" lIns="635" tIns="635" rIns="635" bIns="635" rtlCol="0" anchor="ctr"/>
          <a:lstStyle/>
          <a:p>
            <a:pPr algn="ctr" indent="0" marL="0">
              <a:buNone/>
            </a:pPr>
            <a:r>
              <a:rPr lang="en-US" sz="1300" dirty="0">
                <a:solidFill>
                  <a:srgbClr val="1B2430"/>
                </a:solidFill>
              </a:rPr>
              <a:t>Weeks 3–4</a:t>
            </a:r>
            <a:endParaRPr lang="en-US" sz="1300" dirty="0"/>
          </a:p>
        </p:txBody>
      </p:sp>
      <p:sp>
        <p:nvSpPr>
          <p:cNvPr id="8" name="box"/>
          <p:cNvSpPr/>
          <p:nvPr/>
        </p:nvSpPr>
        <p:spPr>
          <a:xfrm>
            <a:off x="548640" y="1911096"/>
            <a:ext cx="3657600" cy="493776"/>
          </a:xfrm>
          <a:prstGeom prst="roundRect">
            <a:avLst>
              <a:gd name="adj" fmla="val 14815"/>
            </a:avLst>
          </a:prstGeom>
          <a:solidFill>
            <a:srgbClr val="1F3A5F"/>
          </a:solidFill>
          <a:ln w="12700">
            <a:solidFill>
              <a:srgbClr val="1F3A5F"/>
            </a:solidFill>
            <a:prstDash val="solid"/>
          </a:ln>
        </p:spPr>
      </p:sp>
      <p:sp>
        <p:nvSpPr>
          <p:cNvPr id="9" name="Text 6"/>
          <p:cNvSpPr txBox="1"/>
          <p:nvPr/>
        </p:nvSpPr>
        <p:spPr>
          <a:xfrm>
            <a:off x="548640" y="1911096"/>
            <a:ext cx="3657600" cy="493776"/>
          </a:xfrm>
          <a:prstGeom prst="rect">
            <a:avLst/>
          </a:prstGeom>
          <a:noFill/>
          <a:ln/>
        </p:spPr>
        <p:txBody>
          <a:bodyPr wrap="square" lIns="635" tIns="635" rIns="635" bIns="635" rtlCol="0" anchor="ctr"/>
          <a:lstStyle/>
          <a:p>
            <a:pPr algn="ctr" indent="0" marL="0">
              <a:buNone/>
            </a:pPr>
            <a:r>
              <a:rPr lang="en-US" sz="1400" b="1" dirty="0">
                <a:solidFill>
                  <a:srgbClr val="FFFFFF"/>
                </a:solidFill>
              </a:rPr>
              <a:t>TELNET · SSH</a:t>
            </a:r>
            <a:endParaRPr lang="en-US" sz="1400" dirty="0"/>
          </a:p>
        </p:txBody>
      </p:sp>
      <p:sp>
        <p:nvSpPr>
          <p:cNvPr id="10" name="box"/>
          <p:cNvSpPr/>
          <p:nvPr/>
        </p:nvSpPr>
        <p:spPr>
          <a:xfrm>
            <a:off x="4297680" y="1911096"/>
            <a:ext cx="3291840" cy="493776"/>
          </a:xfrm>
          <a:prstGeom prst="roundRect">
            <a:avLst>
              <a:gd name="adj" fmla="val 14815"/>
            </a:avLst>
          </a:prstGeom>
          <a:solidFill>
            <a:srgbClr val="EEF2F6"/>
          </a:solidFill>
          <a:ln w="12700">
            <a:solidFill>
              <a:srgbClr val="EEF2F6"/>
            </a:solidFill>
            <a:prstDash val="solid"/>
          </a:ln>
        </p:spPr>
      </p:sp>
      <p:sp>
        <p:nvSpPr>
          <p:cNvPr id="11" name="Text 8"/>
          <p:cNvSpPr txBox="1"/>
          <p:nvPr/>
        </p:nvSpPr>
        <p:spPr>
          <a:xfrm>
            <a:off x="4297680" y="1911096"/>
            <a:ext cx="3291840" cy="493776"/>
          </a:xfrm>
          <a:prstGeom prst="rect">
            <a:avLst/>
          </a:prstGeom>
          <a:noFill/>
          <a:ln/>
        </p:spPr>
        <p:txBody>
          <a:bodyPr wrap="square" lIns="635" tIns="635" rIns="635" bIns="635" rtlCol="0" anchor="ctr"/>
          <a:lstStyle/>
          <a:p>
            <a:pPr algn="ctr" indent="0" marL="0">
              <a:buNone/>
            </a:pPr>
            <a:r>
              <a:rPr lang="en-US" sz="1300" dirty="0">
                <a:solidFill>
                  <a:srgbClr val="1B2430"/>
                </a:solidFill>
              </a:rPr>
              <a:t>Week 4</a:t>
            </a:r>
            <a:endParaRPr lang="en-US" sz="1300" dirty="0"/>
          </a:p>
        </p:txBody>
      </p:sp>
      <p:sp>
        <p:nvSpPr>
          <p:cNvPr id="12" name="box"/>
          <p:cNvSpPr/>
          <p:nvPr/>
        </p:nvSpPr>
        <p:spPr>
          <a:xfrm>
            <a:off x="548640" y="2496312"/>
            <a:ext cx="3657600" cy="493776"/>
          </a:xfrm>
          <a:prstGeom prst="roundRect">
            <a:avLst>
              <a:gd name="adj" fmla="val 14815"/>
            </a:avLst>
          </a:prstGeom>
          <a:solidFill>
            <a:srgbClr val="1F3A5F"/>
          </a:solidFill>
          <a:ln w="12700">
            <a:solidFill>
              <a:srgbClr val="1F3A5F"/>
            </a:solidFill>
            <a:prstDash val="solid"/>
          </a:ln>
        </p:spPr>
      </p:sp>
      <p:sp>
        <p:nvSpPr>
          <p:cNvPr id="13" name="Text 10"/>
          <p:cNvSpPr txBox="1"/>
          <p:nvPr/>
        </p:nvSpPr>
        <p:spPr>
          <a:xfrm>
            <a:off x="548640" y="2496312"/>
            <a:ext cx="3657600" cy="493776"/>
          </a:xfrm>
          <a:prstGeom prst="rect">
            <a:avLst/>
          </a:prstGeom>
          <a:noFill/>
          <a:ln/>
        </p:spPr>
        <p:txBody>
          <a:bodyPr wrap="square" lIns="635" tIns="635" rIns="635" bIns="635" rtlCol="0" anchor="ctr"/>
          <a:lstStyle/>
          <a:p>
            <a:pPr algn="ctr" indent="0" marL="0">
              <a:buNone/>
            </a:pPr>
            <a:r>
              <a:rPr lang="en-US" sz="1400" b="1" dirty="0">
                <a:solidFill>
                  <a:srgbClr val="FFFFFF"/>
                </a:solidFill>
              </a:rPr>
              <a:t>FTP</a:t>
            </a:r>
            <a:endParaRPr lang="en-US" sz="1400" dirty="0"/>
          </a:p>
        </p:txBody>
      </p:sp>
      <p:sp>
        <p:nvSpPr>
          <p:cNvPr id="14" name="box"/>
          <p:cNvSpPr/>
          <p:nvPr/>
        </p:nvSpPr>
        <p:spPr>
          <a:xfrm>
            <a:off x="4297680" y="2496312"/>
            <a:ext cx="3291840" cy="493776"/>
          </a:xfrm>
          <a:prstGeom prst="roundRect">
            <a:avLst>
              <a:gd name="adj" fmla="val 14815"/>
            </a:avLst>
          </a:prstGeom>
          <a:solidFill>
            <a:srgbClr val="EEF2F6"/>
          </a:solidFill>
          <a:ln w="12700">
            <a:solidFill>
              <a:srgbClr val="EEF2F6"/>
            </a:solidFill>
            <a:prstDash val="solid"/>
          </a:ln>
        </p:spPr>
      </p:sp>
      <p:sp>
        <p:nvSpPr>
          <p:cNvPr id="15" name="Text 12"/>
          <p:cNvSpPr txBox="1"/>
          <p:nvPr/>
        </p:nvSpPr>
        <p:spPr>
          <a:xfrm>
            <a:off x="4297680" y="2496312"/>
            <a:ext cx="3291840" cy="493776"/>
          </a:xfrm>
          <a:prstGeom prst="rect">
            <a:avLst/>
          </a:prstGeom>
          <a:noFill/>
          <a:ln/>
        </p:spPr>
        <p:txBody>
          <a:bodyPr wrap="square" lIns="635" tIns="635" rIns="635" bIns="635" rtlCol="0" anchor="ctr"/>
          <a:lstStyle/>
          <a:p>
            <a:pPr algn="ctr" indent="0" marL="0">
              <a:buNone/>
            </a:pPr>
            <a:r>
              <a:rPr lang="en-US" sz="1300" dirty="0">
                <a:solidFill>
                  <a:srgbClr val="1B2430"/>
                </a:solidFill>
              </a:rPr>
              <a:t>Week 4 (+ NAT this week)</a:t>
            </a:r>
            <a:endParaRPr lang="en-US" sz="1300" dirty="0"/>
          </a:p>
        </p:txBody>
      </p:sp>
      <p:sp>
        <p:nvSpPr>
          <p:cNvPr id="16" name="box"/>
          <p:cNvSpPr/>
          <p:nvPr/>
        </p:nvSpPr>
        <p:spPr>
          <a:xfrm>
            <a:off x="548640" y="3081528"/>
            <a:ext cx="3657600" cy="493776"/>
          </a:xfrm>
          <a:prstGeom prst="roundRect">
            <a:avLst>
              <a:gd name="adj" fmla="val 14815"/>
            </a:avLst>
          </a:prstGeom>
          <a:solidFill>
            <a:srgbClr val="1F3A5F"/>
          </a:solidFill>
          <a:ln w="12700">
            <a:solidFill>
              <a:srgbClr val="1F3A5F"/>
            </a:solidFill>
            <a:prstDash val="solid"/>
          </a:ln>
        </p:spPr>
      </p:sp>
      <p:sp>
        <p:nvSpPr>
          <p:cNvPr id="17" name="Text 14"/>
          <p:cNvSpPr txBox="1"/>
          <p:nvPr/>
        </p:nvSpPr>
        <p:spPr>
          <a:xfrm>
            <a:off x="548640" y="3081528"/>
            <a:ext cx="3657600" cy="493776"/>
          </a:xfrm>
          <a:prstGeom prst="rect">
            <a:avLst/>
          </a:prstGeom>
          <a:noFill/>
          <a:ln/>
        </p:spPr>
        <p:txBody>
          <a:bodyPr wrap="square" lIns="635" tIns="635" rIns="635" bIns="635" rtlCol="0" anchor="ctr"/>
          <a:lstStyle/>
          <a:p>
            <a:pPr algn="ctr" indent="0" marL="0">
              <a:buNone/>
            </a:pPr>
            <a:r>
              <a:rPr lang="en-US" sz="1400" b="1" dirty="0">
                <a:solidFill>
                  <a:srgbClr val="FFFFFF"/>
                </a:solidFill>
              </a:rPr>
              <a:t>SMTP · POP · IMAP</a:t>
            </a:r>
            <a:endParaRPr lang="en-US" sz="1400" dirty="0"/>
          </a:p>
        </p:txBody>
      </p:sp>
      <p:sp>
        <p:nvSpPr>
          <p:cNvPr id="18" name="box"/>
          <p:cNvSpPr/>
          <p:nvPr/>
        </p:nvSpPr>
        <p:spPr>
          <a:xfrm>
            <a:off x="4297680" y="3081528"/>
            <a:ext cx="3291840" cy="493776"/>
          </a:xfrm>
          <a:prstGeom prst="roundRect">
            <a:avLst>
              <a:gd name="adj" fmla="val 14815"/>
            </a:avLst>
          </a:prstGeom>
          <a:solidFill>
            <a:srgbClr val="D7EBDD"/>
          </a:solidFill>
          <a:ln w="12700">
            <a:solidFill>
              <a:srgbClr val="D7EBDD"/>
            </a:solidFill>
            <a:prstDash val="solid"/>
          </a:ln>
        </p:spPr>
      </p:sp>
      <p:sp>
        <p:nvSpPr>
          <p:cNvPr id="19" name="Text 16"/>
          <p:cNvSpPr txBox="1"/>
          <p:nvPr/>
        </p:nvSpPr>
        <p:spPr>
          <a:xfrm>
            <a:off x="4297680" y="3081528"/>
            <a:ext cx="3291840" cy="493776"/>
          </a:xfrm>
          <a:prstGeom prst="rect">
            <a:avLst/>
          </a:prstGeom>
          <a:noFill/>
          <a:ln/>
        </p:spPr>
        <p:txBody>
          <a:bodyPr wrap="square" lIns="635" tIns="635" rIns="635" bIns="635" rtlCol="0" anchor="ctr"/>
          <a:lstStyle/>
          <a:p>
            <a:pPr algn="ctr" indent="0" marL="0">
              <a:buNone/>
            </a:pPr>
            <a:r>
              <a:rPr lang="en-US" sz="1300" b="1" dirty="0">
                <a:solidFill>
                  <a:srgbClr val="1B2430"/>
                </a:solidFill>
              </a:rPr>
              <a:t>this week</a:t>
            </a:r>
            <a:endParaRPr lang="en-US" sz="1300" dirty="0"/>
          </a:p>
        </p:txBody>
      </p:sp>
      <p:sp>
        <p:nvSpPr>
          <p:cNvPr id="20" name="box"/>
          <p:cNvSpPr/>
          <p:nvPr/>
        </p:nvSpPr>
        <p:spPr>
          <a:xfrm>
            <a:off x="548640" y="3666744"/>
            <a:ext cx="3657600" cy="493776"/>
          </a:xfrm>
          <a:prstGeom prst="roundRect">
            <a:avLst>
              <a:gd name="adj" fmla="val 14815"/>
            </a:avLst>
          </a:prstGeom>
          <a:solidFill>
            <a:srgbClr val="1F3A5F"/>
          </a:solidFill>
          <a:ln w="12700">
            <a:solidFill>
              <a:srgbClr val="1F3A5F"/>
            </a:solidFill>
            <a:prstDash val="solid"/>
          </a:ln>
        </p:spPr>
      </p:sp>
      <p:sp>
        <p:nvSpPr>
          <p:cNvPr id="21" name="Text 18"/>
          <p:cNvSpPr txBox="1"/>
          <p:nvPr/>
        </p:nvSpPr>
        <p:spPr>
          <a:xfrm>
            <a:off x="548640" y="3666744"/>
            <a:ext cx="3657600" cy="493776"/>
          </a:xfrm>
          <a:prstGeom prst="rect">
            <a:avLst/>
          </a:prstGeom>
          <a:noFill/>
          <a:ln/>
        </p:spPr>
        <p:txBody>
          <a:bodyPr wrap="square" lIns="635" tIns="635" rIns="635" bIns="635" rtlCol="0" anchor="ctr"/>
          <a:lstStyle/>
          <a:p>
            <a:pPr algn="ctr" indent="0" marL="0">
              <a:buNone/>
            </a:pPr>
            <a:r>
              <a:rPr lang="en-US" sz="1400" b="1" dirty="0">
                <a:solidFill>
                  <a:srgbClr val="FFFFFF"/>
                </a:solidFill>
              </a:rPr>
              <a:t>Usenet</a:t>
            </a:r>
            <a:endParaRPr lang="en-US" sz="1400" dirty="0"/>
          </a:p>
        </p:txBody>
      </p:sp>
      <p:sp>
        <p:nvSpPr>
          <p:cNvPr id="22" name="box"/>
          <p:cNvSpPr/>
          <p:nvPr/>
        </p:nvSpPr>
        <p:spPr>
          <a:xfrm>
            <a:off x="4297680" y="3666744"/>
            <a:ext cx="3291840" cy="493776"/>
          </a:xfrm>
          <a:prstGeom prst="roundRect">
            <a:avLst>
              <a:gd name="adj" fmla="val 14815"/>
            </a:avLst>
          </a:prstGeom>
          <a:solidFill>
            <a:srgbClr val="D7EBDD"/>
          </a:solidFill>
          <a:ln w="12700">
            <a:solidFill>
              <a:srgbClr val="D7EBDD"/>
            </a:solidFill>
            <a:prstDash val="solid"/>
          </a:ln>
        </p:spPr>
      </p:sp>
      <p:sp>
        <p:nvSpPr>
          <p:cNvPr id="23" name="Text 20"/>
          <p:cNvSpPr txBox="1"/>
          <p:nvPr/>
        </p:nvSpPr>
        <p:spPr>
          <a:xfrm>
            <a:off x="4297680" y="3666744"/>
            <a:ext cx="3291840" cy="493776"/>
          </a:xfrm>
          <a:prstGeom prst="rect">
            <a:avLst/>
          </a:prstGeom>
          <a:noFill/>
          <a:ln/>
        </p:spPr>
        <p:txBody>
          <a:bodyPr wrap="square" lIns="635" tIns="635" rIns="635" bIns="635" rtlCol="0" anchor="ctr"/>
          <a:lstStyle/>
          <a:p>
            <a:pPr algn="ctr" indent="0" marL="0">
              <a:buNone/>
            </a:pPr>
            <a:r>
              <a:rPr lang="en-US" sz="1300" b="1" dirty="0">
                <a:solidFill>
                  <a:srgbClr val="1B2430"/>
                </a:solidFill>
              </a:rPr>
              <a:t>this week</a:t>
            </a:r>
            <a:endParaRPr lang="en-US" sz="1300" dirty="0"/>
          </a:p>
        </p:txBody>
      </p:sp>
      <p:sp>
        <p:nvSpPr>
          <p:cNvPr id="24" name="box"/>
          <p:cNvSpPr/>
          <p:nvPr/>
        </p:nvSpPr>
        <p:spPr>
          <a:xfrm>
            <a:off x="548640" y="4251960"/>
            <a:ext cx="3657600" cy="493776"/>
          </a:xfrm>
          <a:prstGeom prst="roundRect">
            <a:avLst>
              <a:gd name="adj" fmla="val 14815"/>
            </a:avLst>
          </a:prstGeom>
          <a:solidFill>
            <a:srgbClr val="1F3A5F"/>
          </a:solidFill>
          <a:ln w="12700">
            <a:solidFill>
              <a:srgbClr val="1F3A5F"/>
            </a:solidFill>
            <a:prstDash val="solid"/>
          </a:ln>
        </p:spPr>
      </p:sp>
      <p:sp>
        <p:nvSpPr>
          <p:cNvPr id="25" name="Text 22"/>
          <p:cNvSpPr txBox="1"/>
          <p:nvPr/>
        </p:nvSpPr>
        <p:spPr>
          <a:xfrm>
            <a:off x="548640" y="4251960"/>
            <a:ext cx="3657600" cy="493776"/>
          </a:xfrm>
          <a:prstGeom prst="rect">
            <a:avLst/>
          </a:prstGeom>
          <a:noFill/>
          <a:ln/>
        </p:spPr>
        <p:txBody>
          <a:bodyPr wrap="square" lIns="635" tIns="635" rIns="635" bIns="635" rtlCol="0" anchor="ctr"/>
          <a:lstStyle/>
          <a:p>
            <a:pPr algn="ctr" indent="0" marL="0">
              <a:buNone/>
            </a:pPr>
            <a:r>
              <a:rPr lang="en-US" sz="1400" b="1" dirty="0">
                <a:solidFill>
                  <a:srgbClr val="FFFFFF"/>
                </a:solidFill>
              </a:rPr>
              <a:t>DNS</a:t>
            </a:r>
            <a:endParaRPr lang="en-US" sz="1400" dirty="0"/>
          </a:p>
        </p:txBody>
      </p:sp>
      <p:sp>
        <p:nvSpPr>
          <p:cNvPr id="26" name="box"/>
          <p:cNvSpPr/>
          <p:nvPr/>
        </p:nvSpPr>
        <p:spPr>
          <a:xfrm>
            <a:off x="4297680" y="4251960"/>
            <a:ext cx="3291840" cy="493776"/>
          </a:xfrm>
          <a:prstGeom prst="roundRect">
            <a:avLst>
              <a:gd name="adj" fmla="val 14815"/>
            </a:avLst>
          </a:prstGeom>
          <a:solidFill>
            <a:srgbClr val="D7EBDD"/>
          </a:solidFill>
          <a:ln w="12700">
            <a:solidFill>
              <a:srgbClr val="D7EBDD"/>
            </a:solidFill>
            <a:prstDash val="solid"/>
          </a:ln>
        </p:spPr>
      </p:sp>
      <p:sp>
        <p:nvSpPr>
          <p:cNvPr id="27" name="Text 24"/>
          <p:cNvSpPr txBox="1"/>
          <p:nvPr/>
        </p:nvSpPr>
        <p:spPr>
          <a:xfrm>
            <a:off x="4297680" y="4251960"/>
            <a:ext cx="3291840" cy="493776"/>
          </a:xfrm>
          <a:prstGeom prst="rect">
            <a:avLst/>
          </a:prstGeom>
          <a:noFill/>
          <a:ln/>
        </p:spPr>
        <p:txBody>
          <a:bodyPr wrap="square" lIns="635" tIns="635" rIns="635" bIns="635" rtlCol="0" anchor="ctr"/>
          <a:lstStyle/>
          <a:p>
            <a:pPr algn="ctr" indent="0" marL="0">
              <a:buNone/>
            </a:pPr>
            <a:r>
              <a:rPr lang="en-US" sz="1300" b="1" dirty="0">
                <a:solidFill>
                  <a:srgbClr val="1B2430"/>
                </a:solidFill>
              </a:rPr>
              <a:t>this week</a:t>
            </a:r>
            <a:endParaRPr lang="en-US" sz="1300" dirty="0"/>
          </a:p>
        </p:txBody>
      </p:sp>
      <p:sp>
        <p:nvSpPr>
          <p:cNvPr id="28" name="box"/>
          <p:cNvSpPr/>
          <p:nvPr/>
        </p:nvSpPr>
        <p:spPr>
          <a:xfrm>
            <a:off x="548640" y="4837176"/>
            <a:ext cx="3657600" cy="493776"/>
          </a:xfrm>
          <a:prstGeom prst="roundRect">
            <a:avLst>
              <a:gd name="adj" fmla="val 14815"/>
            </a:avLst>
          </a:prstGeom>
          <a:solidFill>
            <a:srgbClr val="1F3A5F"/>
          </a:solidFill>
          <a:ln w="12700">
            <a:solidFill>
              <a:srgbClr val="1F3A5F"/>
            </a:solidFill>
            <a:prstDash val="solid"/>
          </a:ln>
        </p:spPr>
      </p:sp>
      <p:sp>
        <p:nvSpPr>
          <p:cNvPr id="29" name="Text 26"/>
          <p:cNvSpPr txBox="1"/>
          <p:nvPr/>
        </p:nvSpPr>
        <p:spPr>
          <a:xfrm>
            <a:off x="548640" y="4837176"/>
            <a:ext cx="3657600" cy="493776"/>
          </a:xfrm>
          <a:prstGeom prst="rect">
            <a:avLst/>
          </a:prstGeom>
          <a:noFill/>
          <a:ln/>
        </p:spPr>
        <p:txBody>
          <a:bodyPr wrap="square" lIns="635" tIns="635" rIns="635" bIns="635" rtlCol="0" anchor="ctr"/>
          <a:lstStyle/>
          <a:p>
            <a:pPr algn="ctr" indent="0" marL="0">
              <a:buNone/>
            </a:pPr>
            <a:r>
              <a:rPr lang="en-US" sz="1400" b="1" dirty="0">
                <a:solidFill>
                  <a:srgbClr val="FFFFFF"/>
                </a:solidFill>
              </a:rPr>
              <a:t>NAT</a:t>
            </a:r>
            <a:endParaRPr lang="en-US" sz="1400" dirty="0"/>
          </a:p>
        </p:txBody>
      </p:sp>
      <p:sp>
        <p:nvSpPr>
          <p:cNvPr id="30" name="box"/>
          <p:cNvSpPr/>
          <p:nvPr/>
        </p:nvSpPr>
        <p:spPr>
          <a:xfrm>
            <a:off x="4297680" y="4837176"/>
            <a:ext cx="3291840" cy="493776"/>
          </a:xfrm>
          <a:prstGeom prst="roundRect">
            <a:avLst>
              <a:gd name="adj" fmla="val 14815"/>
            </a:avLst>
          </a:prstGeom>
          <a:solidFill>
            <a:srgbClr val="D7EBDD"/>
          </a:solidFill>
          <a:ln w="12700">
            <a:solidFill>
              <a:srgbClr val="D7EBDD"/>
            </a:solidFill>
            <a:prstDash val="solid"/>
          </a:ln>
        </p:spPr>
      </p:sp>
      <p:sp>
        <p:nvSpPr>
          <p:cNvPr id="31" name="Text 28"/>
          <p:cNvSpPr txBox="1"/>
          <p:nvPr/>
        </p:nvSpPr>
        <p:spPr>
          <a:xfrm>
            <a:off x="4297680" y="4837176"/>
            <a:ext cx="3291840" cy="493776"/>
          </a:xfrm>
          <a:prstGeom prst="rect">
            <a:avLst/>
          </a:prstGeom>
          <a:noFill/>
          <a:ln/>
        </p:spPr>
        <p:txBody>
          <a:bodyPr wrap="square" lIns="635" tIns="635" rIns="635" bIns="635" rtlCol="0" anchor="ctr"/>
          <a:lstStyle/>
          <a:p>
            <a:pPr algn="ctr" indent="0" marL="0">
              <a:buNone/>
            </a:pPr>
            <a:r>
              <a:rPr lang="en-US" sz="1300" b="1" dirty="0">
                <a:solidFill>
                  <a:srgbClr val="1B2430"/>
                </a:solidFill>
              </a:rPr>
              <a:t>this week</a:t>
            </a:r>
            <a:endParaRPr lang="en-US" sz="1300" dirty="0"/>
          </a:p>
        </p:txBody>
      </p:sp>
      <p:sp>
        <p:nvSpPr>
          <p:cNvPr id="32" name="box"/>
          <p:cNvSpPr/>
          <p:nvPr/>
        </p:nvSpPr>
        <p:spPr>
          <a:xfrm>
            <a:off x="8046720" y="1325880"/>
            <a:ext cx="3566160" cy="4023360"/>
          </a:xfrm>
          <a:prstGeom prst="roundRect">
            <a:avLst>
              <a:gd name="adj" fmla="val 2051"/>
            </a:avLst>
          </a:prstGeom>
          <a:solidFill>
            <a:srgbClr val="F3EAD7"/>
          </a:solidFill>
          <a:ln w="12700">
            <a:solidFill>
              <a:srgbClr val="F3EAD7"/>
            </a:solidFill>
            <a:prstDash val="solid"/>
          </a:ln>
        </p:spPr>
      </p:sp>
      <p:sp>
        <p:nvSpPr>
          <p:cNvPr id="33" name="Text 30"/>
          <p:cNvSpPr txBox="1"/>
          <p:nvPr/>
        </p:nvSpPr>
        <p:spPr>
          <a:xfrm>
            <a:off x="8046720" y="1325880"/>
            <a:ext cx="3566160" cy="4023360"/>
          </a:xfrm>
          <a:prstGeom prst="rect">
            <a:avLst/>
          </a:prstGeom>
          <a:noFill/>
          <a:ln/>
        </p:spPr>
        <p:txBody>
          <a:bodyPr wrap="square" lIns="635" tIns="635" rIns="635" bIns="635" rtlCol="0" anchor="ctr"/>
          <a:lstStyle/>
          <a:p>
            <a:pPr algn="ctr" indent="0" marL="0">
              <a:spcAft>
                <a:spcPts val="800"/>
              </a:spcAft>
              <a:buNone/>
            </a:pPr>
            <a:r>
              <a:rPr lang="en-US" sz="1400" b="1" dirty="0">
                <a:solidFill>
                  <a:srgbClr val="1B2430"/>
                </a:solidFill>
              </a:rPr>
              <a:t>this week’s thread</a:t>
            </a:r>
            <a:endParaRPr lang="en-US" sz="1400" dirty="0"/>
          </a:p>
          <a:p>
            <a:pPr algn="ctr" indent="0" marL="0">
              <a:spcAft>
                <a:spcPts val="800"/>
              </a:spcAft>
              <a:buNone/>
            </a:pPr>
            <a:r>
              <a:rPr lang="en-US" sz="1400" dirty="0">
                <a:solidFill>
                  <a:srgbClr val="1B2430"/>
                </a:solidFill>
              </a:rPr>
              <a:t>mail needs DNS (MX records)</a:t>
            </a:r>
            <a:endParaRPr lang="en-US" sz="1400" dirty="0"/>
          </a:p>
          <a:p>
            <a:pPr algn="ctr" indent="0" marL="0">
              <a:spcAft>
                <a:spcPts val="800"/>
              </a:spcAft>
              <a:buNone/>
            </a:pPr>
            <a:r>
              <a:rPr lang="en-US" sz="1400" dirty="0">
                <a:solidFill>
                  <a:srgbClr val="1B2430"/>
                </a:solidFill>
              </a:rPr>
              <a:t>every protocol needs DNS</a:t>
            </a:r>
            <a:endParaRPr lang="en-US" sz="1400" dirty="0"/>
          </a:p>
          <a:p>
            <a:pPr algn="ctr" indent="0" marL="0">
              <a:spcAft>
                <a:spcPts val="800"/>
              </a:spcAft>
              <a:buNone/>
            </a:pPr>
            <a:r>
              <a:rPr lang="en-US" sz="1400" dirty="0">
                <a:solidFill>
                  <a:srgbClr val="1B2430"/>
                </a:solidFill>
              </a:rPr>
              <a:t>every home network needs NAT</a:t>
            </a:r>
            <a:endParaRPr lang="en-US" sz="1400" dirty="0"/>
          </a:p>
          <a:p>
            <a:pPr algn="ctr" indent="0" marL="0">
              <a:spcAft>
                <a:spcPts val="800"/>
              </a:spcAft>
              <a:buNone/>
            </a:pPr>
            <a:r>
              <a:rPr lang="en-US" sz="1400" dirty="0">
                <a:solidFill>
                  <a:srgbClr val="1B2430"/>
                </a:solidFill>
              </a:rPr>
              <a:t>— and NAT breaks some protocols</a:t>
            </a:r>
            <a:endParaRPr lang="en-US" sz="1400" dirty="0"/>
          </a:p>
        </p:txBody>
      </p:sp>
      <p:sp>
        <p:nvSpPr>
          <p:cNvPr id="3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5" name="Text 3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Mail, names and address translation: the infrastructure under every other application.</a:t>
            </a:r>
            <a:endParaRPr lang="en-US" sz="1400" dirty="0"/>
          </a:p>
        </p:txBody>
      </p:sp>
      <p:sp>
        <p:nvSpPr>
          <p:cNvPr id="36" name="Text 33"/>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HTTPS (HyperText Transfer Protocol Secure) · HTTP (HyperText Transfer Protocol) · SMTP (Simple Mail Transfer Protocol) · IMAP (Internet Message Access Protocol) · DNS (Domain Name System) · SSH (Secure Shell) · NAT (network address translation) · POP (Post Office Protocol) · FTP (File Transfer Protocol) · MX (mail exchanger)</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Part A · Lecture 5: the application layer III</a:t>
            </a:r>
            <a:endParaRPr lang="en-US" sz="3600" dirty="0"/>
          </a:p>
        </p:txBody>
      </p:sp>
      <p:sp>
        <p:nvSpPr>
          <p:cNvPr id="3" name="box"/>
          <p:cNvSpPr/>
          <p:nvPr/>
        </p:nvSpPr>
        <p:spPr>
          <a:xfrm>
            <a:off x="731520" y="1645920"/>
            <a:ext cx="2514600" cy="1371600"/>
          </a:xfrm>
          <a:prstGeom prst="roundRect">
            <a:avLst>
              <a:gd name="adj" fmla="val 5333"/>
            </a:avLst>
          </a:prstGeom>
          <a:solidFill>
            <a:srgbClr val="2A7F8E"/>
          </a:solidFill>
          <a:ln w="12700">
            <a:solidFill>
              <a:srgbClr val="2A7F8E"/>
            </a:solidFill>
            <a:prstDash val="solid"/>
          </a:ln>
        </p:spPr>
      </p:sp>
      <p:sp>
        <p:nvSpPr>
          <p:cNvPr id="4" name="Text 2"/>
          <p:cNvSpPr txBox="1"/>
          <p:nvPr/>
        </p:nvSpPr>
        <p:spPr>
          <a:xfrm>
            <a:off x="73152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A · Lecture 5</a:t>
            </a:r>
            <a:endParaRPr lang="en-US" sz="1500" dirty="0"/>
          </a:p>
          <a:p>
            <a:pPr algn="ctr" indent="0" marL="0">
              <a:spcAft>
                <a:spcPts val="400"/>
              </a:spcAft>
              <a:buNone/>
            </a:pPr>
            <a:r>
              <a:rPr lang="en-US" sz="1500" dirty="0">
                <a:solidFill>
                  <a:srgbClr val="FFFFFF"/>
                </a:solidFill>
              </a:rPr>
              <a:t>Mail, news, names, NAT</a:t>
            </a:r>
            <a:endParaRPr lang="en-US" sz="1500" dirty="0"/>
          </a:p>
        </p:txBody>
      </p:sp>
      <p:sp>
        <p:nvSpPr>
          <p:cNvPr id="5" name="Shape 3"/>
          <p:cNvSpPr/>
          <p:nvPr/>
        </p:nvSpPr>
        <p:spPr>
          <a:xfrm>
            <a:off x="3273552" y="2331720"/>
            <a:ext cx="219456" cy="914"/>
          </a:xfrm>
          <a:prstGeom prst="line">
            <a:avLst/>
          </a:prstGeom>
          <a:noFill/>
          <a:ln w="25400">
            <a:solidFill>
              <a:srgbClr val="9FB3C8"/>
            </a:solidFill>
            <a:prstDash val="solid"/>
            <a:tailEnd type="triangle"/>
          </a:ln>
        </p:spPr>
      </p:sp>
      <p:sp>
        <p:nvSpPr>
          <p:cNvPr id="6" name="box"/>
          <p:cNvSpPr/>
          <p:nvPr/>
        </p:nvSpPr>
        <p:spPr>
          <a:xfrm>
            <a:off x="3520440" y="1645920"/>
            <a:ext cx="2514600" cy="1371600"/>
          </a:xfrm>
          <a:prstGeom prst="roundRect">
            <a:avLst>
              <a:gd name="adj" fmla="val 5333"/>
            </a:avLst>
          </a:prstGeom>
          <a:solidFill>
            <a:srgbClr val="2B4A70"/>
          </a:solidFill>
          <a:ln w="12700">
            <a:solidFill>
              <a:srgbClr val="2B4A70"/>
            </a:solidFill>
            <a:prstDash val="solid"/>
          </a:ln>
        </p:spPr>
      </p:sp>
      <p:sp>
        <p:nvSpPr>
          <p:cNvPr id="7" name="Text 5"/>
          <p:cNvSpPr txBox="1"/>
          <p:nvPr/>
        </p:nvSpPr>
        <p:spPr>
          <a:xfrm>
            <a:off x="352044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B · Seminar 5</a:t>
            </a:r>
            <a:endParaRPr lang="en-US" sz="1500" dirty="0"/>
          </a:p>
          <a:p>
            <a:pPr algn="ctr" indent="0" marL="0">
              <a:spcAft>
                <a:spcPts val="400"/>
              </a:spcAft>
              <a:buNone/>
            </a:pPr>
            <a:r>
              <a:rPr lang="en-US" sz="1500" dirty="0">
                <a:solidFill>
                  <a:srgbClr val="FFFFFF"/>
                </a:solidFill>
              </a:rPr>
              <a:t>Problems with solutions</a:t>
            </a:r>
            <a:endParaRPr lang="en-US" sz="1500" dirty="0"/>
          </a:p>
        </p:txBody>
      </p:sp>
      <p:sp>
        <p:nvSpPr>
          <p:cNvPr id="8" name="Shape 6"/>
          <p:cNvSpPr/>
          <p:nvPr/>
        </p:nvSpPr>
        <p:spPr>
          <a:xfrm>
            <a:off x="6062472" y="2331720"/>
            <a:ext cx="219456" cy="914"/>
          </a:xfrm>
          <a:prstGeom prst="line">
            <a:avLst/>
          </a:prstGeom>
          <a:noFill/>
          <a:ln w="25400">
            <a:solidFill>
              <a:srgbClr val="9FB3C8"/>
            </a:solidFill>
            <a:prstDash val="solid"/>
            <a:tailEnd type="triangle"/>
          </a:ln>
        </p:spPr>
      </p:sp>
      <p:sp>
        <p:nvSpPr>
          <p:cNvPr id="9" name="box"/>
          <p:cNvSpPr/>
          <p:nvPr/>
        </p:nvSpPr>
        <p:spPr>
          <a:xfrm>
            <a:off x="6309360" y="1645920"/>
            <a:ext cx="2514600" cy="1371600"/>
          </a:xfrm>
          <a:prstGeom prst="roundRect">
            <a:avLst>
              <a:gd name="adj" fmla="val 5333"/>
            </a:avLst>
          </a:prstGeom>
          <a:solidFill>
            <a:srgbClr val="2B4A70"/>
          </a:solidFill>
          <a:ln w="12700">
            <a:solidFill>
              <a:srgbClr val="2B4A70"/>
            </a:solidFill>
            <a:prstDash val="solid"/>
          </a:ln>
        </p:spPr>
      </p:sp>
      <p:sp>
        <p:nvSpPr>
          <p:cNvPr id="10" name="Text 8"/>
          <p:cNvSpPr txBox="1"/>
          <p:nvPr/>
        </p:nvSpPr>
        <p:spPr>
          <a:xfrm>
            <a:off x="630936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C · Laboratory 5 · Linux</a:t>
            </a:r>
            <a:endParaRPr lang="en-US" sz="1500" dirty="0"/>
          </a:p>
          <a:p>
            <a:pPr algn="ctr" indent="0" marL="0">
              <a:spcAft>
                <a:spcPts val="400"/>
              </a:spcAft>
              <a:buNone/>
            </a:pPr>
            <a:r>
              <a:rPr lang="en-US" sz="1500" dirty="0">
                <a:solidFill>
                  <a:srgbClr val="FFFFFF"/>
                </a:solidFill>
              </a:rPr>
              <a:t>SMTP, POP3, dig, DNS in C, NAT</a:t>
            </a:r>
            <a:endParaRPr lang="en-US" sz="1500" dirty="0"/>
          </a:p>
        </p:txBody>
      </p:sp>
      <p:sp>
        <p:nvSpPr>
          <p:cNvPr id="11" name="Shape 9"/>
          <p:cNvSpPr/>
          <p:nvPr/>
        </p:nvSpPr>
        <p:spPr>
          <a:xfrm>
            <a:off x="8851392" y="2331720"/>
            <a:ext cx="219456" cy="914"/>
          </a:xfrm>
          <a:prstGeom prst="line">
            <a:avLst/>
          </a:prstGeom>
          <a:noFill/>
          <a:ln w="25400">
            <a:solidFill>
              <a:srgbClr val="9FB3C8"/>
            </a:solidFill>
            <a:prstDash val="solid"/>
            <a:tailEnd type="triangle"/>
          </a:ln>
        </p:spPr>
      </p:sp>
      <p:sp>
        <p:nvSpPr>
          <p:cNvPr id="12" name="box"/>
          <p:cNvSpPr/>
          <p:nvPr/>
        </p:nvSpPr>
        <p:spPr>
          <a:xfrm>
            <a:off x="9098280" y="1645920"/>
            <a:ext cx="2514600" cy="1371600"/>
          </a:xfrm>
          <a:prstGeom prst="roundRect">
            <a:avLst>
              <a:gd name="adj" fmla="val 5333"/>
            </a:avLst>
          </a:prstGeom>
          <a:solidFill>
            <a:srgbClr val="2B4A70"/>
          </a:solidFill>
          <a:ln w="12700">
            <a:solidFill>
              <a:srgbClr val="2B4A70"/>
            </a:solidFill>
            <a:prstDash val="solid"/>
          </a:ln>
        </p:spPr>
      </p:sp>
      <p:sp>
        <p:nvSpPr>
          <p:cNvPr id="13" name="Text 11"/>
          <p:cNvSpPr txBox="1"/>
          <p:nvPr/>
        </p:nvSpPr>
        <p:spPr>
          <a:xfrm>
            <a:off x="909828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D · Laboratory 5 · Windows</a:t>
            </a:r>
            <a:endParaRPr lang="en-US" sz="1500" dirty="0"/>
          </a:p>
          <a:p>
            <a:pPr algn="ctr" indent="0" marL="0">
              <a:spcAft>
                <a:spcPts val="400"/>
              </a:spcAft>
              <a:buNone/>
            </a:pPr>
            <a:r>
              <a:rPr lang="en-US" sz="1500" dirty="0">
                <a:solidFill>
                  <a:srgbClr val="FFFFFF"/>
                </a:solidFill>
              </a:rPr>
              <a:t>PowerShell, Winsock, your NAT</a:t>
            </a:r>
            <a:endParaRPr lang="en-US" sz="1500" dirty="0"/>
          </a:p>
        </p:txBody>
      </p:sp>
      <p:sp>
        <p:nvSpPr>
          <p:cNvPr id="14" name="Text 12"/>
          <p:cNvSpPr txBox="1"/>
          <p:nvPr/>
        </p:nvSpPr>
        <p:spPr>
          <a:xfrm>
            <a:off x="731520" y="3429000"/>
            <a:ext cx="10698480" cy="365760"/>
          </a:xfrm>
          <a:prstGeom prst="rect">
            <a:avLst/>
          </a:prstGeom>
          <a:noFill/>
          <a:ln/>
        </p:spPr>
        <p:txBody>
          <a:bodyPr wrap="square" lIns="0" tIns="0" rIns="0" bIns="0" rtlCol="0" anchor="ctr"/>
          <a:lstStyle/>
          <a:p>
            <a:pPr indent="0" marL="0">
              <a:buNone/>
            </a:pPr>
            <a:r>
              <a:rPr lang="en-US" sz="1600" b="1" dirty="0">
                <a:solidFill>
                  <a:srgbClr val="DDF0F2"/>
                </a:solidFill>
              </a:rPr>
              <a:t>In this part</a:t>
            </a:r>
            <a:endParaRPr lang="en-US" sz="1600" dirty="0"/>
          </a:p>
        </p:txBody>
      </p:sp>
      <p:sp>
        <p:nvSpPr>
          <p:cNvPr id="15" name="Text 13"/>
          <p:cNvSpPr txBox="1"/>
          <p:nvPr/>
        </p:nvSpPr>
        <p:spPr>
          <a:xfrm>
            <a:off x="7315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1 · The last week of the application layer</a:t>
            </a:r>
            <a:endParaRPr lang="en-US" sz="1500" dirty="0"/>
          </a:p>
        </p:txBody>
      </p:sp>
      <p:sp>
        <p:nvSpPr>
          <p:cNvPr id="16" name="Text 14"/>
          <p:cNvSpPr txBox="1"/>
          <p:nvPr/>
        </p:nvSpPr>
        <p:spPr>
          <a:xfrm>
            <a:off x="62179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2 · Electronic mail: the system</a:t>
            </a:r>
            <a:endParaRPr lang="en-US" sz="1500" dirty="0"/>
          </a:p>
        </p:txBody>
      </p:sp>
      <p:sp>
        <p:nvSpPr>
          <p:cNvPr id="17" name="Text 15"/>
          <p:cNvSpPr txBox="1"/>
          <p:nvPr/>
        </p:nvSpPr>
        <p:spPr>
          <a:xfrm>
            <a:off x="7315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3 · SMTP: pushing mail</a:t>
            </a:r>
            <a:endParaRPr lang="en-US" sz="1500" dirty="0"/>
          </a:p>
        </p:txBody>
      </p:sp>
      <p:sp>
        <p:nvSpPr>
          <p:cNvPr id="18" name="Text 16"/>
          <p:cNvSpPr txBox="1"/>
          <p:nvPr/>
        </p:nvSpPr>
        <p:spPr>
          <a:xfrm>
            <a:off x="62179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4 · The message: format and MIME</a:t>
            </a:r>
            <a:endParaRPr lang="en-US" sz="1500" dirty="0"/>
          </a:p>
        </p:txBody>
      </p:sp>
      <p:sp>
        <p:nvSpPr>
          <p:cNvPr id="19" name="Text 17"/>
          <p:cNvSpPr txBox="1"/>
          <p:nvPr/>
        </p:nvSpPr>
        <p:spPr>
          <a:xfrm>
            <a:off x="7315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5 · POP3, IMAP, webmail; protecting mail</a:t>
            </a:r>
            <a:endParaRPr lang="en-US" sz="1500" dirty="0"/>
          </a:p>
        </p:txBody>
      </p:sp>
      <p:sp>
        <p:nvSpPr>
          <p:cNvPr id="20" name="Text 18"/>
          <p:cNvSpPr txBox="1"/>
          <p:nvPr/>
        </p:nvSpPr>
        <p:spPr>
          <a:xfrm>
            <a:off x="62179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6 · Usenet: news by flooding</a:t>
            </a:r>
            <a:endParaRPr lang="en-US" sz="1500" dirty="0"/>
          </a:p>
        </p:txBody>
      </p:sp>
      <p:sp>
        <p:nvSpPr>
          <p:cNvPr id="21" name="Text 19"/>
          <p:cNvSpPr txBox="1"/>
          <p:nvPr/>
        </p:nvSpPr>
        <p:spPr>
          <a:xfrm>
            <a:off x="731520" y="52120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7 · DNS: services and hierarchy</a:t>
            </a:r>
            <a:endParaRPr lang="en-US" sz="1500" dirty="0"/>
          </a:p>
        </p:txBody>
      </p:sp>
      <p:sp>
        <p:nvSpPr>
          <p:cNvPr id="22" name="Text 20"/>
          <p:cNvSpPr txBox="1"/>
          <p:nvPr/>
        </p:nvSpPr>
        <p:spPr>
          <a:xfrm>
            <a:off x="6217920" y="52120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8 · DNS: resolution, caching, records</a:t>
            </a:r>
            <a:endParaRPr lang="en-US" sz="1500" dirty="0"/>
          </a:p>
        </p:txBody>
      </p:sp>
      <p:sp>
        <p:nvSpPr>
          <p:cNvPr id="23" name="Text 21"/>
          <p:cNvSpPr txBox="1"/>
          <p:nvPr/>
        </p:nvSpPr>
        <p:spPr>
          <a:xfrm>
            <a:off x="731520" y="56692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9 · NAT: many hosts, one address</a:t>
            </a:r>
            <a:endParaRPr lang="en-US" sz="1500" dirty="0"/>
          </a:p>
        </p:txBody>
      </p:sp>
      <p:sp>
        <p:nvSpPr>
          <p:cNvPr id="25" name="Text 22"/>
          <p:cNvSpPr txBox="1"/>
          <p:nvPr/>
        </p:nvSpPr>
        <p:spPr>
          <a:xfrm>
            <a:off x="731520" y="6172200"/>
            <a:ext cx="10698480" cy="457200"/>
          </a:xfrm>
          <a:prstGeom prst="rect">
            <a:avLst/>
          </a:prstGeom>
          <a:noFill/>
          <a:ln/>
        </p:spPr>
        <p:txBody>
          <a:bodyPr wrap="square" lIns="0" tIns="0" rIns="0" bIns="0" rtlCol="0" anchor="t"/>
          <a:lstStyle/>
          <a:p>
            <a:pPr indent="0" marL="0">
              <a:buNone/>
            </a:pPr>
            <a:r>
              <a:rPr lang="en-US" sz="1100" dirty="0">
                <a:solidFill>
                  <a:srgbClr val="C9D6E3"/>
                </a:solidFill>
              </a:rPr>
              <a:t>SMTP (Simple Mail Transfer Protocol) · MIME (Multipurpose Internet Mail Extensions) · POP3 (Post Office Protocol version 3) · IMAP (Internet Message Access Protocol) · DNS (Domain Name System) · NAT (network address translation)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 The e-mail system: agents, servers, protocols</a:t>
            </a:r>
            <a:endParaRPr lang="en-US" sz="3000" dirty="0"/>
          </a:p>
        </p:txBody>
      </p:sp>
      <p:sp>
        <p:nvSpPr>
          <p:cNvPr id="4" name="box"/>
          <p:cNvSpPr/>
          <p:nvPr/>
        </p:nvSpPr>
        <p:spPr>
          <a:xfrm>
            <a:off x="548640" y="1828800"/>
            <a:ext cx="2011680" cy="1097280"/>
          </a:xfrm>
          <a:prstGeom prst="roundRect">
            <a:avLst>
              <a:gd name="adj" fmla="val 6667"/>
            </a:avLst>
          </a:prstGeom>
          <a:solidFill>
            <a:srgbClr val="EEF2F6"/>
          </a:solidFill>
          <a:ln w="12700">
            <a:solidFill>
              <a:srgbClr val="EEF2F6"/>
            </a:solidFill>
            <a:prstDash val="solid"/>
          </a:ln>
        </p:spPr>
      </p:sp>
      <p:sp>
        <p:nvSpPr>
          <p:cNvPr id="5" name="Text 2"/>
          <p:cNvSpPr txBox="1"/>
          <p:nvPr/>
        </p:nvSpPr>
        <p:spPr>
          <a:xfrm>
            <a:off x="548640" y="1828800"/>
            <a:ext cx="2011680" cy="1097280"/>
          </a:xfrm>
          <a:prstGeom prst="rect">
            <a:avLst/>
          </a:prstGeom>
          <a:noFill/>
          <a:ln/>
        </p:spPr>
        <p:txBody>
          <a:bodyPr wrap="square" lIns="635" tIns="635" rIns="635" bIns="635" rtlCol="0" anchor="ctr"/>
          <a:lstStyle/>
          <a:p>
            <a:pPr algn="ctr" indent="0" marL="0">
              <a:buNone/>
            </a:pPr>
            <a:r>
              <a:rPr lang="en-US" sz="1300" b="1" dirty="0">
                <a:solidFill>
                  <a:srgbClr val="1B2430"/>
                </a:solidFill>
              </a:rPr>
              <a:t>Alice</a:t>
            </a:r>
            <a:endParaRPr lang="en-US" sz="1300" dirty="0"/>
          </a:p>
          <a:p>
            <a:pPr algn="ctr" indent="0" marL="0">
              <a:buNone/>
            </a:pPr>
            <a:r>
              <a:rPr lang="en-US" sz="1300" dirty="0">
                <a:solidFill>
                  <a:srgbClr val="1B2430"/>
                </a:solidFill>
              </a:rPr>
              <a:t>user agent</a:t>
            </a:r>
            <a:endParaRPr lang="en-US" sz="1300" dirty="0"/>
          </a:p>
        </p:txBody>
      </p:sp>
      <p:sp>
        <p:nvSpPr>
          <p:cNvPr id="6" name="box"/>
          <p:cNvSpPr/>
          <p:nvPr/>
        </p:nvSpPr>
        <p:spPr>
          <a:xfrm>
            <a:off x="3291840" y="1828800"/>
            <a:ext cx="2377440" cy="1097280"/>
          </a:xfrm>
          <a:prstGeom prst="roundRect">
            <a:avLst>
              <a:gd name="adj" fmla="val 6667"/>
            </a:avLst>
          </a:prstGeom>
          <a:solidFill>
            <a:srgbClr val="2A7F8E"/>
          </a:solidFill>
          <a:ln w="12700">
            <a:solidFill>
              <a:srgbClr val="2A7F8E"/>
            </a:solidFill>
            <a:prstDash val="solid"/>
          </a:ln>
        </p:spPr>
      </p:sp>
      <p:sp>
        <p:nvSpPr>
          <p:cNvPr id="7" name="Text 4"/>
          <p:cNvSpPr txBox="1"/>
          <p:nvPr/>
        </p:nvSpPr>
        <p:spPr>
          <a:xfrm>
            <a:off x="3291840" y="1828800"/>
            <a:ext cx="2377440" cy="1097280"/>
          </a:xfrm>
          <a:prstGeom prst="rect">
            <a:avLst/>
          </a:prstGeom>
          <a:noFill/>
          <a:ln/>
        </p:spPr>
        <p:txBody>
          <a:bodyPr wrap="square" lIns="635" tIns="635" rIns="635" bIns="635" rtlCol="0" anchor="ctr"/>
          <a:lstStyle/>
          <a:p>
            <a:pPr algn="ctr" indent="0" marL="0">
              <a:buNone/>
            </a:pPr>
            <a:r>
              <a:rPr lang="en-US" sz="1300" b="1" dirty="0">
                <a:solidFill>
                  <a:srgbClr val="FFFFFF"/>
                </a:solidFill>
              </a:rPr>
              <a:t>mail.uni.ro</a:t>
            </a:r>
            <a:endParaRPr lang="en-US" sz="1300" dirty="0"/>
          </a:p>
          <a:p>
            <a:pPr algn="ctr" indent="0" marL="0">
              <a:buNone/>
            </a:pPr>
            <a:r>
              <a:rPr lang="en-US" sz="1300" dirty="0">
                <a:solidFill>
                  <a:srgbClr val="FFFFFF"/>
                </a:solidFill>
              </a:rPr>
              <a:t>outgoing queue</a:t>
            </a:r>
            <a:endParaRPr lang="en-US" sz="1300" dirty="0"/>
          </a:p>
        </p:txBody>
      </p:sp>
      <p:sp>
        <p:nvSpPr>
          <p:cNvPr id="8" name="box"/>
          <p:cNvSpPr/>
          <p:nvPr/>
        </p:nvSpPr>
        <p:spPr>
          <a:xfrm>
            <a:off x="6492240" y="1828800"/>
            <a:ext cx="2377440" cy="1097280"/>
          </a:xfrm>
          <a:prstGeom prst="roundRect">
            <a:avLst>
              <a:gd name="adj" fmla="val 6667"/>
            </a:avLst>
          </a:prstGeom>
          <a:solidFill>
            <a:srgbClr val="2A7F8E"/>
          </a:solidFill>
          <a:ln w="12700">
            <a:solidFill>
              <a:srgbClr val="2A7F8E"/>
            </a:solidFill>
            <a:prstDash val="solid"/>
          </a:ln>
        </p:spPr>
      </p:sp>
      <p:sp>
        <p:nvSpPr>
          <p:cNvPr id="9" name="Text 6"/>
          <p:cNvSpPr txBox="1"/>
          <p:nvPr/>
        </p:nvSpPr>
        <p:spPr>
          <a:xfrm>
            <a:off x="6492240" y="1828800"/>
            <a:ext cx="2377440" cy="1097280"/>
          </a:xfrm>
          <a:prstGeom prst="rect">
            <a:avLst/>
          </a:prstGeom>
          <a:noFill/>
          <a:ln/>
        </p:spPr>
        <p:txBody>
          <a:bodyPr wrap="square" lIns="635" tIns="635" rIns="635" bIns="635" rtlCol="0" anchor="ctr"/>
          <a:lstStyle/>
          <a:p>
            <a:pPr algn="ctr" indent="0" marL="0">
              <a:buNone/>
            </a:pPr>
            <a:r>
              <a:rPr lang="en-US" sz="1300" b="1" dirty="0">
                <a:solidFill>
                  <a:srgbClr val="FFFFFF"/>
                </a:solidFill>
              </a:rPr>
              <a:t>mx.example.com</a:t>
            </a:r>
            <a:endParaRPr lang="en-US" sz="1300" dirty="0"/>
          </a:p>
          <a:p>
            <a:pPr algn="ctr" indent="0" marL="0">
              <a:buNone/>
            </a:pPr>
            <a:r>
              <a:rPr lang="en-US" sz="1300" dirty="0">
                <a:solidFill>
                  <a:srgbClr val="FFFFFF"/>
                </a:solidFill>
              </a:rPr>
              <a:t>Bob’s mailbox</a:t>
            </a:r>
            <a:endParaRPr lang="en-US" sz="1300" dirty="0"/>
          </a:p>
        </p:txBody>
      </p:sp>
      <p:sp>
        <p:nvSpPr>
          <p:cNvPr id="10" name="box"/>
          <p:cNvSpPr/>
          <p:nvPr/>
        </p:nvSpPr>
        <p:spPr>
          <a:xfrm>
            <a:off x="9601200" y="1828800"/>
            <a:ext cx="2011680" cy="1097280"/>
          </a:xfrm>
          <a:prstGeom prst="roundRect">
            <a:avLst>
              <a:gd name="adj" fmla="val 6667"/>
            </a:avLst>
          </a:prstGeom>
          <a:solidFill>
            <a:srgbClr val="EEF2F6"/>
          </a:solidFill>
          <a:ln w="12700">
            <a:solidFill>
              <a:srgbClr val="EEF2F6"/>
            </a:solidFill>
            <a:prstDash val="solid"/>
          </a:ln>
        </p:spPr>
      </p:sp>
      <p:sp>
        <p:nvSpPr>
          <p:cNvPr id="11" name="Text 8"/>
          <p:cNvSpPr txBox="1"/>
          <p:nvPr/>
        </p:nvSpPr>
        <p:spPr>
          <a:xfrm>
            <a:off x="9601200" y="1828800"/>
            <a:ext cx="2011680" cy="1097280"/>
          </a:xfrm>
          <a:prstGeom prst="rect">
            <a:avLst/>
          </a:prstGeom>
          <a:noFill/>
          <a:ln/>
        </p:spPr>
        <p:txBody>
          <a:bodyPr wrap="square" lIns="635" tIns="635" rIns="635" bIns="635" rtlCol="0" anchor="ctr"/>
          <a:lstStyle/>
          <a:p>
            <a:pPr algn="ctr" indent="0" marL="0">
              <a:buNone/>
            </a:pPr>
            <a:r>
              <a:rPr lang="en-US" sz="1300" b="1" dirty="0">
                <a:solidFill>
                  <a:srgbClr val="1B2430"/>
                </a:solidFill>
              </a:rPr>
              <a:t>Bob</a:t>
            </a:r>
            <a:endParaRPr lang="en-US" sz="1300" dirty="0"/>
          </a:p>
          <a:p>
            <a:pPr algn="ctr" indent="0" marL="0">
              <a:buNone/>
            </a:pPr>
            <a:r>
              <a:rPr lang="en-US" sz="1300" dirty="0">
                <a:solidFill>
                  <a:srgbClr val="1B2430"/>
                </a:solidFill>
              </a:rPr>
              <a:t>user agent</a:t>
            </a:r>
            <a:endParaRPr lang="en-US" sz="1300" dirty="0"/>
          </a:p>
        </p:txBody>
      </p:sp>
      <p:sp>
        <p:nvSpPr>
          <p:cNvPr id="12" name="Shape 9"/>
          <p:cNvSpPr/>
          <p:nvPr/>
        </p:nvSpPr>
        <p:spPr>
          <a:xfrm>
            <a:off x="2560320" y="2377440"/>
            <a:ext cx="731520" cy="914"/>
          </a:xfrm>
          <a:prstGeom prst="line">
            <a:avLst/>
          </a:prstGeom>
          <a:noFill/>
          <a:ln w="38100">
            <a:solidFill>
              <a:srgbClr val="1F3A5F"/>
            </a:solidFill>
            <a:prstDash val="solid"/>
            <a:tailEnd type="triangle"/>
          </a:ln>
        </p:spPr>
      </p:sp>
      <p:sp>
        <p:nvSpPr>
          <p:cNvPr id="13" name="Text 10"/>
          <p:cNvSpPr txBox="1"/>
          <p:nvPr/>
        </p:nvSpPr>
        <p:spPr>
          <a:xfrm>
            <a:off x="2514600" y="1874520"/>
            <a:ext cx="82296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SMTP</a:t>
            </a:r>
            <a:endParaRPr lang="en-US" sz="1200" dirty="0"/>
          </a:p>
        </p:txBody>
      </p:sp>
      <p:sp>
        <p:nvSpPr>
          <p:cNvPr id="14" name="Shape 11"/>
          <p:cNvSpPr/>
          <p:nvPr/>
        </p:nvSpPr>
        <p:spPr>
          <a:xfrm>
            <a:off x="5669280" y="2377440"/>
            <a:ext cx="822960" cy="914"/>
          </a:xfrm>
          <a:prstGeom prst="line">
            <a:avLst/>
          </a:prstGeom>
          <a:noFill/>
          <a:ln w="38100">
            <a:solidFill>
              <a:srgbClr val="1F3A5F"/>
            </a:solidFill>
            <a:prstDash val="solid"/>
            <a:tailEnd type="triangle"/>
          </a:ln>
        </p:spPr>
      </p:sp>
      <p:sp>
        <p:nvSpPr>
          <p:cNvPr id="15" name="Text 12"/>
          <p:cNvSpPr txBox="1"/>
          <p:nvPr/>
        </p:nvSpPr>
        <p:spPr>
          <a:xfrm>
            <a:off x="5669280" y="1874520"/>
            <a:ext cx="82296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SMTP</a:t>
            </a:r>
            <a:endParaRPr lang="en-US" sz="1200" dirty="0"/>
          </a:p>
        </p:txBody>
      </p:sp>
      <p:sp>
        <p:nvSpPr>
          <p:cNvPr id="16" name="Shape 13"/>
          <p:cNvSpPr/>
          <p:nvPr/>
        </p:nvSpPr>
        <p:spPr>
          <a:xfrm flipH="1">
            <a:off x="8869680" y="2377440"/>
            <a:ext cx="731520" cy="914"/>
          </a:xfrm>
          <a:prstGeom prst="line">
            <a:avLst/>
          </a:prstGeom>
          <a:noFill/>
          <a:ln w="38100">
            <a:solidFill>
              <a:srgbClr val="B9772A"/>
            </a:solidFill>
            <a:prstDash val="solid"/>
            <a:tailEnd type="triangle"/>
          </a:ln>
        </p:spPr>
      </p:sp>
      <p:sp>
        <p:nvSpPr>
          <p:cNvPr id="17" name="Text 14"/>
          <p:cNvSpPr txBox="1"/>
          <p:nvPr/>
        </p:nvSpPr>
        <p:spPr>
          <a:xfrm>
            <a:off x="8595360" y="1874520"/>
            <a:ext cx="128016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B9772A"/>
                </a:solidFill>
              </a:rPr>
              <a:t>IMAP / POP3</a:t>
            </a:r>
            <a:endParaRPr lang="en-US" sz="1200" dirty="0"/>
          </a:p>
        </p:txBody>
      </p:sp>
      <p:sp>
        <p:nvSpPr>
          <p:cNvPr id="18" name="box"/>
          <p:cNvSpPr/>
          <p:nvPr/>
        </p:nvSpPr>
        <p:spPr>
          <a:xfrm>
            <a:off x="3657600" y="3429000"/>
            <a:ext cx="3291840" cy="822960"/>
          </a:xfrm>
          <a:prstGeom prst="roundRect">
            <a:avLst>
              <a:gd name="adj" fmla="val 8889"/>
            </a:avLst>
          </a:prstGeom>
          <a:solidFill>
            <a:srgbClr val="F3EAD7"/>
          </a:solidFill>
          <a:ln w="12700">
            <a:solidFill>
              <a:srgbClr val="F3EAD7"/>
            </a:solidFill>
            <a:prstDash val="solid"/>
          </a:ln>
        </p:spPr>
      </p:sp>
      <p:sp>
        <p:nvSpPr>
          <p:cNvPr id="19" name="Text 16"/>
          <p:cNvSpPr txBox="1"/>
          <p:nvPr/>
        </p:nvSpPr>
        <p:spPr>
          <a:xfrm>
            <a:off x="3657600" y="3429000"/>
            <a:ext cx="3291840" cy="822960"/>
          </a:xfrm>
          <a:prstGeom prst="rect">
            <a:avLst/>
          </a:prstGeom>
          <a:noFill/>
          <a:ln/>
        </p:spPr>
        <p:txBody>
          <a:bodyPr wrap="square" lIns="635" tIns="635" rIns="635" bIns="635" rtlCol="0" anchor="ctr"/>
          <a:lstStyle/>
          <a:p>
            <a:pPr algn="ctr" indent="0" marL="0">
              <a:buNone/>
            </a:pPr>
            <a:r>
              <a:rPr lang="en-US" sz="1200" b="1" dirty="0">
                <a:solidFill>
                  <a:srgbClr val="1B2430"/>
                </a:solidFill>
              </a:rPr>
              <a:t>DNS</a:t>
            </a:r>
            <a:r>
              <a:rPr lang="en-US" sz="1200" dirty="0">
                <a:solidFill>
                  <a:srgbClr val="1B2430"/>
                </a:solidFill>
              </a:rPr>
              <a:t>: example.com MX ?</a:t>
            </a:r>
            <a:endParaRPr lang="en-US" sz="1200" dirty="0"/>
          </a:p>
          <a:p>
            <a:pPr algn="ctr" indent="0" marL="0">
              <a:buNone/>
            </a:pPr>
            <a:r>
              <a:rPr lang="en-US" sz="1200" dirty="0">
                <a:solidFill>
                  <a:srgbClr val="1B2430"/>
                </a:solidFill>
              </a:rPr>
              <a:t>→ mx.example.com</a:t>
            </a:r>
            <a:endParaRPr lang="en-US" sz="1200" dirty="0"/>
          </a:p>
        </p:txBody>
      </p:sp>
      <p:sp>
        <p:nvSpPr>
          <p:cNvPr id="20" name="Shape 17"/>
          <p:cNvSpPr/>
          <p:nvPr/>
        </p:nvSpPr>
        <p:spPr>
          <a:xfrm>
            <a:off x="4480560" y="2926080"/>
            <a:ext cx="274320" cy="502920"/>
          </a:xfrm>
          <a:prstGeom prst="line">
            <a:avLst/>
          </a:prstGeom>
          <a:noFill/>
          <a:ln w="22225">
            <a:solidFill>
              <a:srgbClr val="5B6770"/>
            </a:solidFill>
            <a:prstDash val="dash"/>
            <a:headEnd type="triangle"/>
            <a:tailEnd type="triangle"/>
          </a:ln>
        </p:spPr>
      </p:sp>
      <p:sp>
        <p:nvSpPr>
          <p:cNvPr id="21" name="Text 18"/>
          <p:cNvSpPr txBox="1"/>
          <p:nvPr/>
        </p:nvSpPr>
        <p:spPr>
          <a:xfrm>
            <a:off x="548640" y="3154680"/>
            <a:ext cx="2743200" cy="365760"/>
          </a:xfrm>
          <a:prstGeom prst="rect">
            <a:avLst/>
          </a:prstGeom>
          <a:noFill/>
          <a:ln/>
        </p:spPr>
        <p:txBody>
          <a:bodyPr wrap="square" lIns="0" tIns="0" rIns="0" bIns="0" rtlCol="0" anchor="t"/>
          <a:lstStyle/>
          <a:p>
            <a:pPr algn="l" indent="0" marL="0">
              <a:spcAft>
                <a:spcPts val="400"/>
              </a:spcAft>
              <a:buNone/>
            </a:pPr>
            <a:r>
              <a:rPr lang="en-US" sz="1500" b="1" dirty="0">
                <a:solidFill>
                  <a:srgbClr val="1F3A5F"/>
                </a:solidFill>
              </a:rPr>
              <a:t>push</a:t>
            </a:r>
            <a:r>
              <a:rPr lang="en-US" sz="1500" dirty="0">
                <a:solidFill>
                  <a:srgbClr val="1F3A5F"/>
                </a:solidFill>
              </a:rPr>
              <a:t> →</a:t>
            </a:r>
            <a:endParaRPr lang="en-US" sz="1500" dirty="0"/>
          </a:p>
        </p:txBody>
      </p:sp>
      <p:sp>
        <p:nvSpPr>
          <p:cNvPr id="22" name="Text 19"/>
          <p:cNvSpPr txBox="1"/>
          <p:nvPr/>
        </p:nvSpPr>
        <p:spPr>
          <a:xfrm>
            <a:off x="9326880" y="3154680"/>
            <a:ext cx="2286000" cy="365760"/>
          </a:xfrm>
          <a:prstGeom prst="rect">
            <a:avLst/>
          </a:prstGeom>
          <a:noFill/>
          <a:ln/>
        </p:spPr>
        <p:txBody>
          <a:bodyPr wrap="square" lIns="0" tIns="0" rIns="0" bIns="0" rtlCol="0" anchor="t"/>
          <a:lstStyle/>
          <a:p>
            <a:pPr algn="r" indent="0" marL="0">
              <a:spcAft>
                <a:spcPts val="400"/>
              </a:spcAft>
              <a:buNone/>
            </a:pPr>
            <a:r>
              <a:rPr lang="en-US" sz="1500" dirty="0">
                <a:solidFill>
                  <a:srgbClr val="B9772A"/>
                </a:solidFill>
              </a:rPr>
              <a:t>← </a:t>
            </a:r>
            <a:r>
              <a:rPr lang="en-US" sz="1500" b="1" dirty="0">
                <a:solidFill>
                  <a:srgbClr val="B9772A"/>
                </a:solidFill>
              </a:rPr>
              <a:t>pull</a:t>
            </a:r>
            <a:endParaRPr lang="en-US" sz="1500" dirty="0"/>
          </a:p>
        </p:txBody>
      </p:sp>
      <p:sp>
        <p:nvSpPr>
          <p:cNvPr id="23" name="Shape 20"/>
          <p:cNvSpPr/>
          <p:nvPr/>
        </p:nvSpPr>
        <p:spPr>
          <a:xfrm>
            <a:off x="548640" y="4544568"/>
            <a:ext cx="384048" cy="384048"/>
          </a:xfrm>
          <a:prstGeom prst="ellipse">
            <a:avLst/>
          </a:prstGeom>
          <a:solidFill>
            <a:srgbClr val="B9772A"/>
          </a:solidFill>
          <a:ln w="12700">
            <a:solidFill>
              <a:srgbClr val="B9772A"/>
            </a:solidFill>
            <a:prstDash val="solid"/>
          </a:ln>
        </p:spPr>
      </p:sp>
      <p:sp>
        <p:nvSpPr>
          <p:cNvPr id="24" name="Text 21"/>
          <p:cNvSpPr txBox="1"/>
          <p:nvPr/>
        </p:nvSpPr>
        <p:spPr>
          <a:xfrm>
            <a:off x="548640" y="4544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5" name="Text 22"/>
          <p:cNvSpPr txBox="1"/>
          <p:nvPr/>
        </p:nvSpPr>
        <p:spPr>
          <a:xfrm>
            <a:off x="1051560" y="4526280"/>
            <a:ext cx="4983480" cy="109728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Asynchronous</a:t>
            </a:r>
            <a:r>
              <a:rPr lang="en-US" sz="1300" dirty="0">
                <a:solidFill>
                  <a:srgbClr val="1B2430"/>
                </a:solidFill>
              </a:rPr>
              <a:t>: Bob need not be on line when Alice sends.</a:t>
            </a:r>
            <a:endParaRPr lang="en-US" sz="1300" dirty="0"/>
          </a:p>
        </p:txBody>
      </p:sp>
      <p:sp>
        <p:nvSpPr>
          <p:cNvPr id="26" name="Shape 23"/>
          <p:cNvSpPr/>
          <p:nvPr/>
        </p:nvSpPr>
        <p:spPr>
          <a:xfrm>
            <a:off x="6217920" y="4544568"/>
            <a:ext cx="384048" cy="384048"/>
          </a:xfrm>
          <a:prstGeom prst="ellipse">
            <a:avLst/>
          </a:prstGeom>
          <a:solidFill>
            <a:srgbClr val="B9772A"/>
          </a:solidFill>
          <a:ln w="12700">
            <a:solidFill>
              <a:srgbClr val="B9772A"/>
            </a:solidFill>
            <a:prstDash val="solid"/>
          </a:ln>
        </p:spPr>
      </p:sp>
      <p:sp>
        <p:nvSpPr>
          <p:cNvPr id="27" name="Text 24"/>
          <p:cNvSpPr txBox="1"/>
          <p:nvPr/>
        </p:nvSpPr>
        <p:spPr>
          <a:xfrm>
            <a:off x="6217920" y="4544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8" name="Text 25"/>
          <p:cNvSpPr txBox="1"/>
          <p:nvPr/>
        </p:nvSpPr>
        <p:spPr>
          <a:xfrm>
            <a:off x="6720840" y="4526280"/>
            <a:ext cx="4892040" cy="10972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Receiving server down? The sender’s server </a:t>
            </a:r>
            <a:r>
              <a:rPr lang="en-US" sz="1300" b="1" dirty="0">
                <a:solidFill>
                  <a:srgbClr val="1B2430"/>
                </a:solidFill>
              </a:rPr>
              <a:t>queues</a:t>
            </a:r>
            <a:r>
              <a:rPr lang="en-US" sz="1300" dirty="0">
                <a:solidFill>
                  <a:srgbClr val="1B2430"/>
                </a:solidFill>
              </a:rPr>
              <a:t> and retries for days, then bounces.</a:t>
            </a:r>
            <a:endParaRPr lang="en-US" sz="1300" dirty="0"/>
          </a:p>
        </p:txBody>
      </p:sp>
      <p:sp>
        <p:nvSpPr>
          <p:cNvPr id="29"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0" name="Text 27"/>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SMTP pushes between servers; IMAP or POP3 pull from the mailbox; DNS says where to push.</a:t>
            </a:r>
            <a:endParaRPr lang="en-US" sz="1400" dirty="0"/>
          </a:p>
        </p:txBody>
      </p:sp>
      <p:sp>
        <p:nvSpPr>
          <p:cNvPr id="31" name="Text 28"/>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SMTP (Simple Mail Transfer Protocol) · POP3 (Post Office Protocol version 3) · IMAP (Internet Message Access Protocol) · DNS (Domain Name System) · MX (mail exchanger)</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 An SMTP dialogue</a:t>
            </a:r>
            <a:endParaRPr lang="en-US" sz="3000" dirty="0"/>
          </a:p>
        </p:txBody>
      </p:sp>
      <p:sp>
        <p:nvSpPr>
          <p:cNvPr id="4" name="code"/>
          <p:cNvSpPr/>
          <p:nvPr/>
        </p:nvSpPr>
        <p:spPr>
          <a:xfrm>
            <a:off x="548640" y="1280160"/>
            <a:ext cx="5760720" cy="4343400"/>
          </a:xfrm>
          <a:prstGeom prst="rect">
            <a:avLst/>
          </a:prstGeom>
          <a:solidFill>
            <a:srgbClr val="1E2A38"/>
          </a:solidFill>
          <a:ln w="12700">
            <a:solidFill>
              <a:srgbClr val="1E2A38"/>
            </a:solidFill>
            <a:prstDash val="solid"/>
          </a:ln>
        </p:spPr>
      </p:sp>
      <p:sp>
        <p:nvSpPr>
          <p:cNvPr id="5" name="Text 2"/>
          <p:cNvSpPr txBox="1"/>
          <p:nvPr/>
        </p:nvSpPr>
        <p:spPr>
          <a:xfrm>
            <a:off x="548640" y="1280160"/>
            <a:ext cx="5760720" cy="4343400"/>
          </a:xfrm>
          <a:prstGeom prst="rect">
            <a:avLst/>
          </a:prstGeom>
          <a:noFill/>
          <a:ln/>
        </p:spPr>
        <p:txBody>
          <a:bodyPr wrap="square" lIns="101600" tIns="101600" rIns="101600" bIns="101600" rtlCol="0" anchor="t"/>
          <a:lstStyle/>
          <a:p>
            <a:pPr algn="l" indent="0" marL="0">
              <a:buNone/>
            </a:pPr>
            <a:r>
              <a:rPr lang="en-US" sz="1100" dirty="0">
                <a:solidFill>
                  <a:srgbClr val="E8EEF4"/>
                </a:solidFill>
                <a:latin typeface="Consolas" pitchFamily="34" charset="0"/>
                <a:ea typeface="Consolas" pitchFamily="34" charset="-122"/>
                <a:cs typeface="Consolas" pitchFamily="34" charset="-120"/>
              </a:rPr>
              <a:t>S: 220 mx.example.com ESMTP ready</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EHLO mail.uni.ro</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250-mx.example.com</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250-SIZE 52428800</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250 STARTTLS</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MAIL FROM:&lt;alice@uni.ro&gt;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250 OK</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RCPT TO:&lt;bob@example.com&gt;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250 OK</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DATA</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354 End data with &lt;CR&gt;&lt;LF&gt;.&lt;CR&gt;&lt;LF&gt;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From: Alice &lt;alice@uni.ro&gt;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Subject: Lab 5</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Hello Bob, see you on Monday.</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250 OK: queued as 7F3A2</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QUIT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221 Bye</a:t>
            </a:r>
            <a:endParaRPr lang="en-US" sz="1100" dirty="0"/>
          </a:p>
        </p:txBody>
      </p:sp>
      <p:sp>
        <p:nvSpPr>
          <p:cNvPr id="6" name="box"/>
          <p:cNvSpPr/>
          <p:nvPr/>
        </p:nvSpPr>
        <p:spPr>
          <a:xfrm>
            <a:off x="6583680" y="1325880"/>
            <a:ext cx="2651760" cy="438912"/>
          </a:xfrm>
          <a:prstGeom prst="roundRect">
            <a:avLst>
              <a:gd name="adj" fmla="val 16667"/>
            </a:avLst>
          </a:prstGeom>
          <a:solidFill>
            <a:srgbClr val="5B6770"/>
          </a:solidFill>
          <a:ln w="12700">
            <a:solidFill>
              <a:srgbClr val="5B6770"/>
            </a:solidFill>
            <a:prstDash val="solid"/>
          </a:ln>
        </p:spPr>
      </p:sp>
      <p:sp>
        <p:nvSpPr>
          <p:cNvPr id="7" name="Text 4"/>
          <p:cNvSpPr txBox="1"/>
          <p:nvPr/>
        </p:nvSpPr>
        <p:spPr>
          <a:xfrm>
            <a:off x="6583680" y="1325880"/>
            <a:ext cx="2651760" cy="438912"/>
          </a:xfrm>
          <a:prstGeom prst="rect">
            <a:avLst/>
          </a:prstGeom>
          <a:noFill/>
          <a:ln/>
        </p:spPr>
        <p:txBody>
          <a:bodyPr wrap="square" lIns="635" tIns="635" rIns="635" bIns="635" rtlCol="0" anchor="ctr"/>
          <a:lstStyle/>
          <a:p>
            <a:pPr algn="ctr" indent="0" marL="0">
              <a:buNone/>
            </a:pPr>
            <a:r>
              <a:rPr lang="en-US" sz="1200" dirty="0">
                <a:solidFill>
                  <a:srgbClr val="FFFFFF"/>
                </a:solidFill>
              </a:rPr>
              <a:t>greeting + extensions</a:t>
            </a:r>
            <a:endParaRPr lang="en-US" sz="1200" dirty="0"/>
          </a:p>
        </p:txBody>
      </p:sp>
      <p:sp>
        <p:nvSpPr>
          <p:cNvPr id="8" name="box"/>
          <p:cNvSpPr/>
          <p:nvPr/>
        </p:nvSpPr>
        <p:spPr>
          <a:xfrm>
            <a:off x="6583680" y="2514600"/>
            <a:ext cx="2651760" cy="438912"/>
          </a:xfrm>
          <a:prstGeom prst="roundRect">
            <a:avLst>
              <a:gd name="adj" fmla="val 16667"/>
            </a:avLst>
          </a:prstGeom>
          <a:solidFill>
            <a:srgbClr val="1F3A5F"/>
          </a:solidFill>
          <a:ln w="12700">
            <a:solidFill>
              <a:srgbClr val="1F3A5F"/>
            </a:solidFill>
            <a:prstDash val="solid"/>
          </a:ln>
        </p:spPr>
      </p:sp>
      <p:sp>
        <p:nvSpPr>
          <p:cNvPr id="9" name="Text 6"/>
          <p:cNvSpPr txBox="1"/>
          <p:nvPr/>
        </p:nvSpPr>
        <p:spPr>
          <a:xfrm>
            <a:off x="6583680" y="2514600"/>
            <a:ext cx="2651760" cy="438912"/>
          </a:xfrm>
          <a:prstGeom prst="rect">
            <a:avLst/>
          </a:prstGeom>
          <a:noFill/>
          <a:ln/>
        </p:spPr>
        <p:txBody>
          <a:bodyPr wrap="square" lIns="635" tIns="635" rIns="635" bIns="635" rtlCol="0" anchor="ctr"/>
          <a:lstStyle/>
          <a:p>
            <a:pPr algn="ctr" indent="0" marL="0">
              <a:buNone/>
            </a:pPr>
            <a:r>
              <a:rPr lang="en-US" sz="1200" dirty="0">
                <a:solidFill>
                  <a:srgbClr val="FFFFFF"/>
                </a:solidFill>
              </a:rPr>
              <a:t>envelope</a:t>
            </a:r>
            <a:endParaRPr lang="en-US" sz="1200" dirty="0"/>
          </a:p>
        </p:txBody>
      </p:sp>
      <p:sp>
        <p:nvSpPr>
          <p:cNvPr id="10" name="box"/>
          <p:cNvSpPr/>
          <p:nvPr/>
        </p:nvSpPr>
        <p:spPr>
          <a:xfrm>
            <a:off x="6583680" y="3429000"/>
            <a:ext cx="2651760" cy="438912"/>
          </a:xfrm>
          <a:prstGeom prst="roundRect">
            <a:avLst>
              <a:gd name="adj" fmla="val 16667"/>
            </a:avLst>
          </a:prstGeom>
          <a:solidFill>
            <a:srgbClr val="2A7F8E"/>
          </a:solidFill>
          <a:ln w="12700">
            <a:solidFill>
              <a:srgbClr val="2A7F8E"/>
            </a:solidFill>
            <a:prstDash val="solid"/>
          </a:ln>
        </p:spPr>
      </p:sp>
      <p:sp>
        <p:nvSpPr>
          <p:cNvPr id="11" name="Text 8"/>
          <p:cNvSpPr txBox="1"/>
          <p:nvPr/>
        </p:nvSpPr>
        <p:spPr>
          <a:xfrm>
            <a:off x="6583680" y="3429000"/>
            <a:ext cx="2651760" cy="438912"/>
          </a:xfrm>
          <a:prstGeom prst="rect">
            <a:avLst/>
          </a:prstGeom>
          <a:noFill/>
          <a:ln/>
        </p:spPr>
        <p:txBody>
          <a:bodyPr wrap="square" lIns="635" tIns="635" rIns="635" bIns="635" rtlCol="0" anchor="ctr"/>
          <a:lstStyle/>
          <a:p>
            <a:pPr algn="ctr" indent="0" marL="0">
              <a:buNone/>
            </a:pPr>
            <a:r>
              <a:rPr lang="en-US" sz="1200" dirty="0">
                <a:solidFill>
                  <a:srgbClr val="FFFFFF"/>
                </a:solidFill>
              </a:rPr>
              <a:t>the message</a:t>
            </a:r>
            <a:endParaRPr lang="en-US" sz="1200" dirty="0"/>
          </a:p>
        </p:txBody>
      </p:sp>
      <p:sp>
        <p:nvSpPr>
          <p:cNvPr id="12" name="box"/>
          <p:cNvSpPr/>
          <p:nvPr/>
        </p:nvSpPr>
        <p:spPr>
          <a:xfrm>
            <a:off x="6583680" y="4526280"/>
            <a:ext cx="2651760" cy="438912"/>
          </a:xfrm>
          <a:prstGeom prst="roundRect">
            <a:avLst>
              <a:gd name="adj" fmla="val 16667"/>
            </a:avLst>
          </a:prstGeom>
          <a:solidFill>
            <a:srgbClr val="B9772A"/>
          </a:solidFill>
          <a:ln w="12700">
            <a:solidFill>
              <a:srgbClr val="B9772A"/>
            </a:solidFill>
            <a:prstDash val="solid"/>
          </a:ln>
        </p:spPr>
      </p:sp>
      <p:sp>
        <p:nvSpPr>
          <p:cNvPr id="13" name="Text 10"/>
          <p:cNvSpPr txBox="1"/>
          <p:nvPr/>
        </p:nvSpPr>
        <p:spPr>
          <a:xfrm>
            <a:off x="6583680" y="4526280"/>
            <a:ext cx="2651760" cy="438912"/>
          </a:xfrm>
          <a:prstGeom prst="rect">
            <a:avLst/>
          </a:prstGeom>
          <a:noFill/>
          <a:ln/>
        </p:spPr>
        <p:txBody>
          <a:bodyPr wrap="square" lIns="635" tIns="635" rIns="635" bIns="635" rtlCol="0" anchor="ctr"/>
          <a:lstStyle/>
          <a:p>
            <a:pPr algn="ctr" indent="0" marL="0">
              <a:buNone/>
            </a:pPr>
            <a:r>
              <a:rPr lang="en-US" sz="1200" dirty="0">
                <a:solidFill>
                  <a:srgbClr val="FFFFFF"/>
                </a:solidFill>
              </a:rPr>
              <a:t>end: a lone dot</a:t>
            </a:r>
            <a:endParaRPr lang="en-US" sz="1200" dirty="0"/>
          </a:p>
        </p:txBody>
      </p:sp>
      <p:sp>
        <p:nvSpPr>
          <p:cNvPr id="14" name="box"/>
          <p:cNvSpPr/>
          <p:nvPr/>
        </p:nvSpPr>
        <p:spPr>
          <a:xfrm>
            <a:off x="6583680" y="5074920"/>
            <a:ext cx="2651760" cy="438912"/>
          </a:xfrm>
          <a:prstGeom prst="roundRect">
            <a:avLst>
              <a:gd name="adj" fmla="val 16667"/>
            </a:avLst>
          </a:prstGeom>
          <a:solidFill>
            <a:srgbClr val="5B6770"/>
          </a:solidFill>
          <a:ln w="12700">
            <a:solidFill>
              <a:srgbClr val="5B6770"/>
            </a:solidFill>
            <a:prstDash val="solid"/>
          </a:ln>
        </p:spPr>
      </p:sp>
      <p:sp>
        <p:nvSpPr>
          <p:cNvPr id="15" name="Text 12"/>
          <p:cNvSpPr txBox="1"/>
          <p:nvPr/>
        </p:nvSpPr>
        <p:spPr>
          <a:xfrm>
            <a:off x="6583680" y="5074920"/>
            <a:ext cx="2651760" cy="438912"/>
          </a:xfrm>
          <a:prstGeom prst="rect">
            <a:avLst/>
          </a:prstGeom>
          <a:noFill/>
          <a:ln/>
        </p:spPr>
        <p:txBody>
          <a:bodyPr wrap="square" lIns="635" tIns="635" rIns="635" bIns="635" rtlCol="0" anchor="ctr"/>
          <a:lstStyle/>
          <a:p>
            <a:pPr algn="ctr" indent="0" marL="0">
              <a:buNone/>
            </a:pPr>
            <a:r>
              <a:rPr lang="en-US" sz="1200" dirty="0">
                <a:solidFill>
                  <a:srgbClr val="FFFFFF"/>
                </a:solidFill>
              </a:rPr>
              <a:t>close</a:t>
            </a:r>
            <a:endParaRPr lang="en-US" sz="1200" dirty="0"/>
          </a:p>
        </p:txBody>
      </p:sp>
      <p:sp>
        <p:nvSpPr>
          <p:cNvPr id="16" name="Text 13"/>
          <p:cNvSpPr txBox="1"/>
          <p:nvPr/>
        </p:nvSpPr>
        <p:spPr>
          <a:xfrm>
            <a:off x="9418320" y="1325880"/>
            <a:ext cx="2194560" cy="4206240"/>
          </a:xfrm>
          <a:prstGeom prst="rect">
            <a:avLst/>
          </a:prstGeom>
          <a:noFill/>
          <a:ln/>
        </p:spPr>
        <p:txBody>
          <a:bodyPr wrap="square" lIns="0" tIns="0" rIns="0" bIns="0" rtlCol="0" anchor="t"/>
          <a:lstStyle/>
          <a:p>
            <a:pPr algn="l" indent="0" marL="0">
              <a:spcAft>
                <a:spcPts val="400"/>
              </a:spcAft>
              <a:buNone/>
            </a:pPr>
            <a:r>
              <a:rPr lang="en-US" sz="1200" dirty="0">
                <a:solidFill>
                  <a:srgbClr val="5B6770"/>
                </a:solidFill>
              </a:rPr>
              <a:t>RFC 5321</a:t>
            </a:r>
            <a:endParaRPr lang="en-US" sz="1200" dirty="0"/>
          </a:p>
          <a:p>
            <a:pPr algn="l" indent="0" marL="0">
              <a:spcAft>
                <a:spcPts val="400"/>
              </a:spcAft>
              <a:buNone/>
            </a:pPr>
            <a:r>
              <a:rPr lang="en-US" sz="1200" dirty="0">
                <a:solidFill>
                  <a:srgbClr val="5B6770"/>
                </a:solidFill>
              </a:rPr>
              <a:t> </a:t>
            </a:r>
            <a:endParaRPr lang="en-US" sz="1200" dirty="0"/>
          </a:p>
          <a:p>
            <a:pPr algn="l" indent="0" marL="0">
              <a:spcAft>
                <a:spcPts val="400"/>
              </a:spcAft>
              <a:buNone/>
            </a:pPr>
            <a:r>
              <a:rPr lang="en-US" sz="1200" dirty="0">
                <a:solidFill>
                  <a:srgbClr val="5B6770"/>
                </a:solidFill>
              </a:rPr>
              <a:t>2xx done</a:t>
            </a:r>
            <a:endParaRPr lang="en-US" sz="1200" dirty="0"/>
          </a:p>
          <a:p>
            <a:pPr algn="l" indent="0" marL="0">
              <a:spcAft>
                <a:spcPts val="400"/>
              </a:spcAft>
              <a:buNone/>
            </a:pPr>
            <a:r>
              <a:rPr lang="en-US" sz="1200" dirty="0">
                <a:solidFill>
                  <a:srgbClr val="5B6770"/>
                </a:solidFill>
              </a:rPr>
              <a:t>3xx send more</a:t>
            </a:r>
            <a:endParaRPr lang="en-US" sz="1200" dirty="0"/>
          </a:p>
          <a:p>
            <a:pPr algn="l" indent="0" marL="0">
              <a:spcAft>
                <a:spcPts val="400"/>
              </a:spcAft>
              <a:buNone/>
            </a:pPr>
            <a:r>
              <a:rPr lang="en-US" sz="1200" dirty="0">
                <a:solidFill>
                  <a:srgbClr val="5B6770"/>
                </a:solidFill>
              </a:rPr>
              <a:t>4xx try later</a:t>
            </a:r>
            <a:endParaRPr lang="en-US" sz="1200" dirty="0"/>
          </a:p>
          <a:p>
            <a:pPr algn="l" indent="0" marL="0">
              <a:spcAft>
                <a:spcPts val="400"/>
              </a:spcAft>
              <a:buNone/>
            </a:pPr>
            <a:r>
              <a:rPr lang="en-US" sz="1200" dirty="0">
                <a:solidFill>
                  <a:srgbClr val="5B6770"/>
                </a:solidFill>
              </a:rPr>
              <a:t>5xx permanent</a:t>
            </a:r>
            <a:endParaRPr lang="en-US" sz="1200" dirty="0"/>
          </a:p>
          <a:p>
            <a:pPr algn="l" indent="0" marL="0">
              <a:spcAft>
                <a:spcPts val="400"/>
              </a:spcAft>
              <a:buNone/>
            </a:pPr>
            <a:r>
              <a:rPr lang="en-US" sz="1200" dirty="0">
                <a:solidFill>
                  <a:srgbClr val="5B6770"/>
                </a:solidFill>
              </a:rPr>
              <a:t> </a:t>
            </a:r>
            <a:endParaRPr lang="en-US" sz="1200" dirty="0"/>
          </a:p>
          <a:p>
            <a:pPr algn="l" indent="0" marL="0">
              <a:spcAft>
                <a:spcPts val="400"/>
              </a:spcAft>
              <a:buNone/>
            </a:pPr>
            <a:r>
              <a:rPr lang="en-US" sz="1200" dirty="0">
                <a:solidFill>
                  <a:srgbClr val="5B6770"/>
                </a:solidFill>
              </a:rPr>
              <a:t>550 no such user</a:t>
            </a:r>
            <a:endParaRPr lang="en-US" sz="1200" dirty="0"/>
          </a:p>
          <a:p>
            <a:pPr algn="l" indent="0" marL="0">
              <a:spcAft>
                <a:spcPts val="400"/>
              </a:spcAft>
              <a:buNone/>
            </a:pPr>
            <a:r>
              <a:rPr lang="en-US" sz="1200" dirty="0">
                <a:solidFill>
                  <a:srgbClr val="5B6770"/>
                </a:solidFill>
              </a:rPr>
              <a:t>552 too large</a:t>
            </a:r>
            <a:endParaRPr lang="en-US" sz="1200" dirty="0"/>
          </a:p>
        </p:txBody>
      </p:sp>
      <p:sp>
        <p:nvSpPr>
          <p:cNvPr id="1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8" name="Text 1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SMTP: greet, give the envelope, send the message, end it with a dot.</a:t>
            </a:r>
            <a:endParaRPr lang="en-US" sz="1400" dirty="0"/>
          </a:p>
        </p:txBody>
      </p:sp>
      <p:sp>
        <p:nvSpPr>
          <p:cNvPr id="19" name="Text 16"/>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STARTTLS (start TLS on this connection) · ESMTP (Extended SMTP) · SMTP (Simple Mail Transfer Protocol) · EHLO (extended hello) · RCPT (recipient) · RFC (Request for Comments) · CR (carriage return) · LF (line feed)</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 The SMTP commands</a:t>
            </a:r>
            <a:endParaRPr lang="en-US" sz="3000" dirty="0"/>
          </a:p>
        </p:txBody>
      </p:sp>
      <p:sp>
        <p:nvSpPr>
          <p:cNvPr id="4" name="box"/>
          <p:cNvSpPr/>
          <p:nvPr/>
        </p:nvSpPr>
        <p:spPr>
          <a:xfrm>
            <a:off x="548640" y="1280160"/>
            <a:ext cx="3246120" cy="411480"/>
          </a:xfrm>
          <a:prstGeom prst="rect">
            <a:avLst/>
          </a:prstGeom>
          <a:solidFill>
            <a:srgbClr val="1F3A5F"/>
          </a:solidFill>
          <a:ln w="12700">
            <a:solidFill>
              <a:srgbClr val="1F3A5F"/>
            </a:solidFill>
            <a:prstDash val="solid"/>
          </a:ln>
        </p:spPr>
      </p:sp>
      <p:sp>
        <p:nvSpPr>
          <p:cNvPr id="5" name="Text 2"/>
          <p:cNvSpPr txBox="1"/>
          <p:nvPr/>
        </p:nvSpPr>
        <p:spPr>
          <a:xfrm>
            <a:off x="548640" y="1280160"/>
            <a:ext cx="324612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Command</a:t>
            </a:r>
            <a:endParaRPr lang="en-US" sz="1300" dirty="0"/>
          </a:p>
        </p:txBody>
      </p:sp>
      <p:sp>
        <p:nvSpPr>
          <p:cNvPr id="6" name="box"/>
          <p:cNvSpPr/>
          <p:nvPr/>
        </p:nvSpPr>
        <p:spPr>
          <a:xfrm>
            <a:off x="3840480" y="1280160"/>
            <a:ext cx="7726680" cy="411480"/>
          </a:xfrm>
          <a:prstGeom prst="rect">
            <a:avLst/>
          </a:prstGeom>
          <a:solidFill>
            <a:srgbClr val="1F3A5F"/>
          </a:solidFill>
          <a:ln w="12700">
            <a:solidFill>
              <a:srgbClr val="1F3A5F"/>
            </a:solidFill>
            <a:prstDash val="solid"/>
          </a:ln>
        </p:spPr>
      </p:sp>
      <p:sp>
        <p:nvSpPr>
          <p:cNvPr id="7" name="Text 4"/>
          <p:cNvSpPr txBox="1"/>
          <p:nvPr/>
        </p:nvSpPr>
        <p:spPr>
          <a:xfrm>
            <a:off x="3840480" y="1280160"/>
            <a:ext cx="772668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Meaning</a:t>
            </a:r>
            <a:endParaRPr lang="en-US" sz="1300" dirty="0"/>
          </a:p>
        </p:txBody>
      </p:sp>
      <p:sp>
        <p:nvSpPr>
          <p:cNvPr id="8" name="box"/>
          <p:cNvSpPr/>
          <p:nvPr/>
        </p:nvSpPr>
        <p:spPr>
          <a:xfrm>
            <a:off x="548640" y="1737360"/>
            <a:ext cx="3246120" cy="548640"/>
          </a:xfrm>
          <a:prstGeom prst="rect">
            <a:avLst/>
          </a:prstGeom>
          <a:solidFill>
            <a:srgbClr val="EEF2F6"/>
          </a:solidFill>
          <a:ln w="12700">
            <a:solidFill>
              <a:srgbClr val="EEF2F6"/>
            </a:solidFill>
            <a:prstDash val="solid"/>
          </a:ln>
        </p:spPr>
      </p:sp>
      <p:sp>
        <p:nvSpPr>
          <p:cNvPr id="9" name="Text 6"/>
          <p:cNvSpPr txBox="1"/>
          <p:nvPr/>
        </p:nvSpPr>
        <p:spPr>
          <a:xfrm>
            <a:off x="548640" y="1737360"/>
            <a:ext cx="3246120" cy="54864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HELO / EHLO name</a:t>
            </a:r>
            <a:endParaRPr lang="en-US" sz="1300" dirty="0"/>
          </a:p>
        </p:txBody>
      </p:sp>
      <p:sp>
        <p:nvSpPr>
          <p:cNvPr id="10" name="box"/>
          <p:cNvSpPr/>
          <p:nvPr/>
        </p:nvSpPr>
        <p:spPr>
          <a:xfrm>
            <a:off x="3840480" y="1737360"/>
            <a:ext cx="7726680" cy="548640"/>
          </a:xfrm>
          <a:prstGeom prst="rect">
            <a:avLst/>
          </a:prstGeom>
          <a:solidFill>
            <a:srgbClr val="F7F9FB"/>
          </a:solidFill>
          <a:ln w="12700">
            <a:solidFill>
              <a:srgbClr val="F7F9FB"/>
            </a:solidFill>
            <a:prstDash val="solid"/>
          </a:ln>
        </p:spPr>
      </p:sp>
      <p:sp>
        <p:nvSpPr>
          <p:cNvPr id="11" name="Text 8"/>
          <p:cNvSpPr txBox="1"/>
          <p:nvPr/>
        </p:nvSpPr>
        <p:spPr>
          <a:xfrm>
            <a:off x="3840480" y="1737360"/>
            <a:ext cx="7726680" cy="548640"/>
          </a:xfrm>
          <a:prstGeom prst="rect">
            <a:avLst/>
          </a:prstGeom>
          <a:noFill/>
          <a:ln/>
        </p:spPr>
        <p:txBody>
          <a:bodyPr wrap="square" lIns="1270" tIns="1270" rIns="1270" bIns="1270" rtlCol="0" anchor="ctr"/>
          <a:lstStyle/>
          <a:p>
            <a:pPr algn="l" indent="0" marL="0">
              <a:buNone/>
            </a:pPr>
            <a:r>
              <a:rPr lang="en-US" sz="1300" dirty="0">
                <a:solidFill>
                  <a:srgbClr val="1B2430"/>
                </a:solidFill>
              </a:rPr>
              <a:t>greeting; EHLO asks the server to list its extensions: SIZE · 8BITMIME · STARTTLS · AUTH · SMTPUTF8</a:t>
            </a:r>
            <a:endParaRPr lang="en-US" sz="1300" dirty="0"/>
          </a:p>
        </p:txBody>
      </p:sp>
      <p:sp>
        <p:nvSpPr>
          <p:cNvPr id="12" name="box"/>
          <p:cNvSpPr/>
          <p:nvPr/>
        </p:nvSpPr>
        <p:spPr>
          <a:xfrm>
            <a:off x="548640" y="2331720"/>
            <a:ext cx="3246120" cy="548640"/>
          </a:xfrm>
          <a:prstGeom prst="rect">
            <a:avLst/>
          </a:prstGeom>
          <a:solidFill>
            <a:srgbClr val="EEF2F6"/>
          </a:solidFill>
          <a:ln w="12700">
            <a:solidFill>
              <a:srgbClr val="EEF2F6"/>
            </a:solidFill>
            <a:prstDash val="solid"/>
          </a:ln>
        </p:spPr>
      </p:sp>
      <p:sp>
        <p:nvSpPr>
          <p:cNvPr id="13" name="Text 10"/>
          <p:cNvSpPr txBox="1"/>
          <p:nvPr/>
        </p:nvSpPr>
        <p:spPr>
          <a:xfrm>
            <a:off x="548640" y="2331720"/>
            <a:ext cx="3246120" cy="54864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MAIL FROM:&lt;addr&gt;</a:t>
            </a:r>
            <a:endParaRPr lang="en-US" sz="1300" dirty="0"/>
          </a:p>
        </p:txBody>
      </p:sp>
      <p:sp>
        <p:nvSpPr>
          <p:cNvPr id="14" name="box"/>
          <p:cNvSpPr/>
          <p:nvPr/>
        </p:nvSpPr>
        <p:spPr>
          <a:xfrm>
            <a:off x="3840480" y="2331720"/>
            <a:ext cx="7726680" cy="548640"/>
          </a:xfrm>
          <a:prstGeom prst="rect">
            <a:avLst/>
          </a:prstGeom>
          <a:solidFill>
            <a:srgbClr val="F7F9FB"/>
          </a:solidFill>
          <a:ln w="12700">
            <a:solidFill>
              <a:srgbClr val="F7F9FB"/>
            </a:solidFill>
            <a:prstDash val="solid"/>
          </a:ln>
        </p:spPr>
      </p:sp>
      <p:sp>
        <p:nvSpPr>
          <p:cNvPr id="15" name="Text 12"/>
          <p:cNvSpPr txBox="1"/>
          <p:nvPr/>
        </p:nvSpPr>
        <p:spPr>
          <a:xfrm>
            <a:off x="3840480" y="2331720"/>
            <a:ext cx="7726680" cy="548640"/>
          </a:xfrm>
          <a:prstGeom prst="rect">
            <a:avLst/>
          </a:prstGeom>
          <a:noFill/>
          <a:ln/>
        </p:spPr>
        <p:txBody>
          <a:bodyPr wrap="square" lIns="1270" tIns="1270" rIns="1270" bIns="1270" rtlCol="0" anchor="ctr"/>
          <a:lstStyle/>
          <a:p>
            <a:pPr algn="l" indent="0" marL="0">
              <a:buNone/>
            </a:pPr>
            <a:r>
              <a:rPr lang="en-US" sz="1300" dirty="0">
                <a:solidFill>
                  <a:srgbClr val="1B2430"/>
                </a:solidFill>
              </a:rPr>
              <a:t>start a transaction; the </a:t>
            </a:r>
            <a:r>
              <a:rPr lang="en-US" sz="1300" b="1" dirty="0">
                <a:solidFill>
                  <a:srgbClr val="1B2430"/>
                </a:solidFill>
              </a:rPr>
              <a:t>reverse path</a:t>
            </a:r>
            <a:r>
              <a:rPr lang="en-US" sz="1300" dirty="0">
                <a:solidFill>
                  <a:srgbClr val="1B2430"/>
                </a:solidFill>
              </a:rPr>
              <a:t>, where bounces go</a:t>
            </a:r>
            <a:endParaRPr lang="en-US" sz="1300" dirty="0"/>
          </a:p>
        </p:txBody>
      </p:sp>
      <p:sp>
        <p:nvSpPr>
          <p:cNvPr id="16" name="box"/>
          <p:cNvSpPr/>
          <p:nvPr/>
        </p:nvSpPr>
        <p:spPr>
          <a:xfrm>
            <a:off x="548640" y="2926080"/>
            <a:ext cx="3246120" cy="548640"/>
          </a:xfrm>
          <a:prstGeom prst="rect">
            <a:avLst/>
          </a:prstGeom>
          <a:solidFill>
            <a:srgbClr val="EEF2F6"/>
          </a:solidFill>
          <a:ln w="12700">
            <a:solidFill>
              <a:srgbClr val="EEF2F6"/>
            </a:solidFill>
            <a:prstDash val="solid"/>
          </a:ln>
        </p:spPr>
      </p:sp>
      <p:sp>
        <p:nvSpPr>
          <p:cNvPr id="17" name="Text 14"/>
          <p:cNvSpPr txBox="1"/>
          <p:nvPr/>
        </p:nvSpPr>
        <p:spPr>
          <a:xfrm>
            <a:off x="548640" y="2926080"/>
            <a:ext cx="3246120" cy="54864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RCPT TO:&lt;addr&gt;</a:t>
            </a:r>
            <a:endParaRPr lang="en-US" sz="1300" dirty="0"/>
          </a:p>
        </p:txBody>
      </p:sp>
      <p:sp>
        <p:nvSpPr>
          <p:cNvPr id="18" name="box"/>
          <p:cNvSpPr/>
          <p:nvPr/>
        </p:nvSpPr>
        <p:spPr>
          <a:xfrm>
            <a:off x="3840480" y="2926080"/>
            <a:ext cx="7726680" cy="548640"/>
          </a:xfrm>
          <a:prstGeom prst="rect">
            <a:avLst/>
          </a:prstGeom>
          <a:solidFill>
            <a:srgbClr val="F7F9FB"/>
          </a:solidFill>
          <a:ln w="12700">
            <a:solidFill>
              <a:srgbClr val="F7F9FB"/>
            </a:solidFill>
            <a:prstDash val="solid"/>
          </a:ln>
        </p:spPr>
      </p:sp>
      <p:sp>
        <p:nvSpPr>
          <p:cNvPr id="19" name="Text 16"/>
          <p:cNvSpPr txBox="1"/>
          <p:nvPr/>
        </p:nvSpPr>
        <p:spPr>
          <a:xfrm>
            <a:off x="3840480" y="2926080"/>
            <a:ext cx="7726680" cy="548640"/>
          </a:xfrm>
          <a:prstGeom prst="rect">
            <a:avLst/>
          </a:prstGeom>
          <a:noFill/>
          <a:ln/>
        </p:spPr>
        <p:txBody>
          <a:bodyPr wrap="square" lIns="1270" tIns="1270" rIns="1270" bIns="1270" rtlCol="0" anchor="ctr"/>
          <a:lstStyle/>
          <a:p>
            <a:pPr algn="l" indent="0" marL="0">
              <a:buNone/>
            </a:pPr>
            <a:r>
              <a:rPr lang="en-US" sz="1300" dirty="0">
                <a:solidFill>
                  <a:srgbClr val="1B2430"/>
                </a:solidFill>
              </a:rPr>
              <a:t>one recipient — repeated for each</a:t>
            </a:r>
            <a:endParaRPr lang="en-US" sz="1300" dirty="0"/>
          </a:p>
        </p:txBody>
      </p:sp>
      <p:sp>
        <p:nvSpPr>
          <p:cNvPr id="20" name="box"/>
          <p:cNvSpPr/>
          <p:nvPr/>
        </p:nvSpPr>
        <p:spPr>
          <a:xfrm>
            <a:off x="548640" y="3520440"/>
            <a:ext cx="3246120" cy="548640"/>
          </a:xfrm>
          <a:prstGeom prst="rect">
            <a:avLst/>
          </a:prstGeom>
          <a:solidFill>
            <a:srgbClr val="EEF2F6"/>
          </a:solidFill>
          <a:ln w="12700">
            <a:solidFill>
              <a:srgbClr val="EEF2F6"/>
            </a:solidFill>
            <a:prstDash val="solid"/>
          </a:ln>
        </p:spPr>
      </p:sp>
      <p:sp>
        <p:nvSpPr>
          <p:cNvPr id="21" name="Text 18"/>
          <p:cNvSpPr txBox="1"/>
          <p:nvPr/>
        </p:nvSpPr>
        <p:spPr>
          <a:xfrm>
            <a:off x="548640" y="3520440"/>
            <a:ext cx="3246120" cy="54864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DATA</a:t>
            </a:r>
            <a:endParaRPr lang="en-US" sz="1300" dirty="0"/>
          </a:p>
        </p:txBody>
      </p:sp>
      <p:sp>
        <p:nvSpPr>
          <p:cNvPr id="22" name="box"/>
          <p:cNvSpPr/>
          <p:nvPr/>
        </p:nvSpPr>
        <p:spPr>
          <a:xfrm>
            <a:off x="3840480" y="3520440"/>
            <a:ext cx="7726680" cy="548640"/>
          </a:xfrm>
          <a:prstGeom prst="rect">
            <a:avLst/>
          </a:prstGeom>
          <a:solidFill>
            <a:srgbClr val="F7F9FB"/>
          </a:solidFill>
          <a:ln w="12700">
            <a:solidFill>
              <a:srgbClr val="F7F9FB"/>
            </a:solidFill>
            <a:prstDash val="solid"/>
          </a:ln>
        </p:spPr>
      </p:sp>
      <p:sp>
        <p:nvSpPr>
          <p:cNvPr id="23" name="Text 20"/>
          <p:cNvSpPr txBox="1"/>
          <p:nvPr/>
        </p:nvSpPr>
        <p:spPr>
          <a:xfrm>
            <a:off x="3840480" y="3520440"/>
            <a:ext cx="7726680" cy="548640"/>
          </a:xfrm>
          <a:prstGeom prst="rect">
            <a:avLst/>
          </a:prstGeom>
          <a:noFill/>
          <a:ln/>
        </p:spPr>
        <p:txBody>
          <a:bodyPr wrap="square" lIns="1270" tIns="1270" rIns="1270" bIns="1270" rtlCol="0" anchor="ctr"/>
          <a:lstStyle/>
          <a:p>
            <a:pPr algn="l" indent="0" marL="0">
              <a:buNone/>
            </a:pPr>
            <a:r>
              <a:rPr lang="en-US" sz="1300" dirty="0">
                <a:solidFill>
                  <a:srgbClr val="1B2430"/>
                </a:solidFill>
              </a:rPr>
              <a:t>the message follows, ended by a line with a single dot</a:t>
            </a:r>
            <a:endParaRPr lang="en-US" sz="1300" dirty="0"/>
          </a:p>
        </p:txBody>
      </p:sp>
      <p:sp>
        <p:nvSpPr>
          <p:cNvPr id="24" name="box"/>
          <p:cNvSpPr/>
          <p:nvPr/>
        </p:nvSpPr>
        <p:spPr>
          <a:xfrm>
            <a:off x="548640" y="4114800"/>
            <a:ext cx="3246120" cy="548640"/>
          </a:xfrm>
          <a:prstGeom prst="rect">
            <a:avLst/>
          </a:prstGeom>
          <a:solidFill>
            <a:srgbClr val="EEF2F6"/>
          </a:solidFill>
          <a:ln w="12700">
            <a:solidFill>
              <a:srgbClr val="EEF2F6"/>
            </a:solidFill>
            <a:prstDash val="solid"/>
          </a:ln>
        </p:spPr>
      </p:sp>
      <p:sp>
        <p:nvSpPr>
          <p:cNvPr id="25" name="Text 22"/>
          <p:cNvSpPr txBox="1"/>
          <p:nvPr/>
        </p:nvSpPr>
        <p:spPr>
          <a:xfrm>
            <a:off x="548640" y="4114800"/>
            <a:ext cx="3246120" cy="54864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RSET · NOOP · QUIT</a:t>
            </a:r>
            <a:endParaRPr lang="en-US" sz="1300" dirty="0"/>
          </a:p>
        </p:txBody>
      </p:sp>
      <p:sp>
        <p:nvSpPr>
          <p:cNvPr id="26" name="box"/>
          <p:cNvSpPr/>
          <p:nvPr/>
        </p:nvSpPr>
        <p:spPr>
          <a:xfrm>
            <a:off x="3840480" y="4114800"/>
            <a:ext cx="7726680" cy="548640"/>
          </a:xfrm>
          <a:prstGeom prst="rect">
            <a:avLst/>
          </a:prstGeom>
          <a:solidFill>
            <a:srgbClr val="F7F9FB"/>
          </a:solidFill>
          <a:ln w="12700">
            <a:solidFill>
              <a:srgbClr val="F7F9FB"/>
            </a:solidFill>
            <a:prstDash val="solid"/>
          </a:ln>
        </p:spPr>
      </p:sp>
      <p:sp>
        <p:nvSpPr>
          <p:cNvPr id="27" name="Text 24"/>
          <p:cNvSpPr txBox="1"/>
          <p:nvPr/>
        </p:nvSpPr>
        <p:spPr>
          <a:xfrm>
            <a:off x="3840480" y="4114800"/>
            <a:ext cx="7726680" cy="548640"/>
          </a:xfrm>
          <a:prstGeom prst="rect">
            <a:avLst/>
          </a:prstGeom>
          <a:noFill/>
          <a:ln/>
        </p:spPr>
        <p:txBody>
          <a:bodyPr wrap="square" lIns="1270" tIns="1270" rIns="1270" bIns="1270" rtlCol="0" anchor="ctr"/>
          <a:lstStyle/>
          <a:p>
            <a:pPr algn="l" indent="0" marL="0">
              <a:buNone/>
            </a:pPr>
            <a:r>
              <a:rPr lang="en-US" sz="1300" dirty="0">
                <a:solidFill>
                  <a:srgbClr val="1B2430"/>
                </a:solidFill>
              </a:rPr>
              <a:t>abort the transaction · do nothing · end the session</a:t>
            </a:r>
            <a:endParaRPr lang="en-US" sz="1300" dirty="0"/>
          </a:p>
        </p:txBody>
      </p:sp>
      <p:sp>
        <p:nvSpPr>
          <p:cNvPr id="28" name="box"/>
          <p:cNvSpPr/>
          <p:nvPr/>
        </p:nvSpPr>
        <p:spPr>
          <a:xfrm>
            <a:off x="548640" y="4709160"/>
            <a:ext cx="3246120" cy="548640"/>
          </a:xfrm>
          <a:prstGeom prst="rect">
            <a:avLst/>
          </a:prstGeom>
          <a:solidFill>
            <a:srgbClr val="EEF2F6"/>
          </a:solidFill>
          <a:ln w="12700">
            <a:solidFill>
              <a:srgbClr val="EEF2F6"/>
            </a:solidFill>
            <a:prstDash val="solid"/>
          </a:ln>
        </p:spPr>
      </p:sp>
      <p:sp>
        <p:nvSpPr>
          <p:cNvPr id="29" name="Text 26"/>
          <p:cNvSpPr txBox="1"/>
          <p:nvPr/>
        </p:nvSpPr>
        <p:spPr>
          <a:xfrm>
            <a:off x="548640" y="4709160"/>
            <a:ext cx="3246120" cy="54864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STARTTLS · AUTH</a:t>
            </a:r>
            <a:endParaRPr lang="en-US" sz="1300" dirty="0"/>
          </a:p>
        </p:txBody>
      </p:sp>
      <p:sp>
        <p:nvSpPr>
          <p:cNvPr id="30" name="box"/>
          <p:cNvSpPr/>
          <p:nvPr/>
        </p:nvSpPr>
        <p:spPr>
          <a:xfrm>
            <a:off x="3840480" y="4709160"/>
            <a:ext cx="7726680" cy="548640"/>
          </a:xfrm>
          <a:prstGeom prst="rect">
            <a:avLst/>
          </a:prstGeom>
          <a:solidFill>
            <a:srgbClr val="F7F9FB"/>
          </a:solidFill>
          <a:ln w="12700">
            <a:solidFill>
              <a:srgbClr val="F7F9FB"/>
            </a:solidFill>
            <a:prstDash val="solid"/>
          </a:ln>
        </p:spPr>
      </p:sp>
      <p:sp>
        <p:nvSpPr>
          <p:cNvPr id="31" name="Text 28"/>
          <p:cNvSpPr txBox="1"/>
          <p:nvPr/>
        </p:nvSpPr>
        <p:spPr>
          <a:xfrm>
            <a:off x="3840480" y="4709160"/>
            <a:ext cx="7726680" cy="548640"/>
          </a:xfrm>
          <a:prstGeom prst="rect">
            <a:avLst/>
          </a:prstGeom>
          <a:noFill/>
          <a:ln/>
        </p:spPr>
        <p:txBody>
          <a:bodyPr wrap="square" lIns="1270" tIns="1270" rIns="1270" bIns="1270" rtlCol="0" anchor="ctr"/>
          <a:lstStyle/>
          <a:p>
            <a:pPr algn="l" indent="0" marL="0">
              <a:buNone/>
            </a:pPr>
            <a:r>
              <a:rPr lang="en-US" sz="1300" dirty="0">
                <a:solidFill>
                  <a:srgbClr val="1B2430"/>
                </a:solidFill>
              </a:rPr>
              <a:t>switch the connection to TLS (RFC 3207) · authenticate the user (RFC 4954)</a:t>
            </a:r>
            <a:endParaRPr lang="en-US" sz="1300" dirty="0"/>
          </a:p>
        </p:txBody>
      </p:sp>
      <p:sp>
        <p:nvSpPr>
          <p:cNvPr id="3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3" name="Text 3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MAIL FROM and RCPT TO are the envelope; everything after DATA is the message.</a:t>
            </a:r>
            <a:endParaRPr lang="en-US" sz="1400" dirty="0"/>
          </a:p>
        </p:txBody>
      </p:sp>
      <p:sp>
        <p:nvSpPr>
          <p:cNvPr id="34" name="Text 31"/>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STARTTLS (start TLS on this connection) · SMTP (Simple Mail Transfer Protocol) · EHLO (extended hello) · RSET (reset) · TLS (Transport Layer Security) · RFC (Request for Comments)</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 Where does the message end? Dot-stuffing</a:t>
            </a:r>
            <a:endParaRPr lang="en-US" sz="3000" dirty="0"/>
          </a:p>
        </p:txBody>
      </p:sp>
      <p:sp>
        <p:nvSpPr>
          <p:cNvPr id="4" name="Text 1"/>
          <p:cNvSpPr txBox="1"/>
          <p:nvPr/>
        </p:nvSpPr>
        <p:spPr>
          <a:xfrm>
            <a:off x="548640" y="1325880"/>
            <a:ext cx="3291840" cy="365760"/>
          </a:xfrm>
          <a:prstGeom prst="rect">
            <a:avLst/>
          </a:prstGeom>
          <a:noFill/>
          <a:ln/>
        </p:spPr>
        <p:txBody>
          <a:bodyPr wrap="square" lIns="0" tIns="0" rIns="0" bIns="0" rtlCol="0" anchor="t"/>
          <a:lstStyle/>
          <a:p>
            <a:pPr algn="ctr" indent="0" marL="0">
              <a:spcAft>
                <a:spcPts val="400"/>
              </a:spcAft>
              <a:buNone/>
            </a:pPr>
            <a:r>
              <a:rPr lang="en-US" sz="1400" b="1" dirty="0">
                <a:solidFill>
                  <a:srgbClr val="1B2430"/>
                </a:solidFill>
              </a:rPr>
              <a:t>message line</a:t>
            </a:r>
            <a:endParaRPr lang="en-US" sz="1400" dirty="0"/>
          </a:p>
        </p:txBody>
      </p:sp>
      <p:sp>
        <p:nvSpPr>
          <p:cNvPr id="5" name="box"/>
          <p:cNvSpPr/>
          <p:nvPr/>
        </p:nvSpPr>
        <p:spPr>
          <a:xfrm>
            <a:off x="548640" y="1737360"/>
            <a:ext cx="3291840" cy="731520"/>
          </a:xfrm>
          <a:prstGeom prst="roundRect">
            <a:avLst>
              <a:gd name="adj" fmla="val 10000"/>
            </a:avLst>
          </a:prstGeom>
          <a:solidFill>
            <a:srgbClr val="EEF2F6"/>
          </a:solidFill>
          <a:ln w="12700">
            <a:solidFill>
              <a:srgbClr val="EEF2F6"/>
            </a:solidFill>
            <a:prstDash val="solid"/>
          </a:ln>
        </p:spPr>
      </p:sp>
      <p:sp>
        <p:nvSpPr>
          <p:cNvPr id="6" name="Text 3"/>
          <p:cNvSpPr txBox="1"/>
          <p:nvPr/>
        </p:nvSpPr>
        <p:spPr>
          <a:xfrm>
            <a:off x="548640" y="1737360"/>
            <a:ext cx="3291840" cy="731520"/>
          </a:xfrm>
          <a:prstGeom prst="rect">
            <a:avLst/>
          </a:prstGeom>
          <a:noFill/>
          <a:ln/>
        </p:spPr>
        <p:txBody>
          <a:bodyPr wrap="square" lIns="635" tIns="635" rIns="635" bIns="635" rtlCol="0" anchor="ctr"/>
          <a:lstStyle/>
          <a:p>
            <a:pPr algn="ctr" indent="0" marL="0">
              <a:buNone/>
            </a:pPr>
            <a:r>
              <a:rPr lang="en-US" sz="1800" dirty="0">
                <a:solidFill>
                  <a:srgbClr val="1B2430"/>
                </a:solidFill>
                <a:latin typeface="Consolas" pitchFamily="34" charset="0"/>
                <a:ea typeface="Consolas" pitchFamily="34" charset="-122"/>
                <a:cs typeface="Consolas" pitchFamily="34" charset="-120"/>
              </a:rPr>
              <a:t>.hidden line</a:t>
            </a:r>
            <a:endParaRPr lang="en-US" sz="1800" dirty="0"/>
          </a:p>
        </p:txBody>
      </p:sp>
      <p:sp>
        <p:nvSpPr>
          <p:cNvPr id="7" name="Shape 4"/>
          <p:cNvSpPr/>
          <p:nvPr/>
        </p:nvSpPr>
        <p:spPr>
          <a:xfrm>
            <a:off x="3840480" y="2103120"/>
            <a:ext cx="548640" cy="914"/>
          </a:xfrm>
          <a:prstGeom prst="line">
            <a:avLst/>
          </a:prstGeom>
          <a:noFill/>
          <a:ln w="31750">
            <a:solidFill>
              <a:srgbClr val="B9772A"/>
            </a:solidFill>
            <a:prstDash val="solid"/>
            <a:tailEnd type="triangle"/>
          </a:ln>
        </p:spPr>
      </p:sp>
      <p:sp>
        <p:nvSpPr>
          <p:cNvPr id="8" name="Text 5"/>
          <p:cNvSpPr txBox="1"/>
          <p:nvPr/>
        </p:nvSpPr>
        <p:spPr>
          <a:xfrm>
            <a:off x="3474720" y="2514600"/>
            <a:ext cx="128016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B9772A"/>
                </a:solidFill>
              </a:rPr>
              <a:t>add a dot</a:t>
            </a:r>
            <a:endParaRPr lang="en-US" sz="1200" dirty="0"/>
          </a:p>
        </p:txBody>
      </p:sp>
      <p:sp>
        <p:nvSpPr>
          <p:cNvPr id="9" name="Text 6"/>
          <p:cNvSpPr txBox="1"/>
          <p:nvPr/>
        </p:nvSpPr>
        <p:spPr>
          <a:xfrm>
            <a:off x="4389120" y="1325880"/>
            <a:ext cx="3291840" cy="365760"/>
          </a:xfrm>
          <a:prstGeom prst="rect">
            <a:avLst/>
          </a:prstGeom>
          <a:noFill/>
          <a:ln/>
        </p:spPr>
        <p:txBody>
          <a:bodyPr wrap="square" lIns="0" tIns="0" rIns="0" bIns="0" rtlCol="0" anchor="t"/>
          <a:lstStyle/>
          <a:p>
            <a:pPr algn="ctr" indent="0" marL="0">
              <a:spcAft>
                <a:spcPts val="400"/>
              </a:spcAft>
              <a:buNone/>
            </a:pPr>
            <a:r>
              <a:rPr lang="en-US" sz="1400" b="1" dirty="0">
                <a:solidFill>
                  <a:srgbClr val="1B2430"/>
                </a:solidFill>
              </a:rPr>
              <a:t>on the wire</a:t>
            </a:r>
            <a:endParaRPr lang="en-US" sz="1400" dirty="0"/>
          </a:p>
        </p:txBody>
      </p:sp>
      <p:sp>
        <p:nvSpPr>
          <p:cNvPr id="10" name="box"/>
          <p:cNvSpPr/>
          <p:nvPr/>
        </p:nvSpPr>
        <p:spPr>
          <a:xfrm>
            <a:off x="4389120" y="1737360"/>
            <a:ext cx="3291840" cy="731520"/>
          </a:xfrm>
          <a:prstGeom prst="roundRect">
            <a:avLst>
              <a:gd name="adj" fmla="val 10000"/>
            </a:avLst>
          </a:prstGeom>
          <a:solidFill>
            <a:srgbClr val="F3EAD7"/>
          </a:solidFill>
          <a:ln w="12700">
            <a:solidFill>
              <a:srgbClr val="F3EAD7"/>
            </a:solidFill>
            <a:prstDash val="solid"/>
          </a:ln>
        </p:spPr>
      </p:sp>
      <p:sp>
        <p:nvSpPr>
          <p:cNvPr id="11" name="Text 8"/>
          <p:cNvSpPr txBox="1"/>
          <p:nvPr/>
        </p:nvSpPr>
        <p:spPr>
          <a:xfrm>
            <a:off x="4389120" y="1737360"/>
            <a:ext cx="3291840" cy="731520"/>
          </a:xfrm>
          <a:prstGeom prst="rect">
            <a:avLst/>
          </a:prstGeom>
          <a:noFill/>
          <a:ln/>
        </p:spPr>
        <p:txBody>
          <a:bodyPr wrap="square" lIns="635" tIns="635" rIns="635" bIns="635" rtlCol="0" anchor="ctr"/>
          <a:lstStyle/>
          <a:p>
            <a:pPr algn="ctr" indent="0" marL="0">
              <a:buNone/>
            </a:pPr>
            <a:r>
              <a:rPr lang="en-US" sz="1800" dirty="0">
                <a:solidFill>
                  <a:srgbClr val="1B2430"/>
                </a:solidFill>
                <a:latin typeface="Consolas" pitchFamily="34" charset="0"/>
                <a:ea typeface="Consolas" pitchFamily="34" charset="-122"/>
                <a:cs typeface="Consolas" pitchFamily="34" charset="-120"/>
              </a:rPr>
              <a:t>..hidden line</a:t>
            </a:r>
            <a:endParaRPr lang="en-US" sz="1800" dirty="0"/>
          </a:p>
        </p:txBody>
      </p:sp>
      <p:sp>
        <p:nvSpPr>
          <p:cNvPr id="12" name="Shape 9"/>
          <p:cNvSpPr/>
          <p:nvPr/>
        </p:nvSpPr>
        <p:spPr>
          <a:xfrm>
            <a:off x="7680960" y="2103120"/>
            <a:ext cx="548640" cy="914"/>
          </a:xfrm>
          <a:prstGeom prst="line">
            <a:avLst/>
          </a:prstGeom>
          <a:noFill/>
          <a:ln w="31750">
            <a:solidFill>
              <a:srgbClr val="B9772A"/>
            </a:solidFill>
            <a:prstDash val="solid"/>
            <a:tailEnd type="triangle"/>
          </a:ln>
        </p:spPr>
      </p:sp>
      <p:sp>
        <p:nvSpPr>
          <p:cNvPr id="13" name="Text 10"/>
          <p:cNvSpPr txBox="1"/>
          <p:nvPr/>
        </p:nvSpPr>
        <p:spPr>
          <a:xfrm>
            <a:off x="7315200" y="2514600"/>
            <a:ext cx="128016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B9772A"/>
                </a:solidFill>
              </a:rPr>
              <a:t>remove it</a:t>
            </a:r>
            <a:endParaRPr lang="en-US" sz="1200" dirty="0"/>
          </a:p>
        </p:txBody>
      </p:sp>
      <p:sp>
        <p:nvSpPr>
          <p:cNvPr id="14" name="Text 11"/>
          <p:cNvSpPr txBox="1"/>
          <p:nvPr/>
        </p:nvSpPr>
        <p:spPr>
          <a:xfrm>
            <a:off x="8229600" y="1325880"/>
            <a:ext cx="3291840" cy="365760"/>
          </a:xfrm>
          <a:prstGeom prst="rect">
            <a:avLst/>
          </a:prstGeom>
          <a:noFill/>
          <a:ln/>
        </p:spPr>
        <p:txBody>
          <a:bodyPr wrap="square" lIns="0" tIns="0" rIns="0" bIns="0" rtlCol="0" anchor="t"/>
          <a:lstStyle/>
          <a:p>
            <a:pPr algn="ctr" indent="0" marL="0">
              <a:spcAft>
                <a:spcPts val="400"/>
              </a:spcAft>
              <a:buNone/>
            </a:pPr>
            <a:r>
              <a:rPr lang="en-US" sz="1400" b="1" dirty="0">
                <a:solidFill>
                  <a:srgbClr val="1B2430"/>
                </a:solidFill>
              </a:rPr>
              <a:t>stored</a:t>
            </a:r>
            <a:endParaRPr lang="en-US" sz="1400" dirty="0"/>
          </a:p>
        </p:txBody>
      </p:sp>
      <p:sp>
        <p:nvSpPr>
          <p:cNvPr id="15" name="box"/>
          <p:cNvSpPr/>
          <p:nvPr/>
        </p:nvSpPr>
        <p:spPr>
          <a:xfrm>
            <a:off x="8229600" y="1737360"/>
            <a:ext cx="3291840" cy="731520"/>
          </a:xfrm>
          <a:prstGeom prst="roundRect">
            <a:avLst>
              <a:gd name="adj" fmla="val 10000"/>
            </a:avLst>
          </a:prstGeom>
          <a:solidFill>
            <a:srgbClr val="D7EBDD"/>
          </a:solidFill>
          <a:ln w="12700">
            <a:solidFill>
              <a:srgbClr val="D7EBDD"/>
            </a:solidFill>
            <a:prstDash val="solid"/>
          </a:ln>
        </p:spPr>
      </p:sp>
      <p:sp>
        <p:nvSpPr>
          <p:cNvPr id="16" name="Text 13"/>
          <p:cNvSpPr txBox="1"/>
          <p:nvPr/>
        </p:nvSpPr>
        <p:spPr>
          <a:xfrm>
            <a:off x="8229600" y="1737360"/>
            <a:ext cx="3291840" cy="731520"/>
          </a:xfrm>
          <a:prstGeom prst="rect">
            <a:avLst/>
          </a:prstGeom>
          <a:noFill/>
          <a:ln/>
        </p:spPr>
        <p:txBody>
          <a:bodyPr wrap="square" lIns="635" tIns="635" rIns="635" bIns="635" rtlCol="0" anchor="ctr"/>
          <a:lstStyle/>
          <a:p>
            <a:pPr algn="ctr" indent="0" marL="0">
              <a:buNone/>
            </a:pPr>
            <a:r>
              <a:rPr lang="en-US" sz="1800" dirty="0">
                <a:solidFill>
                  <a:srgbClr val="1B2430"/>
                </a:solidFill>
                <a:latin typeface="Consolas" pitchFamily="34" charset="0"/>
                <a:ea typeface="Consolas" pitchFamily="34" charset="-122"/>
                <a:cs typeface="Consolas" pitchFamily="34" charset="-120"/>
              </a:rPr>
              <a:t>.hidden line</a:t>
            </a:r>
            <a:endParaRPr lang="en-US" sz="1800" dirty="0"/>
          </a:p>
        </p:txBody>
      </p:sp>
      <p:sp>
        <p:nvSpPr>
          <p:cNvPr id="17" name="box"/>
          <p:cNvSpPr/>
          <p:nvPr/>
        </p:nvSpPr>
        <p:spPr>
          <a:xfrm>
            <a:off x="548640" y="3200400"/>
            <a:ext cx="5394960" cy="1097280"/>
          </a:xfrm>
          <a:prstGeom prst="roundRect">
            <a:avLst>
              <a:gd name="adj" fmla="val 6667"/>
            </a:avLst>
          </a:prstGeom>
          <a:solidFill>
            <a:srgbClr val="1F3A5F"/>
          </a:solidFill>
          <a:ln w="12700">
            <a:solidFill>
              <a:srgbClr val="1F3A5F"/>
            </a:solidFill>
            <a:prstDash val="solid"/>
          </a:ln>
        </p:spPr>
      </p:sp>
      <p:sp>
        <p:nvSpPr>
          <p:cNvPr id="18" name="Text 15"/>
          <p:cNvSpPr txBox="1"/>
          <p:nvPr/>
        </p:nvSpPr>
        <p:spPr>
          <a:xfrm>
            <a:off x="548640" y="3200400"/>
            <a:ext cx="5394960" cy="1097280"/>
          </a:xfrm>
          <a:prstGeom prst="rect">
            <a:avLst/>
          </a:prstGeom>
          <a:noFill/>
          <a:ln/>
        </p:spPr>
        <p:txBody>
          <a:bodyPr wrap="square" lIns="635" tIns="635" rIns="635" bIns="635" rtlCol="0" anchor="ctr"/>
          <a:lstStyle/>
          <a:p>
            <a:pPr algn="ctr" indent="0" marL="0">
              <a:buNone/>
            </a:pPr>
            <a:r>
              <a:rPr lang="en-US" sz="1600" dirty="0">
                <a:solidFill>
                  <a:srgbClr val="FFFFFF"/>
                </a:solidFill>
              </a:rPr>
              <a:t>.</a:t>
            </a:r>
            <a:endParaRPr lang="en-US" sz="1600" dirty="0"/>
          </a:p>
          <a:p>
            <a:pPr algn="ctr" indent="0" marL="0">
              <a:buNone/>
            </a:pPr>
            <a:r>
              <a:rPr lang="en-US" sz="1600" b="1" dirty="0">
                <a:solidFill>
                  <a:srgbClr val="FFFFFF"/>
                </a:solidFill>
              </a:rPr>
              <a:t>end of message</a:t>
            </a:r>
            <a:endParaRPr lang="en-US" sz="1600" dirty="0"/>
          </a:p>
        </p:txBody>
      </p:sp>
      <p:sp>
        <p:nvSpPr>
          <p:cNvPr id="19" name="box"/>
          <p:cNvSpPr/>
          <p:nvPr/>
        </p:nvSpPr>
        <p:spPr>
          <a:xfrm>
            <a:off x="6217920" y="3200400"/>
            <a:ext cx="5394960" cy="1097280"/>
          </a:xfrm>
          <a:prstGeom prst="roundRect">
            <a:avLst>
              <a:gd name="adj" fmla="val 6667"/>
            </a:avLst>
          </a:prstGeom>
          <a:solidFill>
            <a:srgbClr val="EEF2F6"/>
          </a:solidFill>
          <a:ln w="12700">
            <a:solidFill>
              <a:srgbClr val="EEF2F6"/>
            </a:solidFill>
            <a:prstDash val="solid"/>
          </a:ln>
        </p:spPr>
      </p:sp>
      <p:sp>
        <p:nvSpPr>
          <p:cNvPr id="20" name="Text 17"/>
          <p:cNvSpPr txBox="1"/>
          <p:nvPr/>
        </p:nvSpPr>
        <p:spPr>
          <a:xfrm>
            <a:off x="6217920" y="3200400"/>
            <a:ext cx="5394960" cy="1097280"/>
          </a:xfrm>
          <a:prstGeom prst="rect">
            <a:avLst/>
          </a:prstGeom>
          <a:noFill/>
          <a:ln/>
        </p:spPr>
        <p:txBody>
          <a:bodyPr wrap="square" lIns="635" tIns="635" rIns="635" bIns="635" rtlCol="0" anchor="ctr"/>
          <a:lstStyle/>
          <a:p>
            <a:pPr algn="ctr" indent="0" marL="0">
              <a:buNone/>
            </a:pPr>
            <a:r>
              <a:rPr lang="en-US" sz="1400" dirty="0">
                <a:solidFill>
                  <a:srgbClr val="1B2430"/>
                </a:solidFill>
              </a:rPr>
              <a:t>..</a:t>
            </a:r>
            <a:endParaRPr lang="en-US" sz="1400" dirty="0"/>
          </a:p>
          <a:p>
            <a:pPr algn="ctr" indent="0" marL="0">
              <a:buNone/>
            </a:pPr>
            <a:r>
              <a:rPr lang="en-US" sz="1400" dirty="0">
                <a:solidFill>
                  <a:srgbClr val="1B2430"/>
                </a:solidFill>
              </a:rPr>
              <a:t>a line containing one dot — not the end</a:t>
            </a:r>
            <a:endParaRPr lang="en-US" sz="1400" dirty="0"/>
          </a:p>
        </p:txBody>
      </p:sp>
      <p:sp>
        <p:nvSpPr>
          <p:cNvPr id="21" name="Shape 18"/>
          <p:cNvSpPr/>
          <p:nvPr/>
        </p:nvSpPr>
        <p:spPr>
          <a:xfrm>
            <a:off x="548640" y="4590288"/>
            <a:ext cx="384048" cy="384048"/>
          </a:xfrm>
          <a:prstGeom prst="ellipse">
            <a:avLst/>
          </a:prstGeom>
          <a:solidFill>
            <a:srgbClr val="B9772A"/>
          </a:solidFill>
          <a:ln w="12700">
            <a:solidFill>
              <a:srgbClr val="B9772A"/>
            </a:solidFill>
            <a:prstDash val="solid"/>
          </a:ln>
        </p:spPr>
      </p:sp>
      <p:sp>
        <p:nvSpPr>
          <p:cNvPr id="22" name="Text 19"/>
          <p:cNvSpPr txBox="1"/>
          <p:nvPr/>
        </p:nvSpPr>
        <p:spPr>
          <a:xfrm>
            <a:off x="548640" y="4590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3" name="Text 20"/>
          <p:cNvSpPr txBox="1"/>
          <p:nvPr/>
        </p:nvSpPr>
        <p:spPr>
          <a:xfrm>
            <a:off x="1051560" y="4572000"/>
            <a:ext cx="10561320" cy="9144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The delimiter method of Lecture 3, with escaping — like POP3’s RETR later in this lecture.</a:t>
            </a:r>
            <a:endParaRPr lang="en-US" sz="1300" dirty="0"/>
          </a:p>
        </p:txBody>
      </p:sp>
      <p:sp>
        <p:nvSpPr>
          <p:cNvPr id="2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5" name="Text 2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 delimiter needs escaping: every data line that looks like the delimiter is changed on the wire.</a:t>
            </a:r>
            <a:endParaRPr lang="en-US" sz="1400" dirty="0"/>
          </a:p>
        </p:txBody>
      </p:sp>
      <p:sp>
        <p:nvSpPr>
          <p:cNvPr id="26" name="Text 23"/>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POP3 (Post Office Protocol version 3) · RETR (retrieve)</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 The envelope is not the header</a:t>
            </a:r>
            <a:endParaRPr lang="en-US" sz="3000" dirty="0"/>
          </a:p>
        </p:txBody>
      </p:sp>
      <p:sp>
        <p:nvSpPr>
          <p:cNvPr id="4" name="box"/>
          <p:cNvSpPr/>
          <p:nvPr/>
        </p:nvSpPr>
        <p:spPr>
          <a:xfrm>
            <a:off x="548640" y="1325880"/>
            <a:ext cx="5394960" cy="3108960"/>
          </a:xfrm>
          <a:prstGeom prst="roundRect">
            <a:avLst>
              <a:gd name="adj" fmla="val 2353"/>
            </a:avLst>
          </a:prstGeom>
          <a:solidFill>
            <a:srgbClr val="F3EAD7"/>
          </a:solidFill>
          <a:ln w="25400">
            <a:solidFill>
              <a:srgbClr val="B9772A"/>
            </a:solidFill>
            <a:prstDash val="solid"/>
          </a:ln>
        </p:spPr>
      </p:sp>
      <p:sp>
        <p:nvSpPr>
          <p:cNvPr id="5" name="Text 2"/>
          <p:cNvSpPr txBox="1"/>
          <p:nvPr/>
        </p:nvSpPr>
        <p:spPr>
          <a:xfrm>
            <a:off x="731520" y="1417320"/>
            <a:ext cx="5029200" cy="365760"/>
          </a:xfrm>
          <a:prstGeom prst="rect">
            <a:avLst/>
          </a:prstGeom>
          <a:noFill/>
          <a:ln/>
        </p:spPr>
        <p:txBody>
          <a:bodyPr wrap="square" lIns="0" tIns="0" rIns="0" bIns="0" rtlCol="0" anchor="t"/>
          <a:lstStyle/>
          <a:p>
            <a:pPr algn="l" indent="0" marL="0">
              <a:spcAft>
                <a:spcPts val="400"/>
              </a:spcAft>
              <a:buNone/>
            </a:pPr>
            <a:r>
              <a:rPr lang="en-US" sz="1400" b="1" dirty="0">
                <a:solidFill>
                  <a:srgbClr val="B9772A"/>
                </a:solidFill>
              </a:rPr>
              <a:t>envelope</a:t>
            </a:r>
            <a:r>
              <a:rPr lang="en-US" sz="1400" dirty="0">
                <a:solidFill>
                  <a:srgbClr val="B9772A"/>
                </a:solidFill>
              </a:rPr>
              <a:t> — used for delivery</a:t>
            </a:r>
            <a:endParaRPr lang="en-US" sz="1400" dirty="0"/>
          </a:p>
        </p:txBody>
      </p:sp>
      <p:sp>
        <p:nvSpPr>
          <p:cNvPr id="6" name="code"/>
          <p:cNvSpPr/>
          <p:nvPr/>
        </p:nvSpPr>
        <p:spPr>
          <a:xfrm>
            <a:off x="777240" y="1874520"/>
            <a:ext cx="4937760" cy="822960"/>
          </a:xfrm>
          <a:prstGeom prst="rect">
            <a:avLst/>
          </a:prstGeom>
          <a:solidFill>
            <a:srgbClr val="1E2A38"/>
          </a:solidFill>
          <a:ln w="12700">
            <a:solidFill>
              <a:srgbClr val="1E2A38"/>
            </a:solidFill>
            <a:prstDash val="solid"/>
          </a:ln>
        </p:spPr>
      </p:sp>
      <p:sp>
        <p:nvSpPr>
          <p:cNvPr id="7" name="Text 4"/>
          <p:cNvSpPr txBox="1"/>
          <p:nvPr/>
        </p:nvSpPr>
        <p:spPr>
          <a:xfrm>
            <a:off x="777240" y="1874520"/>
            <a:ext cx="4937760" cy="82296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MAIL FROM:&lt;list-bounces@uni.ro&gt;</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RCPT TO:&lt;bob@example.com&gt;  RCPT TO:&lt;dan@…&gt;</a:t>
            </a:r>
            <a:endParaRPr lang="en-US" sz="1100" dirty="0"/>
          </a:p>
        </p:txBody>
      </p:sp>
      <p:sp>
        <p:nvSpPr>
          <p:cNvPr id="8" name="box"/>
          <p:cNvSpPr/>
          <p:nvPr/>
        </p:nvSpPr>
        <p:spPr>
          <a:xfrm>
            <a:off x="777240" y="2880360"/>
            <a:ext cx="4937760" cy="1371600"/>
          </a:xfrm>
          <a:prstGeom prst="roundRect">
            <a:avLst>
              <a:gd name="adj" fmla="val 5333"/>
            </a:avLst>
          </a:prstGeom>
          <a:solidFill>
            <a:srgbClr val="FFFFFF"/>
          </a:solidFill>
          <a:ln w="12700">
            <a:solidFill>
              <a:srgbClr val="9AA5AE"/>
            </a:solidFill>
            <a:prstDash val="solid"/>
          </a:ln>
        </p:spPr>
      </p:sp>
      <p:sp>
        <p:nvSpPr>
          <p:cNvPr id="9" name="Text 6"/>
          <p:cNvSpPr txBox="1"/>
          <p:nvPr/>
        </p:nvSpPr>
        <p:spPr>
          <a:xfrm>
            <a:off x="914400" y="2926080"/>
            <a:ext cx="4663440" cy="320040"/>
          </a:xfrm>
          <a:prstGeom prst="rect">
            <a:avLst/>
          </a:prstGeom>
          <a:noFill/>
          <a:ln/>
        </p:spPr>
        <p:txBody>
          <a:bodyPr wrap="square" lIns="0" tIns="0" rIns="0" bIns="0" rtlCol="0" anchor="t"/>
          <a:lstStyle/>
          <a:p>
            <a:pPr algn="l" indent="0" marL="0">
              <a:spcAft>
                <a:spcPts val="400"/>
              </a:spcAft>
              <a:buNone/>
            </a:pPr>
            <a:r>
              <a:rPr lang="en-US" sz="1200" b="1" dirty="0">
                <a:solidFill>
                  <a:srgbClr val="1F3A5F"/>
                </a:solidFill>
              </a:rPr>
              <a:t>letter inside</a:t>
            </a:r>
            <a:r>
              <a:rPr lang="en-US" sz="1200" dirty="0">
                <a:solidFill>
                  <a:srgbClr val="1F3A5F"/>
                </a:solidFill>
              </a:rPr>
              <a:t> — header, shown to the reader</a:t>
            </a:r>
            <a:endParaRPr lang="en-US" sz="1200" dirty="0"/>
          </a:p>
        </p:txBody>
      </p:sp>
      <p:sp>
        <p:nvSpPr>
          <p:cNvPr id="10" name="code"/>
          <p:cNvSpPr/>
          <p:nvPr/>
        </p:nvSpPr>
        <p:spPr>
          <a:xfrm>
            <a:off x="914400" y="3246120"/>
            <a:ext cx="4663440" cy="868680"/>
          </a:xfrm>
          <a:prstGeom prst="rect">
            <a:avLst/>
          </a:prstGeom>
          <a:solidFill>
            <a:srgbClr val="1E2A38"/>
          </a:solidFill>
          <a:ln w="12700">
            <a:solidFill>
              <a:srgbClr val="1E2A38"/>
            </a:solidFill>
            <a:prstDash val="solid"/>
          </a:ln>
        </p:spPr>
      </p:sp>
      <p:sp>
        <p:nvSpPr>
          <p:cNvPr id="11" name="Text 8"/>
          <p:cNvSpPr txBox="1"/>
          <p:nvPr/>
        </p:nvSpPr>
        <p:spPr>
          <a:xfrm>
            <a:off x="914400" y="3246120"/>
            <a:ext cx="4663440" cy="86868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From: Prof. Ionescu &lt;ionescu@uni.ro&gt;</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To: Students &lt;cn-2026@uni.ro&gt;</a:t>
            </a:r>
            <a:endParaRPr lang="en-US" sz="1100" dirty="0"/>
          </a:p>
        </p:txBody>
      </p:sp>
      <p:sp>
        <p:nvSpPr>
          <p:cNvPr id="12" name="Shape 9"/>
          <p:cNvSpPr/>
          <p:nvPr/>
        </p:nvSpPr>
        <p:spPr>
          <a:xfrm>
            <a:off x="6309360" y="1344168"/>
            <a:ext cx="384048" cy="384048"/>
          </a:xfrm>
          <a:prstGeom prst="ellipse">
            <a:avLst/>
          </a:prstGeom>
          <a:solidFill>
            <a:srgbClr val="B9772A"/>
          </a:solidFill>
          <a:ln w="12700">
            <a:solidFill>
              <a:srgbClr val="B9772A"/>
            </a:solidFill>
            <a:prstDash val="solid"/>
          </a:ln>
        </p:spPr>
      </p:sp>
      <p:sp>
        <p:nvSpPr>
          <p:cNvPr id="13" name="Text 10"/>
          <p:cNvSpPr txBox="1"/>
          <p:nvPr/>
        </p:nvSpPr>
        <p:spPr>
          <a:xfrm>
            <a:off x="6309360" y="1344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4" name="Text 11"/>
          <p:cNvSpPr txBox="1"/>
          <p:nvPr/>
        </p:nvSpPr>
        <p:spPr>
          <a:xfrm>
            <a:off x="6812280" y="1325880"/>
            <a:ext cx="4800600" cy="77724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Bcc</a:t>
            </a:r>
            <a:r>
              <a:rPr lang="en-US" sz="1200" dirty="0">
                <a:solidFill>
                  <a:srgbClr val="1B2430"/>
                </a:solidFill>
              </a:rPr>
              <a:t>: in the envelope, in no header line</a:t>
            </a:r>
            <a:endParaRPr lang="en-US" sz="1200" dirty="0"/>
          </a:p>
        </p:txBody>
      </p:sp>
      <p:sp>
        <p:nvSpPr>
          <p:cNvPr id="15" name="Shape 12"/>
          <p:cNvSpPr/>
          <p:nvPr/>
        </p:nvSpPr>
        <p:spPr>
          <a:xfrm>
            <a:off x="6309360" y="2212848"/>
            <a:ext cx="384048" cy="384048"/>
          </a:xfrm>
          <a:prstGeom prst="ellipse">
            <a:avLst/>
          </a:prstGeom>
          <a:solidFill>
            <a:srgbClr val="B9772A"/>
          </a:solidFill>
          <a:ln w="12700">
            <a:solidFill>
              <a:srgbClr val="B9772A"/>
            </a:solidFill>
            <a:prstDash val="solid"/>
          </a:ln>
        </p:spPr>
      </p:sp>
      <p:sp>
        <p:nvSpPr>
          <p:cNvPr id="16" name="Text 13"/>
          <p:cNvSpPr txBox="1"/>
          <p:nvPr/>
        </p:nvSpPr>
        <p:spPr>
          <a:xfrm>
            <a:off x="6309360" y="2212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7" name="Text 14"/>
          <p:cNvSpPr txBox="1"/>
          <p:nvPr/>
        </p:nvSpPr>
        <p:spPr>
          <a:xfrm>
            <a:off x="6812280" y="2194560"/>
            <a:ext cx="4800600" cy="77724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mailing list</a:t>
            </a:r>
            <a:r>
              <a:rPr lang="en-US" sz="1200" dirty="0">
                <a:solidFill>
                  <a:srgbClr val="1B2430"/>
                </a:solidFill>
              </a:rPr>
              <a:t>: thousands of envelope addresses, To: names the list</a:t>
            </a:r>
            <a:endParaRPr lang="en-US" sz="1200" dirty="0"/>
          </a:p>
        </p:txBody>
      </p:sp>
      <p:sp>
        <p:nvSpPr>
          <p:cNvPr id="18" name="Shape 15"/>
          <p:cNvSpPr/>
          <p:nvPr/>
        </p:nvSpPr>
        <p:spPr>
          <a:xfrm>
            <a:off x="6309360" y="3081528"/>
            <a:ext cx="384048" cy="384048"/>
          </a:xfrm>
          <a:prstGeom prst="ellipse">
            <a:avLst/>
          </a:prstGeom>
          <a:solidFill>
            <a:srgbClr val="B9772A"/>
          </a:solidFill>
          <a:ln w="12700">
            <a:solidFill>
              <a:srgbClr val="B9772A"/>
            </a:solidFill>
            <a:prstDash val="solid"/>
          </a:ln>
        </p:spPr>
      </p:sp>
      <p:sp>
        <p:nvSpPr>
          <p:cNvPr id="19" name="Text 16"/>
          <p:cNvSpPr txBox="1"/>
          <p:nvPr/>
        </p:nvSpPr>
        <p:spPr>
          <a:xfrm>
            <a:off x="6309360" y="3081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7"/>
          <p:cNvSpPr txBox="1"/>
          <p:nvPr/>
        </p:nvSpPr>
        <p:spPr>
          <a:xfrm>
            <a:off x="6812280" y="3063240"/>
            <a:ext cx="4800600" cy="77724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bounces</a:t>
            </a:r>
            <a:r>
              <a:rPr lang="en-US" sz="1200" dirty="0">
                <a:solidFill>
                  <a:srgbClr val="1B2430"/>
                </a:solidFill>
              </a:rPr>
              <a:t>: go to MAIL FROM, not to From:</a:t>
            </a:r>
            <a:endParaRPr lang="en-US" sz="1200" dirty="0"/>
          </a:p>
        </p:txBody>
      </p:sp>
      <p:sp>
        <p:nvSpPr>
          <p:cNvPr id="21" name="Shape 18"/>
          <p:cNvSpPr/>
          <p:nvPr/>
        </p:nvSpPr>
        <p:spPr>
          <a:xfrm>
            <a:off x="6309360" y="3950208"/>
            <a:ext cx="384048" cy="384048"/>
          </a:xfrm>
          <a:prstGeom prst="ellipse">
            <a:avLst/>
          </a:prstGeom>
          <a:solidFill>
            <a:srgbClr val="B9772A"/>
          </a:solidFill>
          <a:ln w="12700">
            <a:solidFill>
              <a:srgbClr val="B9772A"/>
            </a:solidFill>
            <a:prstDash val="solid"/>
          </a:ln>
        </p:spPr>
      </p:sp>
      <p:sp>
        <p:nvSpPr>
          <p:cNvPr id="22" name="Text 19"/>
          <p:cNvSpPr txBox="1"/>
          <p:nvPr/>
        </p:nvSpPr>
        <p:spPr>
          <a:xfrm>
            <a:off x="6309360"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20"/>
          <p:cNvSpPr txBox="1"/>
          <p:nvPr/>
        </p:nvSpPr>
        <p:spPr>
          <a:xfrm>
            <a:off x="6812280" y="3931920"/>
            <a:ext cx="4800600" cy="77724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forgery</a:t>
            </a:r>
            <a:r>
              <a:rPr lang="en-US" sz="1200" dirty="0">
                <a:solidFill>
                  <a:srgbClr val="1B2430"/>
                </a:solidFill>
              </a:rPr>
              <a:t>: anyone can write any From: → SPF, DKIM, DMARC</a:t>
            </a:r>
            <a:endParaRPr lang="en-US" sz="1200" dirty="0"/>
          </a:p>
        </p:txBody>
      </p:sp>
      <p:sp>
        <p:nvSpPr>
          <p:cNvPr id="2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5" name="Text 2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Like paper mail: the post office reads the envelope, the reader reads the letterhead.</a:t>
            </a:r>
            <a:endParaRPr lang="en-US" sz="1400" dirty="0"/>
          </a:p>
        </p:txBody>
      </p:sp>
      <p:sp>
        <p:nvSpPr>
          <p:cNvPr id="26" name="Text 23"/>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DMARC (Domain-based Message Authentication, Reporting and Conformance) · DKIM (DomainKeys Identified Mail) · RCPT (recipient) · SPF (Sender Policy Framework)</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 Ports, encryption and the MX lookup</a:t>
            </a:r>
            <a:endParaRPr lang="en-US" sz="3000" dirty="0"/>
          </a:p>
        </p:txBody>
      </p:sp>
      <p:sp>
        <p:nvSpPr>
          <p:cNvPr id="4" name="box"/>
          <p:cNvSpPr/>
          <p:nvPr/>
        </p:nvSpPr>
        <p:spPr>
          <a:xfrm>
            <a:off x="548640" y="1325880"/>
            <a:ext cx="1097280" cy="731520"/>
          </a:xfrm>
          <a:prstGeom prst="roundRect">
            <a:avLst>
              <a:gd name="adj" fmla="val 10000"/>
            </a:avLst>
          </a:prstGeom>
          <a:solidFill>
            <a:srgbClr val="1F3A5F"/>
          </a:solidFill>
          <a:ln w="12700">
            <a:solidFill>
              <a:srgbClr val="1F3A5F"/>
            </a:solidFill>
            <a:prstDash val="solid"/>
          </a:ln>
        </p:spPr>
      </p:sp>
      <p:sp>
        <p:nvSpPr>
          <p:cNvPr id="5" name="Text 2"/>
          <p:cNvSpPr txBox="1"/>
          <p:nvPr/>
        </p:nvSpPr>
        <p:spPr>
          <a:xfrm>
            <a:off x="548640" y="1325880"/>
            <a:ext cx="1097280" cy="73152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25</a:t>
            </a:r>
            <a:endParaRPr lang="en-US" sz="2000" dirty="0"/>
          </a:p>
        </p:txBody>
      </p:sp>
      <p:sp>
        <p:nvSpPr>
          <p:cNvPr id="6" name="box"/>
          <p:cNvSpPr/>
          <p:nvPr/>
        </p:nvSpPr>
        <p:spPr>
          <a:xfrm>
            <a:off x="1737360" y="1325880"/>
            <a:ext cx="4206240" cy="731520"/>
          </a:xfrm>
          <a:prstGeom prst="roundRect">
            <a:avLst>
              <a:gd name="adj" fmla="val 10000"/>
            </a:avLst>
          </a:prstGeom>
          <a:solidFill>
            <a:srgbClr val="EEF2F6"/>
          </a:solidFill>
          <a:ln w="12700">
            <a:solidFill>
              <a:srgbClr val="EEF2F6"/>
            </a:solidFill>
            <a:prstDash val="solid"/>
          </a:ln>
        </p:spPr>
      </p:sp>
      <p:sp>
        <p:nvSpPr>
          <p:cNvPr id="7" name="Text 4"/>
          <p:cNvSpPr txBox="1"/>
          <p:nvPr/>
        </p:nvSpPr>
        <p:spPr>
          <a:xfrm>
            <a:off x="1737360" y="1325880"/>
            <a:ext cx="4206240" cy="731520"/>
          </a:xfrm>
          <a:prstGeom prst="rect">
            <a:avLst/>
          </a:prstGeom>
          <a:noFill/>
          <a:ln/>
        </p:spPr>
        <p:txBody>
          <a:bodyPr wrap="square" lIns="635" tIns="635" rIns="635" bIns="635" rtlCol="0" anchor="ctr"/>
          <a:lstStyle/>
          <a:p>
            <a:pPr algn="ctr" indent="0" marL="0">
              <a:buNone/>
            </a:pPr>
            <a:r>
              <a:rPr lang="en-US" sz="1100" b="1" dirty="0">
                <a:solidFill>
                  <a:srgbClr val="1B2430"/>
                </a:solidFill>
              </a:rPr>
              <a:t>server → server relay</a:t>
            </a:r>
            <a:endParaRPr lang="en-US" sz="1100" dirty="0"/>
          </a:p>
          <a:p>
            <a:pPr algn="ctr" indent="0" marL="0">
              <a:buNone/>
            </a:pPr>
            <a:r>
              <a:rPr lang="en-US" sz="1100" dirty="0">
                <a:solidFill>
                  <a:srgbClr val="1B2430"/>
                </a:solidFill>
              </a:rPr>
              <a:t>STARTTLS if possible; ISPs block it from homes</a:t>
            </a:r>
            <a:endParaRPr lang="en-US" sz="1100" dirty="0"/>
          </a:p>
        </p:txBody>
      </p:sp>
      <p:sp>
        <p:nvSpPr>
          <p:cNvPr id="8" name="box"/>
          <p:cNvSpPr/>
          <p:nvPr/>
        </p:nvSpPr>
        <p:spPr>
          <a:xfrm>
            <a:off x="548640" y="2194560"/>
            <a:ext cx="1097280" cy="731520"/>
          </a:xfrm>
          <a:prstGeom prst="roundRect">
            <a:avLst>
              <a:gd name="adj" fmla="val 10000"/>
            </a:avLst>
          </a:prstGeom>
          <a:solidFill>
            <a:srgbClr val="2A7F8E"/>
          </a:solidFill>
          <a:ln w="12700">
            <a:solidFill>
              <a:srgbClr val="2A7F8E"/>
            </a:solidFill>
            <a:prstDash val="solid"/>
          </a:ln>
        </p:spPr>
      </p:sp>
      <p:sp>
        <p:nvSpPr>
          <p:cNvPr id="9" name="Text 6"/>
          <p:cNvSpPr txBox="1"/>
          <p:nvPr/>
        </p:nvSpPr>
        <p:spPr>
          <a:xfrm>
            <a:off x="548640" y="2194560"/>
            <a:ext cx="1097280" cy="73152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587</a:t>
            </a:r>
            <a:endParaRPr lang="en-US" sz="2000" dirty="0"/>
          </a:p>
        </p:txBody>
      </p:sp>
      <p:sp>
        <p:nvSpPr>
          <p:cNvPr id="10" name="box"/>
          <p:cNvSpPr/>
          <p:nvPr/>
        </p:nvSpPr>
        <p:spPr>
          <a:xfrm>
            <a:off x="1737360" y="2194560"/>
            <a:ext cx="4206240" cy="731520"/>
          </a:xfrm>
          <a:prstGeom prst="roundRect">
            <a:avLst>
              <a:gd name="adj" fmla="val 10000"/>
            </a:avLst>
          </a:prstGeom>
          <a:solidFill>
            <a:srgbClr val="EEF2F6"/>
          </a:solidFill>
          <a:ln w="12700">
            <a:solidFill>
              <a:srgbClr val="EEF2F6"/>
            </a:solidFill>
            <a:prstDash val="solid"/>
          </a:ln>
        </p:spPr>
      </p:sp>
      <p:sp>
        <p:nvSpPr>
          <p:cNvPr id="11" name="Text 8"/>
          <p:cNvSpPr txBox="1"/>
          <p:nvPr/>
        </p:nvSpPr>
        <p:spPr>
          <a:xfrm>
            <a:off x="1737360" y="2194560"/>
            <a:ext cx="4206240" cy="731520"/>
          </a:xfrm>
          <a:prstGeom prst="rect">
            <a:avLst/>
          </a:prstGeom>
          <a:noFill/>
          <a:ln/>
        </p:spPr>
        <p:txBody>
          <a:bodyPr wrap="square" lIns="635" tIns="635" rIns="635" bIns="635" rtlCol="0" anchor="ctr"/>
          <a:lstStyle/>
          <a:p>
            <a:pPr algn="ctr" indent="0" marL="0">
              <a:buNone/>
            </a:pPr>
            <a:r>
              <a:rPr lang="en-US" sz="1100" b="1" dirty="0">
                <a:solidFill>
                  <a:srgbClr val="1B2430"/>
                </a:solidFill>
              </a:rPr>
              <a:t>submission by user agents</a:t>
            </a:r>
            <a:endParaRPr lang="en-US" sz="1100" dirty="0"/>
          </a:p>
          <a:p>
            <a:pPr algn="ctr" indent="0" marL="0">
              <a:buNone/>
            </a:pPr>
            <a:r>
              <a:rPr lang="en-US" sz="1100" dirty="0">
                <a:solidFill>
                  <a:srgbClr val="1B2430"/>
                </a:solidFill>
              </a:rPr>
              <a:t>AUTH, then STARTTLS (RFC 6409)</a:t>
            </a:r>
            <a:endParaRPr lang="en-US" sz="1100" dirty="0"/>
          </a:p>
        </p:txBody>
      </p:sp>
      <p:sp>
        <p:nvSpPr>
          <p:cNvPr id="12" name="box"/>
          <p:cNvSpPr/>
          <p:nvPr/>
        </p:nvSpPr>
        <p:spPr>
          <a:xfrm>
            <a:off x="548640" y="3063240"/>
            <a:ext cx="1097280" cy="731520"/>
          </a:xfrm>
          <a:prstGeom prst="roundRect">
            <a:avLst>
              <a:gd name="adj" fmla="val 10000"/>
            </a:avLst>
          </a:prstGeom>
          <a:solidFill>
            <a:srgbClr val="2E7D4F"/>
          </a:solidFill>
          <a:ln w="12700">
            <a:solidFill>
              <a:srgbClr val="2E7D4F"/>
            </a:solidFill>
            <a:prstDash val="solid"/>
          </a:ln>
        </p:spPr>
      </p:sp>
      <p:sp>
        <p:nvSpPr>
          <p:cNvPr id="13" name="Text 10"/>
          <p:cNvSpPr txBox="1"/>
          <p:nvPr/>
        </p:nvSpPr>
        <p:spPr>
          <a:xfrm>
            <a:off x="548640" y="3063240"/>
            <a:ext cx="1097280" cy="73152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465</a:t>
            </a:r>
            <a:endParaRPr lang="en-US" sz="2000" dirty="0"/>
          </a:p>
        </p:txBody>
      </p:sp>
      <p:sp>
        <p:nvSpPr>
          <p:cNvPr id="14" name="box"/>
          <p:cNvSpPr/>
          <p:nvPr/>
        </p:nvSpPr>
        <p:spPr>
          <a:xfrm>
            <a:off x="1737360" y="3063240"/>
            <a:ext cx="4206240" cy="731520"/>
          </a:xfrm>
          <a:prstGeom prst="roundRect">
            <a:avLst>
              <a:gd name="adj" fmla="val 10000"/>
            </a:avLst>
          </a:prstGeom>
          <a:solidFill>
            <a:srgbClr val="EEF2F6"/>
          </a:solidFill>
          <a:ln w="12700">
            <a:solidFill>
              <a:srgbClr val="EEF2F6"/>
            </a:solidFill>
            <a:prstDash val="solid"/>
          </a:ln>
        </p:spPr>
      </p:sp>
      <p:sp>
        <p:nvSpPr>
          <p:cNvPr id="15" name="Text 12"/>
          <p:cNvSpPr txBox="1"/>
          <p:nvPr/>
        </p:nvSpPr>
        <p:spPr>
          <a:xfrm>
            <a:off x="1737360" y="3063240"/>
            <a:ext cx="4206240" cy="731520"/>
          </a:xfrm>
          <a:prstGeom prst="rect">
            <a:avLst/>
          </a:prstGeom>
          <a:noFill/>
          <a:ln/>
        </p:spPr>
        <p:txBody>
          <a:bodyPr wrap="square" lIns="635" tIns="635" rIns="635" bIns="635" rtlCol="0" anchor="ctr"/>
          <a:lstStyle/>
          <a:p>
            <a:pPr algn="ctr" indent="0" marL="0">
              <a:buNone/>
            </a:pPr>
            <a:r>
              <a:rPr lang="en-US" sz="1100" b="1" dirty="0">
                <a:solidFill>
                  <a:srgbClr val="1B2430"/>
                </a:solidFill>
              </a:rPr>
              <a:t>submission over TLS</a:t>
            </a:r>
            <a:endParaRPr lang="en-US" sz="1100" dirty="0"/>
          </a:p>
          <a:p>
            <a:pPr algn="ctr" indent="0" marL="0">
              <a:buNone/>
            </a:pPr>
            <a:r>
              <a:rPr lang="en-US" sz="1100" dirty="0">
                <a:solidFill>
                  <a:srgbClr val="1B2430"/>
                </a:solidFill>
              </a:rPr>
              <a:t>TLS from the first byte (RFC 8314)</a:t>
            </a:r>
            <a:endParaRPr lang="en-US" sz="1100" dirty="0"/>
          </a:p>
        </p:txBody>
      </p:sp>
      <p:sp>
        <p:nvSpPr>
          <p:cNvPr id="16" name="code"/>
          <p:cNvSpPr/>
          <p:nvPr/>
        </p:nvSpPr>
        <p:spPr>
          <a:xfrm>
            <a:off x="6309360" y="1325880"/>
            <a:ext cx="5303520" cy="1051560"/>
          </a:xfrm>
          <a:prstGeom prst="rect">
            <a:avLst/>
          </a:prstGeom>
          <a:solidFill>
            <a:srgbClr val="1E2A38"/>
          </a:solidFill>
          <a:ln w="12700">
            <a:solidFill>
              <a:srgbClr val="1E2A38"/>
            </a:solidFill>
            <a:prstDash val="solid"/>
          </a:ln>
        </p:spPr>
      </p:sp>
      <p:sp>
        <p:nvSpPr>
          <p:cNvPr id="17" name="Text 14"/>
          <p:cNvSpPr txBox="1"/>
          <p:nvPr/>
        </p:nvSpPr>
        <p:spPr>
          <a:xfrm>
            <a:off x="6309360" y="1325880"/>
            <a:ext cx="5303520" cy="1051560"/>
          </a:xfrm>
          <a:prstGeom prst="rect">
            <a:avLst/>
          </a:prstGeom>
          <a:noFill/>
          <a:ln/>
        </p:spPr>
        <p:txBody>
          <a:bodyPr wrap="square" lIns="101600" tIns="101600" rIns="101600" bIns="101600" rtlCol="0" anchor="t"/>
          <a:lstStyle/>
          <a:p>
            <a:pPr algn="l" indent="0" marL="0">
              <a:spcAft>
                <a:spcPts val="200"/>
              </a:spcAft>
              <a:buNone/>
            </a:pPr>
            <a:r>
              <a:rPr lang="en-US" sz="1300" dirty="0">
                <a:solidFill>
                  <a:srgbClr val="E8EEF4"/>
                </a:solidFill>
                <a:latin typeface="Consolas" pitchFamily="34" charset="0"/>
                <a:ea typeface="Consolas" pitchFamily="34" charset="-122"/>
                <a:cs typeface="Consolas" pitchFamily="34" charset="-120"/>
              </a:rPr>
              <a:t>$ dig +short example.com MX</a:t>
            </a:r>
            <a:endParaRPr lang="en-US" sz="1300" dirty="0"/>
          </a:p>
          <a:p>
            <a:pPr algn="l" indent="0" marL="0">
              <a:spcAft>
                <a:spcPts val="200"/>
              </a:spcAft>
              <a:buNone/>
            </a:pPr>
            <a:r>
              <a:rPr lang="en-US" sz="1300" dirty="0">
                <a:solidFill>
                  <a:srgbClr val="E8EEF4"/>
                </a:solidFill>
                <a:latin typeface="Consolas" pitchFamily="34" charset="0"/>
                <a:ea typeface="Consolas" pitchFamily="34" charset="-122"/>
                <a:cs typeface="Consolas" pitchFamily="34" charset="-120"/>
              </a:rPr>
              <a:t>10 mx1.example.com.</a:t>
            </a:r>
            <a:endParaRPr lang="en-US" sz="1300" dirty="0"/>
          </a:p>
          <a:p>
            <a:pPr algn="l" indent="0" marL="0">
              <a:spcAft>
                <a:spcPts val="200"/>
              </a:spcAft>
              <a:buNone/>
            </a:pPr>
            <a:r>
              <a:rPr lang="en-US" sz="1300" dirty="0">
                <a:solidFill>
                  <a:srgbClr val="E8EEF4"/>
                </a:solidFill>
                <a:latin typeface="Consolas" pitchFamily="34" charset="0"/>
                <a:ea typeface="Consolas" pitchFamily="34" charset="-122"/>
                <a:cs typeface="Consolas" pitchFamily="34" charset="-120"/>
              </a:rPr>
              <a:t>20 mx2.example.com.</a:t>
            </a:r>
            <a:endParaRPr lang="en-US" sz="1300" dirty="0"/>
          </a:p>
        </p:txBody>
      </p:sp>
      <p:sp>
        <p:nvSpPr>
          <p:cNvPr id="18" name="box"/>
          <p:cNvSpPr/>
          <p:nvPr/>
        </p:nvSpPr>
        <p:spPr>
          <a:xfrm>
            <a:off x="6309360" y="2606040"/>
            <a:ext cx="2560320" cy="685800"/>
          </a:xfrm>
          <a:prstGeom prst="roundRect">
            <a:avLst>
              <a:gd name="adj" fmla="val 10667"/>
            </a:avLst>
          </a:prstGeom>
          <a:solidFill>
            <a:srgbClr val="2E7D4F"/>
          </a:solidFill>
          <a:ln w="12700">
            <a:solidFill>
              <a:srgbClr val="2E7D4F"/>
            </a:solidFill>
            <a:prstDash val="solid"/>
          </a:ln>
        </p:spPr>
      </p:sp>
      <p:sp>
        <p:nvSpPr>
          <p:cNvPr id="19" name="Text 16"/>
          <p:cNvSpPr txBox="1"/>
          <p:nvPr/>
        </p:nvSpPr>
        <p:spPr>
          <a:xfrm>
            <a:off x="6309360" y="2606040"/>
            <a:ext cx="2560320" cy="685800"/>
          </a:xfrm>
          <a:prstGeom prst="rect">
            <a:avLst/>
          </a:prstGeom>
          <a:noFill/>
          <a:ln/>
        </p:spPr>
        <p:txBody>
          <a:bodyPr wrap="square" lIns="635" tIns="635" rIns="635" bIns="635" rtlCol="0" anchor="ctr"/>
          <a:lstStyle/>
          <a:p>
            <a:pPr algn="ctr" indent="0" marL="0">
              <a:buNone/>
            </a:pPr>
            <a:r>
              <a:rPr lang="en-US" sz="1200" b="1" dirty="0">
                <a:solidFill>
                  <a:srgbClr val="FFFFFF"/>
                </a:solidFill>
              </a:rPr>
              <a:t>mx1 (pref 10)</a:t>
            </a:r>
            <a:endParaRPr lang="en-US" sz="1200" dirty="0"/>
          </a:p>
          <a:p>
            <a:pPr algn="ctr" indent="0" marL="0">
              <a:buNone/>
            </a:pPr>
            <a:r>
              <a:rPr lang="en-US" sz="1200" dirty="0">
                <a:solidFill>
                  <a:srgbClr val="FFFFFF"/>
                </a:solidFill>
              </a:rPr>
              <a:t>try first</a:t>
            </a:r>
            <a:endParaRPr lang="en-US" sz="1200" dirty="0"/>
          </a:p>
        </p:txBody>
      </p:sp>
      <p:sp>
        <p:nvSpPr>
          <p:cNvPr id="20" name="box"/>
          <p:cNvSpPr/>
          <p:nvPr/>
        </p:nvSpPr>
        <p:spPr>
          <a:xfrm>
            <a:off x="9052560" y="2606040"/>
            <a:ext cx="2560320" cy="685800"/>
          </a:xfrm>
          <a:prstGeom prst="roundRect">
            <a:avLst>
              <a:gd name="adj" fmla="val 10667"/>
            </a:avLst>
          </a:prstGeom>
          <a:solidFill>
            <a:srgbClr val="B9772A"/>
          </a:solidFill>
          <a:ln w="12700">
            <a:solidFill>
              <a:srgbClr val="B9772A"/>
            </a:solidFill>
            <a:prstDash val="solid"/>
          </a:ln>
        </p:spPr>
      </p:sp>
      <p:sp>
        <p:nvSpPr>
          <p:cNvPr id="21" name="Text 18"/>
          <p:cNvSpPr txBox="1"/>
          <p:nvPr/>
        </p:nvSpPr>
        <p:spPr>
          <a:xfrm>
            <a:off x="9052560" y="2606040"/>
            <a:ext cx="2560320" cy="685800"/>
          </a:xfrm>
          <a:prstGeom prst="rect">
            <a:avLst/>
          </a:prstGeom>
          <a:noFill/>
          <a:ln/>
        </p:spPr>
        <p:txBody>
          <a:bodyPr wrap="square" lIns="635" tIns="635" rIns="635" bIns="635" rtlCol="0" anchor="ctr"/>
          <a:lstStyle/>
          <a:p>
            <a:pPr algn="ctr" indent="0" marL="0">
              <a:buNone/>
            </a:pPr>
            <a:r>
              <a:rPr lang="en-US" sz="1200" b="1" dirty="0">
                <a:solidFill>
                  <a:srgbClr val="FFFFFF"/>
                </a:solidFill>
              </a:rPr>
              <a:t>mx2 (pref 20)</a:t>
            </a:r>
            <a:endParaRPr lang="en-US" sz="1200" dirty="0"/>
          </a:p>
          <a:p>
            <a:pPr algn="ctr" indent="0" marL="0">
              <a:buNone/>
            </a:pPr>
            <a:r>
              <a:rPr lang="en-US" sz="1200" dirty="0">
                <a:solidFill>
                  <a:srgbClr val="FFFFFF"/>
                </a:solidFill>
              </a:rPr>
              <a:t>fallback</a:t>
            </a:r>
            <a:endParaRPr lang="en-US" sz="1200" dirty="0"/>
          </a:p>
        </p:txBody>
      </p:sp>
      <p:sp>
        <p:nvSpPr>
          <p:cNvPr id="22" name="Shape 19"/>
          <p:cNvSpPr/>
          <p:nvPr/>
        </p:nvSpPr>
        <p:spPr>
          <a:xfrm>
            <a:off x="548640" y="4178808"/>
            <a:ext cx="384048" cy="384048"/>
          </a:xfrm>
          <a:prstGeom prst="ellipse">
            <a:avLst/>
          </a:prstGeom>
          <a:solidFill>
            <a:srgbClr val="B9772A"/>
          </a:solidFill>
          <a:ln w="12700">
            <a:solidFill>
              <a:srgbClr val="B9772A"/>
            </a:solidFill>
            <a:prstDash val="solid"/>
          </a:ln>
        </p:spPr>
      </p:sp>
      <p:sp>
        <p:nvSpPr>
          <p:cNvPr id="23" name="Text 20"/>
          <p:cNvSpPr txBox="1"/>
          <p:nvPr/>
        </p:nvSpPr>
        <p:spPr>
          <a:xfrm>
            <a:off x="548640" y="4178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1"/>
          <p:cNvSpPr txBox="1"/>
          <p:nvPr/>
        </p:nvSpPr>
        <p:spPr>
          <a:xfrm>
            <a:off x="1051560" y="4160520"/>
            <a:ext cx="10561320" cy="6858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Lowest preference number first; if it does not answer, the next — and if none answers, queue and retry.</a:t>
            </a:r>
            <a:endParaRPr lang="en-US" sz="1300" dirty="0"/>
          </a:p>
        </p:txBody>
      </p:sp>
      <p:sp>
        <p:nvSpPr>
          <p:cNvPr id="25" name="Shape 22"/>
          <p:cNvSpPr/>
          <p:nvPr/>
        </p:nvSpPr>
        <p:spPr>
          <a:xfrm>
            <a:off x="548640" y="4910328"/>
            <a:ext cx="384048" cy="384048"/>
          </a:xfrm>
          <a:prstGeom prst="ellipse">
            <a:avLst/>
          </a:prstGeom>
          <a:solidFill>
            <a:srgbClr val="B9772A"/>
          </a:solidFill>
          <a:ln w="12700">
            <a:solidFill>
              <a:srgbClr val="B9772A"/>
            </a:solidFill>
            <a:prstDash val="solid"/>
          </a:ln>
        </p:spPr>
      </p:sp>
      <p:sp>
        <p:nvSpPr>
          <p:cNvPr id="26" name="Text 23"/>
          <p:cNvSpPr txBox="1"/>
          <p:nvPr/>
        </p:nvSpPr>
        <p:spPr>
          <a:xfrm>
            <a:off x="548640" y="4910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4"/>
          <p:cNvSpPr txBox="1"/>
          <p:nvPr/>
        </p:nvSpPr>
        <p:spPr>
          <a:xfrm>
            <a:off x="1051560" y="4892040"/>
            <a:ext cx="10561320" cy="6858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Our first application that </a:t>
            </a:r>
            <a:r>
              <a:rPr lang="en-US" sz="1300" b="1" dirty="0">
                <a:solidFill>
                  <a:srgbClr val="1B2430"/>
                </a:solidFill>
              </a:rPr>
              <a:t>cannot work without DNS</a:t>
            </a:r>
            <a:r>
              <a:rPr lang="en-US" sz="1300" dirty="0">
                <a:solidFill>
                  <a:srgbClr val="1B2430"/>
                </a:solidFill>
              </a:rPr>
              <a:t>.</a:t>
            </a:r>
            <a:endParaRPr lang="en-US" sz="1300" dirty="0"/>
          </a:p>
        </p:txBody>
      </p:sp>
      <p:sp>
        <p:nvSpPr>
          <p:cNvPr id="2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9" name="Text 2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Port 25 between servers, 587/465 from users; MX records name the servers that accept mail for a domain.</a:t>
            </a:r>
            <a:endParaRPr lang="en-US" sz="1400" dirty="0"/>
          </a:p>
        </p:txBody>
      </p:sp>
      <p:sp>
        <p:nvSpPr>
          <p:cNvPr id="30" name="Text 2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STARTTLS (start TLS on this connection) · TLS (Transport Layer Security) · DNS (Domain Name System) · RFC (Request for Comments) · MX (mail exchanger)</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 SMTP and HTTP compared</a:t>
            </a:r>
            <a:endParaRPr lang="en-US" sz="3000" dirty="0"/>
          </a:p>
        </p:txBody>
      </p:sp>
      <p:sp>
        <p:nvSpPr>
          <p:cNvPr id="4" name="box"/>
          <p:cNvSpPr/>
          <p:nvPr/>
        </p:nvSpPr>
        <p:spPr>
          <a:xfrm>
            <a:off x="548640" y="1325880"/>
            <a:ext cx="2514600" cy="411480"/>
          </a:xfrm>
          <a:prstGeom prst="rect">
            <a:avLst/>
          </a:prstGeom>
          <a:solidFill>
            <a:srgbClr val="1F3A5F"/>
          </a:solidFill>
          <a:ln w="12700">
            <a:solidFill>
              <a:srgbClr val="1F3A5F"/>
            </a:solidFill>
            <a:prstDash val="solid"/>
          </a:ln>
        </p:spPr>
      </p:sp>
      <p:sp>
        <p:nvSpPr>
          <p:cNvPr id="5" name="Text 2"/>
          <p:cNvSpPr txBox="1"/>
          <p:nvPr/>
        </p:nvSpPr>
        <p:spPr>
          <a:xfrm>
            <a:off x="548640" y="1325880"/>
            <a:ext cx="2514600" cy="411480"/>
          </a:xfrm>
          <a:prstGeom prst="rect">
            <a:avLst/>
          </a:prstGeom>
          <a:noFill/>
          <a:ln/>
        </p:spPr>
        <p:txBody>
          <a:bodyPr wrap="square" lIns="635" tIns="635" rIns="635" bIns="635" rtlCol="0" anchor="ctr"/>
          <a:lstStyle/>
          <a:p>
            <a:pPr algn="ctr" indent="0" marL="0">
              <a:buNone/>
            </a:pPr>
            <a:endParaRPr lang="en-US" sz="1300" dirty="0"/>
          </a:p>
        </p:txBody>
      </p:sp>
      <p:sp>
        <p:nvSpPr>
          <p:cNvPr id="6" name="box"/>
          <p:cNvSpPr/>
          <p:nvPr/>
        </p:nvSpPr>
        <p:spPr>
          <a:xfrm>
            <a:off x="3108960" y="1325880"/>
            <a:ext cx="4206240" cy="411480"/>
          </a:xfrm>
          <a:prstGeom prst="rect">
            <a:avLst/>
          </a:prstGeom>
          <a:solidFill>
            <a:srgbClr val="1F3A5F"/>
          </a:solidFill>
          <a:ln w="12700">
            <a:solidFill>
              <a:srgbClr val="1F3A5F"/>
            </a:solidFill>
            <a:prstDash val="solid"/>
          </a:ln>
        </p:spPr>
      </p:sp>
      <p:sp>
        <p:nvSpPr>
          <p:cNvPr id="7" name="Text 4"/>
          <p:cNvSpPr txBox="1"/>
          <p:nvPr/>
        </p:nvSpPr>
        <p:spPr>
          <a:xfrm>
            <a:off x="3108960" y="1325880"/>
            <a:ext cx="42062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HTTP</a:t>
            </a:r>
            <a:endParaRPr lang="en-US" sz="1300" dirty="0"/>
          </a:p>
        </p:txBody>
      </p:sp>
      <p:sp>
        <p:nvSpPr>
          <p:cNvPr id="8" name="box"/>
          <p:cNvSpPr/>
          <p:nvPr/>
        </p:nvSpPr>
        <p:spPr>
          <a:xfrm>
            <a:off x="7360920" y="1325880"/>
            <a:ext cx="4206240" cy="411480"/>
          </a:xfrm>
          <a:prstGeom prst="rect">
            <a:avLst/>
          </a:prstGeom>
          <a:solidFill>
            <a:srgbClr val="1F3A5F"/>
          </a:solidFill>
          <a:ln w="12700">
            <a:solidFill>
              <a:srgbClr val="1F3A5F"/>
            </a:solidFill>
            <a:prstDash val="solid"/>
          </a:ln>
        </p:spPr>
      </p:sp>
      <p:sp>
        <p:nvSpPr>
          <p:cNvPr id="9" name="Text 6"/>
          <p:cNvSpPr txBox="1"/>
          <p:nvPr/>
        </p:nvSpPr>
        <p:spPr>
          <a:xfrm>
            <a:off x="7360920" y="1325880"/>
            <a:ext cx="42062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SMTP</a:t>
            </a:r>
            <a:endParaRPr lang="en-US" sz="1300" dirty="0"/>
          </a:p>
        </p:txBody>
      </p:sp>
      <p:sp>
        <p:nvSpPr>
          <p:cNvPr id="10" name="box"/>
          <p:cNvSpPr/>
          <p:nvPr/>
        </p:nvSpPr>
        <p:spPr>
          <a:xfrm>
            <a:off x="548640" y="1783080"/>
            <a:ext cx="2514600" cy="621792"/>
          </a:xfrm>
          <a:prstGeom prst="rect">
            <a:avLst/>
          </a:prstGeom>
          <a:solidFill>
            <a:srgbClr val="EEF2F6"/>
          </a:solidFill>
          <a:ln w="12700">
            <a:solidFill>
              <a:srgbClr val="EEF2F6"/>
            </a:solidFill>
            <a:prstDash val="solid"/>
          </a:ln>
        </p:spPr>
      </p:sp>
      <p:sp>
        <p:nvSpPr>
          <p:cNvPr id="11" name="Text 8"/>
          <p:cNvSpPr txBox="1"/>
          <p:nvPr/>
        </p:nvSpPr>
        <p:spPr>
          <a:xfrm>
            <a:off x="548640" y="1783080"/>
            <a:ext cx="2514600" cy="621792"/>
          </a:xfrm>
          <a:prstGeom prst="rect">
            <a:avLst/>
          </a:prstGeom>
          <a:noFill/>
          <a:ln/>
        </p:spPr>
        <p:txBody>
          <a:bodyPr wrap="square" lIns="1270" tIns="1270" rIns="1270" bIns="1270" rtlCol="0" anchor="ctr"/>
          <a:lstStyle/>
          <a:p>
            <a:pPr algn="ctr" indent="0" marL="0">
              <a:buNone/>
            </a:pPr>
            <a:r>
              <a:rPr lang="en-US" sz="1300" dirty="0">
                <a:solidFill>
                  <a:srgbClr val="1B2430"/>
                </a:solidFill>
              </a:rPr>
              <a:t>Direction</a:t>
            </a:r>
            <a:endParaRPr lang="en-US" sz="1300" dirty="0"/>
          </a:p>
        </p:txBody>
      </p:sp>
      <p:sp>
        <p:nvSpPr>
          <p:cNvPr id="12" name="box"/>
          <p:cNvSpPr/>
          <p:nvPr/>
        </p:nvSpPr>
        <p:spPr>
          <a:xfrm>
            <a:off x="3108960" y="1783080"/>
            <a:ext cx="4206240" cy="621792"/>
          </a:xfrm>
          <a:prstGeom prst="rect">
            <a:avLst/>
          </a:prstGeom>
          <a:solidFill>
            <a:srgbClr val="F7F9FB"/>
          </a:solidFill>
          <a:ln w="12700">
            <a:solidFill>
              <a:srgbClr val="F7F9FB"/>
            </a:solidFill>
            <a:prstDash val="solid"/>
          </a:ln>
        </p:spPr>
      </p:sp>
      <p:sp>
        <p:nvSpPr>
          <p:cNvPr id="13" name="Text 10"/>
          <p:cNvSpPr txBox="1"/>
          <p:nvPr/>
        </p:nvSpPr>
        <p:spPr>
          <a:xfrm>
            <a:off x="3108960" y="1783080"/>
            <a:ext cx="4206240" cy="621792"/>
          </a:xfrm>
          <a:prstGeom prst="rect">
            <a:avLst/>
          </a:prstGeom>
          <a:noFill/>
          <a:ln/>
        </p:spPr>
        <p:txBody>
          <a:bodyPr wrap="square" lIns="1270" tIns="1270" rIns="1270" bIns="1270" rtlCol="0" anchor="ctr"/>
          <a:lstStyle/>
          <a:p>
            <a:pPr algn="l" indent="0" marL="0">
              <a:buNone/>
            </a:pPr>
            <a:r>
              <a:rPr lang="en-US" sz="1300" b="1" dirty="0">
                <a:solidFill>
                  <a:srgbClr val="1B2430"/>
                </a:solidFill>
              </a:rPr>
              <a:t>pull</a:t>
            </a:r>
            <a:r>
              <a:rPr lang="en-US" sz="1300" dirty="0">
                <a:solidFill>
                  <a:srgbClr val="1B2430"/>
                </a:solidFill>
              </a:rPr>
              <a:t>: the client asks for an object</a:t>
            </a:r>
            <a:endParaRPr lang="en-US" sz="1300" dirty="0"/>
          </a:p>
        </p:txBody>
      </p:sp>
      <p:sp>
        <p:nvSpPr>
          <p:cNvPr id="14" name="box"/>
          <p:cNvSpPr/>
          <p:nvPr/>
        </p:nvSpPr>
        <p:spPr>
          <a:xfrm>
            <a:off x="7360920" y="1783080"/>
            <a:ext cx="4206240" cy="621792"/>
          </a:xfrm>
          <a:prstGeom prst="rect">
            <a:avLst/>
          </a:prstGeom>
          <a:solidFill>
            <a:srgbClr val="F7F9FB"/>
          </a:solidFill>
          <a:ln w="12700">
            <a:solidFill>
              <a:srgbClr val="F7F9FB"/>
            </a:solidFill>
            <a:prstDash val="solid"/>
          </a:ln>
        </p:spPr>
      </p:sp>
      <p:sp>
        <p:nvSpPr>
          <p:cNvPr id="15" name="Text 12"/>
          <p:cNvSpPr txBox="1"/>
          <p:nvPr/>
        </p:nvSpPr>
        <p:spPr>
          <a:xfrm>
            <a:off x="7360920" y="1783080"/>
            <a:ext cx="4206240" cy="621792"/>
          </a:xfrm>
          <a:prstGeom prst="rect">
            <a:avLst/>
          </a:prstGeom>
          <a:noFill/>
          <a:ln/>
        </p:spPr>
        <p:txBody>
          <a:bodyPr wrap="square" lIns="1270" tIns="1270" rIns="1270" bIns="1270" rtlCol="0" anchor="ctr"/>
          <a:lstStyle/>
          <a:p>
            <a:pPr algn="l" indent="0" marL="0">
              <a:buNone/>
            </a:pPr>
            <a:r>
              <a:rPr lang="en-US" sz="1300" b="1" dirty="0">
                <a:solidFill>
                  <a:srgbClr val="1B2430"/>
                </a:solidFill>
              </a:rPr>
              <a:t>push</a:t>
            </a:r>
            <a:r>
              <a:rPr lang="en-US" sz="1300" dirty="0">
                <a:solidFill>
                  <a:srgbClr val="1B2430"/>
                </a:solidFill>
              </a:rPr>
              <a:t>: the client delivers a message</a:t>
            </a:r>
            <a:endParaRPr lang="en-US" sz="1300" dirty="0"/>
          </a:p>
        </p:txBody>
      </p:sp>
      <p:sp>
        <p:nvSpPr>
          <p:cNvPr id="16" name="box"/>
          <p:cNvSpPr/>
          <p:nvPr/>
        </p:nvSpPr>
        <p:spPr>
          <a:xfrm>
            <a:off x="548640" y="2450592"/>
            <a:ext cx="2514600" cy="621792"/>
          </a:xfrm>
          <a:prstGeom prst="rect">
            <a:avLst/>
          </a:prstGeom>
          <a:solidFill>
            <a:srgbClr val="EEF2F6"/>
          </a:solidFill>
          <a:ln w="12700">
            <a:solidFill>
              <a:srgbClr val="EEF2F6"/>
            </a:solidFill>
            <a:prstDash val="solid"/>
          </a:ln>
        </p:spPr>
      </p:sp>
      <p:sp>
        <p:nvSpPr>
          <p:cNvPr id="17" name="Text 14"/>
          <p:cNvSpPr txBox="1"/>
          <p:nvPr/>
        </p:nvSpPr>
        <p:spPr>
          <a:xfrm>
            <a:off x="548640" y="2450592"/>
            <a:ext cx="2514600" cy="621792"/>
          </a:xfrm>
          <a:prstGeom prst="rect">
            <a:avLst/>
          </a:prstGeom>
          <a:noFill/>
          <a:ln/>
        </p:spPr>
        <p:txBody>
          <a:bodyPr wrap="square" lIns="1270" tIns="1270" rIns="1270" bIns="1270" rtlCol="0" anchor="ctr"/>
          <a:lstStyle/>
          <a:p>
            <a:pPr algn="ctr" indent="0" marL="0">
              <a:buNone/>
            </a:pPr>
            <a:r>
              <a:rPr lang="en-US" sz="1300" dirty="0">
                <a:solidFill>
                  <a:srgbClr val="1B2430"/>
                </a:solidFill>
              </a:rPr>
              <a:t>Connection</a:t>
            </a:r>
            <a:endParaRPr lang="en-US" sz="1300" dirty="0"/>
          </a:p>
        </p:txBody>
      </p:sp>
      <p:sp>
        <p:nvSpPr>
          <p:cNvPr id="18" name="box"/>
          <p:cNvSpPr/>
          <p:nvPr/>
        </p:nvSpPr>
        <p:spPr>
          <a:xfrm>
            <a:off x="3108960" y="2450592"/>
            <a:ext cx="4206240" cy="621792"/>
          </a:xfrm>
          <a:prstGeom prst="rect">
            <a:avLst/>
          </a:prstGeom>
          <a:solidFill>
            <a:srgbClr val="F7F9FB"/>
          </a:solidFill>
          <a:ln w="12700">
            <a:solidFill>
              <a:srgbClr val="F7F9FB"/>
            </a:solidFill>
            <a:prstDash val="solid"/>
          </a:ln>
        </p:spPr>
      </p:sp>
      <p:sp>
        <p:nvSpPr>
          <p:cNvPr id="19" name="Text 16"/>
          <p:cNvSpPr txBox="1"/>
          <p:nvPr/>
        </p:nvSpPr>
        <p:spPr>
          <a:xfrm>
            <a:off x="3108960" y="2450592"/>
            <a:ext cx="4206240" cy="621792"/>
          </a:xfrm>
          <a:prstGeom prst="rect">
            <a:avLst/>
          </a:prstGeom>
          <a:noFill/>
          <a:ln/>
        </p:spPr>
        <p:txBody>
          <a:bodyPr wrap="square" lIns="1270" tIns="1270" rIns="1270" bIns="1270" rtlCol="0" anchor="ctr"/>
          <a:lstStyle/>
          <a:p>
            <a:pPr algn="l" indent="0" marL="0">
              <a:buNone/>
            </a:pPr>
            <a:r>
              <a:rPr lang="en-US" sz="1300" dirty="0">
                <a:solidFill>
                  <a:srgbClr val="1B2430"/>
                </a:solidFill>
              </a:rPr>
              <a:t>persistent (HTTP/1.1)</a:t>
            </a:r>
            <a:endParaRPr lang="en-US" sz="1300" dirty="0"/>
          </a:p>
        </p:txBody>
      </p:sp>
      <p:sp>
        <p:nvSpPr>
          <p:cNvPr id="20" name="box"/>
          <p:cNvSpPr/>
          <p:nvPr/>
        </p:nvSpPr>
        <p:spPr>
          <a:xfrm>
            <a:off x="7360920" y="2450592"/>
            <a:ext cx="4206240" cy="621792"/>
          </a:xfrm>
          <a:prstGeom prst="rect">
            <a:avLst/>
          </a:prstGeom>
          <a:solidFill>
            <a:srgbClr val="F7F9FB"/>
          </a:solidFill>
          <a:ln w="12700">
            <a:solidFill>
              <a:srgbClr val="F7F9FB"/>
            </a:solidFill>
            <a:prstDash val="solid"/>
          </a:ln>
        </p:spPr>
      </p:sp>
      <p:sp>
        <p:nvSpPr>
          <p:cNvPr id="21" name="Text 18"/>
          <p:cNvSpPr txBox="1"/>
          <p:nvPr/>
        </p:nvSpPr>
        <p:spPr>
          <a:xfrm>
            <a:off x="7360920" y="2450592"/>
            <a:ext cx="4206240" cy="621792"/>
          </a:xfrm>
          <a:prstGeom prst="rect">
            <a:avLst/>
          </a:prstGeom>
          <a:noFill/>
          <a:ln/>
        </p:spPr>
        <p:txBody>
          <a:bodyPr wrap="square" lIns="1270" tIns="1270" rIns="1270" bIns="1270" rtlCol="0" anchor="ctr"/>
          <a:lstStyle/>
          <a:p>
            <a:pPr algn="l" indent="0" marL="0">
              <a:buNone/>
            </a:pPr>
            <a:r>
              <a:rPr lang="en-US" sz="1300" dirty="0">
                <a:solidFill>
                  <a:srgbClr val="1B2430"/>
                </a:solidFill>
              </a:rPr>
              <a:t>persistent: several messages per connection</a:t>
            </a:r>
            <a:endParaRPr lang="en-US" sz="1300" dirty="0"/>
          </a:p>
        </p:txBody>
      </p:sp>
      <p:sp>
        <p:nvSpPr>
          <p:cNvPr id="22" name="box"/>
          <p:cNvSpPr/>
          <p:nvPr/>
        </p:nvSpPr>
        <p:spPr>
          <a:xfrm>
            <a:off x="548640" y="3118104"/>
            <a:ext cx="2514600" cy="621792"/>
          </a:xfrm>
          <a:prstGeom prst="rect">
            <a:avLst/>
          </a:prstGeom>
          <a:solidFill>
            <a:srgbClr val="EEF2F6"/>
          </a:solidFill>
          <a:ln w="12700">
            <a:solidFill>
              <a:srgbClr val="EEF2F6"/>
            </a:solidFill>
            <a:prstDash val="solid"/>
          </a:ln>
        </p:spPr>
      </p:sp>
      <p:sp>
        <p:nvSpPr>
          <p:cNvPr id="23" name="Text 20"/>
          <p:cNvSpPr txBox="1"/>
          <p:nvPr/>
        </p:nvSpPr>
        <p:spPr>
          <a:xfrm>
            <a:off x="548640" y="3118104"/>
            <a:ext cx="2514600" cy="621792"/>
          </a:xfrm>
          <a:prstGeom prst="rect">
            <a:avLst/>
          </a:prstGeom>
          <a:noFill/>
          <a:ln/>
        </p:spPr>
        <p:txBody>
          <a:bodyPr wrap="square" lIns="1270" tIns="1270" rIns="1270" bIns="1270" rtlCol="0" anchor="ctr"/>
          <a:lstStyle/>
          <a:p>
            <a:pPr algn="ctr" indent="0" marL="0">
              <a:buNone/>
            </a:pPr>
            <a:r>
              <a:rPr lang="en-US" sz="1300" dirty="0">
                <a:solidFill>
                  <a:srgbClr val="1B2430"/>
                </a:solidFill>
              </a:rPr>
              <a:t>Encoding</a:t>
            </a:r>
            <a:endParaRPr lang="en-US" sz="1300" dirty="0"/>
          </a:p>
        </p:txBody>
      </p:sp>
      <p:sp>
        <p:nvSpPr>
          <p:cNvPr id="24" name="box"/>
          <p:cNvSpPr/>
          <p:nvPr/>
        </p:nvSpPr>
        <p:spPr>
          <a:xfrm>
            <a:off x="3108960" y="3118104"/>
            <a:ext cx="4206240" cy="621792"/>
          </a:xfrm>
          <a:prstGeom prst="rect">
            <a:avLst/>
          </a:prstGeom>
          <a:solidFill>
            <a:srgbClr val="F7F9FB"/>
          </a:solidFill>
          <a:ln w="12700">
            <a:solidFill>
              <a:srgbClr val="F7F9FB"/>
            </a:solidFill>
            <a:prstDash val="solid"/>
          </a:ln>
        </p:spPr>
      </p:sp>
      <p:sp>
        <p:nvSpPr>
          <p:cNvPr id="25" name="Text 22"/>
          <p:cNvSpPr txBox="1"/>
          <p:nvPr/>
        </p:nvSpPr>
        <p:spPr>
          <a:xfrm>
            <a:off x="3108960" y="3118104"/>
            <a:ext cx="4206240" cy="621792"/>
          </a:xfrm>
          <a:prstGeom prst="rect">
            <a:avLst/>
          </a:prstGeom>
          <a:noFill/>
          <a:ln/>
        </p:spPr>
        <p:txBody>
          <a:bodyPr wrap="square" lIns="1270" tIns="1270" rIns="1270" bIns="1270" rtlCol="0" anchor="ctr"/>
          <a:lstStyle/>
          <a:p>
            <a:pPr algn="l" indent="0" marL="0">
              <a:buNone/>
            </a:pPr>
            <a:r>
              <a:rPr lang="en-US" sz="1300" dirty="0">
                <a:solidFill>
                  <a:srgbClr val="1B2430"/>
                </a:solidFill>
              </a:rPr>
              <a:t>any bytes (Content-Length)</a:t>
            </a:r>
            <a:endParaRPr lang="en-US" sz="1300" dirty="0"/>
          </a:p>
        </p:txBody>
      </p:sp>
      <p:sp>
        <p:nvSpPr>
          <p:cNvPr id="26" name="box"/>
          <p:cNvSpPr/>
          <p:nvPr/>
        </p:nvSpPr>
        <p:spPr>
          <a:xfrm>
            <a:off x="7360920" y="3118104"/>
            <a:ext cx="4206240" cy="621792"/>
          </a:xfrm>
          <a:prstGeom prst="rect">
            <a:avLst/>
          </a:prstGeom>
          <a:solidFill>
            <a:srgbClr val="F7F9FB"/>
          </a:solidFill>
          <a:ln w="12700">
            <a:solidFill>
              <a:srgbClr val="F7F9FB"/>
            </a:solidFill>
            <a:prstDash val="solid"/>
          </a:ln>
        </p:spPr>
      </p:sp>
      <p:sp>
        <p:nvSpPr>
          <p:cNvPr id="27" name="Text 24"/>
          <p:cNvSpPr txBox="1"/>
          <p:nvPr/>
        </p:nvSpPr>
        <p:spPr>
          <a:xfrm>
            <a:off x="7360920" y="3118104"/>
            <a:ext cx="4206240" cy="621792"/>
          </a:xfrm>
          <a:prstGeom prst="rect">
            <a:avLst/>
          </a:prstGeom>
          <a:noFill/>
          <a:ln/>
        </p:spPr>
        <p:txBody>
          <a:bodyPr wrap="square" lIns="1270" tIns="1270" rIns="1270" bIns="1270" rtlCol="0" anchor="ctr"/>
          <a:lstStyle/>
          <a:p>
            <a:pPr algn="l" indent="0" marL="0">
              <a:buNone/>
            </a:pPr>
            <a:r>
              <a:rPr lang="en-US" sz="1300" dirty="0">
                <a:solidFill>
                  <a:srgbClr val="1B2430"/>
                </a:solidFill>
              </a:rPr>
              <a:t>7-bit ASCII lines; binary needs MIME or 8BITMIME</a:t>
            </a:r>
            <a:endParaRPr lang="en-US" sz="1300" dirty="0"/>
          </a:p>
        </p:txBody>
      </p:sp>
      <p:sp>
        <p:nvSpPr>
          <p:cNvPr id="28" name="box"/>
          <p:cNvSpPr/>
          <p:nvPr/>
        </p:nvSpPr>
        <p:spPr>
          <a:xfrm>
            <a:off x="548640" y="3785616"/>
            <a:ext cx="2514600" cy="621792"/>
          </a:xfrm>
          <a:prstGeom prst="rect">
            <a:avLst/>
          </a:prstGeom>
          <a:solidFill>
            <a:srgbClr val="EEF2F6"/>
          </a:solidFill>
          <a:ln w="12700">
            <a:solidFill>
              <a:srgbClr val="EEF2F6"/>
            </a:solidFill>
            <a:prstDash val="solid"/>
          </a:ln>
        </p:spPr>
      </p:sp>
      <p:sp>
        <p:nvSpPr>
          <p:cNvPr id="29" name="Text 26"/>
          <p:cNvSpPr txBox="1"/>
          <p:nvPr/>
        </p:nvSpPr>
        <p:spPr>
          <a:xfrm>
            <a:off x="548640" y="3785616"/>
            <a:ext cx="2514600" cy="621792"/>
          </a:xfrm>
          <a:prstGeom prst="rect">
            <a:avLst/>
          </a:prstGeom>
          <a:noFill/>
          <a:ln/>
        </p:spPr>
        <p:txBody>
          <a:bodyPr wrap="square" lIns="1270" tIns="1270" rIns="1270" bIns="1270" rtlCol="0" anchor="ctr"/>
          <a:lstStyle/>
          <a:p>
            <a:pPr algn="ctr" indent="0" marL="0">
              <a:buNone/>
            </a:pPr>
            <a:r>
              <a:rPr lang="en-US" sz="1300" dirty="0">
                <a:solidFill>
                  <a:srgbClr val="1B2430"/>
                </a:solidFill>
              </a:rPr>
              <a:t>Several objects</a:t>
            </a:r>
            <a:endParaRPr lang="en-US" sz="1300" dirty="0"/>
          </a:p>
        </p:txBody>
      </p:sp>
      <p:sp>
        <p:nvSpPr>
          <p:cNvPr id="30" name="box"/>
          <p:cNvSpPr/>
          <p:nvPr/>
        </p:nvSpPr>
        <p:spPr>
          <a:xfrm>
            <a:off x="3108960" y="3785616"/>
            <a:ext cx="4206240" cy="621792"/>
          </a:xfrm>
          <a:prstGeom prst="rect">
            <a:avLst/>
          </a:prstGeom>
          <a:solidFill>
            <a:srgbClr val="F7F9FB"/>
          </a:solidFill>
          <a:ln w="12700">
            <a:solidFill>
              <a:srgbClr val="F7F9FB"/>
            </a:solidFill>
            <a:prstDash val="solid"/>
          </a:ln>
        </p:spPr>
      </p:sp>
      <p:sp>
        <p:nvSpPr>
          <p:cNvPr id="31" name="Text 28"/>
          <p:cNvSpPr txBox="1"/>
          <p:nvPr/>
        </p:nvSpPr>
        <p:spPr>
          <a:xfrm>
            <a:off x="3108960" y="3785616"/>
            <a:ext cx="4206240" cy="621792"/>
          </a:xfrm>
          <a:prstGeom prst="rect">
            <a:avLst/>
          </a:prstGeom>
          <a:noFill/>
          <a:ln/>
        </p:spPr>
        <p:txBody>
          <a:bodyPr wrap="square" lIns="1270" tIns="1270" rIns="1270" bIns="1270" rtlCol="0" anchor="ctr"/>
          <a:lstStyle/>
          <a:p>
            <a:pPr algn="l" indent="0" marL="0">
              <a:buNone/>
            </a:pPr>
            <a:r>
              <a:rPr lang="en-US" sz="1300" dirty="0">
                <a:solidFill>
                  <a:srgbClr val="1B2430"/>
                </a:solidFill>
              </a:rPr>
              <a:t>one response per object</a:t>
            </a:r>
            <a:endParaRPr lang="en-US" sz="1300" dirty="0"/>
          </a:p>
        </p:txBody>
      </p:sp>
      <p:sp>
        <p:nvSpPr>
          <p:cNvPr id="32" name="box"/>
          <p:cNvSpPr/>
          <p:nvPr/>
        </p:nvSpPr>
        <p:spPr>
          <a:xfrm>
            <a:off x="7360920" y="3785616"/>
            <a:ext cx="4206240" cy="621792"/>
          </a:xfrm>
          <a:prstGeom prst="rect">
            <a:avLst/>
          </a:prstGeom>
          <a:solidFill>
            <a:srgbClr val="F7F9FB"/>
          </a:solidFill>
          <a:ln w="12700">
            <a:solidFill>
              <a:srgbClr val="F7F9FB"/>
            </a:solidFill>
            <a:prstDash val="solid"/>
          </a:ln>
        </p:spPr>
      </p:sp>
      <p:sp>
        <p:nvSpPr>
          <p:cNvPr id="33" name="Text 30"/>
          <p:cNvSpPr txBox="1"/>
          <p:nvPr/>
        </p:nvSpPr>
        <p:spPr>
          <a:xfrm>
            <a:off x="7360920" y="3785616"/>
            <a:ext cx="4206240" cy="621792"/>
          </a:xfrm>
          <a:prstGeom prst="rect">
            <a:avLst/>
          </a:prstGeom>
          <a:noFill/>
          <a:ln/>
        </p:spPr>
        <p:txBody>
          <a:bodyPr wrap="square" lIns="1270" tIns="1270" rIns="1270" bIns="1270" rtlCol="0" anchor="ctr"/>
          <a:lstStyle/>
          <a:p>
            <a:pPr algn="l" indent="0" marL="0">
              <a:buNone/>
            </a:pPr>
            <a:r>
              <a:rPr lang="en-US" sz="1300" dirty="0">
                <a:solidFill>
                  <a:srgbClr val="1B2430"/>
                </a:solidFill>
              </a:rPr>
              <a:t>all parts in one multipart message</a:t>
            </a:r>
            <a:endParaRPr lang="en-US" sz="1300" dirty="0"/>
          </a:p>
        </p:txBody>
      </p:sp>
      <p:sp>
        <p:nvSpPr>
          <p:cNvPr id="34" name="box"/>
          <p:cNvSpPr/>
          <p:nvPr/>
        </p:nvSpPr>
        <p:spPr>
          <a:xfrm>
            <a:off x="548640" y="4453128"/>
            <a:ext cx="2514600" cy="621792"/>
          </a:xfrm>
          <a:prstGeom prst="rect">
            <a:avLst/>
          </a:prstGeom>
          <a:solidFill>
            <a:srgbClr val="EEF2F6"/>
          </a:solidFill>
          <a:ln w="12700">
            <a:solidFill>
              <a:srgbClr val="EEF2F6"/>
            </a:solidFill>
            <a:prstDash val="solid"/>
          </a:ln>
        </p:spPr>
      </p:sp>
      <p:sp>
        <p:nvSpPr>
          <p:cNvPr id="35" name="Text 32"/>
          <p:cNvSpPr txBox="1"/>
          <p:nvPr/>
        </p:nvSpPr>
        <p:spPr>
          <a:xfrm>
            <a:off x="548640" y="4453128"/>
            <a:ext cx="2514600" cy="621792"/>
          </a:xfrm>
          <a:prstGeom prst="rect">
            <a:avLst/>
          </a:prstGeom>
          <a:noFill/>
          <a:ln/>
        </p:spPr>
        <p:txBody>
          <a:bodyPr wrap="square" lIns="1270" tIns="1270" rIns="1270" bIns="1270" rtlCol="0" anchor="ctr"/>
          <a:lstStyle/>
          <a:p>
            <a:pPr algn="ctr" indent="0" marL="0">
              <a:buNone/>
            </a:pPr>
            <a:r>
              <a:rPr lang="en-US" sz="1300" dirty="0">
                <a:solidFill>
                  <a:srgbClr val="1B2430"/>
                </a:solidFill>
              </a:rPr>
              <a:t>Codes</a:t>
            </a:r>
            <a:endParaRPr lang="en-US" sz="1300" dirty="0"/>
          </a:p>
        </p:txBody>
      </p:sp>
      <p:sp>
        <p:nvSpPr>
          <p:cNvPr id="36" name="box"/>
          <p:cNvSpPr/>
          <p:nvPr/>
        </p:nvSpPr>
        <p:spPr>
          <a:xfrm>
            <a:off x="3108960" y="4453128"/>
            <a:ext cx="4206240" cy="621792"/>
          </a:xfrm>
          <a:prstGeom prst="rect">
            <a:avLst/>
          </a:prstGeom>
          <a:solidFill>
            <a:srgbClr val="F7F9FB"/>
          </a:solidFill>
          <a:ln w="12700">
            <a:solidFill>
              <a:srgbClr val="F7F9FB"/>
            </a:solidFill>
            <a:prstDash val="solid"/>
          </a:ln>
        </p:spPr>
      </p:sp>
      <p:sp>
        <p:nvSpPr>
          <p:cNvPr id="37" name="Text 34"/>
          <p:cNvSpPr txBox="1"/>
          <p:nvPr/>
        </p:nvSpPr>
        <p:spPr>
          <a:xfrm>
            <a:off x="3108960" y="4453128"/>
            <a:ext cx="4206240" cy="621792"/>
          </a:xfrm>
          <a:prstGeom prst="rect">
            <a:avLst/>
          </a:prstGeom>
          <a:noFill/>
          <a:ln/>
        </p:spPr>
        <p:txBody>
          <a:bodyPr wrap="square" lIns="1270" tIns="1270" rIns="1270" bIns="1270" rtlCol="0" anchor="ctr"/>
          <a:lstStyle/>
          <a:p>
            <a:pPr algn="l" indent="0" marL="0">
              <a:buNone/>
            </a:pPr>
            <a:r>
              <a:rPr lang="en-US" sz="1300" dirty="0">
                <a:solidFill>
                  <a:srgbClr val="1B2430"/>
                </a:solidFill>
              </a:rPr>
              <a:t>status codes</a:t>
            </a:r>
            <a:endParaRPr lang="en-US" sz="1300" dirty="0"/>
          </a:p>
        </p:txBody>
      </p:sp>
      <p:sp>
        <p:nvSpPr>
          <p:cNvPr id="38" name="box"/>
          <p:cNvSpPr/>
          <p:nvPr/>
        </p:nvSpPr>
        <p:spPr>
          <a:xfrm>
            <a:off x="7360920" y="4453128"/>
            <a:ext cx="4206240" cy="621792"/>
          </a:xfrm>
          <a:prstGeom prst="rect">
            <a:avLst/>
          </a:prstGeom>
          <a:solidFill>
            <a:srgbClr val="F7F9FB"/>
          </a:solidFill>
          <a:ln w="12700">
            <a:solidFill>
              <a:srgbClr val="F7F9FB"/>
            </a:solidFill>
            <a:prstDash val="solid"/>
          </a:ln>
        </p:spPr>
      </p:sp>
      <p:sp>
        <p:nvSpPr>
          <p:cNvPr id="39" name="Text 36"/>
          <p:cNvSpPr txBox="1"/>
          <p:nvPr/>
        </p:nvSpPr>
        <p:spPr>
          <a:xfrm>
            <a:off x="7360920" y="4453128"/>
            <a:ext cx="4206240" cy="621792"/>
          </a:xfrm>
          <a:prstGeom prst="rect">
            <a:avLst/>
          </a:prstGeom>
          <a:noFill/>
          <a:ln/>
        </p:spPr>
        <p:txBody>
          <a:bodyPr wrap="square" lIns="1270" tIns="1270" rIns="1270" bIns="1270" rtlCol="0" anchor="ctr"/>
          <a:lstStyle/>
          <a:p>
            <a:pPr algn="l" indent="0" marL="0">
              <a:buNone/>
            </a:pPr>
            <a:r>
              <a:rPr lang="en-US" sz="1300" dirty="0">
                <a:solidFill>
                  <a:srgbClr val="1B2430"/>
                </a:solidFill>
              </a:rPr>
              <a:t>reply codes</a:t>
            </a:r>
            <a:endParaRPr lang="en-US" sz="1300" dirty="0"/>
          </a:p>
        </p:txBody>
      </p:sp>
      <p:sp>
        <p:nvSpPr>
          <p:cNvPr id="4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41" name="Text 3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HTTP pulls one object per response; SMTP pushes one message holding every part.</a:t>
            </a:r>
            <a:endParaRPr lang="en-US" sz="1400" dirty="0"/>
          </a:p>
        </p:txBody>
      </p:sp>
      <p:sp>
        <p:nvSpPr>
          <p:cNvPr id="42" name="Text 39"/>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ASCII (American Standard Code for Information Interchange) · HTTP (HyperText Transfer Protocol) · SMTP (Simple Mail Transfer Protocol) · MIME (Multipurpose Internet Mail Extensions)</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 The message: header and body (RFC 5322)</a:t>
            </a:r>
            <a:endParaRPr lang="en-US" sz="3000" dirty="0"/>
          </a:p>
        </p:txBody>
      </p:sp>
      <p:sp>
        <p:nvSpPr>
          <p:cNvPr id="4" name="code"/>
          <p:cNvSpPr/>
          <p:nvPr/>
        </p:nvSpPr>
        <p:spPr>
          <a:xfrm>
            <a:off x="548640" y="1280160"/>
            <a:ext cx="6400800" cy="4343400"/>
          </a:xfrm>
          <a:prstGeom prst="rect">
            <a:avLst/>
          </a:prstGeom>
          <a:solidFill>
            <a:srgbClr val="1E2A38"/>
          </a:solidFill>
          <a:ln w="12700">
            <a:solidFill>
              <a:srgbClr val="1E2A38"/>
            </a:solidFill>
            <a:prstDash val="solid"/>
          </a:ln>
        </p:spPr>
      </p:sp>
      <p:sp>
        <p:nvSpPr>
          <p:cNvPr id="5" name="Text 2"/>
          <p:cNvSpPr txBox="1"/>
          <p:nvPr/>
        </p:nvSpPr>
        <p:spPr>
          <a:xfrm>
            <a:off x="548640" y="1280160"/>
            <a:ext cx="6400800" cy="434340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Received: from mail.uni.ro (…) by mx.example.com</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    with ESMTPS; Mon, 26 Oct 2026 09:14:03 +0200</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Received: from [192.168.1.34] (…) by mail.uni.ro</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    with ESMTPSA; Mon, 26 Oct 2026 09:13:58 +0200</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Message-ID: &lt;a81f2@uni.ro&gt;</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Date: Mon, 26 Oct 2026 09:13:57 +0200</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From: Alice &lt;alice@uni.ro&gt;</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To: Bob &lt;bob@example.com&gt;</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Subject: Lab 5</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 </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Hello Bob, see you on Monday.</a:t>
            </a:r>
            <a:endParaRPr lang="en-US" sz="1100" dirty="0"/>
          </a:p>
        </p:txBody>
      </p:sp>
      <p:sp>
        <p:nvSpPr>
          <p:cNvPr id="6" name="box"/>
          <p:cNvSpPr/>
          <p:nvPr/>
        </p:nvSpPr>
        <p:spPr>
          <a:xfrm>
            <a:off x="7223760" y="1280160"/>
            <a:ext cx="4389120" cy="1143000"/>
          </a:xfrm>
          <a:prstGeom prst="roundRect">
            <a:avLst>
              <a:gd name="adj" fmla="val 6400"/>
            </a:avLst>
          </a:prstGeom>
          <a:solidFill>
            <a:srgbClr val="B9772A"/>
          </a:solidFill>
          <a:ln w="12700">
            <a:solidFill>
              <a:srgbClr val="B9772A"/>
            </a:solidFill>
            <a:prstDash val="solid"/>
          </a:ln>
        </p:spPr>
      </p:sp>
      <p:sp>
        <p:nvSpPr>
          <p:cNvPr id="7" name="Text 4"/>
          <p:cNvSpPr txBox="1"/>
          <p:nvPr/>
        </p:nvSpPr>
        <p:spPr>
          <a:xfrm>
            <a:off x="7223760" y="1280160"/>
            <a:ext cx="4389120" cy="1143000"/>
          </a:xfrm>
          <a:prstGeom prst="rect">
            <a:avLst/>
          </a:prstGeom>
          <a:noFill/>
          <a:ln/>
        </p:spPr>
        <p:txBody>
          <a:bodyPr wrap="square" lIns="635" tIns="635" rIns="635" bIns="635" rtlCol="0" anchor="ctr"/>
          <a:lstStyle/>
          <a:p>
            <a:pPr algn="ctr" indent="0" marL="0">
              <a:buNone/>
            </a:pPr>
            <a:r>
              <a:rPr lang="en-US" sz="1300" b="1" dirty="0">
                <a:solidFill>
                  <a:srgbClr val="FFFFFF"/>
                </a:solidFill>
              </a:rPr>
              <a:t>trace</a:t>
            </a:r>
            <a:endParaRPr lang="en-US" sz="1300" dirty="0"/>
          </a:p>
          <a:p>
            <a:pPr algn="ctr" indent="0" marL="0">
              <a:buNone/>
            </a:pPr>
            <a:r>
              <a:rPr lang="en-US" sz="1300" dirty="0">
                <a:solidFill>
                  <a:srgbClr val="FFFFFF"/>
                </a:solidFill>
              </a:rPr>
              <a:t>newest hop on top — read bottom-up</a:t>
            </a:r>
            <a:endParaRPr lang="en-US" sz="1300" dirty="0"/>
          </a:p>
        </p:txBody>
      </p:sp>
      <p:sp>
        <p:nvSpPr>
          <p:cNvPr id="8" name="box"/>
          <p:cNvSpPr/>
          <p:nvPr/>
        </p:nvSpPr>
        <p:spPr>
          <a:xfrm>
            <a:off x="7223760" y="2560320"/>
            <a:ext cx="4389120" cy="1463040"/>
          </a:xfrm>
          <a:prstGeom prst="roundRect">
            <a:avLst>
              <a:gd name="adj" fmla="val 5000"/>
            </a:avLst>
          </a:prstGeom>
          <a:solidFill>
            <a:srgbClr val="F3EAD7"/>
          </a:solidFill>
          <a:ln w="12700">
            <a:solidFill>
              <a:srgbClr val="F3EAD7"/>
            </a:solidFill>
            <a:prstDash val="solid"/>
          </a:ln>
        </p:spPr>
      </p:sp>
      <p:sp>
        <p:nvSpPr>
          <p:cNvPr id="9" name="Text 6"/>
          <p:cNvSpPr txBox="1"/>
          <p:nvPr/>
        </p:nvSpPr>
        <p:spPr>
          <a:xfrm>
            <a:off x="7223760" y="2560320"/>
            <a:ext cx="4389120" cy="1463040"/>
          </a:xfrm>
          <a:prstGeom prst="rect">
            <a:avLst/>
          </a:prstGeom>
          <a:noFill/>
          <a:ln/>
        </p:spPr>
        <p:txBody>
          <a:bodyPr wrap="square" lIns="635" tIns="635" rIns="635" bIns="635" rtlCol="0" anchor="ctr"/>
          <a:lstStyle/>
          <a:p>
            <a:pPr algn="ctr" indent="0" marL="0">
              <a:spcAft>
                <a:spcPts val="200"/>
              </a:spcAft>
              <a:buNone/>
            </a:pPr>
            <a:r>
              <a:rPr lang="en-US" sz="1200" b="1" dirty="0">
                <a:solidFill>
                  <a:srgbClr val="1B2430"/>
                </a:solidFill>
              </a:rPr>
              <a:t>header fields</a:t>
            </a:r>
            <a:endParaRPr lang="en-US" sz="1200" dirty="0"/>
          </a:p>
          <a:p>
            <a:pPr algn="ctr" indent="0" marL="0">
              <a:spcAft>
                <a:spcPts val="200"/>
              </a:spcAft>
              <a:buNone/>
            </a:pPr>
            <a:r>
              <a:rPr lang="en-US" sz="1200" dirty="0">
                <a:solidFill>
                  <a:srgbClr val="1B2430"/>
                </a:solidFill>
              </a:rPr>
              <a:t>From · To · Cc · Subject · Date</a:t>
            </a:r>
            <a:endParaRPr lang="en-US" sz="1200" dirty="0"/>
          </a:p>
          <a:p>
            <a:pPr algn="ctr" indent="0" marL="0">
              <a:spcAft>
                <a:spcPts val="200"/>
              </a:spcAft>
              <a:buNone/>
            </a:pPr>
            <a:r>
              <a:rPr lang="en-US" sz="1200" dirty="0">
                <a:solidFill>
                  <a:srgbClr val="1B2430"/>
                </a:solidFill>
              </a:rPr>
              <a:t>Message-ID (unique) · Reply-To</a:t>
            </a:r>
            <a:endParaRPr lang="en-US" sz="1200" dirty="0"/>
          </a:p>
          <a:p>
            <a:pPr algn="ctr" indent="0" marL="0">
              <a:spcAft>
                <a:spcPts val="200"/>
              </a:spcAft>
              <a:buNone/>
            </a:pPr>
            <a:r>
              <a:rPr lang="en-US" sz="1200" dirty="0">
                <a:solidFill>
                  <a:srgbClr val="1B2430"/>
                </a:solidFill>
              </a:rPr>
              <a:t>In-Reply-To · References (threads)</a:t>
            </a:r>
            <a:endParaRPr lang="en-US" sz="1200" dirty="0"/>
          </a:p>
        </p:txBody>
      </p:sp>
      <p:sp>
        <p:nvSpPr>
          <p:cNvPr id="10" name="box"/>
          <p:cNvSpPr/>
          <p:nvPr/>
        </p:nvSpPr>
        <p:spPr>
          <a:xfrm>
            <a:off x="7223760" y="4160520"/>
            <a:ext cx="4389120" cy="1463040"/>
          </a:xfrm>
          <a:prstGeom prst="roundRect">
            <a:avLst>
              <a:gd name="adj" fmla="val 5000"/>
            </a:avLst>
          </a:prstGeom>
          <a:solidFill>
            <a:srgbClr val="EEF2F6"/>
          </a:solidFill>
          <a:ln w="12700">
            <a:solidFill>
              <a:srgbClr val="EEF2F6"/>
            </a:solidFill>
            <a:prstDash val="solid"/>
          </a:ln>
        </p:spPr>
      </p:sp>
      <p:sp>
        <p:nvSpPr>
          <p:cNvPr id="11" name="Text 8"/>
          <p:cNvSpPr txBox="1"/>
          <p:nvPr/>
        </p:nvSpPr>
        <p:spPr>
          <a:xfrm>
            <a:off x="7223760" y="4160520"/>
            <a:ext cx="4389120" cy="1463040"/>
          </a:xfrm>
          <a:prstGeom prst="rect">
            <a:avLst/>
          </a:prstGeom>
          <a:noFill/>
          <a:ln/>
        </p:spPr>
        <p:txBody>
          <a:bodyPr wrap="square" lIns="635" tIns="635" rIns="635" bIns="635" rtlCol="0" anchor="ctr"/>
          <a:lstStyle/>
          <a:p>
            <a:pPr algn="ctr" indent="0" marL="0">
              <a:buNone/>
            </a:pPr>
            <a:r>
              <a:rPr lang="en-US" sz="1300" b="1" dirty="0">
                <a:solidFill>
                  <a:srgbClr val="1B2430"/>
                </a:solidFill>
              </a:rPr>
              <a:t>empty line</a:t>
            </a:r>
            <a:r>
              <a:rPr lang="en-US" sz="1300" dirty="0">
                <a:solidFill>
                  <a:srgbClr val="1B2430"/>
                </a:solidFill>
              </a:rPr>
              <a:t>, then the </a:t>
            </a:r>
            <a:r>
              <a:rPr lang="en-US" sz="1300" b="1" dirty="0">
                <a:solidFill>
                  <a:srgbClr val="1B2430"/>
                </a:solidFill>
              </a:rPr>
              <a:t>body</a:t>
            </a:r>
            <a:endParaRPr lang="en-US" sz="1300" dirty="0"/>
          </a:p>
          <a:p>
            <a:pPr algn="ctr" indent="0" marL="0">
              <a:buNone/>
            </a:pPr>
            <a:r>
              <a:rPr lang="en-US" sz="1300" dirty="0">
                <a:solidFill>
                  <a:srgbClr val="1B2430"/>
                </a:solidFill>
              </a:rPr>
              <a:t>plain RFC 5322 allows only ASCII text</a:t>
            </a:r>
            <a:endParaRPr lang="en-US" sz="1300" dirty="0"/>
          </a:p>
        </p:txBody>
      </p:sp>
      <p:sp>
        <p:nvSpPr>
          <p:cNvPr id="1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3" name="Text 1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The header is a list of Name: value lines; Received lines record the path, newest first.</a:t>
            </a:r>
            <a:endParaRPr lang="en-US" sz="1400" dirty="0"/>
          </a:p>
        </p:txBody>
      </p:sp>
      <p:sp>
        <p:nvSpPr>
          <p:cNvPr id="14" name="Text 11"/>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ASCII (American Standard Code for Information Interchange) · RFC (Request for Comments)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 MIME: types, parts and encodings</a:t>
            </a:r>
            <a:endParaRPr lang="en-US" sz="3000" dirty="0"/>
          </a:p>
        </p:txBody>
      </p:sp>
      <p:sp>
        <p:nvSpPr>
          <p:cNvPr id="4" name="box"/>
          <p:cNvSpPr/>
          <p:nvPr/>
        </p:nvSpPr>
        <p:spPr>
          <a:xfrm>
            <a:off x="548640" y="1280160"/>
            <a:ext cx="3520440" cy="411480"/>
          </a:xfrm>
          <a:prstGeom prst="rect">
            <a:avLst/>
          </a:prstGeom>
          <a:solidFill>
            <a:srgbClr val="1F3A5F"/>
          </a:solidFill>
          <a:ln w="12700">
            <a:solidFill>
              <a:srgbClr val="1F3A5F"/>
            </a:solidFill>
            <a:prstDash val="solid"/>
          </a:ln>
        </p:spPr>
      </p:sp>
      <p:sp>
        <p:nvSpPr>
          <p:cNvPr id="5" name="Text 2"/>
          <p:cNvSpPr txBox="1"/>
          <p:nvPr/>
        </p:nvSpPr>
        <p:spPr>
          <a:xfrm>
            <a:off x="548640" y="1280160"/>
            <a:ext cx="35204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Field</a:t>
            </a:r>
            <a:endParaRPr lang="en-US" sz="1300" dirty="0"/>
          </a:p>
        </p:txBody>
      </p:sp>
      <p:sp>
        <p:nvSpPr>
          <p:cNvPr id="6" name="box"/>
          <p:cNvSpPr/>
          <p:nvPr/>
        </p:nvSpPr>
        <p:spPr>
          <a:xfrm>
            <a:off x="4114800" y="1280160"/>
            <a:ext cx="7452360" cy="411480"/>
          </a:xfrm>
          <a:prstGeom prst="rect">
            <a:avLst/>
          </a:prstGeom>
          <a:solidFill>
            <a:srgbClr val="1F3A5F"/>
          </a:solidFill>
          <a:ln w="12700">
            <a:solidFill>
              <a:srgbClr val="1F3A5F"/>
            </a:solidFill>
            <a:prstDash val="solid"/>
          </a:ln>
        </p:spPr>
      </p:sp>
      <p:sp>
        <p:nvSpPr>
          <p:cNvPr id="7" name="Text 4"/>
          <p:cNvSpPr txBox="1"/>
          <p:nvPr/>
        </p:nvSpPr>
        <p:spPr>
          <a:xfrm>
            <a:off x="4114800" y="1280160"/>
            <a:ext cx="745236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Meaning</a:t>
            </a:r>
            <a:endParaRPr lang="en-US" sz="1300" dirty="0"/>
          </a:p>
        </p:txBody>
      </p:sp>
      <p:sp>
        <p:nvSpPr>
          <p:cNvPr id="8" name="box"/>
          <p:cNvSpPr/>
          <p:nvPr/>
        </p:nvSpPr>
        <p:spPr>
          <a:xfrm>
            <a:off x="548640" y="1737360"/>
            <a:ext cx="3520440" cy="640080"/>
          </a:xfrm>
          <a:prstGeom prst="rect">
            <a:avLst/>
          </a:prstGeom>
          <a:solidFill>
            <a:srgbClr val="EEF2F6"/>
          </a:solidFill>
          <a:ln w="12700">
            <a:solidFill>
              <a:srgbClr val="EEF2F6"/>
            </a:solidFill>
            <a:prstDash val="solid"/>
          </a:ln>
        </p:spPr>
      </p:sp>
      <p:sp>
        <p:nvSpPr>
          <p:cNvPr id="9" name="Text 6"/>
          <p:cNvSpPr txBox="1"/>
          <p:nvPr/>
        </p:nvSpPr>
        <p:spPr>
          <a:xfrm>
            <a:off x="548640" y="1737360"/>
            <a:ext cx="3520440" cy="64008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MIME-Version: 1.0</a:t>
            </a:r>
            <a:endParaRPr lang="en-US" sz="1300" dirty="0"/>
          </a:p>
        </p:txBody>
      </p:sp>
      <p:sp>
        <p:nvSpPr>
          <p:cNvPr id="10" name="box"/>
          <p:cNvSpPr/>
          <p:nvPr/>
        </p:nvSpPr>
        <p:spPr>
          <a:xfrm>
            <a:off x="4114800" y="1737360"/>
            <a:ext cx="7452360" cy="640080"/>
          </a:xfrm>
          <a:prstGeom prst="rect">
            <a:avLst/>
          </a:prstGeom>
          <a:solidFill>
            <a:srgbClr val="F7F9FB"/>
          </a:solidFill>
          <a:ln w="12700">
            <a:solidFill>
              <a:srgbClr val="F7F9FB"/>
            </a:solidFill>
            <a:prstDash val="solid"/>
          </a:ln>
        </p:spPr>
      </p:sp>
      <p:sp>
        <p:nvSpPr>
          <p:cNvPr id="11" name="Text 8"/>
          <p:cNvSpPr txBox="1"/>
          <p:nvPr/>
        </p:nvSpPr>
        <p:spPr>
          <a:xfrm>
            <a:off x="4114800" y="1737360"/>
            <a:ext cx="7452360" cy="640080"/>
          </a:xfrm>
          <a:prstGeom prst="rect">
            <a:avLst/>
          </a:prstGeom>
          <a:noFill/>
          <a:ln/>
        </p:spPr>
        <p:txBody>
          <a:bodyPr wrap="square" lIns="1270" tIns="1270" rIns="1270" bIns="1270" rtlCol="0" anchor="ctr"/>
          <a:lstStyle/>
          <a:p>
            <a:pPr algn="l" indent="0" marL="0">
              <a:buNone/>
            </a:pPr>
            <a:r>
              <a:rPr lang="en-US" sz="1300" dirty="0">
                <a:solidFill>
                  <a:srgbClr val="1B2430"/>
                </a:solidFill>
              </a:rPr>
              <a:t>the message uses MIME</a:t>
            </a:r>
            <a:endParaRPr lang="en-US" sz="1300" dirty="0"/>
          </a:p>
        </p:txBody>
      </p:sp>
      <p:sp>
        <p:nvSpPr>
          <p:cNvPr id="12" name="box"/>
          <p:cNvSpPr/>
          <p:nvPr/>
        </p:nvSpPr>
        <p:spPr>
          <a:xfrm>
            <a:off x="548640" y="2423160"/>
            <a:ext cx="3520440" cy="640080"/>
          </a:xfrm>
          <a:prstGeom prst="rect">
            <a:avLst/>
          </a:prstGeom>
          <a:solidFill>
            <a:srgbClr val="EEF2F6"/>
          </a:solidFill>
          <a:ln w="12700">
            <a:solidFill>
              <a:srgbClr val="EEF2F6"/>
            </a:solidFill>
            <a:prstDash val="solid"/>
          </a:ln>
        </p:spPr>
      </p:sp>
      <p:sp>
        <p:nvSpPr>
          <p:cNvPr id="13" name="Text 10"/>
          <p:cNvSpPr txBox="1"/>
          <p:nvPr/>
        </p:nvSpPr>
        <p:spPr>
          <a:xfrm>
            <a:off x="548640" y="2423160"/>
            <a:ext cx="3520440" cy="64008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Content-Type</a:t>
            </a:r>
            <a:endParaRPr lang="en-US" sz="1300" dirty="0"/>
          </a:p>
        </p:txBody>
      </p:sp>
      <p:sp>
        <p:nvSpPr>
          <p:cNvPr id="14" name="box"/>
          <p:cNvSpPr/>
          <p:nvPr/>
        </p:nvSpPr>
        <p:spPr>
          <a:xfrm>
            <a:off x="4114800" y="2423160"/>
            <a:ext cx="7452360" cy="640080"/>
          </a:xfrm>
          <a:prstGeom prst="rect">
            <a:avLst/>
          </a:prstGeom>
          <a:solidFill>
            <a:srgbClr val="F7F9FB"/>
          </a:solidFill>
          <a:ln w="12700">
            <a:solidFill>
              <a:srgbClr val="F7F9FB"/>
            </a:solidFill>
            <a:prstDash val="solid"/>
          </a:ln>
        </p:spPr>
      </p:sp>
      <p:sp>
        <p:nvSpPr>
          <p:cNvPr id="15" name="Text 12"/>
          <p:cNvSpPr txBox="1"/>
          <p:nvPr/>
        </p:nvSpPr>
        <p:spPr>
          <a:xfrm>
            <a:off x="4114800" y="2423160"/>
            <a:ext cx="7452360" cy="640080"/>
          </a:xfrm>
          <a:prstGeom prst="rect">
            <a:avLst/>
          </a:prstGeom>
          <a:noFill/>
          <a:ln/>
        </p:spPr>
        <p:txBody>
          <a:bodyPr wrap="square" lIns="1270" tIns="1270" rIns="1270" bIns="1270" rtlCol="0" anchor="ctr"/>
          <a:lstStyle/>
          <a:p>
            <a:pPr algn="l" indent="0" marL="0">
              <a:buNone/>
            </a:pPr>
            <a:r>
              <a:rPr lang="en-US" sz="1300" dirty="0">
                <a:solidFill>
                  <a:srgbClr val="1B2430"/>
                </a:solidFill>
              </a:rPr>
              <a:t>text/plain; charset=utf-8 · image/jpeg · application/pdf · multipart/mixed; boundary=… — the media types HTTP uses too</a:t>
            </a:r>
            <a:endParaRPr lang="en-US" sz="1300" dirty="0"/>
          </a:p>
        </p:txBody>
      </p:sp>
      <p:sp>
        <p:nvSpPr>
          <p:cNvPr id="16" name="box"/>
          <p:cNvSpPr/>
          <p:nvPr/>
        </p:nvSpPr>
        <p:spPr>
          <a:xfrm>
            <a:off x="548640" y="3108960"/>
            <a:ext cx="3520440" cy="640080"/>
          </a:xfrm>
          <a:prstGeom prst="rect">
            <a:avLst/>
          </a:prstGeom>
          <a:solidFill>
            <a:srgbClr val="EEF2F6"/>
          </a:solidFill>
          <a:ln w="12700">
            <a:solidFill>
              <a:srgbClr val="EEF2F6"/>
            </a:solidFill>
            <a:prstDash val="solid"/>
          </a:ln>
        </p:spPr>
      </p:sp>
      <p:sp>
        <p:nvSpPr>
          <p:cNvPr id="17" name="Text 14"/>
          <p:cNvSpPr txBox="1"/>
          <p:nvPr/>
        </p:nvSpPr>
        <p:spPr>
          <a:xfrm>
            <a:off x="548640" y="3108960"/>
            <a:ext cx="3520440" cy="64008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Content-Transfer-Encoding</a:t>
            </a:r>
            <a:endParaRPr lang="en-US" sz="1300" dirty="0"/>
          </a:p>
        </p:txBody>
      </p:sp>
      <p:sp>
        <p:nvSpPr>
          <p:cNvPr id="18" name="box"/>
          <p:cNvSpPr/>
          <p:nvPr/>
        </p:nvSpPr>
        <p:spPr>
          <a:xfrm>
            <a:off x="4114800" y="3108960"/>
            <a:ext cx="7452360" cy="640080"/>
          </a:xfrm>
          <a:prstGeom prst="rect">
            <a:avLst/>
          </a:prstGeom>
          <a:solidFill>
            <a:srgbClr val="F7F9FB"/>
          </a:solidFill>
          <a:ln w="12700">
            <a:solidFill>
              <a:srgbClr val="F7F9FB"/>
            </a:solidFill>
            <a:prstDash val="solid"/>
          </a:ln>
        </p:spPr>
      </p:sp>
      <p:sp>
        <p:nvSpPr>
          <p:cNvPr id="19" name="Text 16"/>
          <p:cNvSpPr txBox="1"/>
          <p:nvPr/>
        </p:nvSpPr>
        <p:spPr>
          <a:xfrm>
            <a:off x="4114800" y="3108960"/>
            <a:ext cx="7452360" cy="640080"/>
          </a:xfrm>
          <a:prstGeom prst="rect">
            <a:avLst/>
          </a:prstGeom>
          <a:noFill/>
          <a:ln/>
        </p:spPr>
        <p:txBody>
          <a:bodyPr wrap="square" lIns="1270" tIns="1270" rIns="1270" bIns="1270" rtlCol="0" anchor="ctr"/>
          <a:lstStyle/>
          <a:p>
            <a:pPr algn="l" indent="0" marL="0">
              <a:buNone/>
            </a:pPr>
            <a:r>
              <a:rPr lang="en-US" sz="1300" dirty="0">
                <a:solidFill>
                  <a:srgbClr val="1B2430"/>
                </a:solidFill>
              </a:rPr>
              <a:t>7bit · 8bit · quoted-printable (=C8) · </a:t>
            </a:r>
            <a:r>
              <a:rPr lang="en-US" sz="1300" b="1" dirty="0">
                <a:solidFill>
                  <a:srgbClr val="1B2430"/>
                </a:solidFill>
              </a:rPr>
              <a:t>base64</a:t>
            </a:r>
            <a:endParaRPr lang="en-US" sz="1300" dirty="0"/>
          </a:p>
        </p:txBody>
      </p:sp>
      <p:sp>
        <p:nvSpPr>
          <p:cNvPr id="20" name="box"/>
          <p:cNvSpPr/>
          <p:nvPr/>
        </p:nvSpPr>
        <p:spPr>
          <a:xfrm>
            <a:off x="548640" y="3794760"/>
            <a:ext cx="3520440" cy="640080"/>
          </a:xfrm>
          <a:prstGeom prst="rect">
            <a:avLst/>
          </a:prstGeom>
          <a:solidFill>
            <a:srgbClr val="EEF2F6"/>
          </a:solidFill>
          <a:ln w="12700">
            <a:solidFill>
              <a:srgbClr val="EEF2F6"/>
            </a:solidFill>
            <a:prstDash val="solid"/>
          </a:ln>
        </p:spPr>
      </p:sp>
      <p:sp>
        <p:nvSpPr>
          <p:cNvPr id="21" name="Text 18"/>
          <p:cNvSpPr txBox="1"/>
          <p:nvPr/>
        </p:nvSpPr>
        <p:spPr>
          <a:xfrm>
            <a:off x="548640" y="3794760"/>
            <a:ext cx="3520440" cy="640080"/>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Content-Disposition</a:t>
            </a:r>
            <a:endParaRPr lang="en-US" sz="1300" dirty="0"/>
          </a:p>
        </p:txBody>
      </p:sp>
      <p:sp>
        <p:nvSpPr>
          <p:cNvPr id="22" name="box"/>
          <p:cNvSpPr/>
          <p:nvPr/>
        </p:nvSpPr>
        <p:spPr>
          <a:xfrm>
            <a:off x="4114800" y="3794760"/>
            <a:ext cx="7452360" cy="640080"/>
          </a:xfrm>
          <a:prstGeom prst="rect">
            <a:avLst/>
          </a:prstGeom>
          <a:solidFill>
            <a:srgbClr val="F7F9FB"/>
          </a:solidFill>
          <a:ln w="12700">
            <a:solidFill>
              <a:srgbClr val="F7F9FB"/>
            </a:solidFill>
            <a:prstDash val="solid"/>
          </a:ln>
        </p:spPr>
      </p:sp>
      <p:sp>
        <p:nvSpPr>
          <p:cNvPr id="23" name="Text 20"/>
          <p:cNvSpPr txBox="1"/>
          <p:nvPr/>
        </p:nvSpPr>
        <p:spPr>
          <a:xfrm>
            <a:off x="4114800" y="3794760"/>
            <a:ext cx="7452360" cy="640080"/>
          </a:xfrm>
          <a:prstGeom prst="rect">
            <a:avLst/>
          </a:prstGeom>
          <a:noFill/>
          <a:ln/>
        </p:spPr>
        <p:txBody>
          <a:bodyPr wrap="square" lIns="1270" tIns="1270" rIns="1270" bIns="1270" rtlCol="0" anchor="ctr"/>
          <a:lstStyle/>
          <a:p>
            <a:pPr algn="l" indent="0" marL="0">
              <a:buNone/>
            </a:pPr>
            <a:r>
              <a:rPr lang="en-US" sz="1300" dirty="0">
                <a:solidFill>
                  <a:srgbClr val="1B2430"/>
                </a:solidFill>
              </a:rPr>
              <a:t>inline · attachment; filename="report.pdf"</a:t>
            </a:r>
            <a:endParaRPr lang="en-US" sz="1300" dirty="0"/>
          </a:p>
        </p:txBody>
      </p:sp>
      <p:sp>
        <p:nvSpPr>
          <p:cNvPr id="24" name="box"/>
          <p:cNvSpPr/>
          <p:nvPr/>
        </p:nvSpPr>
        <p:spPr>
          <a:xfrm>
            <a:off x="548640" y="4343400"/>
            <a:ext cx="11064240" cy="1188720"/>
          </a:xfrm>
          <a:prstGeom prst="roundRect">
            <a:avLst>
              <a:gd name="adj" fmla="val 6154"/>
            </a:avLst>
          </a:prstGeom>
          <a:solidFill>
            <a:srgbClr val="F3EAD7"/>
          </a:solidFill>
          <a:ln w="12700">
            <a:solidFill>
              <a:srgbClr val="F3EAD7"/>
            </a:solidFill>
            <a:prstDash val="solid"/>
          </a:ln>
        </p:spPr>
      </p:sp>
      <p:sp>
        <p:nvSpPr>
          <p:cNvPr id="25" name="Text 22"/>
          <p:cNvSpPr txBox="1"/>
          <p:nvPr/>
        </p:nvSpPr>
        <p:spPr>
          <a:xfrm>
            <a:off x="548640" y="4343400"/>
            <a:ext cx="11064240" cy="1188720"/>
          </a:xfrm>
          <a:prstGeom prst="rect">
            <a:avLst/>
          </a:prstGeom>
          <a:noFill/>
          <a:ln/>
        </p:spPr>
        <p:txBody>
          <a:bodyPr wrap="square" lIns="635" tIns="635" rIns="635" bIns="635" rtlCol="0" anchor="ctr"/>
          <a:lstStyle/>
          <a:p>
            <a:pPr algn="ctr" indent="0" marL="0">
              <a:buNone/>
            </a:pPr>
            <a:r>
              <a:rPr lang="en-US" sz="1400" b="1" dirty="0">
                <a:solidFill>
                  <a:srgbClr val="1B2430"/>
                </a:solidFill>
              </a:rPr>
              <a:t>Encoded words</a:t>
            </a:r>
            <a:r>
              <a:rPr lang="en-US" sz="1400" dirty="0">
                <a:solidFill>
                  <a:srgbClr val="1B2430"/>
                </a:solidFill>
              </a:rPr>
              <a:t> (RFC 2047) for non-ASCII header text:</a:t>
            </a:r>
            <a:endParaRPr lang="en-US" sz="1400" dirty="0"/>
          </a:p>
          <a:p>
            <a:pPr algn="ctr" indent="0" marL="0">
              <a:buNone/>
            </a:pPr>
            <a:r>
              <a:rPr lang="en-US" sz="1400" dirty="0">
                <a:solidFill>
                  <a:srgbClr val="1B2430"/>
                </a:solidFill>
              </a:rPr>
              <a:t>Subject: =?utf-8?b?TGFib3JhdG9ydWwgNQ==?=   → “Laboratorul 5”</a:t>
            </a:r>
            <a:endParaRPr lang="en-US" sz="1400" dirty="0"/>
          </a:p>
        </p:txBody>
      </p:sp>
      <p:sp>
        <p:nvSpPr>
          <p:cNvPr id="2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7" name="Text 2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MIME = labels (Content-Type) + packaging (multipart) + safe transport encodings (base64).</a:t>
            </a:r>
            <a:endParaRPr lang="en-US" sz="1400" dirty="0"/>
          </a:p>
        </p:txBody>
      </p:sp>
      <p:sp>
        <p:nvSpPr>
          <p:cNvPr id="28" name="Text 2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ASCII (American Standard Code for Information Interchange) · HTTP (HyperText Transfer Protocol) · MIME (Multipurpose Internet Mail Extensions) · RFC (Request for Comments)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 A multipart message, part by part</a:t>
            </a:r>
            <a:endParaRPr lang="en-US" sz="3000" dirty="0"/>
          </a:p>
        </p:txBody>
      </p:sp>
      <p:sp>
        <p:nvSpPr>
          <p:cNvPr id="4" name="code"/>
          <p:cNvSpPr/>
          <p:nvPr/>
        </p:nvSpPr>
        <p:spPr>
          <a:xfrm>
            <a:off x="548640" y="1280160"/>
            <a:ext cx="6949440" cy="4389120"/>
          </a:xfrm>
          <a:prstGeom prst="rect">
            <a:avLst/>
          </a:prstGeom>
          <a:solidFill>
            <a:srgbClr val="1E2A38"/>
          </a:solidFill>
          <a:ln w="12700">
            <a:solidFill>
              <a:srgbClr val="1E2A38"/>
            </a:solidFill>
            <a:prstDash val="solid"/>
          </a:ln>
        </p:spPr>
      </p:sp>
      <p:sp>
        <p:nvSpPr>
          <p:cNvPr id="5" name="Text 2"/>
          <p:cNvSpPr txBox="1"/>
          <p:nvPr/>
        </p:nvSpPr>
        <p:spPr>
          <a:xfrm>
            <a:off x="548640" y="1280160"/>
            <a:ext cx="6949440" cy="4389120"/>
          </a:xfrm>
          <a:prstGeom prst="rect">
            <a:avLst/>
          </a:prstGeom>
          <a:noFill/>
          <a:ln/>
        </p:spPr>
        <p:txBody>
          <a:bodyPr wrap="square" lIns="101600" tIns="101600" rIns="101600" bIns="101600" rtlCol="0" anchor="t"/>
          <a:lstStyle/>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MIME-Version: 1.0</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Content-Type: multipart/mixed; boundary="==B7f2"</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 </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--==B7f2</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Content-Type: text/plain; charset="utf-8"</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 </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Hello Bob, the report is attached.</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--==B7f2</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Content-Type: application/pdf</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Content-Transfer-Encoding: base64</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Content-Disposition: attachment; filename="report.pdf"</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 </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JVBERi0xLjcKJcfsj6IKNSAwIG9iago8PC9MZW5ndGgg…</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--==B7f2--</a:t>
            </a:r>
            <a:endParaRPr lang="en-US" sz="1100" dirty="0"/>
          </a:p>
        </p:txBody>
      </p:sp>
      <p:sp>
        <p:nvSpPr>
          <p:cNvPr id="6" name="Shape 3"/>
          <p:cNvSpPr/>
          <p:nvPr/>
        </p:nvSpPr>
        <p:spPr>
          <a:xfrm>
            <a:off x="7635240" y="1389888"/>
            <a:ext cx="128016" cy="329184"/>
          </a:xfrm>
          <a:prstGeom prst="rect">
            <a:avLst/>
          </a:prstGeom>
          <a:solidFill>
            <a:srgbClr val="1F3A5F"/>
          </a:solidFill>
          <a:ln w="12700">
            <a:solidFill>
              <a:srgbClr val="1F3A5F"/>
            </a:solidFill>
            <a:prstDash val="solid"/>
          </a:ln>
        </p:spPr>
      </p:sp>
      <p:sp>
        <p:nvSpPr>
          <p:cNvPr id="7" name="Text 4"/>
          <p:cNvSpPr txBox="1"/>
          <p:nvPr/>
        </p:nvSpPr>
        <p:spPr>
          <a:xfrm>
            <a:off x="7863840" y="1412748"/>
            <a:ext cx="3749040" cy="256032"/>
          </a:xfrm>
          <a:prstGeom prst="rect">
            <a:avLst/>
          </a:prstGeom>
          <a:noFill/>
          <a:ln/>
        </p:spPr>
        <p:txBody>
          <a:bodyPr wrap="square" lIns="0" tIns="0" rIns="0" bIns="0" rtlCol="0" anchor="t"/>
          <a:lstStyle/>
          <a:p>
            <a:pPr algn="l" indent="0" marL="0">
              <a:spcAft>
                <a:spcPts val="400"/>
              </a:spcAft>
              <a:buNone/>
            </a:pPr>
            <a:r>
              <a:rPr lang="en-US" sz="1200" b="1" dirty="0">
                <a:solidFill>
                  <a:srgbClr val="1F3A5F"/>
                </a:solidFill>
              </a:rPr>
              <a:t>message header</a:t>
            </a:r>
            <a:endParaRPr lang="en-US" sz="1200" dirty="0"/>
          </a:p>
        </p:txBody>
      </p:sp>
      <p:sp>
        <p:nvSpPr>
          <p:cNvPr id="8" name="Shape 5"/>
          <p:cNvSpPr/>
          <p:nvPr/>
        </p:nvSpPr>
        <p:spPr>
          <a:xfrm>
            <a:off x="7635240" y="1924812"/>
            <a:ext cx="128016" cy="150876"/>
          </a:xfrm>
          <a:prstGeom prst="rect">
            <a:avLst/>
          </a:prstGeom>
          <a:solidFill>
            <a:srgbClr val="B9772A"/>
          </a:solidFill>
          <a:ln w="12700">
            <a:solidFill>
              <a:srgbClr val="B9772A"/>
            </a:solidFill>
            <a:prstDash val="solid"/>
          </a:ln>
        </p:spPr>
      </p:sp>
      <p:sp>
        <p:nvSpPr>
          <p:cNvPr id="9" name="Text 6"/>
          <p:cNvSpPr txBox="1"/>
          <p:nvPr/>
        </p:nvSpPr>
        <p:spPr>
          <a:xfrm>
            <a:off x="7863840" y="1897380"/>
            <a:ext cx="3749040" cy="256032"/>
          </a:xfrm>
          <a:prstGeom prst="rect">
            <a:avLst/>
          </a:prstGeom>
          <a:noFill/>
          <a:ln/>
        </p:spPr>
        <p:txBody>
          <a:bodyPr wrap="square" lIns="0" tIns="0" rIns="0" bIns="0" rtlCol="0" anchor="t"/>
          <a:lstStyle/>
          <a:p>
            <a:pPr algn="l" indent="0" marL="0">
              <a:spcAft>
                <a:spcPts val="400"/>
              </a:spcAft>
              <a:buNone/>
            </a:pPr>
            <a:r>
              <a:rPr lang="en-US" sz="1200" b="1" dirty="0">
                <a:solidFill>
                  <a:srgbClr val="B9772A"/>
                </a:solidFill>
              </a:rPr>
              <a:t>boundary</a:t>
            </a:r>
            <a:endParaRPr lang="en-US" sz="1200" dirty="0"/>
          </a:p>
        </p:txBody>
      </p:sp>
      <p:sp>
        <p:nvSpPr>
          <p:cNvPr id="10" name="Shape 7"/>
          <p:cNvSpPr/>
          <p:nvPr/>
        </p:nvSpPr>
        <p:spPr>
          <a:xfrm>
            <a:off x="7635240" y="2103120"/>
            <a:ext cx="128016" cy="507492"/>
          </a:xfrm>
          <a:prstGeom prst="rect">
            <a:avLst/>
          </a:prstGeom>
          <a:solidFill>
            <a:srgbClr val="2A7F8E"/>
          </a:solidFill>
          <a:ln w="12700">
            <a:solidFill>
              <a:srgbClr val="2A7F8E"/>
            </a:solidFill>
            <a:prstDash val="solid"/>
          </a:ln>
        </p:spPr>
      </p:sp>
      <p:sp>
        <p:nvSpPr>
          <p:cNvPr id="11" name="Text 8"/>
          <p:cNvSpPr txBox="1"/>
          <p:nvPr/>
        </p:nvSpPr>
        <p:spPr>
          <a:xfrm>
            <a:off x="7863840" y="2215134"/>
            <a:ext cx="3749040" cy="256032"/>
          </a:xfrm>
          <a:prstGeom prst="rect">
            <a:avLst/>
          </a:prstGeom>
          <a:noFill/>
          <a:ln/>
        </p:spPr>
        <p:txBody>
          <a:bodyPr wrap="square" lIns="0" tIns="0" rIns="0" bIns="0" rtlCol="0" anchor="t"/>
          <a:lstStyle/>
          <a:p>
            <a:pPr algn="l" indent="0" marL="0">
              <a:spcAft>
                <a:spcPts val="400"/>
              </a:spcAft>
              <a:buNone/>
            </a:pPr>
            <a:r>
              <a:rPr lang="en-US" sz="1200" b="1" dirty="0">
                <a:solidFill>
                  <a:srgbClr val="2A7F8E"/>
                </a:solidFill>
              </a:rPr>
              <a:t>part 1: text</a:t>
            </a:r>
            <a:endParaRPr lang="en-US" sz="1200" dirty="0"/>
          </a:p>
        </p:txBody>
      </p:sp>
      <p:sp>
        <p:nvSpPr>
          <p:cNvPr id="12" name="Shape 9"/>
          <p:cNvSpPr/>
          <p:nvPr/>
        </p:nvSpPr>
        <p:spPr>
          <a:xfrm>
            <a:off x="7635240" y="2638044"/>
            <a:ext cx="128016" cy="150876"/>
          </a:xfrm>
          <a:prstGeom prst="rect">
            <a:avLst/>
          </a:prstGeom>
          <a:solidFill>
            <a:srgbClr val="B9772A"/>
          </a:solidFill>
          <a:ln w="12700">
            <a:solidFill>
              <a:srgbClr val="B9772A"/>
            </a:solidFill>
            <a:prstDash val="solid"/>
          </a:ln>
        </p:spPr>
      </p:sp>
      <p:sp>
        <p:nvSpPr>
          <p:cNvPr id="13" name="Text 10"/>
          <p:cNvSpPr txBox="1"/>
          <p:nvPr/>
        </p:nvSpPr>
        <p:spPr>
          <a:xfrm>
            <a:off x="7863840" y="2610612"/>
            <a:ext cx="3749040" cy="256032"/>
          </a:xfrm>
          <a:prstGeom prst="rect">
            <a:avLst/>
          </a:prstGeom>
          <a:noFill/>
          <a:ln/>
        </p:spPr>
        <p:txBody>
          <a:bodyPr wrap="square" lIns="0" tIns="0" rIns="0" bIns="0" rtlCol="0" anchor="t"/>
          <a:lstStyle/>
          <a:p>
            <a:pPr algn="l" indent="0" marL="0">
              <a:spcAft>
                <a:spcPts val="400"/>
              </a:spcAft>
              <a:buNone/>
            </a:pPr>
            <a:r>
              <a:rPr lang="en-US" sz="1200" b="1" dirty="0">
                <a:solidFill>
                  <a:srgbClr val="B9772A"/>
                </a:solidFill>
              </a:rPr>
              <a:t>boundary</a:t>
            </a:r>
            <a:endParaRPr lang="en-US" sz="1200" dirty="0"/>
          </a:p>
        </p:txBody>
      </p:sp>
      <p:sp>
        <p:nvSpPr>
          <p:cNvPr id="14" name="Shape 11"/>
          <p:cNvSpPr/>
          <p:nvPr/>
        </p:nvSpPr>
        <p:spPr>
          <a:xfrm>
            <a:off x="7635240" y="2816352"/>
            <a:ext cx="128016" cy="864108"/>
          </a:xfrm>
          <a:prstGeom prst="rect">
            <a:avLst/>
          </a:prstGeom>
          <a:solidFill>
            <a:srgbClr val="2E7D4F"/>
          </a:solidFill>
          <a:ln w="12700">
            <a:solidFill>
              <a:srgbClr val="2E7D4F"/>
            </a:solidFill>
            <a:prstDash val="solid"/>
          </a:ln>
        </p:spPr>
      </p:sp>
      <p:sp>
        <p:nvSpPr>
          <p:cNvPr id="15" name="Text 12"/>
          <p:cNvSpPr txBox="1"/>
          <p:nvPr/>
        </p:nvSpPr>
        <p:spPr>
          <a:xfrm>
            <a:off x="7863840" y="3106674"/>
            <a:ext cx="3749040" cy="256032"/>
          </a:xfrm>
          <a:prstGeom prst="rect">
            <a:avLst/>
          </a:prstGeom>
          <a:noFill/>
          <a:ln/>
        </p:spPr>
        <p:txBody>
          <a:bodyPr wrap="square" lIns="0" tIns="0" rIns="0" bIns="0" rtlCol="0" anchor="t"/>
          <a:lstStyle/>
          <a:p>
            <a:pPr algn="l" indent="0" marL="0">
              <a:spcAft>
                <a:spcPts val="400"/>
              </a:spcAft>
              <a:buNone/>
            </a:pPr>
            <a:r>
              <a:rPr lang="en-US" sz="1200" b="1" dirty="0">
                <a:solidFill>
                  <a:srgbClr val="2E7D4F"/>
                </a:solidFill>
              </a:rPr>
              <a:t>part 2: the PDF, in base64</a:t>
            </a:r>
            <a:endParaRPr lang="en-US" sz="1200" dirty="0"/>
          </a:p>
        </p:txBody>
      </p:sp>
      <p:sp>
        <p:nvSpPr>
          <p:cNvPr id="16" name="Shape 13"/>
          <p:cNvSpPr/>
          <p:nvPr/>
        </p:nvSpPr>
        <p:spPr>
          <a:xfrm>
            <a:off x="7635240" y="3707892"/>
            <a:ext cx="128016" cy="150876"/>
          </a:xfrm>
          <a:prstGeom prst="rect">
            <a:avLst/>
          </a:prstGeom>
          <a:solidFill>
            <a:srgbClr val="B9772A"/>
          </a:solidFill>
          <a:ln w="12700">
            <a:solidFill>
              <a:srgbClr val="B9772A"/>
            </a:solidFill>
            <a:prstDash val="solid"/>
          </a:ln>
        </p:spPr>
      </p:sp>
      <p:sp>
        <p:nvSpPr>
          <p:cNvPr id="17" name="Text 14"/>
          <p:cNvSpPr txBox="1"/>
          <p:nvPr/>
        </p:nvSpPr>
        <p:spPr>
          <a:xfrm>
            <a:off x="7863840" y="3680460"/>
            <a:ext cx="3749040" cy="256032"/>
          </a:xfrm>
          <a:prstGeom prst="rect">
            <a:avLst/>
          </a:prstGeom>
          <a:noFill/>
          <a:ln/>
        </p:spPr>
        <p:txBody>
          <a:bodyPr wrap="square" lIns="0" tIns="0" rIns="0" bIns="0" rtlCol="0" anchor="t"/>
          <a:lstStyle/>
          <a:p>
            <a:pPr algn="l" indent="0" marL="0">
              <a:spcAft>
                <a:spcPts val="400"/>
              </a:spcAft>
              <a:buNone/>
            </a:pPr>
            <a:r>
              <a:rPr lang="en-US" sz="1200" b="1" dirty="0">
                <a:solidFill>
                  <a:srgbClr val="B9772A"/>
                </a:solidFill>
              </a:rPr>
              <a:t>closing boundary (two dashes)</a:t>
            </a:r>
            <a:endParaRPr lang="en-US" sz="1200" dirty="0"/>
          </a:p>
        </p:txBody>
      </p:sp>
      <p:sp>
        <p:nvSpPr>
          <p:cNvPr id="1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9" name="Text 1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multipart/mixed: one message, many parts, each labelled by its own Content-Type.</a:t>
            </a:r>
            <a:endParaRPr lang="en-US" sz="1400" dirty="0"/>
          </a:p>
        </p:txBody>
      </p:sp>
      <p:sp>
        <p:nvSpPr>
          <p:cNvPr id="20" name="Text 1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MIME (Multipurpose Internet Mail Extensions)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 base64: 3 bytes become 4 characters</a:t>
            </a:r>
            <a:endParaRPr lang="en-US" sz="3000" dirty="0"/>
          </a:p>
        </p:txBody>
      </p:sp>
      <p:sp>
        <p:nvSpPr>
          <p:cNvPr id="4" name="box"/>
          <p:cNvSpPr/>
          <p:nvPr/>
        </p:nvSpPr>
        <p:spPr>
          <a:xfrm>
            <a:off x="1097280" y="1325880"/>
            <a:ext cx="2926080" cy="502920"/>
          </a:xfrm>
          <a:prstGeom prst="roundRect">
            <a:avLst>
              <a:gd name="adj" fmla="val 14545"/>
            </a:avLst>
          </a:prstGeom>
          <a:solidFill>
            <a:srgbClr val="1F3A5F"/>
          </a:solidFill>
          <a:ln w="12700">
            <a:solidFill>
              <a:srgbClr val="1F3A5F"/>
            </a:solidFill>
            <a:prstDash val="solid"/>
          </a:ln>
        </p:spPr>
      </p:sp>
      <p:sp>
        <p:nvSpPr>
          <p:cNvPr id="5" name="Text 2"/>
          <p:cNvSpPr txBox="1"/>
          <p:nvPr/>
        </p:nvSpPr>
        <p:spPr>
          <a:xfrm>
            <a:off x="1097280" y="1325880"/>
            <a:ext cx="2926080" cy="502920"/>
          </a:xfrm>
          <a:prstGeom prst="rect">
            <a:avLst/>
          </a:prstGeom>
          <a:noFill/>
          <a:ln/>
        </p:spPr>
        <p:txBody>
          <a:bodyPr wrap="square" lIns="635" tIns="635" rIns="635" bIns="635" rtlCol="0" anchor="ctr"/>
          <a:lstStyle/>
          <a:p>
            <a:pPr algn="ctr" indent="0" marL="0">
              <a:buNone/>
            </a:pPr>
            <a:r>
              <a:rPr lang="en-US" sz="1300" dirty="0">
                <a:solidFill>
                  <a:srgbClr val="FFFFFF"/>
                </a:solidFill>
              </a:rPr>
              <a:t>'M' = 0x4d</a:t>
            </a:r>
            <a:endParaRPr lang="en-US" sz="1300" dirty="0"/>
          </a:p>
        </p:txBody>
      </p:sp>
      <p:sp>
        <p:nvSpPr>
          <p:cNvPr id="6" name="box"/>
          <p:cNvSpPr/>
          <p:nvPr/>
        </p:nvSpPr>
        <p:spPr>
          <a:xfrm>
            <a:off x="1097280" y="1874520"/>
            <a:ext cx="2926080" cy="502920"/>
          </a:xfrm>
          <a:prstGeom prst="roundRect">
            <a:avLst>
              <a:gd name="adj" fmla="val 14545"/>
            </a:avLst>
          </a:prstGeom>
          <a:solidFill>
            <a:srgbClr val="EEF2F6"/>
          </a:solidFill>
          <a:ln w="12700">
            <a:solidFill>
              <a:srgbClr val="EEF2F6"/>
            </a:solidFill>
            <a:prstDash val="solid"/>
          </a:ln>
        </p:spPr>
      </p:sp>
      <p:sp>
        <p:nvSpPr>
          <p:cNvPr id="7" name="Text 4"/>
          <p:cNvSpPr txBox="1"/>
          <p:nvPr/>
        </p:nvSpPr>
        <p:spPr>
          <a:xfrm>
            <a:off x="1097280" y="1874520"/>
            <a:ext cx="2926080" cy="50292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01001101</a:t>
            </a:r>
            <a:endParaRPr lang="en-US" sz="1500" dirty="0"/>
          </a:p>
        </p:txBody>
      </p:sp>
      <p:sp>
        <p:nvSpPr>
          <p:cNvPr id="8" name="box"/>
          <p:cNvSpPr/>
          <p:nvPr/>
        </p:nvSpPr>
        <p:spPr>
          <a:xfrm>
            <a:off x="4206240" y="1325880"/>
            <a:ext cx="2926080" cy="502920"/>
          </a:xfrm>
          <a:prstGeom prst="roundRect">
            <a:avLst>
              <a:gd name="adj" fmla="val 14545"/>
            </a:avLst>
          </a:prstGeom>
          <a:solidFill>
            <a:srgbClr val="1F3A5F"/>
          </a:solidFill>
          <a:ln w="12700">
            <a:solidFill>
              <a:srgbClr val="1F3A5F"/>
            </a:solidFill>
            <a:prstDash val="solid"/>
          </a:ln>
        </p:spPr>
      </p:sp>
      <p:sp>
        <p:nvSpPr>
          <p:cNvPr id="9" name="Text 6"/>
          <p:cNvSpPr txBox="1"/>
          <p:nvPr/>
        </p:nvSpPr>
        <p:spPr>
          <a:xfrm>
            <a:off x="4206240" y="1325880"/>
            <a:ext cx="2926080" cy="502920"/>
          </a:xfrm>
          <a:prstGeom prst="rect">
            <a:avLst/>
          </a:prstGeom>
          <a:noFill/>
          <a:ln/>
        </p:spPr>
        <p:txBody>
          <a:bodyPr wrap="square" lIns="635" tIns="635" rIns="635" bIns="635" rtlCol="0" anchor="ctr"/>
          <a:lstStyle/>
          <a:p>
            <a:pPr algn="ctr" indent="0" marL="0">
              <a:buNone/>
            </a:pPr>
            <a:r>
              <a:rPr lang="en-US" sz="1300" dirty="0">
                <a:solidFill>
                  <a:srgbClr val="FFFFFF"/>
                </a:solidFill>
              </a:rPr>
              <a:t>'a' = 0x61</a:t>
            </a:r>
            <a:endParaRPr lang="en-US" sz="1300" dirty="0"/>
          </a:p>
        </p:txBody>
      </p:sp>
      <p:sp>
        <p:nvSpPr>
          <p:cNvPr id="10" name="box"/>
          <p:cNvSpPr/>
          <p:nvPr/>
        </p:nvSpPr>
        <p:spPr>
          <a:xfrm>
            <a:off x="4206240" y="1874520"/>
            <a:ext cx="2926080" cy="502920"/>
          </a:xfrm>
          <a:prstGeom prst="roundRect">
            <a:avLst>
              <a:gd name="adj" fmla="val 14545"/>
            </a:avLst>
          </a:prstGeom>
          <a:solidFill>
            <a:srgbClr val="EEF2F6"/>
          </a:solidFill>
          <a:ln w="12700">
            <a:solidFill>
              <a:srgbClr val="EEF2F6"/>
            </a:solidFill>
            <a:prstDash val="solid"/>
          </a:ln>
        </p:spPr>
      </p:sp>
      <p:sp>
        <p:nvSpPr>
          <p:cNvPr id="11" name="Text 8"/>
          <p:cNvSpPr txBox="1"/>
          <p:nvPr/>
        </p:nvSpPr>
        <p:spPr>
          <a:xfrm>
            <a:off x="4206240" y="1874520"/>
            <a:ext cx="2926080" cy="50292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01100001</a:t>
            </a:r>
            <a:endParaRPr lang="en-US" sz="1500" dirty="0"/>
          </a:p>
        </p:txBody>
      </p:sp>
      <p:sp>
        <p:nvSpPr>
          <p:cNvPr id="12" name="box"/>
          <p:cNvSpPr/>
          <p:nvPr/>
        </p:nvSpPr>
        <p:spPr>
          <a:xfrm>
            <a:off x="7315200" y="1325880"/>
            <a:ext cx="2926080" cy="502920"/>
          </a:xfrm>
          <a:prstGeom prst="roundRect">
            <a:avLst>
              <a:gd name="adj" fmla="val 14545"/>
            </a:avLst>
          </a:prstGeom>
          <a:solidFill>
            <a:srgbClr val="1F3A5F"/>
          </a:solidFill>
          <a:ln w="12700">
            <a:solidFill>
              <a:srgbClr val="1F3A5F"/>
            </a:solidFill>
            <a:prstDash val="solid"/>
          </a:ln>
        </p:spPr>
      </p:sp>
      <p:sp>
        <p:nvSpPr>
          <p:cNvPr id="13" name="Text 10"/>
          <p:cNvSpPr txBox="1"/>
          <p:nvPr/>
        </p:nvSpPr>
        <p:spPr>
          <a:xfrm>
            <a:off x="7315200" y="1325880"/>
            <a:ext cx="2926080" cy="502920"/>
          </a:xfrm>
          <a:prstGeom prst="rect">
            <a:avLst/>
          </a:prstGeom>
          <a:noFill/>
          <a:ln/>
        </p:spPr>
        <p:txBody>
          <a:bodyPr wrap="square" lIns="635" tIns="635" rIns="635" bIns="635" rtlCol="0" anchor="ctr"/>
          <a:lstStyle/>
          <a:p>
            <a:pPr algn="ctr" indent="0" marL="0">
              <a:buNone/>
            </a:pPr>
            <a:r>
              <a:rPr lang="en-US" sz="1300" dirty="0">
                <a:solidFill>
                  <a:srgbClr val="FFFFFF"/>
                </a:solidFill>
              </a:rPr>
              <a:t>'n' = 0x6e</a:t>
            </a:r>
            <a:endParaRPr lang="en-US" sz="1300" dirty="0"/>
          </a:p>
        </p:txBody>
      </p:sp>
      <p:sp>
        <p:nvSpPr>
          <p:cNvPr id="14" name="box"/>
          <p:cNvSpPr/>
          <p:nvPr/>
        </p:nvSpPr>
        <p:spPr>
          <a:xfrm>
            <a:off x="7315200" y="1874520"/>
            <a:ext cx="2926080" cy="502920"/>
          </a:xfrm>
          <a:prstGeom prst="roundRect">
            <a:avLst>
              <a:gd name="adj" fmla="val 14545"/>
            </a:avLst>
          </a:prstGeom>
          <a:solidFill>
            <a:srgbClr val="EEF2F6"/>
          </a:solidFill>
          <a:ln w="12700">
            <a:solidFill>
              <a:srgbClr val="EEF2F6"/>
            </a:solidFill>
            <a:prstDash val="solid"/>
          </a:ln>
        </p:spPr>
      </p:sp>
      <p:sp>
        <p:nvSpPr>
          <p:cNvPr id="15" name="Text 12"/>
          <p:cNvSpPr txBox="1"/>
          <p:nvPr/>
        </p:nvSpPr>
        <p:spPr>
          <a:xfrm>
            <a:off x="7315200" y="1874520"/>
            <a:ext cx="2926080" cy="50292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01101110</a:t>
            </a:r>
            <a:endParaRPr lang="en-US" sz="1500" dirty="0"/>
          </a:p>
        </p:txBody>
      </p:sp>
      <p:sp>
        <p:nvSpPr>
          <p:cNvPr id="16" name="box"/>
          <p:cNvSpPr/>
          <p:nvPr/>
        </p:nvSpPr>
        <p:spPr>
          <a:xfrm>
            <a:off x="1097280" y="2697480"/>
            <a:ext cx="2194560" cy="502920"/>
          </a:xfrm>
          <a:prstGeom prst="roundRect">
            <a:avLst>
              <a:gd name="adj" fmla="val 14545"/>
            </a:avLst>
          </a:prstGeom>
          <a:solidFill>
            <a:srgbClr val="F3EAD7"/>
          </a:solidFill>
          <a:ln w="12700">
            <a:solidFill>
              <a:srgbClr val="F3EAD7"/>
            </a:solidFill>
            <a:prstDash val="solid"/>
          </a:ln>
        </p:spPr>
      </p:sp>
      <p:sp>
        <p:nvSpPr>
          <p:cNvPr id="17" name="Text 14"/>
          <p:cNvSpPr txBox="1"/>
          <p:nvPr/>
        </p:nvSpPr>
        <p:spPr>
          <a:xfrm>
            <a:off x="1097280" y="2697480"/>
            <a:ext cx="2194560" cy="50292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010011</a:t>
            </a:r>
            <a:endParaRPr lang="en-US" sz="1500" dirty="0"/>
          </a:p>
        </p:txBody>
      </p:sp>
      <p:sp>
        <p:nvSpPr>
          <p:cNvPr id="18" name="box"/>
          <p:cNvSpPr/>
          <p:nvPr/>
        </p:nvSpPr>
        <p:spPr>
          <a:xfrm>
            <a:off x="1097280" y="3246120"/>
            <a:ext cx="2194560" cy="457200"/>
          </a:xfrm>
          <a:prstGeom prst="roundRect">
            <a:avLst>
              <a:gd name="adj" fmla="val 16000"/>
            </a:avLst>
          </a:prstGeom>
          <a:solidFill>
            <a:srgbClr val="EEF2F6"/>
          </a:solidFill>
          <a:ln w="12700">
            <a:solidFill>
              <a:srgbClr val="EEF2F6"/>
            </a:solidFill>
            <a:prstDash val="solid"/>
          </a:ln>
        </p:spPr>
      </p:sp>
      <p:sp>
        <p:nvSpPr>
          <p:cNvPr id="19" name="Text 16"/>
          <p:cNvSpPr txBox="1"/>
          <p:nvPr/>
        </p:nvSpPr>
        <p:spPr>
          <a:xfrm>
            <a:off x="1097280" y="3246120"/>
            <a:ext cx="2194560" cy="457200"/>
          </a:xfrm>
          <a:prstGeom prst="rect">
            <a:avLst/>
          </a:prstGeom>
          <a:noFill/>
          <a:ln/>
        </p:spPr>
        <p:txBody>
          <a:bodyPr wrap="square" lIns="635" tIns="635" rIns="635" bIns="635" rtlCol="0" anchor="ctr"/>
          <a:lstStyle/>
          <a:p>
            <a:pPr algn="ctr" indent="0" marL="0">
              <a:buNone/>
            </a:pPr>
            <a:r>
              <a:rPr lang="en-US" sz="1300" dirty="0">
                <a:solidFill>
                  <a:srgbClr val="1B2430"/>
                </a:solidFill>
              </a:rPr>
              <a:t>19</a:t>
            </a:r>
            <a:endParaRPr lang="en-US" sz="1300" dirty="0"/>
          </a:p>
        </p:txBody>
      </p:sp>
      <p:sp>
        <p:nvSpPr>
          <p:cNvPr id="20" name="box"/>
          <p:cNvSpPr/>
          <p:nvPr/>
        </p:nvSpPr>
        <p:spPr>
          <a:xfrm>
            <a:off x="1097280" y="3749040"/>
            <a:ext cx="2194560" cy="548640"/>
          </a:xfrm>
          <a:prstGeom prst="roundRect">
            <a:avLst>
              <a:gd name="adj" fmla="val 13333"/>
            </a:avLst>
          </a:prstGeom>
          <a:solidFill>
            <a:srgbClr val="B9772A"/>
          </a:solidFill>
          <a:ln w="12700">
            <a:solidFill>
              <a:srgbClr val="B9772A"/>
            </a:solidFill>
            <a:prstDash val="solid"/>
          </a:ln>
        </p:spPr>
      </p:sp>
      <p:sp>
        <p:nvSpPr>
          <p:cNvPr id="21" name="Text 18"/>
          <p:cNvSpPr txBox="1"/>
          <p:nvPr/>
        </p:nvSpPr>
        <p:spPr>
          <a:xfrm>
            <a:off x="1097280" y="3749040"/>
            <a:ext cx="2194560" cy="54864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T</a:t>
            </a:r>
            <a:endParaRPr lang="en-US" sz="2000" dirty="0"/>
          </a:p>
        </p:txBody>
      </p:sp>
      <p:sp>
        <p:nvSpPr>
          <p:cNvPr id="22" name="box"/>
          <p:cNvSpPr/>
          <p:nvPr/>
        </p:nvSpPr>
        <p:spPr>
          <a:xfrm>
            <a:off x="3429000" y="2697480"/>
            <a:ext cx="2194560" cy="502920"/>
          </a:xfrm>
          <a:prstGeom prst="roundRect">
            <a:avLst>
              <a:gd name="adj" fmla="val 14545"/>
            </a:avLst>
          </a:prstGeom>
          <a:solidFill>
            <a:srgbClr val="F3EAD7"/>
          </a:solidFill>
          <a:ln w="12700">
            <a:solidFill>
              <a:srgbClr val="F3EAD7"/>
            </a:solidFill>
            <a:prstDash val="solid"/>
          </a:ln>
        </p:spPr>
      </p:sp>
      <p:sp>
        <p:nvSpPr>
          <p:cNvPr id="23" name="Text 20"/>
          <p:cNvSpPr txBox="1"/>
          <p:nvPr/>
        </p:nvSpPr>
        <p:spPr>
          <a:xfrm>
            <a:off x="3429000" y="2697480"/>
            <a:ext cx="2194560" cy="50292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010110</a:t>
            </a:r>
            <a:endParaRPr lang="en-US" sz="1500" dirty="0"/>
          </a:p>
        </p:txBody>
      </p:sp>
      <p:sp>
        <p:nvSpPr>
          <p:cNvPr id="24" name="box"/>
          <p:cNvSpPr/>
          <p:nvPr/>
        </p:nvSpPr>
        <p:spPr>
          <a:xfrm>
            <a:off x="3429000" y="3246120"/>
            <a:ext cx="2194560" cy="457200"/>
          </a:xfrm>
          <a:prstGeom prst="roundRect">
            <a:avLst>
              <a:gd name="adj" fmla="val 16000"/>
            </a:avLst>
          </a:prstGeom>
          <a:solidFill>
            <a:srgbClr val="EEF2F6"/>
          </a:solidFill>
          <a:ln w="12700">
            <a:solidFill>
              <a:srgbClr val="EEF2F6"/>
            </a:solidFill>
            <a:prstDash val="solid"/>
          </a:ln>
        </p:spPr>
      </p:sp>
      <p:sp>
        <p:nvSpPr>
          <p:cNvPr id="25" name="Text 22"/>
          <p:cNvSpPr txBox="1"/>
          <p:nvPr/>
        </p:nvSpPr>
        <p:spPr>
          <a:xfrm>
            <a:off x="3429000" y="3246120"/>
            <a:ext cx="2194560" cy="457200"/>
          </a:xfrm>
          <a:prstGeom prst="rect">
            <a:avLst/>
          </a:prstGeom>
          <a:noFill/>
          <a:ln/>
        </p:spPr>
        <p:txBody>
          <a:bodyPr wrap="square" lIns="635" tIns="635" rIns="635" bIns="635" rtlCol="0" anchor="ctr"/>
          <a:lstStyle/>
          <a:p>
            <a:pPr algn="ctr" indent="0" marL="0">
              <a:buNone/>
            </a:pPr>
            <a:r>
              <a:rPr lang="en-US" sz="1300" dirty="0">
                <a:solidFill>
                  <a:srgbClr val="1B2430"/>
                </a:solidFill>
              </a:rPr>
              <a:t>22</a:t>
            </a:r>
            <a:endParaRPr lang="en-US" sz="1300" dirty="0"/>
          </a:p>
        </p:txBody>
      </p:sp>
      <p:sp>
        <p:nvSpPr>
          <p:cNvPr id="26" name="box"/>
          <p:cNvSpPr/>
          <p:nvPr/>
        </p:nvSpPr>
        <p:spPr>
          <a:xfrm>
            <a:off x="3429000" y="3749040"/>
            <a:ext cx="2194560" cy="548640"/>
          </a:xfrm>
          <a:prstGeom prst="roundRect">
            <a:avLst>
              <a:gd name="adj" fmla="val 13333"/>
            </a:avLst>
          </a:prstGeom>
          <a:solidFill>
            <a:srgbClr val="B9772A"/>
          </a:solidFill>
          <a:ln w="12700">
            <a:solidFill>
              <a:srgbClr val="B9772A"/>
            </a:solidFill>
            <a:prstDash val="solid"/>
          </a:ln>
        </p:spPr>
      </p:sp>
      <p:sp>
        <p:nvSpPr>
          <p:cNvPr id="27" name="Text 24"/>
          <p:cNvSpPr txBox="1"/>
          <p:nvPr/>
        </p:nvSpPr>
        <p:spPr>
          <a:xfrm>
            <a:off x="3429000" y="3749040"/>
            <a:ext cx="2194560" cy="54864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W</a:t>
            </a:r>
            <a:endParaRPr lang="en-US" sz="2000" dirty="0"/>
          </a:p>
        </p:txBody>
      </p:sp>
      <p:sp>
        <p:nvSpPr>
          <p:cNvPr id="28" name="box"/>
          <p:cNvSpPr/>
          <p:nvPr/>
        </p:nvSpPr>
        <p:spPr>
          <a:xfrm>
            <a:off x="5760720" y="2697480"/>
            <a:ext cx="2194560" cy="502920"/>
          </a:xfrm>
          <a:prstGeom prst="roundRect">
            <a:avLst>
              <a:gd name="adj" fmla="val 14545"/>
            </a:avLst>
          </a:prstGeom>
          <a:solidFill>
            <a:srgbClr val="F3EAD7"/>
          </a:solidFill>
          <a:ln w="12700">
            <a:solidFill>
              <a:srgbClr val="F3EAD7"/>
            </a:solidFill>
            <a:prstDash val="solid"/>
          </a:ln>
        </p:spPr>
      </p:sp>
      <p:sp>
        <p:nvSpPr>
          <p:cNvPr id="29" name="Text 26"/>
          <p:cNvSpPr txBox="1"/>
          <p:nvPr/>
        </p:nvSpPr>
        <p:spPr>
          <a:xfrm>
            <a:off x="5760720" y="2697480"/>
            <a:ext cx="2194560" cy="50292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000101</a:t>
            </a:r>
            <a:endParaRPr lang="en-US" sz="1500" dirty="0"/>
          </a:p>
        </p:txBody>
      </p:sp>
      <p:sp>
        <p:nvSpPr>
          <p:cNvPr id="30" name="box"/>
          <p:cNvSpPr/>
          <p:nvPr/>
        </p:nvSpPr>
        <p:spPr>
          <a:xfrm>
            <a:off x="5760720" y="3246120"/>
            <a:ext cx="2194560" cy="457200"/>
          </a:xfrm>
          <a:prstGeom prst="roundRect">
            <a:avLst>
              <a:gd name="adj" fmla="val 16000"/>
            </a:avLst>
          </a:prstGeom>
          <a:solidFill>
            <a:srgbClr val="EEF2F6"/>
          </a:solidFill>
          <a:ln w="12700">
            <a:solidFill>
              <a:srgbClr val="EEF2F6"/>
            </a:solidFill>
            <a:prstDash val="solid"/>
          </a:ln>
        </p:spPr>
      </p:sp>
      <p:sp>
        <p:nvSpPr>
          <p:cNvPr id="31" name="Text 28"/>
          <p:cNvSpPr txBox="1"/>
          <p:nvPr/>
        </p:nvSpPr>
        <p:spPr>
          <a:xfrm>
            <a:off x="5760720" y="3246120"/>
            <a:ext cx="2194560" cy="457200"/>
          </a:xfrm>
          <a:prstGeom prst="rect">
            <a:avLst/>
          </a:prstGeom>
          <a:noFill/>
          <a:ln/>
        </p:spPr>
        <p:txBody>
          <a:bodyPr wrap="square" lIns="635" tIns="635" rIns="635" bIns="635" rtlCol="0" anchor="ctr"/>
          <a:lstStyle/>
          <a:p>
            <a:pPr algn="ctr" indent="0" marL="0">
              <a:buNone/>
            </a:pPr>
            <a:r>
              <a:rPr lang="en-US" sz="1300" dirty="0">
                <a:solidFill>
                  <a:srgbClr val="1B2430"/>
                </a:solidFill>
              </a:rPr>
              <a:t>5</a:t>
            </a:r>
            <a:endParaRPr lang="en-US" sz="1300" dirty="0"/>
          </a:p>
        </p:txBody>
      </p:sp>
      <p:sp>
        <p:nvSpPr>
          <p:cNvPr id="32" name="box"/>
          <p:cNvSpPr/>
          <p:nvPr/>
        </p:nvSpPr>
        <p:spPr>
          <a:xfrm>
            <a:off x="5760720" y="3749040"/>
            <a:ext cx="2194560" cy="548640"/>
          </a:xfrm>
          <a:prstGeom prst="roundRect">
            <a:avLst>
              <a:gd name="adj" fmla="val 13333"/>
            </a:avLst>
          </a:prstGeom>
          <a:solidFill>
            <a:srgbClr val="B9772A"/>
          </a:solidFill>
          <a:ln w="12700">
            <a:solidFill>
              <a:srgbClr val="B9772A"/>
            </a:solidFill>
            <a:prstDash val="solid"/>
          </a:ln>
        </p:spPr>
      </p:sp>
      <p:sp>
        <p:nvSpPr>
          <p:cNvPr id="33" name="Text 30"/>
          <p:cNvSpPr txBox="1"/>
          <p:nvPr/>
        </p:nvSpPr>
        <p:spPr>
          <a:xfrm>
            <a:off x="5760720" y="3749040"/>
            <a:ext cx="2194560" cy="54864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F</a:t>
            </a:r>
            <a:endParaRPr lang="en-US" sz="2000" dirty="0"/>
          </a:p>
        </p:txBody>
      </p:sp>
      <p:sp>
        <p:nvSpPr>
          <p:cNvPr id="34" name="box"/>
          <p:cNvSpPr/>
          <p:nvPr/>
        </p:nvSpPr>
        <p:spPr>
          <a:xfrm>
            <a:off x="8092440" y="2697480"/>
            <a:ext cx="2194560" cy="502920"/>
          </a:xfrm>
          <a:prstGeom prst="roundRect">
            <a:avLst>
              <a:gd name="adj" fmla="val 14545"/>
            </a:avLst>
          </a:prstGeom>
          <a:solidFill>
            <a:srgbClr val="F3EAD7"/>
          </a:solidFill>
          <a:ln w="12700">
            <a:solidFill>
              <a:srgbClr val="F3EAD7"/>
            </a:solidFill>
            <a:prstDash val="solid"/>
          </a:ln>
        </p:spPr>
      </p:sp>
      <p:sp>
        <p:nvSpPr>
          <p:cNvPr id="35" name="Text 32"/>
          <p:cNvSpPr txBox="1"/>
          <p:nvPr/>
        </p:nvSpPr>
        <p:spPr>
          <a:xfrm>
            <a:off x="8092440" y="2697480"/>
            <a:ext cx="2194560" cy="502920"/>
          </a:xfrm>
          <a:prstGeom prst="rect">
            <a:avLst/>
          </a:prstGeom>
          <a:noFill/>
          <a:ln/>
        </p:spPr>
        <p:txBody>
          <a:bodyPr wrap="square" lIns="635" tIns="635" rIns="635" bIns="635" rtlCol="0" anchor="ctr"/>
          <a:lstStyle/>
          <a:p>
            <a:pPr algn="ctr" indent="0" marL="0">
              <a:buNone/>
            </a:pPr>
            <a:r>
              <a:rPr lang="en-US" sz="1500" dirty="0">
                <a:solidFill>
                  <a:srgbClr val="1B2430"/>
                </a:solidFill>
                <a:latin typeface="Consolas" pitchFamily="34" charset="0"/>
                <a:ea typeface="Consolas" pitchFamily="34" charset="-122"/>
                <a:cs typeface="Consolas" pitchFamily="34" charset="-120"/>
              </a:rPr>
              <a:t>101110</a:t>
            </a:r>
            <a:endParaRPr lang="en-US" sz="1500" dirty="0"/>
          </a:p>
        </p:txBody>
      </p:sp>
      <p:sp>
        <p:nvSpPr>
          <p:cNvPr id="36" name="box"/>
          <p:cNvSpPr/>
          <p:nvPr/>
        </p:nvSpPr>
        <p:spPr>
          <a:xfrm>
            <a:off x="8092440" y="3246120"/>
            <a:ext cx="2194560" cy="457200"/>
          </a:xfrm>
          <a:prstGeom prst="roundRect">
            <a:avLst>
              <a:gd name="adj" fmla="val 16000"/>
            </a:avLst>
          </a:prstGeom>
          <a:solidFill>
            <a:srgbClr val="EEF2F6"/>
          </a:solidFill>
          <a:ln w="12700">
            <a:solidFill>
              <a:srgbClr val="EEF2F6"/>
            </a:solidFill>
            <a:prstDash val="solid"/>
          </a:ln>
        </p:spPr>
      </p:sp>
      <p:sp>
        <p:nvSpPr>
          <p:cNvPr id="37" name="Text 34"/>
          <p:cNvSpPr txBox="1"/>
          <p:nvPr/>
        </p:nvSpPr>
        <p:spPr>
          <a:xfrm>
            <a:off x="8092440" y="3246120"/>
            <a:ext cx="2194560" cy="457200"/>
          </a:xfrm>
          <a:prstGeom prst="rect">
            <a:avLst/>
          </a:prstGeom>
          <a:noFill/>
          <a:ln/>
        </p:spPr>
        <p:txBody>
          <a:bodyPr wrap="square" lIns="635" tIns="635" rIns="635" bIns="635" rtlCol="0" anchor="ctr"/>
          <a:lstStyle/>
          <a:p>
            <a:pPr algn="ctr" indent="0" marL="0">
              <a:buNone/>
            </a:pPr>
            <a:r>
              <a:rPr lang="en-US" sz="1300" dirty="0">
                <a:solidFill>
                  <a:srgbClr val="1B2430"/>
                </a:solidFill>
              </a:rPr>
              <a:t>46</a:t>
            </a:r>
            <a:endParaRPr lang="en-US" sz="1300" dirty="0"/>
          </a:p>
        </p:txBody>
      </p:sp>
      <p:sp>
        <p:nvSpPr>
          <p:cNvPr id="38" name="box"/>
          <p:cNvSpPr/>
          <p:nvPr/>
        </p:nvSpPr>
        <p:spPr>
          <a:xfrm>
            <a:off x="8092440" y="3749040"/>
            <a:ext cx="2194560" cy="548640"/>
          </a:xfrm>
          <a:prstGeom prst="roundRect">
            <a:avLst>
              <a:gd name="adj" fmla="val 13333"/>
            </a:avLst>
          </a:prstGeom>
          <a:solidFill>
            <a:srgbClr val="B9772A"/>
          </a:solidFill>
          <a:ln w="12700">
            <a:solidFill>
              <a:srgbClr val="B9772A"/>
            </a:solidFill>
            <a:prstDash val="solid"/>
          </a:ln>
        </p:spPr>
      </p:sp>
      <p:sp>
        <p:nvSpPr>
          <p:cNvPr id="39" name="Text 36"/>
          <p:cNvSpPr txBox="1"/>
          <p:nvPr/>
        </p:nvSpPr>
        <p:spPr>
          <a:xfrm>
            <a:off x="8092440" y="3749040"/>
            <a:ext cx="2194560" cy="54864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u</a:t>
            </a:r>
            <a:endParaRPr lang="en-US" sz="2000" dirty="0"/>
          </a:p>
        </p:txBody>
      </p:sp>
      <p:sp>
        <p:nvSpPr>
          <p:cNvPr id="40" name="Text 37"/>
          <p:cNvSpPr txBox="1"/>
          <p:nvPr/>
        </p:nvSpPr>
        <p:spPr>
          <a:xfrm>
            <a:off x="365760" y="1965960"/>
            <a:ext cx="731520" cy="36576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bits</a:t>
            </a:r>
            <a:endParaRPr lang="en-US" sz="1100" dirty="0"/>
          </a:p>
        </p:txBody>
      </p:sp>
      <p:sp>
        <p:nvSpPr>
          <p:cNvPr id="41" name="Text 38"/>
          <p:cNvSpPr txBox="1"/>
          <p:nvPr/>
        </p:nvSpPr>
        <p:spPr>
          <a:xfrm>
            <a:off x="365760" y="2743200"/>
            <a:ext cx="731520" cy="36576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6-bit</a:t>
            </a:r>
            <a:endParaRPr lang="en-US" sz="1100" dirty="0"/>
          </a:p>
        </p:txBody>
      </p:sp>
      <p:sp>
        <p:nvSpPr>
          <p:cNvPr id="42" name="Text 39"/>
          <p:cNvSpPr txBox="1"/>
          <p:nvPr/>
        </p:nvSpPr>
        <p:spPr>
          <a:xfrm>
            <a:off x="365760" y="3840480"/>
            <a:ext cx="731520" cy="36576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char</a:t>
            </a:r>
            <a:endParaRPr lang="en-US" sz="1100" dirty="0"/>
          </a:p>
        </p:txBody>
      </p:sp>
      <p:sp>
        <p:nvSpPr>
          <p:cNvPr id="43" name="box"/>
          <p:cNvSpPr/>
          <p:nvPr/>
        </p:nvSpPr>
        <p:spPr>
          <a:xfrm>
            <a:off x="1097280" y="4572000"/>
            <a:ext cx="10515600" cy="960120"/>
          </a:xfrm>
          <a:prstGeom prst="roundRect">
            <a:avLst>
              <a:gd name="adj" fmla="val 7619"/>
            </a:avLst>
          </a:prstGeom>
          <a:solidFill>
            <a:srgbClr val="F2D6D6"/>
          </a:solidFill>
          <a:ln w="12700">
            <a:solidFill>
              <a:srgbClr val="F2D6D6"/>
            </a:solidFill>
            <a:prstDash val="solid"/>
          </a:ln>
        </p:spPr>
      </p:sp>
      <p:sp>
        <p:nvSpPr>
          <p:cNvPr id="44" name="Text 41"/>
          <p:cNvSpPr txBox="1"/>
          <p:nvPr/>
        </p:nvSpPr>
        <p:spPr>
          <a:xfrm>
            <a:off x="1097280" y="4572000"/>
            <a:ext cx="10515600" cy="960120"/>
          </a:xfrm>
          <a:prstGeom prst="rect">
            <a:avLst/>
          </a:prstGeom>
          <a:noFill/>
          <a:ln/>
        </p:spPr>
        <p:txBody>
          <a:bodyPr wrap="square" lIns="635" tIns="635" rIns="635" bIns="635" rtlCol="0" anchor="ctr"/>
          <a:lstStyle/>
          <a:p>
            <a:pPr algn="ctr" indent="0" marL="0">
              <a:buNone/>
            </a:pPr>
            <a:r>
              <a:rPr lang="en-US" sz="1400" dirty="0">
                <a:solidFill>
                  <a:srgbClr val="1B2430"/>
                </a:solidFill>
              </a:rPr>
              <a:t>4/3 = +33 %, plus CR LF every 76 characters → about </a:t>
            </a:r>
            <a:r>
              <a:rPr lang="en-US" sz="1400" b="1" dirty="0">
                <a:solidFill>
                  <a:srgbClr val="1B2430"/>
                </a:solidFill>
              </a:rPr>
              <a:t>+37 %</a:t>
            </a:r>
            <a:endParaRPr lang="en-US" sz="1400" dirty="0"/>
          </a:p>
          <a:p>
            <a:pPr algn="ctr" indent="0" marL="0">
              <a:buNone/>
            </a:pPr>
            <a:r>
              <a:rPr lang="en-US" sz="1400" dirty="0">
                <a:solidFill>
                  <a:srgbClr val="1B2430"/>
                </a:solidFill>
              </a:rPr>
              <a:t>a 10 MB attachment becomes ≈ 13.7 MB on the wire</a:t>
            </a:r>
            <a:endParaRPr lang="en-US" sz="1400" dirty="0"/>
          </a:p>
        </p:txBody>
      </p:sp>
      <p:sp>
        <p:nvSpPr>
          <p:cNvPr id="45"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46" name="Text 43"/>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“Man” → “TWFu”: binary made safe for 7-bit text, at the price of a third more bytes.</a:t>
            </a:r>
            <a:endParaRPr lang="en-US" sz="1400" dirty="0"/>
          </a:p>
        </p:txBody>
      </p:sp>
      <p:sp>
        <p:nvSpPr>
          <p:cNvPr id="47" name="Text 44"/>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CR (carriage return) · LF (line feed)</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 POP3: three states</a:t>
            </a:r>
            <a:endParaRPr lang="en-US" sz="3000" dirty="0"/>
          </a:p>
        </p:txBody>
      </p:sp>
      <p:sp>
        <p:nvSpPr>
          <p:cNvPr id="4" name="box"/>
          <p:cNvSpPr/>
          <p:nvPr/>
        </p:nvSpPr>
        <p:spPr>
          <a:xfrm>
            <a:off x="548640" y="1463040"/>
            <a:ext cx="3383280" cy="731520"/>
          </a:xfrm>
          <a:prstGeom prst="roundRect">
            <a:avLst>
              <a:gd name="adj" fmla="val 10000"/>
            </a:avLst>
          </a:prstGeom>
          <a:solidFill>
            <a:srgbClr val="5B6770"/>
          </a:solidFill>
          <a:ln w="12700">
            <a:solidFill>
              <a:srgbClr val="5B6770"/>
            </a:solidFill>
            <a:prstDash val="solid"/>
          </a:ln>
        </p:spPr>
      </p:sp>
      <p:sp>
        <p:nvSpPr>
          <p:cNvPr id="5" name="Text 2"/>
          <p:cNvSpPr txBox="1"/>
          <p:nvPr/>
        </p:nvSpPr>
        <p:spPr>
          <a:xfrm>
            <a:off x="548640" y="1463040"/>
            <a:ext cx="3383280" cy="731520"/>
          </a:xfrm>
          <a:prstGeom prst="rect">
            <a:avLst/>
          </a:prstGeom>
          <a:noFill/>
          <a:ln/>
        </p:spPr>
        <p:txBody>
          <a:bodyPr wrap="square" lIns="635" tIns="635" rIns="635" bIns="635" rtlCol="0" anchor="ctr"/>
          <a:lstStyle/>
          <a:p>
            <a:pPr algn="ctr" indent="0" marL="0">
              <a:buNone/>
            </a:pPr>
            <a:r>
              <a:rPr lang="en-US" sz="1500" b="1" dirty="0">
                <a:solidFill>
                  <a:srgbClr val="FFFFFF"/>
                </a:solidFill>
              </a:rPr>
              <a:t>AUTHORIZATION</a:t>
            </a:r>
            <a:endParaRPr lang="en-US" sz="1500" dirty="0"/>
          </a:p>
        </p:txBody>
      </p:sp>
      <p:sp>
        <p:nvSpPr>
          <p:cNvPr id="6" name="box"/>
          <p:cNvSpPr/>
          <p:nvPr/>
        </p:nvSpPr>
        <p:spPr>
          <a:xfrm>
            <a:off x="548640" y="2286000"/>
            <a:ext cx="3383280" cy="1280160"/>
          </a:xfrm>
          <a:prstGeom prst="roundRect">
            <a:avLst>
              <a:gd name="adj" fmla="val 5714"/>
            </a:avLst>
          </a:prstGeom>
          <a:solidFill>
            <a:srgbClr val="EEF2F6"/>
          </a:solidFill>
          <a:ln w="12700">
            <a:solidFill>
              <a:srgbClr val="EEF2F6"/>
            </a:solidFill>
            <a:prstDash val="solid"/>
          </a:ln>
        </p:spPr>
      </p:sp>
      <p:sp>
        <p:nvSpPr>
          <p:cNvPr id="7" name="Text 4"/>
          <p:cNvSpPr txBox="1"/>
          <p:nvPr/>
        </p:nvSpPr>
        <p:spPr>
          <a:xfrm>
            <a:off x="548640" y="2286000"/>
            <a:ext cx="3383280" cy="128016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USER bob · PASS secret</a:t>
            </a:r>
            <a:endParaRPr lang="en-US" sz="1200" dirty="0"/>
          </a:p>
        </p:txBody>
      </p:sp>
      <p:sp>
        <p:nvSpPr>
          <p:cNvPr id="8" name="Shape 5"/>
          <p:cNvSpPr/>
          <p:nvPr/>
        </p:nvSpPr>
        <p:spPr>
          <a:xfrm>
            <a:off x="3931920" y="1828800"/>
            <a:ext cx="457200" cy="914"/>
          </a:xfrm>
          <a:prstGeom prst="line">
            <a:avLst/>
          </a:prstGeom>
          <a:noFill/>
          <a:ln w="31750">
            <a:solidFill>
              <a:srgbClr val="1F3A5F"/>
            </a:solidFill>
            <a:prstDash val="solid"/>
            <a:tailEnd type="triangle"/>
          </a:ln>
        </p:spPr>
      </p:sp>
      <p:sp>
        <p:nvSpPr>
          <p:cNvPr id="9" name="Text 6"/>
          <p:cNvSpPr txBox="1"/>
          <p:nvPr/>
        </p:nvSpPr>
        <p:spPr>
          <a:xfrm>
            <a:off x="3794760" y="1325880"/>
            <a:ext cx="73152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+OK</a:t>
            </a:r>
            <a:endParaRPr lang="en-US" sz="1200" dirty="0"/>
          </a:p>
        </p:txBody>
      </p:sp>
      <p:sp>
        <p:nvSpPr>
          <p:cNvPr id="10" name="box"/>
          <p:cNvSpPr/>
          <p:nvPr/>
        </p:nvSpPr>
        <p:spPr>
          <a:xfrm>
            <a:off x="4389120" y="1463040"/>
            <a:ext cx="3383280" cy="731520"/>
          </a:xfrm>
          <a:prstGeom prst="roundRect">
            <a:avLst>
              <a:gd name="adj" fmla="val 10000"/>
            </a:avLst>
          </a:prstGeom>
          <a:solidFill>
            <a:srgbClr val="2A7F8E"/>
          </a:solidFill>
          <a:ln w="12700">
            <a:solidFill>
              <a:srgbClr val="2A7F8E"/>
            </a:solidFill>
            <a:prstDash val="solid"/>
          </a:ln>
        </p:spPr>
      </p:sp>
      <p:sp>
        <p:nvSpPr>
          <p:cNvPr id="11" name="Text 8"/>
          <p:cNvSpPr txBox="1"/>
          <p:nvPr/>
        </p:nvSpPr>
        <p:spPr>
          <a:xfrm>
            <a:off x="4389120" y="1463040"/>
            <a:ext cx="3383280" cy="731520"/>
          </a:xfrm>
          <a:prstGeom prst="rect">
            <a:avLst/>
          </a:prstGeom>
          <a:noFill/>
          <a:ln/>
        </p:spPr>
        <p:txBody>
          <a:bodyPr wrap="square" lIns="635" tIns="635" rIns="635" bIns="635" rtlCol="0" anchor="ctr"/>
          <a:lstStyle/>
          <a:p>
            <a:pPr algn="ctr" indent="0" marL="0">
              <a:buNone/>
            </a:pPr>
            <a:r>
              <a:rPr lang="en-US" sz="1500" b="1" dirty="0">
                <a:solidFill>
                  <a:srgbClr val="FFFFFF"/>
                </a:solidFill>
              </a:rPr>
              <a:t>TRANSACTION</a:t>
            </a:r>
            <a:endParaRPr lang="en-US" sz="1500" dirty="0"/>
          </a:p>
        </p:txBody>
      </p:sp>
      <p:sp>
        <p:nvSpPr>
          <p:cNvPr id="12" name="box"/>
          <p:cNvSpPr/>
          <p:nvPr/>
        </p:nvSpPr>
        <p:spPr>
          <a:xfrm>
            <a:off x="4389120" y="2286000"/>
            <a:ext cx="3383280" cy="1280160"/>
          </a:xfrm>
          <a:prstGeom prst="roundRect">
            <a:avLst>
              <a:gd name="adj" fmla="val 5714"/>
            </a:avLst>
          </a:prstGeom>
          <a:solidFill>
            <a:srgbClr val="EEF2F6"/>
          </a:solidFill>
          <a:ln w="12700">
            <a:solidFill>
              <a:srgbClr val="EEF2F6"/>
            </a:solidFill>
            <a:prstDash val="solid"/>
          </a:ln>
        </p:spPr>
      </p:sp>
      <p:sp>
        <p:nvSpPr>
          <p:cNvPr id="13" name="Text 10"/>
          <p:cNvSpPr txBox="1"/>
          <p:nvPr/>
        </p:nvSpPr>
        <p:spPr>
          <a:xfrm>
            <a:off x="4389120" y="2286000"/>
            <a:ext cx="3383280" cy="128016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STAT · LIST · UIDL · TOP n k · RETR n · DELE n · RSET · NOOP</a:t>
            </a:r>
            <a:endParaRPr lang="en-US" sz="1200" dirty="0"/>
          </a:p>
        </p:txBody>
      </p:sp>
      <p:sp>
        <p:nvSpPr>
          <p:cNvPr id="14" name="Shape 11"/>
          <p:cNvSpPr/>
          <p:nvPr/>
        </p:nvSpPr>
        <p:spPr>
          <a:xfrm>
            <a:off x="7772400" y="1828800"/>
            <a:ext cx="457200" cy="914"/>
          </a:xfrm>
          <a:prstGeom prst="line">
            <a:avLst/>
          </a:prstGeom>
          <a:noFill/>
          <a:ln w="31750">
            <a:solidFill>
              <a:srgbClr val="1F3A5F"/>
            </a:solidFill>
            <a:prstDash val="solid"/>
            <a:tailEnd type="triangle"/>
          </a:ln>
        </p:spPr>
      </p:sp>
      <p:sp>
        <p:nvSpPr>
          <p:cNvPr id="15" name="Text 12"/>
          <p:cNvSpPr txBox="1"/>
          <p:nvPr/>
        </p:nvSpPr>
        <p:spPr>
          <a:xfrm>
            <a:off x="7635240" y="1325880"/>
            <a:ext cx="73152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QUIT</a:t>
            </a:r>
            <a:endParaRPr lang="en-US" sz="1200" dirty="0"/>
          </a:p>
        </p:txBody>
      </p:sp>
      <p:sp>
        <p:nvSpPr>
          <p:cNvPr id="16" name="box"/>
          <p:cNvSpPr/>
          <p:nvPr/>
        </p:nvSpPr>
        <p:spPr>
          <a:xfrm>
            <a:off x="8229600" y="1463040"/>
            <a:ext cx="3383280" cy="731520"/>
          </a:xfrm>
          <a:prstGeom prst="roundRect">
            <a:avLst>
              <a:gd name="adj" fmla="val 10000"/>
            </a:avLst>
          </a:prstGeom>
          <a:solidFill>
            <a:srgbClr val="B9772A"/>
          </a:solidFill>
          <a:ln w="12700">
            <a:solidFill>
              <a:srgbClr val="B9772A"/>
            </a:solidFill>
            <a:prstDash val="solid"/>
          </a:ln>
        </p:spPr>
      </p:sp>
      <p:sp>
        <p:nvSpPr>
          <p:cNvPr id="17" name="Text 14"/>
          <p:cNvSpPr txBox="1"/>
          <p:nvPr/>
        </p:nvSpPr>
        <p:spPr>
          <a:xfrm>
            <a:off x="8229600" y="1463040"/>
            <a:ext cx="3383280" cy="731520"/>
          </a:xfrm>
          <a:prstGeom prst="rect">
            <a:avLst/>
          </a:prstGeom>
          <a:noFill/>
          <a:ln/>
        </p:spPr>
        <p:txBody>
          <a:bodyPr wrap="square" lIns="635" tIns="635" rIns="635" bIns="635" rtlCol="0" anchor="ctr"/>
          <a:lstStyle/>
          <a:p>
            <a:pPr algn="ctr" indent="0" marL="0">
              <a:buNone/>
            </a:pPr>
            <a:r>
              <a:rPr lang="en-US" sz="1500" b="1" dirty="0">
                <a:solidFill>
                  <a:srgbClr val="FFFFFF"/>
                </a:solidFill>
              </a:rPr>
              <a:t>UPDATE</a:t>
            </a:r>
            <a:endParaRPr lang="en-US" sz="1500" dirty="0"/>
          </a:p>
        </p:txBody>
      </p:sp>
      <p:sp>
        <p:nvSpPr>
          <p:cNvPr id="18" name="box"/>
          <p:cNvSpPr/>
          <p:nvPr/>
        </p:nvSpPr>
        <p:spPr>
          <a:xfrm>
            <a:off x="8229600" y="2286000"/>
            <a:ext cx="3383280" cy="1280160"/>
          </a:xfrm>
          <a:prstGeom prst="roundRect">
            <a:avLst>
              <a:gd name="adj" fmla="val 5714"/>
            </a:avLst>
          </a:prstGeom>
          <a:solidFill>
            <a:srgbClr val="EEF2F6"/>
          </a:solidFill>
          <a:ln w="12700">
            <a:solidFill>
              <a:srgbClr val="EEF2F6"/>
            </a:solidFill>
            <a:prstDash val="solid"/>
          </a:ln>
        </p:spPr>
      </p:sp>
      <p:sp>
        <p:nvSpPr>
          <p:cNvPr id="19" name="Text 16"/>
          <p:cNvSpPr txBox="1"/>
          <p:nvPr/>
        </p:nvSpPr>
        <p:spPr>
          <a:xfrm>
            <a:off x="8229600" y="2286000"/>
            <a:ext cx="3383280" cy="128016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remove the messages marked DELE, close</a:t>
            </a:r>
            <a:endParaRPr lang="en-US" sz="1200" dirty="0"/>
          </a:p>
        </p:txBody>
      </p:sp>
      <p:sp>
        <p:nvSpPr>
          <p:cNvPr id="20" name="code"/>
          <p:cNvSpPr/>
          <p:nvPr/>
        </p:nvSpPr>
        <p:spPr>
          <a:xfrm>
            <a:off x="548640" y="3840480"/>
            <a:ext cx="5394960" cy="1737360"/>
          </a:xfrm>
          <a:prstGeom prst="rect">
            <a:avLst/>
          </a:prstGeom>
          <a:solidFill>
            <a:srgbClr val="1E2A38"/>
          </a:solidFill>
          <a:ln w="12700">
            <a:solidFill>
              <a:srgbClr val="1E2A38"/>
            </a:solidFill>
            <a:prstDash val="solid"/>
          </a:ln>
        </p:spPr>
      </p:sp>
      <p:sp>
        <p:nvSpPr>
          <p:cNvPr id="21" name="Text 18"/>
          <p:cNvSpPr txBox="1"/>
          <p:nvPr/>
        </p:nvSpPr>
        <p:spPr>
          <a:xfrm>
            <a:off x="548640" y="3840480"/>
            <a:ext cx="5394960" cy="1737360"/>
          </a:xfrm>
          <a:prstGeom prst="rect">
            <a:avLst/>
          </a:prstGeom>
          <a:noFill/>
          <a:ln/>
        </p:spPr>
        <p:txBody>
          <a:bodyPr wrap="square" lIns="101600" tIns="101600" rIns="101600" bIns="101600" rtlCol="0" anchor="t"/>
          <a:lstStyle/>
          <a:p>
            <a:pPr algn="l" indent="0" marL="0">
              <a:buNone/>
            </a:pPr>
            <a:r>
              <a:rPr lang="en-US" sz="1200" dirty="0">
                <a:solidFill>
                  <a:srgbClr val="E8EEF4"/>
                </a:solidFill>
                <a:latin typeface="Consolas" pitchFamily="34" charset="0"/>
                <a:ea typeface="Consolas" pitchFamily="34" charset="-122"/>
                <a:cs typeface="Consolas" pitchFamily="34" charset="-120"/>
              </a:rPr>
              <a:t>C: STAT</a:t>
            </a:r>
            <a:endParaRPr lang="en-US" sz="1200" dirty="0"/>
          </a:p>
          <a:p>
            <a:pPr algn="l" indent="0" marL="0">
              <a:buNone/>
            </a:pPr>
            <a:r>
              <a:rPr lang="en-US" sz="1200" dirty="0">
                <a:solidFill>
                  <a:srgbClr val="E8EEF4"/>
                </a:solidFill>
                <a:latin typeface="Consolas" pitchFamily="34" charset="0"/>
                <a:ea typeface="Consolas" pitchFamily="34" charset="-122"/>
                <a:cs typeface="Consolas" pitchFamily="34" charset="-120"/>
              </a:rPr>
              <a:t>S: +OK 2 4510</a:t>
            </a:r>
            <a:endParaRPr lang="en-US" sz="1200" dirty="0"/>
          </a:p>
          <a:p>
            <a:pPr algn="l" indent="0" marL="0">
              <a:buNone/>
            </a:pPr>
            <a:r>
              <a:rPr lang="en-US" sz="1200" dirty="0">
                <a:solidFill>
                  <a:srgbClr val="E8EEF4"/>
                </a:solidFill>
                <a:latin typeface="Consolas" pitchFamily="34" charset="0"/>
                <a:ea typeface="Consolas" pitchFamily="34" charset="-122"/>
                <a:cs typeface="Consolas" pitchFamily="34" charset="-120"/>
              </a:rPr>
              <a:t>C: RETR 1</a:t>
            </a:r>
            <a:endParaRPr lang="en-US" sz="1200" dirty="0"/>
          </a:p>
          <a:p>
            <a:pPr algn="l" indent="0" marL="0">
              <a:buNone/>
            </a:pPr>
            <a:r>
              <a:rPr lang="en-US" sz="1200" dirty="0">
                <a:solidFill>
                  <a:srgbClr val="E8EEF4"/>
                </a:solidFill>
                <a:latin typeface="Consolas" pitchFamily="34" charset="0"/>
                <a:ea typeface="Consolas" pitchFamily="34" charset="-122"/>
                <a:cs typeface="Consolas" pitchFamily="34" charset="-120"/>
              </a:rPr>
              <a:t>S: +OK 1240 octets</a:t>
            </a:r>
            <a:endParaRPr lang="en-US" sz="1200" dirty="0"/>
          </a:p>
          <a:p>
            <a:pPr algn="l" indent="0" marL="0">
              <a:buNone/>
            </a:pPr>
            <a:r>
              <a:rPr lang="en-US" sz="1200" dirty="0">
                <a:solidFill>
                  <a:srgbClr val="E8EEF4"/>
                </a:solidFill>
                <a:latin typeface="Consolas" pitchFamily="34" charset="0"/>
                <a:ea typeface="Consolas" pitchFamily="34" charset="-122"/>
                <a:cs typeface="Consolas" pitchFamily="34" charset="-120"/>
              </a:rPr>
              <a:t>S: … the message …</a:t>
            </a:r>
            <a:endParaRPr lang="en-US" sz="1200" dirty="0"/>
          </a:p>
          <a:p>
            <a:pPr algn="l" indent="0" marL="0">
              <a:buNone/>
            </a:pPr>
            <a:r>
              <a:rPr lang="en-US" sz="1200" dirty="0">
                <a:solidFill>
                  <a:srgbClr val="E8EEF4"/>
                </a:solidFill>
                <a:latin typeface="Consolas" pitchFamily="34" charset="0"/>
                <a:ea typeface="Consolas" pitchFamily="34" charset="-122"/>
                <a:cs typeface="Consolas" pitchFamily="34" charset="-120"/>
              </a:rPr>
              <a:t>S: .</a:t>
            </a:r>
            <a:endParaRPr lang="en-US" sz="1200" dirty="0"/>
          </a:p>
        </p:txBody>
      </p:sp>
      <p:sp>
        <p:nvSpPr>
          <p:cNvPr id="22" name="Shape 19"/>
          <p:cNvSpPr/>
          <p:nvPr/>
        </p:nvSpPr>
        <p:spPr>
          <a:xfrm>
            <a:off x="6217920" y="3904488"/>
            <a:ext cx="384048" cy="384048"/>
          </a:xfrm>
          <a:prstGeom prst="ellipse">
            <a:avLst/>
          </a:prstGeom>
          <a:solidFill>
            <a:srgbClr val="B9772A"/>
          </a:solidFill>
          <a:ln w="12700">
            <a:solidFill>
              <a:srgbClr val="B9772A"/>
            </a:solidFill>
            <a:prstDash val="solid"/>
          </a:ln>
        </p:spPr>
      </p:sp>
      <p:sp>
        <p:nvSpPr>
          <p:cNvPr id="23" name="Text 20"/>
          <p:cNvSpPr txBox="1"/>
          <p:nvPr/>
        </p:nvSpPr>
        <p:spPr>
          <a:xfrm>
            <a:off x="6217920" y="3904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4" name="Text 21"/>
          <p:cNvSpPr txBox="1"/>
          <p:nvPr/>
        </p:nvSpPr>
        <p:spPr>
          <a:xfrm>
            <a:off x="6720840" y="3886200"/>
            <a:ext cx="4892040" cy="7772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Replies: </a:t>
            </a:r>
            <a:r>
              <a:rPr lang="en-US" sz="1200" b="1" dirty="0">
                <a:solidFill>
                  <a:srgbClr val="1B2430"/>
                </a:solidFill>
              </a:rPr>
              <a:t>+OK</a:t>
            </a:r>
            <a:r>
              <a:rPr lang="en-US" sz="1200" dirty="0">
                <a:solidFill>
                  <a:srgbClr val="1B2430"/>
                </a:solidFill>
              </a:rPr>
              <a:t> or </a:t>
            </a:r>
            <a:r>
              <a:rPr lang="en-US" sz="1200" b="1" dirty="0">
                <a:solidFill>
                  <a:srgbClr val="1B2430"/>
                </a:solidFill>
              </a:rPr>
              <a:t>-ERR</a:t>
            </a:r>
            <a:r>
              <a:rPr lang="en-US" sz="1200" dirty="0">
                <a:solidFill>
                  <a:srgbClr val="1B2430"/>
                </a:solidFill>
              </a:rPr>
              <a:t>; RETR ends with a dot (dot-stuffing).</a:t>
            </a:r>
            <a:endParaRPr lang="en-US" sz="1200" dirty="0"/>
          </a:p>
        </p:txBody>
      </p:sp>
      <p:sp>
        <p:nvSpPr>
          <p:cNvPr id="25" name="Shape 22"/>
          <p:cNvSpPr/>
          <p:nvPr/>
        </p:nvSpPr>
        <p:spPr>
          <a:xfrm>
            <a:off x="6217920" y="4773168"/>
            <a:ext cx="384048" cy="384048"/>
          </a:xfrm>
          <a:prstGeom prst="ellipse">
            <a:avLst/>
          </a:prstGeom>
          <a:solidFill>
            <a:srgbClr val="B9772A"/>
          </a:solidFill>
          <a:ln w="12700">
            <a:solidFill>
              <a:srgbClr val="B9772A"/>
            </a:solidFill>
            <a:prstDash val="solid"/>
          </a:ln>
        </p:spPr>
      </p:sp>
      <p:sp>
        <p:nvSpPr>
          <p:cNvPr id="26" name="Text 23"/>
          <p:cNvSpPr txBox="1"/>
          <p:nvPr/>
        </p:nvSpPr>
        <p:spPr>
          <a:xfrm>
            <a:off x="6217920" y="4773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7" name="Text 24"/>
          <p:cNvSpPr txBox="1"/>
          <p:nvPr/>
        </p:nvSpPr>
        <p:spPr>
          <a:xfrm>
            <a:off x="6720840" y="4754880"/>
            <a:ext cx="4892040" cy="8229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Connection lost before QUIT → </a:t>
            </a:r>
            <a:r>
              <a:rPr lang="en-US" sz="1200" b="1" dirty="0">
                <a:solidFill>
                  <a:srgbClr val="1B2430"/>
                </a:solidFill>
              </a:rPr>
              <a:t>nothing deleted</a:t>
            </a:r>
            <a:r>
              <a:rPr lang="en-US" sz="1200" dirty="0">
                <a:solidFill>
                  <a:srgbClr val="1B2430"/>
                </a:solidFill>
              </a:rPr>
              <a:t>.</a:t>
            </a:r>
            <a:endParaRPr lang="en-US" sz="1200" dirty="0"/>
          </a:p>
        </p:txBody>
      </p:sp>
      <p:sp>
        <p:nvSpPr>
          <p:cNvPr id="2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9" name="Text 2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POP3 suits one device that downloads and keeps its mail; it knows no folders and no flags.</a:t>
            </a:r>
            <a:endParaRPr lang="en-US" sz="1400" dirty="0"/>
          </a:p>
        </p:txBody>
      </p:sp>
      <p:sp>
        <p:nvSpPr>
          <p:cNvPr id="30" name="Text 2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POP3 (Post Office Protocol version 3) · UIDL (unique-id listing) · STAT (status) · RETR (retrieve) · RSET (reset)</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 IMAP: the mailbox stays on the server</a:t>
            </a:r>
            <a:endParaRPr lang="en-US" sz="3000" dirty="0"/>
          </a:p>
        </p:txBody>
      </p:sp>
      <p:sp>
        <p:nvSpPr>
          <p:cNvPr id="4" name="box"/>
          <p:cNvSpPr/>
          <p:nvPr/>
        </p:nvSpPr>
        <p:spPr>
          <a:xfrm>
            <a:off x="4023360" y="1325880"/>
            <a:ext cx="4114800" cy="2286000"/>
          </a:xfrm>
          <a:prstGeom prst="roundRect">
            <a:avLst>
              <a:gd name="adj" fmla="val 3200"/>
            </a:avLst>
          </a:prstGeom>
          <a:solidFill>
            <a:srgbClr val="1F3A5F"/>
          </a:solidFill>
          <a:ln w="12700">
            <a:solidFill>
              <a:srgbClr val="1F3A5F"/>
            </a:solidFill>
            <a:prstDash val="solid"/>
          </a:ln>
        </p:spPr>
      </p:sp>
      <p:sp>
        <p:nvSpPr>
          <p:cNvPr id="5" name="Text 2"/>
          <p:cNvSpPr txBox="1"/>
          <p:nvPr/>
        </p:nvSpPr>
        <p:spPr>
          <a:xfrm>
            <a:off x="4023360" y="1325880"/>
            <a:ext cx="4114800" cy="2286000"/>
          </a:xfrm>
          <a:prstGeom prst="rect">
            <a:avLst/>
          </a:prstGeom>
          <a:noFill/>
          <a:ln/>
        </p:spPr>
        <p:txBody>
          <a:bodyPr wrap="square" lIns="635" tIns="635" rIns="635" bIns="635" rtlCol="0" anchor="ctr"/>
          <a:lstStyle/>
          <a:p>
            <a:pPr algn="ctr" indent="0" marL="0">
              <a:spcAft>
                <a:spcPts val="400"/>
              </a:spcAft>
              <a:buNone/>
            </a:pPr>
            <a:r>
              <a:rPr lang="en-US" sz="1300" b="1" dirty="0">
                <a:solidFill>
                  <a:srgbClr val="FFFFFF"/>
                </a:solidFill>
              </a:rPr>
              <a:t>IMAP server</a:t>
            </a:r>
            <a:endParaRPr lang="en-US" sz="1300" dirty="0"/>
          </a:p>
          <a:p>
            <a:pPr algn="ctr" indent="0" marL="0">
              <a:spcAft>
                <a:spcPts val="400"/>
              </a:spcAft>
              <a:buNone/>
            </a:pPr>
            <a:r>
              <a:rPr lang="en-US" sz="1300" dirty="0">
                <a:solidFill>
                  <a:srgbClr val="FFFFFF"/>
                </a:solidFill>
              </a:rPr>
              <a:t>INBOX · Sent · Courses · Archive</a:t>
            </a:r>
            <a:endParaRPr lang="en-US" sz="1300" dirty="0"/>
          </a:p>
          <a:p>
            <a:pPr algn="ctr" indent="0" marL="0">
              <a:spcAft>
                <a:spcPts val="400"/>
              </a:spcAft>
              <a:buNone/>
            </a:pPr>
            <a:r>
              <a:rPr lang="en-US" sz="1300" dirty="0">
                <a:solidFill>
                  <a:srgbClr val="FFFFFF"/>
                </a:solidFill>
              </a:rPr>
              <a:t>flags: \Seen \Answered \Flagged \Deleted</a:t>
            </a:r>
            <a:endParaRPr lang="en-US" sz="1300" dirty="0"/>
          </a:p>
          <a:p>
            <a:pPr algn="ctr" indent="0" marL="0">
              <a:spcAft>
                <a:spcPts val="400"/>
              </a:spcAft>
              <a:buNone/>
            </a:pPr>
            <a:r>
              <a:rPr lang="en-US" sz="1300" dirty="0">
                <a:solidFill>
                  <a:srgbClr val="FFFFFF"/>
                </a:solidFill>
              </a:rPr>
              <a:t>server-side SEARCH</a:t>
            </a:r>
            <a:endParaRPr lang="en-US" sz="1300" dirty="0"/>
          </a:p>
          <a:p>
            <a:pPr algn="ctr" indent="0" marL="0">
              <a:spcAft>
                <a:spcPts val="400"/>
              </a:spcAft>
              <a:buNone/>
            </a:pPr>
            <a:r>
              <a:rPr lang="en-US" sz="1300" dirty="0">
                <a:solidFill>
                  <a:srgbClr val="FFFFFF"/>
                </a:solidFill>
              </a:rPr>
              <a:t>partial FETCH</a:t>
            </a:r>
            <a:endParaRPr lang="en-US" sz="1300" dirty="0"/>
          </a:p>
        </p:txBody>
      </p:sp>
      <p:sp>
        <p:nvSpPr>
          <p:cNvPr id="6" name="box"/>
          <p:cNvSpPr/>
          <p:nvPr/>
        </p:nvSpPr>
        <p:spPr>
          <a:xfrm>
            <a:off x="548640" y="1463040"/>
            <a:ext cx="2194560" cy="731520"/>
          </a:xfrm>
          <a:prstGeom prst="roundRect">
            <a:avLst>
              <a:gd name="adj" fmla="val 10000"/>
            </a:avLst>
          </a:prstGeom>
          <a:solidFill>
            <a:srgbClr val="DDF0F2"/>
          </a:solidFill>
          <a:ln w="12700">
            <a:solidFill>
              <a:srgbClr val="DDF0F2"/>
            </a:solidFill>
            <a:prstDash val="solid"/>
          </a:ln>
        </p:spPr>
      </p:sp>
      <p:sp>
        <p:nvSpPr>
          <p:cNvPr id="7" name="Text 4"/>
          <p:cNvSpPr txBox="1"/>
          <p:nvPr/>
        </p:nvSpPr>
        <p:spPr>
          <a:xfrm>
            <a:off x="548640" y="1463040"/>
            <a:ext cx="2194560" cy="731520"/>
          </a:xfrm>
          <a:prstGeom prst="rect">
            <a:avLst/>
          </a:prstGeom>
          <a:noFill/>
          <a:ln/>
        </p:spPr>
        <p:txBody>
          <a:bodyPr wrap="square" lIns="635" tIns="635" rIns="635" bIns="635" rtlCol="0" anchor="ctr"/>
          <a:lstStyle/>
          <a:p>
            <a:pPr algn="ctr" indent="0" marL="0">
              <a:buNone/>
            </a:pPr>
            <a:r>
              <a:rPr lang="en-US" sz="1400" dirty="0">
                <a:solidFill>
                  <a:srgbClr val="1B2430"/>
                </a:solidFill>
              </a:rPr>
              <a:t>phone</a:t>
            </a:r>
            <a:endParaRPr lang="en-US" sz="1400" dirty="0"/>
          </a:p>
        </p:txBody>
      </p:sp>
      <p:sp>
        <p:nvSpPr>
          <p:cNvPr id="8" name="Shape 5"/>
          <p:cNvSpPr/>
          <p:nvPr/>
        </p:nvSpPr>
        <p:spPr>
          <a:xfrm>
            <a:off x="2743200" y="1828800"/>
            <a:ext cx="1280160" cy="640080"/>
          </a:xfrm>
          <a:prstGeom prst="line">
            <a:avLst/>
          </a:prstGeom>
          <a:noFill/>
          <a:ln w="25400">
            <a:solidFill>
              <a:srgbClr val="2A7F8E"/>
            </a:solidFill>
            <a:prstDash val="solid"/>
            <a:headEnd type="triangle"/>
            <a:tailEnd type="triangle"/>
          </a:ln>
        </p:spPr>
      </p:sp>
      <p:sp>
        <p:nvSpPr>
          <p:cNvPr id="9" name="box"/>
          <p:cNvSpPr/>
          <p:nvPr/>
        </p:nvSpPr>
        <p:spPr>
          <a:xfrm>
            <a:off x="548640" y="2743200"/>
            <a:ext cx="2194560" cy="731520"/>
          </a:xfrm>
          <a:prstGeom prst="roundRect">
            <a:avLst>
              <a:gd name="adj" fmla="val 10000"/>
            </a:avLst>
          </a:prstGeom>
          <a:solidFill>
            <a:srgbClr val="DDF0F2"/>
          </a:solidFill>
          <a:ln w="12700">
            <a:solidFill>
              <a:srgbClr val="DDF0F2"/>
            </a:solidFill>
            <a:prstDash val="solid"/>
          </a:ln>
        </p:spPr>
      </p:sp>
      <p:sp>
        <p:nvSpPr>
          <p:cNvPr id="10" name="Text 7"/>
          <p:cNvSpPr txBox="1"/>
          <p:nvPr/>
        </p:nvSpPr>
        <p:spPr>
          <a:xfrm>
            <a:off x="548640" y="2743200"/>
            <a:ext cx="2194560" cy="731520"/>
          </a:xfrm>
          <a:prstGeom prst="rect">
            <a:avLst/>
          </a:prstGeom>
          <a:noFill/>
          <a:ln/>
        </p:spPr>
        <p:txBody>
          <a:bodyPr wrap="square" lIns="635" tIns="635" rIns="635" bIns="635" rtlCol="0" anchor="ctr"/>
          <a:lstStyle/>
          <a:p>
            <a:pPr algn="ctr" indent="0" marL="0">
              <a:buNone/>
            </a:pPr>
            <a:r>
              <a:rPr lang="en-US" sz="1400" dirty="0">
                <a:solidFill>
                  <a:srgbClr val="1B2430"/>
                </a:solidFill>
              </a:rPr>
              <a:t>laptop</a:t>
            </a:r>
            <a:endParaRPr lang="en-US" sz="1400" dirty="0"/>
          </a:p>
        </p:txBody>
      </p:sp>
      <p:sp>
        <p:nvSpPr>
          <p:cNvPr id="11" name="Shape 8"/>
          <p:cNvSpPr/>
          <p:nvPr/>
        </p:nvSpPr>
        <p:spPr>
          <a:xfrm flipV="1">
            <a:off x="2743200" y="2468880"/>
            <a:ext cx="1280160" cy="640080"/>
          </a:xfrm>
          <a:prstGeom prst="line">
            <a:avLst/>
          </a:prstGeom>
          <a:noFill/>
          <a:ln w="25400">
            <a:solidFill>
              <a:srgbClr val="2A7F8E"/>
            </a:solidFill>
            <a:prstDash val="solid"/>
            <a:headEnd type="triangle"/>
            <a:tailEnd type="triangle"/>
          </a:ln>
        </p:spPr>
      </p:sp>
      <p:sp>
        <p:nvSpPr>
          <p:cNvPr id="12" name="box"/>
          <p:cNvSpPr/>
          <p:nvPr/>
        </p:nvSpPr>
        <p:spPr>
          <a:xfrm>
            <a:off x="9418320" y="2103120"/>
            <a:ext cx="2194560" cy="731520"/>
          </a:xfrm>
          <a:prstGeom prst="roundRect">
            <a:avLst>
              <a:gd name="adj" fmla="val 10000"/>
            </a:avLst>
          </a:prstGeom>
          <a:solidFill>
            <a:srgbClr val="DDF0F2"/>
          </a:solidFill>
          <a:ln w="12700">
            <a:solidFill>
              <a:srgbClr val="DDF0F2"/>
            </a:solidFill>
            <a:prstDash val="solid"/>
          </a:ln>
        </p:spPr>
      </p:sp>
      <p:sp>
        <p:nvSpPr>
          <p:cNvPr id="13" name="Text 10"/>
          <p:cNvSpPr txBox="1"/>
          <p:nvPr/>
        </p:nvSpPr>
        <p:spPr>
          <a:xfrm>
            <a:off x="9418320" y="2103120"/>
            <a:ext cx="2194560" cy="731520"/>
          </a:xfrm>
          <a:prstGeom prst="rect">
            <a:avLst/>
          </a:prstGeom>
          <a:noFill/>
          <a:ln/>
        </p:spPr>
        <p:txBody>
          <a:bodyPr wrap="square" lIns="635" tIns="635" rIns="635" bIns="635" rtlCol="0" anchor="ctr"/>
          <a:lstStyle/>
          <a:p>
            <a:pPr algn="ctr" indent="0" marL="0">
              <a:buNone/>
            </a:pPr>
            <a:r>
              <a:rPr lang="en-US" sz="1400" dirty="0">
                <a:solidFill>
                  <a:srgbClr val="1B2430"/>
                </a:solidFill>
              </a:rPr>
              <a:t>webmail</a:t>
            </a:r>
            <a:endParaRPr lang="en-US" sz="1400" dirty="0"/>
          </a:p>
        </p:txBody>
      </p:sp>
      <p:sp>
        <p:nvSpPr>
          <p:cNvPr id="14" name="Shape 11"/>
          <p:cNvSpPr/>
          <p:nvPr/>
        </p:nvSpPr>
        <p:spPr>
          <a:xfrm flipH="1">
            <a:off x="8138160" y="2468880"/>
            <a:ext cx="1280160" cy="914"/>
          </a:xfrm>
          <a:prstGeom prst="line">
            <a:avLst/>
          </a:prstGeom>
          <a:noFill/>
          <a:ln w="25400">
            <a:solidFill>
              <a:srgbClr val="2A7F8E"/>
            </a:solidFill>
            <a:prstDash val="solid"/>
            <a:headEnd type="triangle"/>
            <a:tailEnd type="triangle"/>
          </a:ln>
        </p:spPr>
      </p:sp>
      <p:sp>
        <p:nvSpPr>
          <p:cNvPr id="15" name="Shape 12"/>
          <p:cNvSpPr/>
          <p:nvPr/>
        </p:nvSpPr>
        <p:spPr>
          <a:xfrm>
            <a:off x="548640" y="3950208"/>
            <a:ext cx="384048" cy="384048"/>
          </a:xfrm>
          <a:prstGeom prst="ellipse">
            <a:avLst/>
          </a:prstGeom>
          <a:solidFill>
            <a:srgbClr val="B9772A"/>
          </a:solidFill>
          <a:ln w="12700">
            <a:solidFill>
              <a:srgbClr val="B9772A"/>
            </a:solidFill>
            <a:prstDash val="solid"/>
          </a:ln>
        </p:spPr>
      </p:sp>
      <p:sp>
        <p:nvSpPr>
          <p:cNvPr id="16" name="Text 13"/>
          <p:cNvSpPr txBox="1"/>
          <p:nvPr/>
        </p:nvSpPr>
        <p:spPr>
          <a:xfrm>
            <a:off x="548640"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7" name="Text 14"/>
          <p:cNvSpPr txBox="1"/>
          <p:nvPr/>
        </p:nvSpPr>
        <p:spPr>
          <a:xfrm>
            <a:off x="1051560" y="3931920"/>
            <a:ext cx="4983480" cy="7772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Read on the phone → \Seen on the laptop too.</a:t>
            </a:r>
            <a:endParaRPr lang="en-US" sz="1300" dirty="0"/>
          </a:p>
        </p:txBody>
      </p:sp>
      <p:sp>
        <p:nvSpPr>
          <p:cNvPr id="18" name="Shape 15"/>
          <p:cNvSpPr/>
          <p:nvPr/>
        </p:nvSpPr>
        <p:spPr>
          <a:xfrm>
            <a:off x="6217920" y="3950208"/>
            <a:ext cx="384048" cy="384048"/>
          </a:xfrm>
          <a:prstGeom prst="ellipse">
            <a:avLst/>
          </a:prstGeom>
          <a:solidFill>
            <a:srgbClr val="B9772A"/>
          </a:solidFill>
          <a:ln w="12700">
            <a:solidFill>
              <a:srgbClr val="B9772A"/>
            </a:solidFill>
            <a:prstDash val="solid"/>
          </a:ln>
        </p:spPr>
      </p:sp>
      <p:sp>
        <p:nvSpPr>
          <p:cNvPr id="19" name="Text 16"/>
          <p:cNvSpPr txBox="1"/>
          <p:nvPr/>
        </p:nvSpPr>
        <p:spPr>
          <a:xfrm>
            <a:off x="6217920"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0" name="Text 17"/>
          <p:cNvSpPr txBox="1"/>
          <p:nvPr/>
        </p:nvSpPr>
        <p:spPr>
          <a:xfrm>
            <a:off x="6720840" y="3931920"/>
            <a:ext cx="4892040" cy="7772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Fetch only headers, or one part of one message.</a:t>
            </a:r>
            <a:endParaRPr lang="en-US" sz="1300" dirty="0"/>
          </a:p>
        </p:txBody>
      </p:sp>
      <p:sp>
        <p:nvSpPr>
          <p:cNvPr id="21" name="Shape 18"/>
          <p:cNvSpPr/>
          <p:nvPr/>
        </p:nvSpPr>
        <p:spPr>
          <a:xfrm>
            <a:off x="548640" y="4773168"/>
            <a:ext cx="384048" cy="384048"/>
          </a:xfrm>
          <a:prstGeom prst="ellipse">
            <a:avLst/>
          </a:prstGeom>
          <a:solidFill>
            <a:srgbClr val="B9772A"/>
          </a:solidFill>
          <a:ln w="12700">
            <a:solidFill>
              <a:srgbClr val="B9772A"/>
            </a:solidFill>
            <a:prstDash val="solid"/>
          </a:ln>
        </p:spPr>
      </p:sp>
      <p:sp>
        <p:nvSpPr>
          <p:cNvPr id="22" name="Text 19"/>
          <p:cNvSpPr txBox="1"/>
          <p:nvPr/>
        </p:nvSpPr>
        <p:spPr>
          <a:xfrm>
            <a:off x="548640" y="4773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3" name="Text 20"/>
          <p:cNvSpPr txBox="1"/>
          <p:nvPr/>
        </p:nvSpPr>
        <p:spPr>
          <a:xfrm>
            <a:off x="1051560" y="4754880"/>
            <a:ext cx="10561320" cy="7772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IDLE (RFC 2177): the server announces new mail at once instead of being polled.</a:t>
            </a:r>
            <a:endParaRPr lang="en-US" sz="1300" dirty="0"/>
          </a:p>
        </p:txBody>
      </p:sp>
      <p:sp>
        <p:nvSpPr>
          <p:cNvPr id="2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5" name="Text 2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IMAP is a remote mailbox; POP3 is a download service.</a:t>
            </a:r>
            <a:endParaRPr lang="en-US" sz="1400" dirty="0"/>
          </a:p>
        </p:txBody>
      </p:sp>
      <p:sp>
        <p:nvSpPr>
          <p:cNvPr id="26" name="Text 23"/>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POP3 (Post Office Protocol version 3) · IMAP (Internet Message Access Protocol) · RFC (Request for Comments)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 Reading an IMAP exchange: tags and literals</a:t>
            </a:r>
            <a:endParaRPr lang="en-US" sz="3000" dirty="0"/>
          </a:p>
        </p:txBody>
      </p:sp>
      <p:sp>
        <p:nvSpPr>
          <p:cNvPr id="4" name="code"/>
          <p:cNvSpPr/>
          <p:nvPr/>
        </p:nvSpPr>
        <p:spPr>
          <a:xfrm>
            <a:off x="548640" y="1280160"/>
            <a:ext cx="7406640" cy="4343400"/>
          </a:xfrm>
          <a:prstGeom prst="rect">
            <a:avLst/>
          </a:prstGeom>
          <a:solidFill>
            <a:srgbClr val="1E2A38"/>
          </a:solidFill>
          <a:ln w="12700">
            <a:solidFill>
              <a:srgbClr val="1E2A38"/>
            </a:solidFill>
            <a:prstDash val="solid"/>
          </a:ln>
        </p:spPr>
      </p:sp>
      <p:sp>
        <p:nvSpPr>
          <p:cNvPr id="5" name="Text 2"/>
          <p:cNvSpPr txBox="1"/>
          <p:nvPr/>
        </p:nvSpPr>
        <p:spPr>
          <a:xfrm>
            <a:off x="548640" y="1280160"/>
            <a:ext cx="7406640" cy="4343400"/>
          </a:xfrm>
          <a:prstGeom prst="rect">
            <a:avLst/>
          </a:prstGeom>
          <a:noFill/>
          <a:ln/>
        </p:spPr>
        <p:txBody>
          <a:bodyPr wrap="square" lIns="101600" tIns="101600" rIns="101600" bIns="101600" rtlCol="0" anchor="t"/>
          <a:lstStyle/>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 a1 LOGIN bob secret</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a1 OK LOGIN completed</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 a2 SELECT INBOX</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 3 EXISTS</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 1 RECENT</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a2 OK [READ-WRITE] SELECT completed</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 a3 FETCH 3 (FLAGS BODY.PEEK[HEADER.FIELDS (FROM SUBJECT)])</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 3 FETCH (FLAGS () BODY[HEADER.FIELDS …] {52}</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From: Alice &lt;alice@uni.ro&gt;</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Subject: Lab 5</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a3 OK FETCH completed</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 a4 STORE 3 +FLAGS (\Seen)</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 a5 LOGOUT</a:t>
            </a:r>
            <a:endParaRPr lang="en-US" sz="1100" dirty="0"/>
          </a:p>
        </p:txBody>
      </p:sp>
      <p:sp>
        <p:nvSpPr>
          <p:cNvPr id="6" name="box"/>
          <p:cNvSpPr/>
          <p:nvPr/>
        </p:nvSpPr>
        <p:spPr>
          <a:xfrm>
            <a:off x="8229600" y="1325880"/>
            <a:ext cx="3383280" cy="411480"/>
          </a:xfrm>
          <a:prstGeom prst="roundRect">
            <a:avLst>
              <a:gd name="adj" fmla="val 17778"/>
            </a:avLst>
          </a:prstGeom>
          <a:solidFill>
            <a:srgbClr val="1F3A5F"/>
          </a:solidFill>
          <a:ln w="12700">
            <a:solidFill>
              <a:srgbClr val="1F3A5F"/>
            </a:solidFill>
            <a:prstDash val="solid"/>
          </a:ln>
        </p:spPr>
      </p:sp>
      <p:sp>
        <p:nvSpPr>
          <p:cNvPr id="7" name="Text 4"/>
          <p:cNvSpPr txBox="1"/>
          <p:nvPr/>
        </p:nvSpPr>
        <p:spPr>
          <a:xfrm>
            <a:off x="8229600" y="1325880"/>
            <a:ext cx="3383280" cy="41148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a1 … a5</a:t>
            </a:r>
            <a:endParaRPr lang="en-US" sz="1200" dirty="0"/>
          </a:p>
        </p:txBody>
      </p:sp>
      <p:sp>
        <p:nvSpPr>
          <p:cNvPr id="8" name="Text 5"/>
          <p:cNvSpPr txBox="1"/>
          <p:nvPr/>
        </p:nvSpPr>
        <p:spPr>
          <a:xfrm>
            <a:off x="8229600" y="1783080"/>
            <a:ext cx="3383280" cy="59436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tags: several commands may be outstanding</a:t>
            </a:r>
            <a:endParaRPr lang="en-US" sz="1100" dirty="0"/>
          </a:p>
        </p:txBody>
      </p:sp>
      <p:sp>
        <p:nvSpPr>
          <p:cNvPr id="9" name="box"/>
          <p:cNvSpPr/>
          <p:nvPr/>
        </p:nvSpPr>
        <p:spPr>
          <a:xfrm>
            <a:off x="8229600" y="2404872"/>
            <a:ext cx="3383280" cy="411480"/>
          </a:xfrm>
          <a:prstGeom prst="roundRect">
            <a:avLst>
              <a:gd name="adj" fmla="val 17778"/>
            </a:avLst>
          </a:prstGeom>
          <a:solidFill>
            <a:srgbClr val="2A7F8E"/>
          </a:solidFill>
          <a:ln w="12700">
            <a:solidFill>
              <a:srgbClr val="2A7F8E"/>
            </a:solidFill>
            <a:prstDash val="solid"/>
          </a:ln>
        </p:spPr>
      </p:sp>
      <p:sp>
        <p:nvSpPr>
          <p:cNvPr id="10" name="Text 7"/>
          <p:cNvSpPr txBox="1"/>
          <p:nvPr/>
        </p:nvSpPr>
        <p:spPr>
          <a:xfrm>
            <a:off x="8229600" y="2404872"/>
            <a:ext cx="3383280" cy="41148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S: * 3 EXISTS</a:t>
            </a:r>
            <a:endParaRPr lang="en-US" sz="1200" dirty="0"/>
          </a:p>
        </p:txBody>
      </p:sp>
      <p:sp>
        <p:nvSpPr>
          <p:cNvPr id="11" name="Text 8"/>
          <p:cNvSpPr txBox="1"/>
          <p:nvPr/>
        </p:nvSpPr>
        <p:spPr>
          <a:xfrm>
            <a:off x="8229600" y="2862072"/>
            <a:ext cx="3383280" cy="59436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untagged data lines</a:t>
            </a:r>
            <a:endParaRPr lang="en-US" sz="1100" dirty="0"/>
          </a:p>
        </p:txBody>
      </p:sp>
      <p:sp>
        <p:nvSpPr>
          <p:cNvPr id="12" name="box"/>
          <p:cNvSpPr/>
          <p:nvPr/>
        </p:nvSpPr>
        <p:spPr>
          <a:xfrm>
            <a:off x="8229600" y="3483864"/>
            <a:ext cx="3383280" cy="411480"/>
          </a:xfrm>
          <a:prstGeom prst="roundRect">
            <a:avLst>
              <a:gd name="adj" fmla="val 17778"/>
            </a:avLst>
          </a:prstGeom>
          <a:solidFill>
            <a:srgbClr val="B9772A"/>
          </a:solidFill>
          <a:ln w="12700">
            <a:solidFill>
              <a:srgbClr val="B9772A"/>
            </a:solidFill>
            <a:prstDash val="solid"/>
          </a:ln>
        </p:spPr>
      </p:sp>
      <p:sp>
        <p:nvSpPr>
          <p:cNvPr id="13" name="Text 10"/>
          <p:cNvSpPr txBox="1"/>
          <p:nvPr/>
        </p:nvSpPr>
        <p:spPr>
          <a:xfrm>
            <a:off x="8229600" y="3483864"/>
            <a:ext cx="3383280" cy="41148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{52}</a:t>
            </a:r>
            <a:endParaRPr lang="en-US" sz="1200" dirty="0"/>
          </a:p>
        </p:txBody>
      </p:sp>
      <p:sp>
        <p:nvSpPr>
          <p:cNvPr id="14" name="Text 11"/>
          <p:cNvSpPr txBox="1"/>
          <p:nvPr/>
        </p:nvSpPr>
        <p:spPr>
          <a:xfrm>
            <a:off x="8229600" y="3941064"/>
            <a:ext cx="3383280" cy="59436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52 bytes of literal data follow — a length prefix inside a text protocol</a:t>
            </a:r>
            <a:endParaRPr lang="en-US" sz="1100" dirty="0"/>
          </a:p>
        </p:txBody>
      </p:sp>
      <p:sp>
        <p:nvSpPr>
          <p:cNvPr id="15" name="box"/>
          <p:cNvSpPr/>
          <p:nvPr/>
        </p:nvSpPr>
        <p:spPr>
          <a:xfrm>
            <a:off x="8229600" y="4562856"/>
            <a:ext cx="3383280" cy="411480"/>
          </a:xfrm>
          <a:prstGeom prst="roundRect">
            <a:avLst>
              <a:gd name="adj" fmla="val 17778"/>
            </a:avLst>
          </a:prstGeom>
          <a:solidFill>
            <a:srgbClr val="2E7D4F"/>
          </a:solidFill>
          <a:ln w="12700">
            <a:solidFill>
              <a:srgbClr val="2E7D4F"/>
            </a:solidFill>
            <a:prstDash val="solid"/>
          </a:ln>
        </p:spPr>
      </p:sp>
      <p:sp>
        <p:nvSpPr>
          <p:cNvPr id="16" name="Text 13"/>
          <p:cNvSpPr txBox="1"/>
          <p:nvPr/>
        </p:nvSpPr>
        <p:spPr>
          <a:xfrm>
            <a:off x="8229600" y="4562856"/>
            <a:ext cx="3383280" cy="41148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BODY.PEEK</a:t>
            </a:r>
            <a:endParaRPr lang="en-US" sz="1200" dirty="0"/>
          </a:p>
        </p:txBody>
      </p:sp>
      <p:sp>
        <p:nvSpPr>
          <p:cNvPr id="17" name="Text 14"/>
          <p:cNvSpPr txBox="1"/>
          <p:nvPr/>
        </p:nvSpPr>
        <p:spPr>
          <a:xfrm>
            <a:off x="8229600" y="5020056"/>
            <a:ext cx="3383280" cy="59436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fetch without setting \Seen</a:t>
            </a:r>
            <a:endParaRPr lang="en-US" sz="1100" dirty="0"/>
          </a:p>
        </p:txBody>
      </p:sp>
      <p:sp>
        <p:nvSpPr>
          <p:cNvPr id="1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9" name="Text 1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Tags match replies to commands; literals carry exact byte counts — two framing tools in one protocol.</a:t>
            </a:r>
            <a:endParaRPr lang="en-US" sz="1400" dirty="0"/>
          </a:p>
        </p:txBody>
      </p:sp>
      <p:sp>
        <p:nvSpPr>
          <p:cNvPr id="20" name="Text 1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IMAP (Internet Message Access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 POP3 or IMAP?</a:t>
            </a:r>
            <a:endParaRPr lang="en-US" sz="3000" dirty="0"/>
          </a:p>
        </p:txBody>
      </p:sp>
      <p:sp>
        <p:nvSpPr>
          <p:cNvPr id="4" name="box"/>
          <p:cNvSpPr/>
          <p:nvPr/>
        </p:nvSpPr>
        <p:spPr>
          <a:xfrm>
            <a:off x="548640" y="1325880"/>
            <a:ext cx="2880360" cy="411480"/>
          </a:xfrm>
          <a:prstGeom prst="rect">
            <a:avLst/>
          </a:prstGeom>
          <a:solidFill>
            <a:srgbClr val="1F3A5F"/>
          </a:solidFill>
          <a:ln w="12700">
            <a:solidFill>
              <a:srgbClr val="1F3A5F"/>
            </a:solidFill>
            <a:prstDash val="solid"/>
          </a:ln>
        </p:spPr>
      </p:sp>
      <p:sp>
        <p:nvSpPr>
          <p:cNvPr id="5" name="Text 2"/>
          <p:cNvSpPr txBox="1"/>
          <p:nvPr/>
        </p:nvSpPr>
        <p:spPr>
          <a:xfrm>
            <a:off x="548640" y="1325880"/>
            <a:ext cx="2880360" cy="411480"/>
          </a:xfrm>
          <a:prstGeom prst="rect">
            <a:avLst/>
          </a:prstGeom>
          <a:noFill/>
          <a:ln/>
        </p:spPr>
        <p:txBody>
          <a:bodyPr wrap="square" lIns="635" tIns="635" rIns="635" bIns="635" rtlCol="0" anchor="ctr"/>
          <a:lstStyle/>
          <a:p>
            <a:pPr algn="ctr" indent="0" marL="0">
              <a:buNone/>
            </a:pPr>
            <a:endParaRPr lang="en-US" sz="1300" dirty="0"/>
          </a:p>
        </p:txBody>
      </p:sp>
      <p:sp>
        <p:nvSpPr>
          <p:cNvPr id="6" name="box"/>
          <p:cNvSpPr/>
          <p:nvPr/>
        </p:nvSpPr>
        <p:spPr>
          <a:xfrm>
            <a:off x="3474720" y="1325880"/>
            <a:ext cx="4023360" cy="411480"/>
          </a:xfrm>
          <a:prstGeom prst="rect">
            <a:avLst/>
          </a:prstGeom>
          <a:solidFill>
            <a:srgbClr val="1F3A5F"/>
          </a:solidFill>
          <a:ln w="12700">
            <a:solidFill>
              <a:srgbClr val="1F3A5F"/>
            </a:solidFill>
            <a:prstDash val="solid"/>
          </a:ln>
        </p:spPr>
      </p:sp>
      <p:sp>
        <p:nvSpPr>
          <p:cNvPr id="7" name="Text 4"/>
          <p:cNvSpPr txBox="1"/>
          <p:nvPr/>
        </p:nvSpPr>
        <p:spPr>
          <a:xfrm>
            <a:off x="3474720" y="1325880"/>
            <a:ext cx="402336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POP3</a:t>
            </a:r>
            <a:endParaRPr lang="en-US" sz="1300" dirty="0"/>
          </a:p>
        </p:txBody>
      </p:sp>
      <p:sp>
        <p:nvSpPr>
          <p:cNvPr id="8" name="box"/>
          <p:cNvSpPr/>
          <p:nvPr/>
        </p:nvSpPr>
        <p:spPr>
          <a:xfrm>
            <a:off x="7543800" y="1325880"/>
            <a:ext cx="4023360" cy="411480"/>
          </a:xfrm>
          <a:prstGeom prst="rect">
            <a:avLst/>
          </a:prstGeom>
          <a:solidFill>
            <a:srgbClr val="1F3A5F"/>
          </a:solidFill>
          <a:ln w="12700">
            <a:solidFill>
              <a:srgbClr val="1F3A5F"/>
            </a:solidFill>
            <a:prstDash val="solid"/>
          </a:ln>
        </p:spPr>
      </p:sp>
      <p:sp>
        <p:nvSpPr>
          <p:cNvPr id="9" name="Text 6"/>
          <p:cNvSpPr txBox="1"/>
          <p:nvPr/>
        </p:nvSpPr>
        <p:spPr>
          <a:xfrm>
            <a:off x="7543800" y="1325880"/>
            <a:ext cx="402336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IMAP</a:t>
            </a:r>
            <a:endParaRPr lang="en-US" sz="1300" dirty="0"/>
          </a:p>
        </p:txBody>
      </p:sp>
      <p:sp>
        <p:nvSpPr>
          <p:cNvPr id="10" name="box"/>
          <p:cNvSpPr/>
          <p:nvPr/>
        </p:nvSpPr>
        <p:spPr>
          <a:xfrm>
            <a:off x="548640" y="1783080"/>
            <a:ext cx="2880360" cy="530352"/>
          </a:xfrm>
          <a:prstGeom prst="rect">
            <a:avLst/>
          </a:prstGeom>
          <a:solidFill>
            <a:srgbClr val="EEF2F6"/>
          </a:solidFill>
          <a:ln w="12700">
            <a:solidFill>
              <a:srgbClr val="EEF2F6"/>
            </a:solidFill>
            <a:prstDash val="solid"/>
          </a:ln>
        </p:spPr>
      </p:sp>
      <p:sp>
        <p:nvSpPr>
          <p:cNvPr id="11" name="Text 8"/>
          <p:cNvSpPr txBox="1"/>
          <p:nvPr/>
        </p:nvSpPr>
        <p:spPr>
          <a:xfrm>
            <a:off x="548640" y="1783080"/>
            <a:ext cx="2880360" cy="530352"/>
          </a:xfrm>
          <a:prstGeom prst="rect">
            <a:avLst/>
          </a:prstGeom>
          <a:noFill/>
          <a:ln/>
        </p:spPr>
        <p:txBody>
          <a:bodyPr wrap="square" lIns="1270" tIns="1270" rIns="1270" bIns="1270" rtlCol="0" anchor="ctr"/>
          <a:lstStyle/>
          <a:p>
            <a:pPr algn="ctr" indent="0" marL="0">
              <a:buNone/>
            </a:pPr>
            <a:r>
              <a:rPr lang="en-US" sz="1300" dirty="0">
                <a:solidFill>
                  <a:srgbClr val="1B2430"/>
                </a:solidFill>
              </a:rPr>
              <a:t>Mail lives</a:t>
            </a:r>
            <a:endParaRPr lang="en-US" sz="1300" dirty="0"/>
          </a:p>
        </p:txBody>
      </p:sp>
      <p:sp>
        <p:nvSpPr>
          <p:cNvPr id="12" name="box"/>
          <p:cNvSpPr/>
          <p:nvPr/>
        </p:nvSpPr>
        <p:spPr>
          <a:xfrm>
            <a:off x="3474720" y="1783080"/>
            <a:ext cx="4023360" cy="530352"/>
          </a:xfrm>
          <a:prstGeom prst="rect">
            <a:avLst/>
          </a:prstGeom>
          <a:solidFill>
            <a:srgbClr val="F7F9FB"/>
          </a:solidFill>
          <a:ln w="12700">
            <a:solidFill>
              <a:srgbClr val="F7F9FB"/>
            </a:solidFill>
            <a:prstDash val="solid"/>
          </a:ln>
        </p:spPr>
      </p:sp>
      <p:sp>
        <p:nvSpPr>
          <p:cNvPr id="13" name="Text 10"/>
          <p:cNvSpPr txBox="1"/>
          <p:nvPr/>
        </p:nvSpPr>
        <p:spPr>
          <a:xfrm>
            <a:off x="3474720" y="1783080"/>
            <a:ext cx="4023360" cy="530352"/>
          </a:xfrm>
          <a:prstGeom prst="rect">
            <a:avLst/>
          </a:prstGeom>
          <a:noFill/>
          <a:ln/>
        </p:spPr>
        <p:txBody>
          <a:bodyPr wrap="square" lIns="1270" tIns="1270" rIns="1270" bIns="1270" rtlCol="0" anchor="ctr"/>
          <a:lstStyle/>
          <a:p>
            <a:pPr algn="l" indent="0" marL="0">
              <a:buNone/>
            </a:pPr>
            <a:r>
              <a:rPr lang="en-US" sz="1300" dirty="0">
                <a:solidFill>
                  <a:srgbClr val="1B2430"/>
                </a:solidFill>
              </a:rPr>
              <a:t>on the device (download)</a:t>
            </a:r>
            <a:endParaRPr lang="en-US" sz="1300" dirty="0"/>
          </a:p>
        </p:txBody>
      </p:sp>
      <p:sp>
        <p:nvSpPr>
          <p:cNvPr id="14" name="box"/>
          <p:cNvSpPr/>
          <p:nvPr/>
        </p:nvSpPr>
        <p:spPr>
          <a:xfrm>
            <a:off x="7543800" y="1783080"/>
            <a:ext cx="4023360" cy="530352"/>
          </a:xfrm>
          <a:prstGeom prst="rect">
            <a:avLst/>
          </a:prstGeom>
          <a:solidFill>
            <a:srgbClr val="D7EBDD"/>
          </a:solidFill>
          <a:ln w="12700">
            <a:solidFill>
              <a:srgbClr val="D7EBDD"/>
            </a:solidFill>
            <a:prstDash val="solid"/>
          </a:ln>
        </p:spPr>
      </p:sp>
      <p:sp>
        <p:nvSpPr>
          <p:cNvPr id="15" name="Text 12"/>
          <p:cNvSpPr txBox="1"/>
          <p:nvPr/>
        </p:nvSpPr>
        <p:spPr>
          <a:xfrm>
            <a:off x="7543800" y="1783080"/>
            <a:ext cx="4023360" cy="530352"/>
          </a:xfrm>
          <a:prstGeom prst="rect">
            <a:avLst/>
          </a:prstGeom>
          <a:noFill/>
          <a:ln/>
        </p:spPr>
        <p:txBody>
          <a:bodyPr wrap="square" lIns="1270" tIns="1270" rIns="1270" bIns="1270" rtlCol="0" anchor="ctr"/>
          <a:lstStyle/>
          <a:p>
            <a:pPr algn="l" indent="0" marL="0">
              <a:buNone/>
            </a:pPr>
            <a:r>
              <a:rPr lang="en-US" sz="1300" dirty="0">
                <a:solidFill>
                  <a:srgbClr val="1B2430"/>
                </a:solidFill>
              </a:rPr>
              <a:t>on the server</a:t>
            </a:r>
            <a:endParaRPr lang="en-US" sz="1300" dirty="0"/>
          </a:p>
        </p:txBody>
      </p:sp>
      <p:sp>
        <p:nvSpPr>
          <p:cNvPr id="16" name="box"/>
          <p:cNvSpPr/>
          <p:nvPr/>
        </p:nvSpPr>
        <p:spPr>
          <a:xfrm>
            <a:off x="548640" y="2359152"/>
            <a:ext cx="2880360" cy="530352"/>
          </a:xfrm>
          <a:prstGeom prst="rect">
            <a:avLst/>
          </a:prstGeom>
          <a:solidFill>
            <a:srgbClr val="EEF2F6"/>
          </a:solidFill>
          <a:ln w="12700">
            <a:solidFill>
              <a:srgbClr val="EEF2F6"/>
            </a:solidFill>
            <a:prstDash val="solid"/>
          </a:ln>
        </p:spPr>
      </p:sp>
      <p:sp>
        <p:nvSpPr>
          <p:cNvPr id="17" name="Text 14"/>
          <p:cNvSpPr txBox="1"/>
          <p:nvPr/>
        </p:nvSpPr>
        <p:spPr>
          <a:xfrm>
            <a:off x="548640" y="2359152"/>
            <a:ext cx="2880360" cy="530352"/>
          </a:xfrm>
          <a:prstGeom prst="rect">
            <a:avLst/>
          </a:prstGeom>
          <a:noFill/>
          <a:ln/>
        </p:spPr>
        <p:txBody>
          <a:bodyPr wrap="square" lIns="1270" tIns="1270" rIns="1270" bIns="1270" rtlCol="0" anchor="ctr"/>
          <a:lstStyle/>
          <a:p>
            <a:pPr algn="ctr" indent="0" marL="0">
              <a:buNone/>
            </a:pPr>
            <a:r>
              <a:rPr lang="en-US" sz="1300" dirty="0">
                <a:solidFill>
                  <a:srgbClr val="1B2430"/>
                </a:solidFill>
              </a:rPr>
              <a:t>Folders · flags</a:t>
            </a:r>
            <a:endParaRPr lang="en-US" sz="1300" dirty="0"/>
          </a:p>
        </p:txBody>
      </p:sp>
      <p:sp>
        <p:nvSpPr>
          <p:cNvPr id="18" name="box"/>
          <p:cNvSpPr/>
          <p:nvPr/>
        </p:nvSpPr>
        <p:spPr>
          <a:xfrm>
            <a:off x="3474720" y="2359152"/>
            <a:ext cx="4023360" cy="530352"/>
          </a:xfrm>
          <a:prstGeom prst="rect">
            <a:avLst/>
          </a:prstGeom>
          <a:solidFill>
            <a:srgbClr val="F7F9FB"/>
          </a:solidFill>
          <a:ln w="12700">
            <a:solidFill>
              <a:srgbClr val="F7F9FB"/>
            </a:solidFill>
            <a:prstDash val="solid"/>
          </a:ln>
        </p:spPr>
      </p:sp>
      <p:sp>
        <p:nvSpPr>
          <p:cNvPr id="19" name="Text 16"/>
          <p:cNvSpPr txBox="1"/>
          <p:nvPr/>
        </p:nvSpPr>
        <p:spPr>
          <a:xfrm>
            <a:off x="3474720" y="2359152"/>
            <a:ext cx="4023360" cy="530352"/>
          </a:xfrm>
          <a:prstGeom prst="rect">
            <a:avLst/>
          </a:prstGeom>
          <a:noFill/>
          <a:ln/>
        </p:spPr>
        <p:txBody>
          <a:bodyPr wrap="square" lIns="1270" tIns="1270" rIns="1270" bIns="1270" rtlCol="0" anchor="ctr"/>
          <a:lstStyle/>
          <a:p>
            <a:pPr algn="l" indent="0" marL="0">
              <a:buNone/>
            </a:pPr>
            <a:r>
              <a:rPr lang="en-US" sz="1300" dirty="0">
                <a:solidFill>
                  <a:srgbClr val="1B2430"/>
                </a:solidFill>
              </a:rPr>
              <a:t>no</a:t>
            </a:r>
            <a:endParaRPr lang="en-US" sz="1300" dirty="0"/>
          </a:p>
        </p:txBody>
      </p:sp>
      <p:sp>
        <p:nvSpPr>
          <p:cNvPr id="20" name="box"/>
          <p:cNvSpPr/>
          <p:nvPr/>
        </p:nvSpPr>
        <p:spPr>
          <a:xfrm>
            <a:off x="7543800" y="2359152"/>
            <a:ext cx="4023360" cy="530352"/>
          </a:xfrm>
          <a:prstGeom prst="rect">
            <a:avLst/>
          </a:prstGeom>
          <a:solidFill>
            <a:srgbClr val="D7EBDD"/>
          </a:solidFill>
          <a:ln w="12700">
            <a:solidFill>
              <a:srgbClr val="D7EBDD"/>
            </a:solidFill>
            <a:prstDash val="solid"/>
          </a:ln>
        </p:spPr>
      </p:sp>
      <p:sp>
        <p:nvSpPr>
          <p:cNvPr id="21" name="Text 18"/>
          <p:cNvSpPr txBox="1"/>
          <p:nvPr/>
        </p:nvSpPr>
        <p:spPr>
          <a:xfrm>
            <a:off x="7543800" y="2359152"/>
            <a:ext cx="4023360" cy="530352"/>
          </a:xfrm>
          <a:prstGeom prst="rect">
            <a:avLst/>
          </a:prstGeom>
          <a:noFill/>
          <a:ln/>
        </p:spPr>
        <p:txBody>
          <a:bodyPr wrap="square" lIns="1270" tIns="1270" rIns="1270" bIns="1270" rtlCol="0" anchor="ctr"/>
          <a:lstStyle/>
          <a:p>
            <a:pPr algn="l" indent="0" marL="0">
              <a:buNone/>
            </a:pPr>
            <a:r>
              <a:rPr lang="en-US" sz="1300" dirty="0">
                <a:solidFill>
                  <a:srgbClr val="1B2430"/>
                </a:solidFill>
              </a:rPr>
              <a:t>yes</a:t>
            </a:r>
            <a:endParaRPr lang="en-US" sz="1300" dirty="0"/>
          </a:p>
        </p:txBody>
      </p:sp>
      <p:sp>
        <p:nvSpPr>
          <p:cNvPr id="22" name="box"/>
          <p:cNvSpPr/>
          <p:nvPr/>
        </p:nvSpPr>
        <p:spPr>
          <a:xfrm>
            <a:off x="548640" y="2935224"/>
            <a:ext cx="2880360" cy="530352"/>
          </a:xfrm>
          <a:prstGeom prst="rect">
            <a:avLst/>
          </a:prstGeom>
          <a:solidFill>
            <a:srgbClr val="EEF2F6"/>
          </a:solidFill>
          <a:ln w="12700">
            <a:solidFill>
              <a:srgbClr val="EEF2F6"/>
            </a:solidFill>
            <a:prstDash val="solid"/>
          </a:ln>
        </p:spPr>
      </p:sp>
      <p:sp>
        <p:nvSpPr>
          <p:cNvPr id="23" name="Text 20"/>
          <p:cNvSpPr txBox="1"/>
          <p:nvPr/>
        </p:nvSpPr>
        <p:spPr>
          <a:xfrm>
            <a:off x="548640" y="2935224"/>
            <a:ext cx="2880360" cy="530352"/>
          </a:xfrm>
          <a:prstGeom prst="rect">
            <a:avLst/>
          </a:prstGeom>
          <a:noFill/>
          <a:ln/>
        </p:spPr>
        <p:txBody>
          <a:bodyPr wrap="square" lIns="1270" tIns="1270" rIns="1270" bIns="1270" rtlCol="0" anchor="ctr"/>
          <a:lstStyle/>
          <a:p>
            <a:pPr algn="ctr" indent="0" marL="0">
              <a:buNone/>
            </a:pPr>
            <a:r>
              <a:rPr lang="en-US" sz="1300" dirty="0">
                <a:solidFill>
                  <a:srgbClr val="1B2430"/>
                </a:solidFill>
              </a:rPr>
              <a:t>Several devices</a:t>
            </a:r>
            <a:endParaRPr lang="en-US" sz="1300" dirty="0"/>
          </a:p>
        </p:txBody>
      </p:sp>
      <p:sp>
        <p:nvSpPr>
          <p:cNvPr id="24" name="box"/>
          <p:cNvSpPr/>
          <p:nvPr/>
        </p:nvSpPr>
        <p:spPr>
          <a:xfrm>
            <a:off x="3474720" y="2935224"/>
            <a:ext cx="4023360" cy="530352"/>
          </a:xfrm>
          <a:prstGeom prst="rect">
            <a:avLst/>
          </a:prstGeom>
          <a:solidFill>
            <a:srgbClr val="F7F9FB"/>
          </a:solidFill>
          <a:ln w="12700">
            <a:solidFill>
              <a:srgbClr val="F7F9FB"/>
            </a:solidFill>
            <a:prstDash val="solid"/>
          </a:ln>
        </p:spPr>
      </p:sp>
      <p:sp>
        <p:nvSpPr>
          <p:cNvPr id="25" name="Text 22"/>
          <p:cNvSpPr txBox="1"/>
          <p:nvPr/>
        </p:nvSpPr>
        <p:spPr>
          <a:xfrm>
            <a:off x="3474720" y="2935224"/>
            <a:ext cx="4023360" cy="530352"/>
          </a:xfrm>
          <a:prstGeom prst="rect">
            <a:avLst/>
          </a:prstGeom>
          <a:noFill/>
          <a:ln/>
        </p:spPr>
        <p:txBody>
          <a:bodyPr wrap="square" lIns="1270" tIns="1270" rIns="1270" bIns="1270" rtlCol="0" anchor="ctr"/>
          <a:lstStyle/>
          <a:p>
            <a:pPr algn="l" indent="0" marL="0">
              <a:buNone/>
            </a:pPr>
            <a:r>
              <a:rPr lang="en-US" sz="1300" dirty="0">
                <a:solidFill>
                  <a:srgbClr val="1B2430"/>
                </a:solidFill>
              </a:rPr>
              <a:t>poorly: each downloads</a:t>
            </a:r>
            <a:endParaRPr lang="en-US" sz="1300" dirty="0"/>
          </a:p>
        </p:txBody>
      </p:sp>
      <p:sp>
        <p:nvSpPr>
          <p:cNvPr id="26" name="box"/>
          <p:cNvSpPr/>
          <p:nvPr/>
        </p:nvSpPr>
        <p:spPr>
          <a:xfrm>
            <a:off x="7543800" y="2935224"/>
            <a:ext cx="4023360" cy="530352"/>
          </a:xfrm>
          <a:prstGeom prst="rect">
            <a:avLst/>
          </a:prstGeom>
          <a:solidFill>
            <a:srgbClr val="D7EBDD"/>
          </a:solidFill>
          <a:ln w="12700">
            <a:solidFill>
              <a:srgbClr val="D7EBDD"/>
            </a:solidFill>
            <a:prstDash val="solid"/>
          </a:ln>
        </p:spPr>
      </p:sp>
      <p:sp>
        <p:nvSpPr>
          <p:cNvPr id="27" name="Text 24"/>
          <p:cNvSpPr txBox="1"/>
          <p:nvPr/>
        </p:nvSpPr>
        <p:spPr>
          <a:xfrm>
            <a:off x="7543800" y="2935224"/>
            <a:ext cx="4023360" cy="530352"/>
          </a:xfrm>
          <a:prstGeom prst="rect">
            <a:avLst/>
          </a:prstGeom>
          <a:noFill/>
          <a:ln/>
        </p:spPr>
        <p:txBody>
          <a:bodyPr wrap="square" lIns="1270" tIns="1270" rIns="1270" bIns="1270" rtlCol="0" anchor="ctr"/>
          <a:lstStyle/>
          <a:p>
            <a:pPr algn="l" indent="0" marL="0">
              <a:buNone/>
            </a:pPr>
            <a:r>
              <a:rPr lang="en-US" sz="1300" dirty="0">
                <a:solidFill>
                  <a:srgbClr val="1B2430"/>
                </a:solidFill>
              </a:rPr>
              <a:t>same state everywhere</a:t>
            </a:r>
            <a:endParaRPr lang="en-US" sz="1300" dirty="0"/>
          </a:p>
        </p:txBody>
      </p:sp>
      <p:sp>
        <p:nvSpPr>
          <p:cNvPr id="28" name="box"/>
          <p:cNvSpPr/>
          <p:nvPr/>
        </p:nvSpPr>
        <p:spPr>
          <a:xfrm>
            <a:off x="548640" y="3511296"/>
            <a:ext cx="2880360" cy="530352"/>
          </a:xfrm>
          <a:prstGeom prst="rect">
            <a:avLst/>
          </a:prstGeom>
          <a:solidFill>
            <a:srgbClr val="EEF2F6"/>
          </a:solidFill>
          <a:ln w="12700">
            <a:solidFill>
              <a:srgbClr val="EEF2F6"/>
            </a:solidFill>
            <a:prstDash val="solid"/>
          </a:ln>
        </p:spPr>
      </p:sp>
      <p:sp>
        <p:nvSpPr>
          <p:cNvPr id="29" name="Text 26"/>
          <p:cNvSpPr txBox="1"/>
          <p:nvPr/>
        </p:nvSpPr>
        <p:spPr>
          <a:xfrm>
            <a:off x="548640" y="3511296"/>
            <a:ext cx="2880360" cy="530352"/>
          </a:xfrm>
          <a:prstGeom prst="rect">
            <a:avLst/>
          </a:prstGeom>
          <a:noFill/>
          <a:ln/>
        </p:spPr>
        <p:txBody>
          <a:bodyPr wrap="square" lIns="1270" tIns="1270" rIns="1270" bIns="1270" rtlCol="0" anchor="ctr"/>
          <a:lstStyle/>
          <a:p>
            <a:pPr algn="ctr" indent="0" marL="0">
              <a:buNone/>
            </a:pPr>
            <a:r>
              <a:rPr lang="en-US" sz="1300" dirty="0">
                <a:solidFill>
                  <a:srgbClr val="1B2430"/>
                </a:solidFill>
              </a:rPr>
              <a:t>Slow link</a:t>
            </a:r>
            <a:endParaRPr lang="en-US" sz="1300" dirty="0"/>
          </a:p>
        </p:txBody>
      </p:sp>
      <p:sp>
        <p:nvSpPr>
          <p:cNvPr id="30" name="box"/>
          <p:cNvSpPr/>
          <p:nvPr/>
        </p:nvSpPr>
        <p:spPr>
          <a:xfrm>
            <a:off x="3474720" y="3511296"/>
            <a:ext cx="4023360" cy="530352"/>
          </a:xfrm>
          <a:prstGeom prst="rect">
            <a:avLst/>
          </a:prstGeom>
          <a:solidFill>
            <a:srgbClr val="F7F9FB"/>
          </a:solidFill>
          <a:ln w="12700">
            <a:solidFill>
              <a:srgbClr val="F7F9FB"/>
            </a:solidFill>
            <a:prstDash val="solid"/>
          </a:ln>
        </p:spPr>
      </p:sp>
      <p:sp>
        <p:nvSpPr>
          <p:cNvPr id="31" name="Text 28"/>
          <p:cNvSpPr txBox="1"/>
          <p:nvPr/>
        </p:nvSpPr>
        <p:spPr>
          <a:xfrm>
            <a:off x="3474720" y="3511296"/>
            <a:ext cx="4023360" cy="530352"/>
          </a:xfrm>
          <a:prstGeom prst="rect">
            <a:avLst/>
          </a:prstGeom>
          <a:noFill/>
          <a:ln/>
        </p:spPr>
        <p:txBody>
          <a:bodyPr wrap="square" lIns="1270" tIns="1270" rIns="1270" bIns="1270" rtlCol="0" anchor="ctr"/>
          <a:lstStyle/>
          <a:p>
            <a:pPr algn="l" indent="0" marL="0">
              <a:buNone/>
            </a:pPr>
            <a:r>
              <a:rPr lang="en-US" sz="1300" dirty="0">
                <a:solidFill>
                  <a:srgbClr val="1B2430"/>
                </a:solidFill>
              </a:rPr>
              <a:t>whole messages (or TOP)</a:t>
            </a:r>
            <a:endParaRPr lang="en-US" sz="1300" dirty="0"/>
          </a:p>
        </p:txBody>
      </p:sp>
      <p:sp>
        <p:nvSpPr>
          <p:cNvPr id="32" name="box"/>
          <p:cNvSpPr/>
          <p:nvPr/>
        </p:nvSpPr>
        <p:spPr>
          <a:xfrm>
            <a:off x="7543800" y="3511296"/>
            <a:ext cx="4023360" cy="530352"/>
          </a:xfrm>
          <a:prstGeom prst="rect">
            <a:avLst/>
          </a:prstGeom>
          <a:solidFill>
            <a:srgbClr val="D7EBDD"/>
          </a:solidFill>
          <a:ln w="12700">
            <a:solidFill>
              <a:srgbClr val="D7EBDD"/>
            </a:solidFill>
            <a:prstDash val="solid"/>
          </a:ln>
        </p:spPr>
      </p:sp>
      <p:sp>
        <p:nvSpPr>
          <p:cNvPr id="33" name="Text 30"/>
          <p:cNvSpPr txBox="1"/>
          <p:nvPr/>
        </p:nvSpPr>
        <p:spPr>
          <a:xfrm>
            <a:off x="7543800" y="3511296"/>
            <a:ext cx="4023360" cy="530352"/>
          </a:xfrm>
          <a:prstGeom prst="rect">
            <a:avLst/>
          </a:prstGeom>
          <a:noFill/>
          <a:ln/>
        </p:spPr>
        <p:txBody>
          <a:bodyPr wrap="square" lIns="1270" tIns="1270" rIns="1270" bIns="1270" rtlCol="0" anchor="ctr"/>
          <a:lstStyle/>
          <a:p>
            <a:pPr algn="l" indent="0" marL="0">
              <a:buNone/>
            </a:pPr>
            <a:r>
              <a:rPr lang="en-US" sz="1300" dirty="0">
                <a:solidFill>
                  <a:srgbClr val="1B2430"/>
                </a:solidFill>
              </a:rPr>
              <a:t>headers, parts, server search</a:t>
            </a:r>
            <a:endParaRPr lang="en-US" sz="1300" dirty="0"/>
          </a:p>
        </p:txBody>
      </p:sp>
      <p:sp>
        <p:nvSpPr>
          <p:cNvPr id="34" name="box"/>
          <p:cNvSpPr/>
          <p:nvPr/>
        </p:nvSpPr>
        <p:spPr>
          <a:xfrm>
            <a:off x="548640" y="4087368"/>
            <a:ext cx="2880360" cy="530352"/>
          </a:xfrm>
          <a:prstGeom prst="rect">
            <a:avLst/>
          </a:prstGeom>
          <a:solidFill>
            <a:srgbClr val="EEF2F6"/>
          </a:solidFill>
          <a:ln w="12700">
            <a:solidFill>
              <a:srgbClr val="EEF2F6"/>
            </a:solidFill>
            <a:prstDash val="solid"/>
          </a:ln>
        </p:spPr>
      </p:sp>
      <p:sp>
        <p:nvSpPr>
          <p:cNvPr id="35" name="Text 32"/>
          <p:cNvSpPr txBox="1"/>
          <p:nvPr/>
        </p:nvSpPr>
        <p:spPr>
          <a:xfrm>
            <a:off x="548640" y="4087368"/>
            <a:ext cx="2880360" cy="530352"/>
          </a:xfrm>
          <a:prstGeom prst="rect">
            <a:avLst/>
          </a:prstGeom>
          <a:noFill/>
          <a:ln/>
        </p:spPr>
        <p:txBody>
          <a:bodyPr wrap="square" lIns="1270" tIns="1270" rIns="1270" bIns="1270" rtlCol="0" anchor="ctr"/>
          <a:lstStyle/>
          <a:p>
            <a:pPr algn="ctr" indent="0" marL="0">
              <a:buNone/>
            </a:pPr>
            <a:r>
              <a:rPr lang="en-US" sz="1300" dirty="0">
                <a:solidFill>
                  <a:srgbClr val="1B2430"/>
                </a:solidFill>
              </a:rPr>
              <a:t>Ports</a:t>
            </a:r>
            <a:endParaRPr lang="en-US" sz="1300" dirty="0"/>
          </a:p>
        </p:txBody>
      </p:sp>
      <p:sp>
        <p:nvSpPr>
          <p:cNvPr id="36" name="box"/>
          <p:cNvSpPr/>
          <p:nvPr/>
        </p:nvSpPr>
        <p:spPr>
          <a:xfrm>
            <a:off x="3474720" y="4087368"/>
            <a:ext cx="4023360" cy="530352"/>
          </a:xfrm>
          <a:prstGeom prst="rect">
            <a:avLst/>
          </a:prstGeom>
          <a:solidFill>
            <a:srgbClr val="F7F9FB"/>
          </a:solidFill>
          <a:ln w="12700">
            <a:solidFill>
              <a:srgbClr val="F7F9FB"/>
            </a:solidFill>
            <a:prstDash val="solid"/>
          </a:ln>
        </p:spPr>
      </p:sp>
      <p:sp>
        <p:nvSpPr>
          <p:cNvPr id="37" name="Text 34"/>
          <p:cNvSpPr txBox="1"/>
          <p:nvPr/>
        </p:nvSpPr>
        <p:spPr>
          <a:xfrm>
            <a:off x="3474720" y="4087368"/>
            <a:ext cx="4023360" cy="530352"/>
          </a:xfrm>
          <a:prstGeom prst="rect">
            <a:avLst/>
          </a:prstGeom>
          <a:noFill/>
          <a:ln/>
        </p:spPr>
        <p:txBody>
          <a:bodyPr wrap="square" lIns="1270" tIns="1270" rIns="1270" bIns="1270" rtlCol="0" anchor="ctr"/>
          <a:lstStyle/>
          <a:p>
            <a:pPr algn="l" indent="0" marL="0">
              <a:buNone/>
            </a:pPr>
            <a:r>
              <a:rPr lang="en-US" sz="1300" dirty="0">
                <a:solidFill>
                  <a:srgbClr val="1B2430"/>
                </a:solidFill>
              </a:rPr>
              <a:t>110 · 995 (TLS)</a:t>
            </a:r>
            <a:endParaRPr lang="en-US" sz="1300" dirty="0"/>
          </a:p>
        </p:txBody>
      </p:sp>
      <p:sp>
        <p:nvSpPr>
          <p:cNvPr id="38" name="box"/>
          <p:cNvSpPr/>
          <p:nvPr/>
        </p:nvSpPr>
        <p:spPr>
          <a:xfrm>
            <a:off x="7543800" y="4087368"/>
            <a:ext cx="4023360" cy="530352"/>
          </a:xfrm>
          <a:prstGeom prst="rect">
            <a:avLst/>
          </a:prstGeom>
          <a:solidFill>
            <a:srgbClr val="F7F9FB"/>
          </a:solidFill>
          <a:ln w="12700">
            <a:solidFill>
              <a:srgbClr val="F7F9FB"/>
            </a:solidFill>
            <a:prstDash val="solid"/>
          </a:ln>
        </p:spPr>
      </p:sp>
      <p:sp>
        <p:nvSpPr>
          <p:cNvPr id="39" name="Text 36"/>
          <p:cNvSpPr txBox="1"/>
          <p:nvPr/>
        </p:nvSpPr>
        <p:spPr>
          <a:xfrm>
            <a:off x="7543800" y="4087368"/>
            <a:ext cx="4023360" cy="530352"/>
          </a:xfrm>
          <a:prstGeom prst="rect">
            <a:avLst/>
          </a:prstGeom>
          <a:noFill/>
          <a:ln/>
        </p:spPr>
        <p:txBody>
          <a:bodyPr wrap="square" lIns="1270" tIns="1270" rIns="1270" bIns="1270" rtlCol="0" anchor="ctr"/>
          <a:lstStyle/>
          <a:p>
            <a:pPr algn="l" indent="0" marL="0">
              <a:buNone/>
            </a:pPr>
            <a:r>
              <a:rPr lang="en-US" sz="1300" dirty="0">
                <a:solidFill>
                  <a:srgbClr val="1B2430"/>
                </a:solidFill>
              </a:rPr>
              <a:t>143 · 993 (TLS)</a:t>
            </a:r>
            <a:endParaRPr lang="en-US" sz="1300" dirty="0"/>
          </a:p>
        </p:txBody>
      </p:sp>
      <p:sp>
        <p:nvSpPr>
          <p:cNvPr id="40" name="box"/>
          <p:cNvSpPr/>
          <p:nvPr/>
        </p:nvSpPr>
        <p:spPr>
          <a:xfrm>
            <a:off x="548640" y="4663440"/>
            <a:ext cx="2880360" cy="530352"/>
          </a:xfrm>
          <a:prstGeom prst="rect">
            <a:avLst/>
          </a:prstGeom>
          <a:solidFill>
            <a:srgbClr val="EEF2F6"/>
          </a:solidFill>
          <a:ln w="12700">
            <a:solidFill>
              <a:srgbClr val="EEF2F6"/>
            </a:solidFill>
            <a:prstDash val="solid"/>
          </a:ln>
        </p:spPr>
      </p:sp>
      <p:sp>
        <p:nvSpPr>
          <p:cNvPr id="41" name="Text 38"/>
          <p:cNvSpPr txBox="1"/>
          <p:nvPr/>
        </p:nvSpPr>
        <p:spPr>
          <a:xfrm>
            <a:off x="548640" y="4663440"/>
            <a:ext cx="2880360" cy="530352"/>
          </a:xfrm>
          <a:prstGeom prst="rect">
            <a:avLst/>
          </a:prstGeom>
          <a:noFill/>
          <a:ln/>
        </p:spPr>
        <p:txBody>
          <a:bodyPr wrap="square" lIns="1270" tIns="1270" rIns="1270" bIns="1270" rtlCol="0" anchor="ctr"/>
          <a:lstStyle/>
          <a:p>
            <a:pPr algn="ctr" indent="0" marL="0">
              <a:buNone/>
            </a:pPr>
            <a:r>
              <a:rPr lang="en-US" sz="1300" dirty="0">
                <a:solidFill>
                  <a:srgbClr val="1B2430"/>
                </a:solidFill>
              </a:rPr>
              <a:t>Complexity</a:t>
            </a:r>
            <a:endParaRPr lang="en-US" sz="1300" dirty="0"/>
          </a:p>
        </p:txBody>
      </p:sp>
      <p:sp>
        <p:nvSpPr>
          <p:cNvPr id="42" name="box"/>
          <p:cNvSpPr/>
          <p:nvPr/>
        </p:nvSpPr>
        <p:spPr>
          <a:xfrm>
            <a:off x="3474720" y="4663440"/>
            <a:ext cx="4023360" cy="530352"/>
          </a:xfrm>
          <a:prstGeom prst="rect">
            <a:avLst/>
          </a:prstGeom>
          <a:solidFill>
            <a:srgbClr val="F7F9FB"/>
          </a:solidFill>
          <a:ln w="12700">
            <a:solidFill>
              <a:srgbClr val="F7F9FB"/>
            </a:solidFill>
            <a:prstDash val="solid"/>
          </a:ln>
        </p:spPr>
      </p:sp>
      <p:sp>
        <p:nvSpPr>
          <p:cNvPr id="43" name="Text 40"/>
          <p:cNvSpPr txBox="1"/>
          <p:nvPr/>
        </p:nvSpPr>
        <p:spPr>
          <a:xfrm>
            <a:off x="3474720" y="4663440"/>
            <a:ext cx="4023360" cy="530352"/>
          </a:xfrm>
          <a:prstGeom prst="rect">
            <a:avLst/>
          </a:prstGeom>
          <a:noFill/>
          <a:ln/>
        </p:spPr>
        <p:txBody>
          <a:bodyPr wrap="square" lIns="1270" tIns="1270" rIns="1270" bIns="1270" rtlCol="0" anchor="ctr"/>
          <a:lstStyle/>
          <a:p>
            <a:pPr algn="l" indent="0" marL="0">
              <a:buNone/>
            </a:pPr>
            <a:r>
              <a:rPr lang="en-US" sz="1300" dirty="0">
                <a:solidFill>
                  <a:srgbClr val="1B2430"/>
                </a:solidFill>
              </a:rPr>
              <a:t>a dozen commands</a:t>
            </a:r>
            <a:endParaRPr lang="en-US" sz="1300" dirty="0"/>
          </a:p>
        </p:txBody>
      </p:sp>
      <p:sp>
        <p:nvSpPr>
          <p:cNvPr id="44" name="box"/>
          <p:cNvSpPr/>
          <p:nvPr/>
        </p:nvSpPr>
        <p:spPr>
          <a:xfrm>
            <a:off x="7543800" y="4663440"/>
            <a:ext cx="4023360" cy="530352"/>
          </a:xfrm>
          <a:prstGeom prst="rect">
            <a:avLst/>
          </a:prstGeom>
          <a:solidFill>
            <a:srgbClr val="F7F9FB"/>
          </a:solidFill>
          <a:ln w="12700">
            <a:solidFill>
              <a:srgbClr val="F7F9FB"/>
            </a:solidFill>
            <a:prstDash val="solid"/>
          </a:ln>
        </p:spPr>
      </p:sp>
      <p:sp>
        <p:nvSpPr>
          <p:cNvPr id="45" name="Text 42"/>
          <p:cNvSpPr txBox="1"/>
          <p:nvPr/>
        </p:nvSpPr>
        <p:spPr>
          <a:xfrm>
            <a:off x="7543800" y="4663440"/>
            <a:ext cx="4023360" cy="530352"/>
          </a:xfrm>
          <a:prstGeom prst="rect">
            <a:avLst/>
          </a:prstGeom>
          <a:noFill/>
          <a:ln/>
        </p:spPr>
        <p:txBody>
          <a:bodyPr wrap="square" lIns="1270" tIns="1270" rIns="1270" bIns="1270" rtlCol="0" anchor="ctr"/>
          <a:lstStyle/>
          <a:p>
            <a:pPr algn="l" indent="0" marL="0">
              <a:buNone/>
            </a:pPr>
            <a:r>
              <a:rPr lang="en-US" sz="1300" dirty="0">
                <a:solidFill>
                  <a:srgbClr val="1B2430"/>
                </a:solidFill>
              </a:rPr>
              <a:t>a large protocol</a:t>
            </a:r>
            <a:endParaRPr lang="en-US" sz="1300" dirty="0"/>
          </a:p>
        </p:txBody>
      </p:sp>
      <p:sp>
        <p:nvSpPr>
          <p:cNvPr id="4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47" name="Text 4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One device, off line: POP3. Phone + laptop + web: IMAP.</a:t>
            </a:r>
            <a:endParaRPr lang="en-US" sz="1400" dirty="0"/>
          </a:p>
        </p:txBody>
      </p:sp>
      <p:sp>
        <p:nvSpPr>
          <p:cNvPr id="48" name="Text 4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POP3 (Post Office Protocol version 3) · IMAP (Internet Message Access Protocol) · TLS (Transport Layer Security)</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 Webmail and JMAP</a:t>
            </a:r>
            <a:endParaRPr lang="en-US" sz="3000" dirty="0"/>
          </a:p>
        </p:txBody>
      </p:sp>
      <p:sp>
        <p:nvSpPr>
          <p:cNvPr id="4" name="box"/>
          <p:cNvSpPr/>
          <p:nvPr/>
        </p:nvSpPr>
        <p:spPr>
          <a:xfrm>
            <a:off x="548640" y="1828800"/>
            <a:ext cx="2286000" cy="914400"/>
          </a:xfrm>
          <a:prstGeom prst="roundRect">
            <a:avLst>
              <a:gd name="adj" fmla="val 8000"/>
            </a:avLst>
          </a:prstGeom>
          <a:solidFill>
            <a:srgbClr val="DDF0F2"/>
          </a:solidFill>
          <a:ln w="12700">
            <a:solidFill>
              <a:srgbClr val="DDF0F2"/>
            </a:solidFill>
            <a:prstDash val="solid"/>
          </a:ln>
        </p:spPr>
      </p:sp>
      <p:sp>
        <p:nvSpPr>
          <p:cNvPr id="5" name="Text 2"/>
          <p:cNvSpPr txBox="1"/>
          <p:nvPr/>
        </p:nvSpPr>
        <p:spPr>
          <a:xfrm>
            <a:off x="548640" y="1828800"/>
            <a:ext cx="2286000" cy="914400"/>
          </a:xfrm>
          <a:prstGeom prst="rect">
            <a:avLst/>
          </a:prstGeom>
          <a:noFill/>
          <a:ln/>
        </p:spPr>
        <p:txBody>
          <a:bodyPr wrap="square" lIns="635" tIns="635" rIns="635" bIns="635" rtlCol="0" anchor="ctr"/>
          <a:lstStyle/>
          <a:p>
            <a:pPr algn="ctr" indent="0" marL="0">
              <a:buNone/>
            </a:pPr>
            <a:r>
              <a:rPr lang="en-US" sz="1300" dirty="0">
                <a:solidFill>
                  <a:srgbClr val="1B2430"/>
                </a:solidFill>
              </a:rPr>
              <a:t>browser</a:t>
            </a:r>
            <a:endParaRPr lang="en-US" sz="1300" dirty="0"/>
          </a:p>
          <a:p>
            <a:pPr algn="ctr" indent="0" marL="0">
              <a:buNone/>
            </a:pPr>
            <a:r>
              <a:rPr lang="en-US" sz="1300" dirty="0">
                <a:solidFill>
                  <a:srgbClr val="1B2430"/>
                </a:solidFill>
              </a:rPr>
              <a:t>the user agent</a:t>
            </a:r>
            <a:endParaRPr lang="en-US" sz="1300" dirty="0"/>
          </a:p>
        </p:txBody>
      </p:sp>
      <p:sp>
        <p:nvSpPr>
          <p:cNvPr id="6" name="box"/>
          <p:cNvSpPr/>
          <p:nvPr/>
        </p:nvSpPr>
        <p:spPr>
          <a:xfrm>
            <a:off x="3840480" y="1554480"/>
            <a:ext cx="3291840" cy="1463040"/>
          </a:xfrm>
          <a:prstGeom prst="roundRect">
            <a:avLst>
              <a:gd name="adj" fmla="val 5000"/>
            </a:avLst>
          </a:prstGeom>
          <a:solidFill>
            <a:srgbClr val="2A7F8E"/>
          </a:solidFill>
          <a:ln w="12700">
            <a:solidFill>
              <a:srgbClr val="2A7F8E"/>
            </a:solidFill>
            <a:prstDash val="solid"/>
          </a:ln>
        </p:spPr>
      </p:sp>
      <p:sp>
        <p:nvSpPr>
          <p:cNvPr id="7" name="Text 4"/>
          <p:cNvSpPr txBox="1"/>
          <p:nvPr/>
        </p:nvSpPr>
        <p:spPr>
          <a:xfrm>
            <a:off x="3840480" y="1554480"/>
            <a:ext cx="3291840" cy="1463040"/>
          </a:xfrm>
          <a:prstGeom prst="rect">
            <a:avLst/>
          </a:prstGeom>
          <a:noFill/>
          <a:ln/>
        </p:spPr>
        <p:txBody>
          <a:bodyPr wrap="square" lIns="635" tIns="635" rIns="635" bIns="635" rtlCol="0" anchor="ctr"/>
          <a:lstStyle/>
          <a:p>
            <a:pPr algn="ctr" indent="0" marL="0">
              <a:buNone/>
            </a:pPr>
            <a:r>
              <a:rPr lang="en-US" sz="1300" b="1" dirty="0">
                <a:solidFill>
                  <a:srgbClr val="FFFFFF"/>
                </a:solidFill>
              </a:rPr>
              <a:t>webmail server</a:t>
            </a:r>
            <a:endParaRPr lang="en-US" sz="1300" dirty="0"/>
          </a:p>
          <a:p>
            <a:pPr algn="ctr" indent="0" marL="0">
              <a:buNone/>
            </a:pPr>
            <a:r>
              <a:rPr lang="en-US" sz="1300" dirty="0">
                <a:solidFill>
                  <a:srgbClr val="FFFFFF"/>
                </a:solidFill>
              </a:rPr>
              <a:t>Gmail, Outlook.com, the university’s webmail</a:t>
            </a:r>
            <a:endParaRPr lang="en-US" sz="1300" dirty="0"/>
          </a:p>
        </p:txBody>
      </p:sp>
      <p:sp>
        <p:nvSpPr>
          <p:cNvPr id="8" name="box"/>
          <p:cNvSpPr/>
          <p:nvPr/>
        </p:nvSpPr>
        <p:spPr>
          <a:xfrm>
            <a:off x="8412480" y="1325880"/>
            <a:ext cx="3200400" cy="822960"/>
          </a:xfrm>
          <a:prstGeom prst="roundRect">
            <a:avLst>
              <a:gd name="adj" fmla="val 8889"/>
            </a:avLst>
          </a:prstGeom>
          <a:solidFill>
            <a:srgbClr val="EEF2F6"/>
          </a:solidFill>
          <a:ln w="12700">
            <a:solidFill>
              <a:srgbClr val="EEF2F6"/>
            </a:solidFill>
            <a:prstDash val="solid"/>
          </a:ln>
        </p:spPr>
      </p:sp>
      <p:sp>
        <p:nvSpPr>
          <p:cNvPr id="9" name="Text 6"/>
          <p:cNvSpPr txBox="1"/>
          <p:nvPr/>
        </p:nvSpPr>
        <p:spPr>
          <a:xfrm>
            <a:off x="8412480" y="1325880"/>
            <a:ext cx="3200400" cy="822960"/>
          </a:xfrm>
          <a:prstGeom prst="rect">
            <a:avLst/>
          </a:prstGeom>
          <a:noFill/>
          <a:ln/>
        </p:spPr>
        <p:txBody>
          <a:bodyPr wrap="square" lIns="635" tIns="635" rIns="635" bIns="635" rtlCol="0" anchor="ctr"/>
          <a:lstStyle/>
          <a:p>
            <a:pPr algn="ctr" indent="0" marL="0">
              <a:buNone/>
            </a:pPr>
            <a:r>
              <a:rPr lang="en-US" sz="1300" dirty="0">
                <a:solidFill>
                  <a:srgbClr val="1B2430"/>
                </a:solidFill>
              </a:rPr>
              <a:t>mailbox store</a:t>
            </a:r>
            <a:endParaRPr lang="en-US" sz="1300" dirty="0"/>
          </a:p>
        </p:txBody>
      </p:sp>
      <p:sp>
        <p:nvSpPr>
          <p:cNvPr id="10" name="box"/>
          <p:cNvSpPr/>
          <p:nvPr/>
        </p:nvSpPr>
        <p:spPr>
          <a:xfrm>
            <a:off x="8412480" y="2423160"/>
            <a:ext cx="3200400" cy="822960"/>
          </a:xfrm>
          <a:prstGeom prst="roundRect">
            <a:avLst>
              <a:gd name="adj" fmla="val 8889"/>
            </a:avLst>
          </a:prstGeom>
          <a:solidFill>
            <a:srgbClr val="EEF2F6"/>
          </a:solidFill>
          <a:ln w="12700">
            <a:solidFill>
              <a:srgbClr val="EEF2F6"/>
            </a:solidFill>
            <a:prstDash val="solid"/>
          </a:ln>
        </p:spPr>
      </p:sp>
      <p:sp>
        <p:nvSpPr>
          <p:cNvPr id="11" name="Text 8"/>
          <p:cNvSpPr txBox="1"/>
          <p:nvPr/>
        </p:nvSpPr>
        <p:spPr>
          <a:xfrm>
            <a:off x="8412480" y="2423160"/>
            <a:ext cx="3200400" cy="822960"/>
          </a:xfrm>
          <a:prstGeom prst="rect">
            <a:avLst/>
          </a:prstGeom>
          <a:noFill/>
          <a:ln/>
        </p:spPr>
        <p:txBody>
          <a:bodyPr wrap="square" lIns="635" tIns="635" rIns="635" bIns="635" rtlCol="0" anchor="ctr"/>
          <a:lstStyle/>
          <a:p>
            <a:pPr algn="ctr" indent="0" marL="0">
              <a:buNone/>
            </a:pPr>
            <a:r>
              <a:rPr lang="en-US" sz="1300" dirty="0">
                <a:solidFill>
                  <a:srgbClr val="1B2430"/>
                </a:solidFill>
              </a:rPr>
              <a:t>other mail servers</a:t>
            </a:r>
            <a:endParaRPr lang="en-US" sz="1300" dirty="0"/>
          </a:p>
        </p:txBody>
      </p:sp>
      <p:sp>
        <p:nvSpPr>
          <p:cNvPr id="12" name="Shape 9"/>
          <p:cNvSpPr/>
          <p:nvPr/>
        </p:nvSpPr>
        <p:spPr>
          <a:xfrm>
            <a:off x="2834640" y="2286000"/>
            <a:ext cx="1005840" cy="914"/>
          </a:xfrm>
          <a:prstGeom prst="line">
            <a:avLst/>
          </a:prstGeom>
          <a:noFill/>
          <a:ln w="38100">
            <a:solidFill>
              <a:srgbClr val="2E7D4F"/>
            </a:solidFill>
            <a:prstDash val="solid"/>
            <a:headEnd type="triangle"/>
            <a:tailEnd type="triangle"/>
          </a:ln>
        </p:spPr>
      </p:sp>
      <p:sp>
        <p:nvSpPr>
          <p:cNvPr id="13" name="Text 10"/>
          <p:cNvSpPr txBox="1"/>
          <p:nvPr/>
        </p:nvSpPr>
        <p:spPr>
          <a:xfrm>
            <a:off x="2880360" y="1828800"/>
            <a:ext cx="9144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2E7D4F"/>
                </a:solidFill>
              </a:rPr>
              <a:t>HTTPS</a:t>
            </a:r>
            <a:endParaRPr lang="en-US" sz="1200" dirty="0"/>
          </a:p>
        </p:txBody>
      </p:sp>
      <p:sp>
        <p:nvSpPr>
          <p:cNvPr id="14" name="Shape 11"/>
          <p:cNvSpPr/>
          <p:nvPr/>
        </p:nvSpPr>
        <p:spPr>
          <a:xfrm flipV="1">
            <a:off x="7132320" y="1737360"/>
            <a:ext cx="1280160" cy="274320"/>
          </a:xfrm>
          <a:prstGeom prst="line">
            <a:avLst/>
          </a:prstGeom>
          <a:noFill/>
          <a:ln w="22225">
            <a:solidFill>
              <a:srgbClr val="5B6770"/>
            </a:solidFill>
            <a:prstDash val="solid"/>
            <a:headEnd type="triangle"/>
            <a:tailEnd type="triangle"/>
          </a:ln>
        </p:spPr>
      </p:sp>
      <p:sp>
        <p:nvSpPr>
          <p:cNvPr id="15" name="Shape 12"/>
          <p:cNvSpPr/>
          <p:nvPr/>
        </p:nvSpPr>
        <p:spPr>
          <a:xfrm>
            <a:off x="7132320" y="2560320"/>
            <a:ext cx="1280160" cy="274320"/>
          </a:xfrm>
          <a:prstGeom prst="line">
            <a:avLst/>
          </a:prstGeom>
          <a:noFill/>
          <a:ln w="22225">
            <a:solidFill>
              <a:srgbClr val="1F3A5F"/>
            </a:solidFill>
            <a:prstDash val="solid"/>
            <a:tailEnd type="triangle"/>
          </a:ln>
        </p:spPr>
      </p:sp>
      <p:sp>
        <p:nvSpPr>
          <p:cNvPr id="16" name="Text 13"/>
          <p:cNvSpPr txBox="1"/>
          <p:nvPr/>
        </p:nvSpPr>
        <p:spPr>
          <a:xfrm>
            <a:off x="7360920" y="2249424"/>
            <a:ext cx="822960" cy="310896"/>
          </a:xfrm>
          <a:prstGeom prst="rect">
            <a:avLst/>
          </a:prstGeom>
          <a:noFill/>
          <a:ln/>
        </p:spPr>
        <p:txBody>
          <a:bodyPr wrap="square" lIns="0" tIns="0" rIns="0" bIns="0" rtlCol="0" anchor="ctr"/>
          <a:lstStyle/>
          <a:p>
            <a:pPr algn="ctr" indent="0" marL="0">
              <a:buNone/>
            </a:pPr>
            <a:r>
              <a:rPr lang="en-US" sz="1100" dirty="0">
                <a:solidFill>
                  <a:srgbClr val="1F3A5F"/>
                </a:solidFill>
              </a:rPr>
              <a:t>SMTP</a:t>
            </a:r>
            <a:endParaRPr lang="en-US" sz="1100" dirty="0"/>
          </a:p>
        </p:txBody>
      </p:sp>
      <p:sp>
        <p:nvSpPr>
          <p:cNvPr id="17" name="box"/>
          <p:cNvSpPr/>
          <p:nvPr/>
        </p:nvSpPr>
        <p:spPr>
          <a:xfrm>
            <a:off x="548640" y="3657600"/>
            <a:ext cx="11064240" cy="914400"/>
          </a:xfrm>
          <a:prstGeom prst="roundRect">
            <a:avLst>
              <a:gd name="adj" fmla="val 8000"/>
            </a:avLst>
          </a:prstGeom>
          <a:solidFill>
            <a:srgbClr val="F3EAD7"/>
          </a:solidFill>
          <a:ln w="12700">
            <a:solidFill>
              <a:srgbClr val="F3EAD7"/>
            </a:solidFill>
            <a:prstDash val="solid"/>
          </a:ln>
        </p:spPr>
      </p:sp>
      <p:sp>
        <p:nvSpPr>
          <p:cNvPr id="18" name="Text 15"/>
          <p:cNvSpPr txBox="1"/>
          <p:nvPr/>
        </p:nvSpPr>
        <p:spPr>
          <a:xfrm>
            <a:off x="548640" y="3657600"/>
            <a:ext cx="11064240" cy="914400"/>
          </a:xfrm>
          <a:prstGeom prst="rect">
            <a:avLst/>
          </a:prstGeom>
          <a:noFill/>
          <a:ln/>
        </p:spPr>
        <p:txBody>
          <a:bodyPr wrap="square" lIns="635" tIns="635" rIns="635" bIns="635" rtlCol="0" anchor="ctr"/>
          <a:lstStyle/>
          <a:p>
            <a:pPr algn="ctr" indent="0" marL="0">
              <a:buNone/>
            </a:pPr>
            <a:r>
              <a:rPr lang="en-US" sz="1400" b="1" dirty="0">
                <a:solidFill>
                  <a:srgbClr val="1B2430"/>
                </a:solidFill>
              </a:rPr>
              <a:t>JMAP</a:t>
            </a:r>
            <a:r>
              <a:rPr lang="en-US" sz="1400" dirty="0">
                <a:solidFill>
                  <a:srgbClr val="1B2430"/>
                </a:solidFill>
              </a:rPr>
              <a:t> (RFCs 8620–8621): mailbox access as JSON over HTTPS — a modern replacement for IMAP, efficient on mobile devices</a:t>
            </a:r>
            <a:endParaRPr lang="en-US" sz="1400" dirty="0"/>
          </a:p>
        </p:txBody>
      </p:sp>
      <p:sp>
        <p:nvSpPr>
          <p:cNvPr id="19" name="Shape 16"/>
          <p:cNvSpPr/>
          <p:nvPr/>
        </p:nvSpPr>
        <p:spPr>
          <a:xfrm>
            <a:off x="548640" y="4773168"/>
            <a:ext cx="384048" cy="384048"/>
          </a:xfrm>
          <a:prstGeom prst="ellipse">
            <a:avLst/>
          </a:prstGeom>
          <a:solidFill>
            <a:srgbClr val="B9772A"/>
          </a:solidFill>
          <a:ln w="12700">
            <a:solidFill>
              <a:srgbClr val="B9772A"/>
            </a:solidFill>
            <a:prstDash val="solid"/>
          </a:ln>
        </p:spPr>
      </p:sp>
      <p:sp>
        <p:nvSpPr>
          <p:cNvPr id="20" name="Text 17"/>
          <p:cNvSpPr txBox="1"/>
          <p:nvPr/>
        </p:nvSpPr>
        <p:spPr>
          <a:xfrm>
            <a:off x="548640" y="4773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1" name="Text 18"/>
          <p:cNvSpPr txBox="1"/>
          <p:nvPr/>
        </p:nvSpPr>
        <p:spPr>
          <a:xfrm>
            <a:off x="1051560" y="4754880"/>
            <a:ext cx="10561320" cy="82296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Many mobile apps use their providers’ own protocols; standard clients still use IMAP and SMTP.</a:t>
            </a:r>
            <a:endParaRPr lang="en-US" sz="1300" dirty="0"/>
          </a:p>
        </p:txBody>
      </p:sp>
      <p:sp>
        <p:nvSpPr>
          <p:cNvPr id="2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3" name="Text 2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Webmail moves the user agent into the server; only HTTPS crosses the user’s network.</a:t>
            </a:r>
            <a:endParaRPr lang="en-US" sz="1400" dirty="0"/>
          </a:p>
        </p:txBody>
      </p:sp>
      <p:sp>
        <p:nvSpPr>
          <p:cNvPr id="24" name="Text 21"/>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HTTPS (HyperText Transfer Protocol Secure) · SMTP (Simple Mail Transfer Protocol) · IMAP (Internet Message Access Protocol) · JMAP (JSON Meta Application Protocol) · JSON (JavaScript Object Notation)</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 Encryption: per hop, or end to end</a:t>
            </a:r>
            <a:endParaRPr lang="en-US" sz="3000" dirty="0"/>
          </a:p>
        </p:txBody>
      </p:sp>
      <p:sp>
        <p:nvSpPr>
          <p:cNvPr id="4" name="box"/>
          <p:cNvSpPr/>
          <p:nvPr/>
        </p:nvSpPr>
        <p:spPr>
          <a:xfrm>
            <a:off x="548640" y="1463040"/>
            <a:ext cx="2377440" cy="822960"/>
          </a:xfrm>
          <a:prstGeom prst="roundRect">
            <a:avLst>
              <a:gd name="adj" fmla="val 8889"/>
            </a:avLst>
          </a:prstGeom>
          <a:solidFill>
            <a:srgbClr val="2A7F8E"/>
          </a:solidFill>
          <a:ln w="12700">
            <a:solidFill>
              <a:srgbClr val="2A7F8E"/>
            </a:solidFill>
            <a:prstDash val="solid"/>
          </a:ln>
        </p:spPr>
      </p:sp>
      <p:sp>
        <p:nvSpPr>
          <p:cNvPr id="5" name="Text 2"/>
          <p:cNvSpPr txBox="1"/>
          <p:nvPr/>
        </p:nvSpPr>
        <p:spPr>
          <a:xfrm>
            <a:off x="548640" y="1463040"/>
            <a:ext cx="2377440" cy="822960"/>
          </a:xfrm>
          <a:prstGeom prst="rect">
            <a:avLst/>
          </a:prstGeom>
          <a:noFill/>
          <a:ln/>
        </p:spPr>
        <p:txBody>
          <a:bodyPr wrap="square" lIns="635" tIns="635" rIns="635" bIns="635" rtlCol="0" anchor="ctr"/>
          <a:lstStyle/>
          <a:p>
            <a:pPr algn="ctr" indent="0" marL="0">
              <a:buNone/>
            </a:pPr>
            <a:r>
              <a:rPr lang="en-US" sz="1300" dirty="0">
                <a:solidFill>
                  <a:srgbClr val="FFFFFF"/>
                </a:solidFill>
              </a:rPr>
              <a:t>Alice</a:t>
            </a:r>
            <a:endParaRPr lang="en-US" sz="1300" dirty="0"/>
          </a:p>
        </p:txBody>
      </p:sp>
      <p:sp>
        <p:nvSpPr>
          <p:cNvPr id="6" name="box"/>
          <p:cNvSpPr/>
          <p:nvPr/>
        </p:nvSpPr>
        <p:spPr>
          <a:xfrm>
            <a:off x="3383280" y="1463040"/>
            <a:ext cx="2377440" cy="822960"/>
          </a:xfrm>
          <a:prstGeom prst="roundRect">
            <a:avLst>
              <a:gd name="adj" fmla="val 8889"/>
            </a:avLst>
          </a:prstGeom>
          <a:solidFill>
            <a:srgbClr val="2A7F8E"/>
          </a:solidFill>
          <a:ln w="12700">
            <a:solidFill>
              <a:srgbClr val="2A7F8E"/>
            </a:solidFill>
            <a:prstDash val="solid"/>
          </a:ln>
        </p:spPr>
      </p:sp>
      <p:sp>
        <p:nvSpPr>
          <p:cNvPr id="7" name="Text 4"/>
          <p:cNvSpPr txBox="1"/>
          <p:nvPr/>
        </p:nvSpPr>
        <p:spPr>
          <a:xfrm>
            <a:off x="3383280" y="1463040"/>
            <a:ext cx="2377440" cy="822960"/>
          </a:xfrm>
          <a:prstGeom prst="rect">
            <a:avLst/>
          </a:prstGeom>
          <a:noFill/>
          <a:ln/>
        </p:spPr>
        <p:txBody>
          <a:bodyPr wrap="square" lIns="635" tIns="635" rIns="635" bIns="635" rtlCol="0" anchor="ctr"/>
          <a:lstStyle/>
          <a:p>
            <a:pPr algn="ctr" indent="0" marL="0">
              <a:buNone/>
            </a:pPr>
            <a:r>
              <a:rPr lang="en-US" sz="1300" dirty="0">
                <a:solidFill>
                  <a:srgbClr val="FFFFFF"/>
                </a:solidFill>
              </a:rPr>
              <a:t>mail.uni.ro</a:t>
            </a:r>
            <a:endParaRPr lang="en-US" sz="1300" dirty="0"/>
          </a:p>
        </p:txBody>
      </p:sp>
      <p:sp>
        <p:nvSpPr>
          <p:cNvPr id="8" name="box"/>
          <p:cNvSpPr/>
          <p:nvPr/>
        </p:nvSpPr>
        <p:spPr>
          <a:xfrm>
            <a:off x="6217920" y="1463040"/>
            <a:ext cx="2377440" cy="822960"/>
          </a:xfrm>
          <a:prstGeom prst="roundRect">
            <a:avLst>
              <a:gd name="adj" fmla="val 8889"/>
            </a:avLst>
          </a:prstGeom>
          <a:solidFill>
            <a:srgbClr val="2A7F8E"/>
          </a:solidFill>
          <a:ln w="12700">
            <a:solidFill>
              <a:srgbClr val="2A7F8E"/>
            </a:solidFill>
            <a:prstDash val="solid"/>
          </a:ln>
        </p:spPr>
      </p:sp>
      <p:sp>
        <p:nvSpPr>
          <p:cNvPr id="9" name="Text 6"/>
          <p:cNvSpPr txBox="1"/>
          <p:nvPr/>
        </p:nvSpPr>
        <p:spPr>
          <a:xfrm>
            <a:off x="6217920" y="1463040"/>
            <a:ext cx="2377440" cy="822960"/>
          </a:xfrm>
          <a:prstGeom prst="rect">
            <a:avLst/>
          </a:prstGeom>
          <a:noFill/>
          <a:ln/>
        </p:spPr>
        <p:txBody>
          <a:bodyPr wrap="square" lIns="635" tIns="635" rIns="635" bIns="635" rtlCol="0" anchor="ctr"/>
          <a:lstStyle/>
          <a:p>
            <a:pPr algn="ctr" indent="0" marL="0">
              <a:buNone/>
            </a:pPr>
            <a:r>
              <a:rPr lang="en-US" sz="1300" dirty="0">
                <a:solidFill>
                  <a:srgbClr val="FFFFFF"/>
                </a:solidFill>
              </a:rPr>
              <a:t>mx.example.com</a:t>
            </a:r>
            <a:endParaRPr lang="en-US" sz="1300" dirty="0"/>
          </a:p>
        </p:txBody>
      </p:sp>
      <p:sp>
        <p:nvSpPr>
          <p:cNvPr id="10" name="box"/>
          <p:cNvSpPr/>
          <p:nvPr/>
        </p:nvSpPr>
        <p:spPr>
          <a:xfrm>
            <a:off x="9052560" y="1463040"/>
            <a:ext cx="2377440" cy="822960"/>
          </a:xfrm>
          <a:prstGeom prst="roundRect">
            <a:avLst>
              <a:gd name="adj" fmla="val 8889"/>
            </a:avLst>
          </a:prstGeom>
          <a:solidFill>
            <a:srgbClr val="2A7F8E"/>
          </a:solidFill>
          <a:ln w="12700">
            <a:solidFill>
              <a:srgbClr val="2A7F8E"/>
            </a:solidFill>
            <a:prstDash val="solid"/>
          </a:ln>
        </p:spPr>
      </p:sp>
      <p:sp>
        <p:nvSpPr>
          <p:cNvPr id="11" name="Text 8"/>
          <p:cNvSpPr txBox="1"/>
          <p:nvPr/>
        </p:nvSpPr>
        <p:spPr>
          <a:xfrm>
            <a:off x="9052560" y="1463040"/>
            <a:ext cx="2377440" cy="822960"/>
          </a:xfrm>
          <a:prstGeom prst="rect">
            <a:avLst/>
          </a:prstGeom>
          <a:noFill/>
          <a:ln/>
        </p:spPr>
        <p:txBody>
          <a:bodyPr wrap="square" lIns="635" tIns="635" rIns="635" bIns="635" rtlCol="0" anchor="ctr"/>
          <a:lstStyle/>
          <a:p>
            <a:pPr algn="ctr" indent="0" marL="0">
              <a:buNone/>
            </a:pPr>
            <a:r>
              <a:rPr lang="en-US" sz="1300" dirty="0">
                <a:solidFill>
                  <a:srgbClr val="FFFFFF"/>
                </a:solidFill>
              </a:rPr>
              <a:t>Bob</a:t>
            </a:r>
            <a:endParaRPr lang="en-US" sz="1300" dirty="0"/>
          </a:p>
        </p:txBody>
      </p:sp>
      <p:sp>
        <p:nvSpPr>
          <p:cNvPr id="12" name="Shape 9"/>
          <p:cNvSpPr/>
          <p:nvPr/>
        </p:nvSpPr>
        <p:spPr>
          <a:xfrm>
            <a:off x="2926080" y="1874520"/>
            <a:ext cx="457200" cy="914"/>
          </a:xfrm>
          <a:prstGeom prst="line">
            <a:avLst/>
          </a:prstGeom>
          <a:noFill/>
          <a:ln w="38100">
            <a:solidFill>
              <a:srgbClr val="2E7D4F"/>
            </a:solidFill>
            <a:prstDash val="solid"/>
            <a:tailEnd type="triangle"/>
          </a:ln>
        </p:spPr>
      </p:sp>
      <p:sp>
        <p:nvSpPr>
          <p:cNvPr id="13" name="Text 10"/>
          <p:cNvSpPr txBox="1"/>
          <p:nvPr/>
        </p:nvSpPr>
        <p:spPr>
          <a:xfrm>
            <a:off x="2880360" y="1280160"/>
            <a:ext cx="54864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2E7D4F"/>
                </a:solidFill>
              </a:rPr>
              <a:t>TLS</a:t>
            </a:r>
            <a:endParaRPr lang="en-US" sz="1200" dirty="0"/>
          </a:p>
        </p:txBody>
      </p:sp>
      <p:sp>
        <p:nvSpPr>
          <p:cNvPr id="14" name="Shape 11"/>
          <p:cNvSpPr/>
          <p:nvPr/>
        </p:nvSpPr>
        <p:spPr>
          <a:xfrm>
            <a:off x="5760720" y="1874520"/>
            <a:ext cx="457200" cy="914"/>
          </a:xfrm>
          <a:prstGeom prst="line">
            <a:avLst/>
          </a:prstGeom>
          <a:noFill/>
          <a:ln w="38100">
            <a:solidFill>
              <a:srgbClr val="2E7D4F"/>
            </a:solidFill>
            <a:prstDash val="solid"/>
            <a:tailEnd type="triangle"/>
          </a:ln>
        </p:spPr>
      </p:sp>
      <p:sp>
        <p:nvSpPr>
          <p:cNvPr id="15" name="Text 12"/>
          <p:cNvSpPr txBox="1"/>
          <p:nvPr/>
        </p:nvSpPr>
        <p:spPr>
          <a:xfrm>
            <a:off x="5715000" y="1280160"/>
            <a:ext cx="54864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2E7D4F"/>
                </a:solidFill>
              </a:rPr>
              <a:t>TLS</a:t>
            </a:r>
            <a:endParaRPr lang="en-US" sz="1200" dirty="0"/>
          </a:p>
        </p:txBody>
      </p:sp>
      <p:sp>
        <p:nvSpPr>
          <p:cNvPr id="16" name="Shape 13"/>
          <p:cNvSpPr/>
          <p:nvPr/>
        </p:nvSpPr>
        <p:spPr>
          <a:xfrm>
            <a:off x="8595360" y="1874520"/>
            <a:ext cx="457200" cy="914"/>
          </a:xfrm>
          <a:prstGeom prst="line">
            <a:avLst/>
          </a:prstGeom>
          <a:noFill/>
          <a:ln w="38100">
            <a:solidFill>
              <a:srgbClr val="2E7D4F"/>
            </a:solidFill>
            <a:prstDash val="solid"/>
            <a:tailEnd type="triangle"/>
          </a:ln>
        </p:spPr>
      </p:sp>
      <p:sp>
        <p:nvSpPr>
          <p:cNvPr id="17" name="Text 14"/>
          <p:cNvSpPr txBox="1"/>
          <p:nvPr/>
        </p:nvSpPr>
        <p:spPr>
          <a:xfrm>
            <a:off x="8549640" y="1280160"/>
            <a:ext cx="54864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2E7D4F"/>
                </a:solidFill>
              </a:rPr>
              <a:t>TLS</a:t>
            </a:r>
            <a:endParaRPr lang="en-US" sz="1200" dirty="0"/>
          </a:p>
        </p:txBody>
      </p:sp>
      <p:sp>
        <p:nvSpPr>
          <p:cNvPr id="18" name="box"/>
          <p:cNvSpPr/>
          <p:nvPr/>
        </p:nvSpPr>
        <p:spPr>
          <a:xfrm>
            <a:off x="3657600" y="2468880"/>
            <a:ext cx="1828800" cy="502920"/>
          </a:xfrm>
          <a:prstGeom prst="roundRect">
            <a:avLst>
              <a:gd name="adj" fmla="val 14545"/>
            </a:avLst>
          </a:prstGeom>
          <a:solidFill>
            <a:srgbClr val="F2D6D6"/>
          </a:solidFill>
          <a:ln w="12700">
            <a:solidFill>
              <a:srgbClr val="F2D6D6"/>
            </a:solidFill>
            <a:prstDash val="solid"/>
          </a:ln>
        </p:spPr>
      </p:sp>
      <p:sp>
        <p:nvSpPr>
          <p:cNvPr id="19" name="Text 16"/>
          <p:cNvSpPr txBox="1"/>
          <p:nvPr/>
        </p:nvSpPr>
        <p:spPr>
          <a:xfrm>
            <a:off x="3657600" y="2468880"/>
            <a:ext cx="1828800" cy="502920"/>
          </a:xfrm>
          <a:prstGeom prst="rect">
            <a:avLst/>
          </a:prstGeom>
          <a:noFill/>
          <a:ln/>
        </p:spPr>
        <p:txBody>
          <a:bodyPr wrap="square" lIns="635" tIns="635" rIns="635" bIns="635" rtlCol="0" anchor="ctr"/>
          <a:lstStyle/>
          <a:p>
            <a:pPr algn="ctr" indent="0" marL="0">
              <a:buNone/>
            </a:pPr>
            <a:r>
              <a:rPr lang="en-US" sz="1100" dirty="0">
                <a:solidFill>
                  <a:srgbClr val="1B2430"/>
                </a:solidFill>
              </a:rPr>
              <a:t>reads in clear</a:t>
            </a:r>
            <a:endParaRPr lang="en-US" sz="1100" dirty="0"/>
          </a:p>
        </p:txBody>
      </p:sp>
      <p:sp>
        <p:nvSpPr>
          <p:cNvPr id="20" name="box"/>
          <p:cNvSpPr/>
          <p:nvPr/>
        </p:nvSpPr>
        <p:spPr>
          <a:xfrm>
            <a:off x="6492240" y="2468880"/>
            <a:ext cx="1828800" cy="502920"/>
          </a:xfrm>
          <a:prstGeom prst="roundRect">
            <a:avLst>
              <a:gd name="adj" fmla="val 14545"/>
            </a:avLst>
          </a:prstGeom>
          <a:solidFill>
            <a:srgbClr val="F2D6D6"/>
          </a:solidFill>
          <a:ln w="12700">
            <a:solidFill>
              <a:srgbClr val="F2D6D6"/>
            </a:solidFill>
            <a:prstDash val="solid"/>
          </a:ln>
        </p:spPr>
      </p:sp>
      <p:sp>
        <p:nvSpPr>
          <p:cNvPr id="21" name="Text 18"/>
          <p:cNvSpPr txBox="1"/>
          <p:nvPr/>
        </p:nvSpPr>
        <p:spPr>
          <a:xfrm>
            <a:off x="6492240" y="2468880"/>
            <a:ext cx="1828800" cy="502920"/>
          </a:xfrm>
          <a:prstGeom prst="rect">
            <a:avLst/>
          </a:prstGeom>
          <a:noFill/>
          <a:ln/>
        </p:spPr>
        <p:txBody>
          <a:bodyPr wrap="square" lIns="635" tIns="635" rIns="635" bIns="635" rtlCol="0" anchor="ctr"/>
          <a:lstStyle/>
          <a:p>
            <a:pPr algn="ctr" indent="0" marL="0">
              <a:buNone/>
            </a:pPr>
            <a:r>
              <a:rPr lang="en-US" sz="1100" dirty="0">
                <a:solidFill>
                  <a:srgbClr val="1B2430"/>
                </a:solidFill>
              </a:rPr>
              <a:t>reads in clear</a:t>
            </a:r>
            <a:endParaRPr lang="en-US" sz="1100" dirty="0"/>
          </a:p>
        </p:txBody>
      </p:sp>
      <p:sp>
        <p:nvSpPr>
          <p:cNvPr id="22" name="Shape 19"/>
          <p:cNvSpPr/>
          <p:nvPr/>
        </p:nvSpPr>
        <p:spPr>
          <a:xfrm>
            <a:off x="1737360" y="3429000"/>
            <a:ext cx="8503920" cy="914"/>
          </a:xfrm>
          <a:prstGeom prst="line">
            <a:avLst/>
          </a:prstGeom>
          <a:noFill/>
          <a:ln w="50800">
            <a:solidFill>
              <a:srgbClr val="1F3A5F"/>
            </a:solidFill>
            <a:prstDash val="solid"/>
            <a:headEnd type="oval"/>
            <a:tailEnd type="triangle"/>
          </a:ln>
        </p:spPr>
      </p:sp>
      <p:sp>
        <p:nvSpPr>
          <p:cNvPr id="23" name="Text 20"/>
          <p:cNvSpPr txBox="1"/>
          <p:nvPr/>
        </p:nvSpPr>
        <p:spPr>
          <a:xfrm>
            <a:off x="1737360" y="3520440"/>
            <a:ext cx="8503920" cy="365760"/>
          </a:xfrm>
          <a:prstGeom prst="rect">
            <a:avLst/>
          </a:prstGeom>
          <a:noFill/>
          <a:ln/>
        </p:spPr>
        <p:txBody>
          <a:bodyPr wrap="square" lIns="0" tIns="0" rIns="0" bIns="0" rtlCol="0" anchor="t"/>
          <a:lstStyle/>
          <a:p>
            <a:pPr algn="ctr" indent="0" marL="0">
              <a:spcAft>
                <a:spcPts val="400"/>
              </a:spcAft>
              <a:buNone/>
            </a:pPr>
            <a:r>
              <a:rPr lang="en-US" sz="1300" b="1" dirty="0">
                <a:solidFill>
                  <a:srgbClr val="1F3A5F"/>
                </a:solidFill>
              </a:rPr>
              <a:t>S/MIME or OpenPGP</a:t>
            </a:r>
            <a:r>
              <a:rPr lang="en-US" sz="1300" dirty="0">
                <a:solidFill>
                  <a:srgbClr val="1F3A5F"/>
                </a:solidFill>
              </a:rPr>
              <a:t>: encrypted by Alice’s user agent, decrypted only by Bob’s</a:t>
            </a:r>
            <a:endParaRPr lang="en-US" sz="1300" dirty="0"/>
          </a:p>
        </p:txBody>
      </p:sp>
      <p:sp>
        <p:nvSpPr>
          <p:cNvPr id="24" name="Shape 21"/>
          <p:cNvSpPr/>
          <p:nvPr/>
        </p:nvSpPr>
        <p:spPr>
          <a:xfrm>
            <a:off x="548640" y="4270248"/>
            <a:ext cx="384048" cy="384048"/>
          </a:xfrm>
          <a:prstGeom prst="ellipse">
            <a:avLst/>
          </a:prstGeom>
          <a:solidFill>
            <a:srgbClr val="B9772A"/>
          </a:solidFill>
          <a:ln w="12700">
            <a:solidFill>
              <a:srgbClr val="B9772A"/>
            </a:solidFill>
            <a:prstDash val="solid"/>
          </a:ln>
        </p:spPr>
      </p:sp>
      <p:sp>
        <p:nvSpPr>
          <p:cNvPr id="25" name="Text 22"/>
          <p:cNvSpPr txBox="1"/>
          <p:nvPr/>
        </p:nvSpPr>
        <p:spPr>
          <a:xfrm>
            <a:off x="548640" y="4270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6" name="Text 23"/>
          <p:cNvSpPr txBox="1"/>
          <p:nvPr/>
        </p:nvSpPr>
        <p:spPr>
          <a:xfrm>
            <a:off x="1051560" y="4251960"/>
            <a:ext cx="10561320" cy="118872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Hop-by-hop TLS defeats the eavesdropper on a link; end-to-end encryption also defeats a curious or compromised server — but webmail and server-side search then cannot read the text either.</a:t>
            </a:r>
            <a:endParaRPr lang="en-US" sz="1300" dirty="0"/>
          </a:p>
        </p:txBody>
      </p:sp>
      <p:sp>
        <p:nvSpPr>
          <p:cNvPr id="2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8" name="Text 2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TLS protects the transport of mail; S/MIME and OpenPGP protect the mail itself.</a:t>
            </a:r>
            <a:endParaRPr lang="en-US" sz="1400" dirty="0"/>
          </a:p>
        </p:txBody>
      </p:sp>
      <p:sp>
        <p:nvSpPr>
          <p:cNvPr id="29" name="Text 26"/>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MIME (Multipurpose Internet Mail Extensions) · TLS (Transport Layer Security)</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 Against forged senders: SPF, DKIM, DMARC</a:t>
            </a:r>
            <a:endParaRPr lang="en-US" sz="3000" dirty="0"/>
          </a:p>
        </p:txBody>
      </p:sp>
      <p:sp>
        <p:nvSpPr>
          <p:cNvPr id="4" name="box"/>
          <p:cNvSpPr/>
          <p:nvPr/>
        </p:nvSpPr>
        <p:spPr>
          <a:xfrm>
            <a:off x="548640" y="1325880"/>
            <a:ext cx="1737360" cy="1097280"/>
          </a:xfrm>
          <a:prstGeom prst="roundRect">
            <a:avLst>
              <a:gd name="adj" fmla="val 6667"/>
            </a:avLst>
          </a:prstGeom>
          <a:solidFill>
            <a:srgbClr val="1F3A5F"/>
          </a:solidFill>
          <a:ln w="12700">
            <a:solidFill>
              <a:srgbClr val="1F3A5F"/>
            </a:solidFill>
            <a:prstDash val="solid"/>
          </a:ln>
        </p:spPr>
      </p:sp>
      <p:sp>
        <p:nvSpPr>
          <p:cNvPr id="5" name="Text 2"/>
          <p:cNvSpPr txBox="1"/>
          <p:nvPr/>
        </p:nvSpPr>
        <p:spPr>
          <a:xfrm>
            <a:off x="548640" y="1325880"/>
            <a:ext cx="1737360" cy="1097280"/>
          </a:xfrm>
          <a:prstGeom prst="rect">
            <a:avLst/>
          </a:prstGeom>
          <a:noFill/>
          <a:ln/>
        </p:spPr>
        <p:txBody>
          <a:bodyPr wrap="square" lIns="635" tIns="635" rIns="635" bIns="635" rtlCol="0" anchor="ctr"/>
          <a:lstStyle/>
          <a:p>
            <a:pPr algn="ctr" indent="0" marL="0">
              <a:buNone/>
            </a:pPr>
            <a:r>
              <a:rPr lang="en-US" sz="1300" b="1" dirty="0">
                <a:solidFill>
                  <a:srgbClr val="FFFFFF"/>
                </a:solidFill>
              </a:rPr>
              <a:t>SPF</a:t>
            </a:r>
            <a:endParaRPr lang="en-US" sz="1300" dirty="0"/>
          </a:p>
          <a:p>
            <a:pPr algn="ctr" indent="0" marL="0">
              <a:buNone/>
            </a:pPr>
            <a:r>
              <a:rPr lang="en-US" sz="1300" dirty="0">
                <a:solidFill>
                  <a:srgbClr val="FFFFFF"/>
                </a:solidFill>
              </a:rPr>
              <a:t>RFC 7208</a:t>
            </a:r>
            <a:endParaRPr lang="en-US" sz="1300" dirty="0"/>
          </a:p>
        </p:txBody>
      </p:sp>
      <p:sp>
        <p:nvSpPr>
          <p:cNvPr id="6" name="Text 3"/>
          <p:cNvSpPr txBox="1"/>
          <p:nvPr/>
        </p:nvSpPr>
        <p:spPr>
          <a:xfrm>
            <a:off x="2468880" y="1371600"/>
            <a:ext cx="9144000" cy="4114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TXT: which addresses may send for the domain</a:t>
            </a:r>
            <a:endParaRPr lang="en-US" sz="1300" dirty="0"/>
          </a:p>
        </p:txBody>
      </p:sp>
      <p:sp>
        <p:nvSpPr>
          <p:cNvPr id="7" name="box"/>
          <p:cNvSpPr/>
          <p:nvPr/>
        </p:nvSpPr>
        <p:spPr>
          <a:xfrm>
            <a:off x="2468880" y="1828800"/>
            <a:ext cx="9144000" cy="548640"/>
          </a:xfrm>
          <a:prstGeom prst="roundRect">
            <a:avLst>
              <a:gd name="adj" fmla="val 13333"/>
            </a:avLst>
          </a:prstGeom>
          <a:solidFill>
            <a:srgbClr val="EEF2F6"/>
          </a:solidFill>
          <a:ln w="12700">
            <a:solidFill>
              <a:srgbClr val="EEF2F6"/>
            </a:solidFill>
            <a:prstDash val="solid"/>
          </a:ln>
        </p:spPr>
      </p:sp>
      <p:sp>
        <p:nvSpPr>
          <p:cNvPr id="8" name="Text 5"/>
          <p:cNvSpPr txBox="1"/>
          <p:nvPr/>
        </p:nvSpPr>
        <p:spPr>
          <a:xfrm>
            <a:off x="2468880" y="1828800"/>
            <a:ext cx="9144000" cy="548640"/>
          </a:xfrm>
          <a:prstGeom prst="rect">
            <a:avLst/>
          </a:prstGeom>
          <a:noFill/>
          <a:ln/>
        </p:spPr>
        <p:txBody>
          <a:bodyPr wrap="square" lIns="101600" tIns="101600" rIns="101600" bIns="101600" rtlCol="0" anchor="ctr"/>
          <a:lstStyle/>
          <a:p>
            <a:pPr algn="l" indent="0" marL="0">
              <a:buNone/>
            </a:pPr>
            <a:r>
              <a:rPr lang="en-US" sz="1100" dirty="0">
                <a:solidFill>
                  <a:srgbClr val="1B2430"/>
                </a:solidFill>
                <a:latin typeface="Consolas" pitchFamily="34" charset="0"/>
                <a:ea typeface="Consolas" pitchFamily="34" charset="-122"/>
                <a:cs typeface="Consolas" pitchFamily="34" charset="-120"/>
              </a:rPr>
              <a:t>v=spf1 ip4:193.231.0.0/16 include:_spf.google.com -all</a:t>
            </a:r>
            <a:endParaRPr lang="en-US" sz="1100" dirty="0"/>
          </a:p>
        </p:txBody>
      </p:sp>
      <p:sp>
        <p:nvSpPr>
          <p:cNvPr id="9" name="box"/>
          <p:cNvSpPr/>
          <p:nvPr/>
        </p:nvSpPr>
        <p:spPr>
          <a:xfrm>
            <a:off x="548640" y="2606040"/>
            <a:ext cx="1737360" cy="1097280"/>
          </a:xfrm>
          <a:prstGeom prst="roundRect">
            <a:avLst>
              <a:gd name="adj" fmla="val 6667"/>
            </a:avLst>
          </a:prstGeom>
          <a:solidFill>
            <a:srgbClr val="2A7F8E"/>
          </a:solidFill>
          <a:ln w="12700">
            <a:solidFill>
              <a:srgbClr val="2A7F8E"/>
            </a:solidFill>
            <a:prstDash val="solid"/>
          </a:ln>
        </p:spPr>
      </p:sp>
      <p:sp>
        <p:nvSpPr>
          <p:cNvPr id="10" name="Text 7"/>
          <p:cNvSpPr txBox="1"/>
          <p:nvPr/>
        </p:nvSpPr>
        <p:spPr>
          <a:xfrm>
            <a:off x="548640" y="2606040"/>
            <a:ext cx="1737360" cy="1097280"/>
          </a:xfrm>
          <a:prstGeom prst="rect">
            <a:avLst/>
          </a:prstGeom>
          <a:noFill/>
          <a:ln/>
        </p:spPr>
        <p:txBody>
          <a:bodyPr wrap="square" lIns="635" tIns="635" rIns="635" bIns="635" rtlCol="0" anchor="ctr"/>
          <a:lstStyle/>
          <a:p>
            <a:pPr algn="ctr" indent="0" marL="0">
              <a:buNone/>
            </a:pPr>
            <a:r>
              <a:rPr lang="en-US" sz="1300" b="1" dirty="0">
                <a:solidFill>
                  <a:srgbClr val="FFFFFF"/>
                </a:solidFill>
              </a:rPr>
              <a:t>DKIM</a:t>
            </a:r>
            <a:endParaRPr lang="en-US" sz="1300" dirty="0"/>
          </a:p>
          <a:p>
            <a:pPr algn="ctr" indent="0" marL="0">
              <a:buNone/>
            </a:pPr>
            <a:r>
              <a:rPr lang="en-US" sz="1300" dirty="0">
                <a:solidFill>
                  <a:srgbClr val="FFFFFF"/>
                </a:solidFill>
              </a:rPr>
              <a:t>RFC 6376</a:t>
            </a:r>
            <a:endParaRPr lang="en-US" sz="1300" dirty="0"/>
          </a:p>
        </p:txBody>
      </p:sp>
      <p:sp>
        <p:nvSpPr>
          <p:cNvPr id="11" name="Text 8"/>
          <p:cNvSpPr txBox="1"/>
          <p:nvPr/>
        </p:nvSpPr>
        <p:spPr>
          <a:xfrm>
            <a:off x="2468880" y="2651760"/>
            <a:ext cx="9144000" cy="4114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 signature over header and body, key in DNS</a:t>
            </a:r>
            <a:endParaRPr lang="en-US" sz="1300" dirty="0"/>
          </a:p>
        </p:txBody>
      </p:sp>
      <p:sp>
        <p:nvSpPr>
          <p:cNvPr id="12" name="box"/>
          <p:cNvSpPr/>
          <p:nvPr/>
        </p:nvSpPr>
        <p:spPr>
          <a:xfrm>
            <a:off x="2468880" y="3108960"/>
            <a:ext cx="9144000" cy="548640"/>
          </a:xfrm>
          <a:prstGeom prst="roundRect">
            <a:avLst>
              <a:gd name="adj" fmla="val 13333"/>
            </a:avLst>
          </a:prstGeom>
          <a:solidFill>
            <a:srgbClr val="EEF2F6"/>
          </a:solidFill>
          <a:ln w="12700">
            <a:solidFill>
              <a:srgbClr val="EEF2F6"/>
            </a:solidFill>
            <a:prstDash val="solid"/>
          </a:ln>
        </p:spPr>
      </p:sp>
      <p:sp>
        <p:nvSpPr>
          <p:cNvPr id="13" name="Text 10"/>
          <p:cNvSpPr txBox="1"/>
          <p:nvPr/>
        </p:nvSpPr>
        <p:spPr>
          <a:xfrm>
            <a:off x="2468880" y="3108960"/>
            <a:ext cx="9144000" cy="548640"/>
          </a:xfrm>
          <a:prstGeom prst="rect">
            <a:avLst/>
          </a:prstGeom>
          <a:noFill/>
          <a:ln/>
        </p:spPr>
        <p:txBody>
          <a:bodyPr wrap="square" lIns="101600" tIns="101600" rIns="101600" bIns="101600" rtlCol="0" anchor="ctr"/>
          <a:lstStyle/>
          <a:p>
            <a:pPr algn="l" indent="0" marL="0">
              <a:buNone/>
            </a:pPr>
            <a:r>
              <a:rPr lang="en-US" sz="1100" dirty="0">
                <a:solidFill>
                  <a:srgbClr val="1B2430"/>
                </a:solidFill>
                <a:latin typeface="Consolas" pitchFamily="34" charset="0"/>
                <a:ea typeface="Consolas" pitchFamily="34" charset="-122"/>
                <a:cs typeface="Consolas" pitchFamily="34" charset="-120"/>
              </a:rPr>
              <a:t>DKIM-Signature: v=1; d=uni.ro; s=sel1; b=…</a:t>
            </a:r>
            <a:endParaRPr lang="en-US" sz="1100" dirty="0"/>
          </a:p>
        </p:txBody>
      </p:sp>
      <p:sp>
        <p:nvSpPr>
          <p:cNvPr id="14" name="box"/>
          <p:cNvSpPr/>
          <p:nvPr/>
        </p:nvSpPr>
        <p:spPr>
          <a:xfrm>
            <a:off x="548640" y="3886200"/>
            <a:ext cx="1737360" cy="1097280"/>
          </a:xfrm>
          <a:prstGeom prst="roundRect">
            <a:avLst>
              <a:gd name="adj" fmla="val 6667"/>
            </a:avLst>
          </a:prstGeom>
          <a:solidFill>
            <a:srgbClr val="B9772A"/>
          </a:solidFill>
          <a:ln w="12700">
            <a:solidFill>
              <a:srgbClr val="B9772A"/>
            </a:solidFill>
            <a:prstDash val="solid"/>
          </a:ln>
        </p:spPr>
      </p:sp>
      <p:sp>
        <p:nvSpPr>
          <p:cNvPr id="15" name="Text 12"/>
          <p:cNvSpPr txBox="1"/>
          <p:nvPr/>
        </p:nvSpPr>
        <p:spPr>
          <a:xfrm>
            <a:off x="548640" y="3886200"/>
            <a:ext cx="1737360" cy="1097280"/>
          </a:xfrm>
          <a:prstGeom prst="rect">
            <a:avLst/>
          </a:prstGeom>
          <a:noFill/>
          <a:ln/>
        </p:spPr>
        <p:txBody>
          <a:bodyPr wrap="square" lIns="635" tIns="635" rIns="635" bIns="635" rtlCol="0" anchor="ctr"/>
          <a:lstStyle/>
          <a:p>
            <a:pPr algn="ctr" indent="0" marL="0">
              <a:buNone/>
            </a:pPr>
            <a:r>
              <a:rPr lang="en-US" sz="1300" b="1" dirty="0">
                <a:solidFill>
                  <a:srgbClr val="FFFFFF"/>
                </a:solidFill>
              </a:rPr>
              <a:t>DMARC</a:t>
            </a:r>
            <a:endParaRPr lang="en-US" sz="1300" dirty="0"/>
          </a:p>
          <a:p>
            <a:pPr algn="ctr" indent="0" marL="0">
              <a:buNone/>
            </a:pPr>
            <a:r>
              <a:rPr lang="en-US" sz="1300" dirty="0">
                <a:solidFill>
                  <a:srgbClr val="FFFFFF"/>
                </a:solidFill>
              </a:rPr>
              <a:t>RFC 7489</a:t>
            </a:r>
            <a:endParaRPr lang="en-US" sz="1300" dirty="0"/>
          </a:p>
        </p:txBody>
      </p:sp>
      <p:sp>
        <p:nvSpPr>
          <p:cNvPr id="16" name="Text 13"/>
          <p:cNvSpPr txBox="1"/>
          <p:nvPr/>
        </p:nvSpPr>
        <p:spPr>
          <a:xfrm>
            <a:off x="2468880" y="3931920"/>
            <a:ext cx="9144000" cy="4114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policy at _dmarc.domain: From: must align with SPF or DKIM</a:t>
            </a:r>
            <a:endParaRPr lang="en-US" sz="1300" dirty="0"/>
          </a:p>
        </p:txBody>
      </p:sp>
      <p:sp>
        <p:nvSpPr>
          <p:cNvPr id="17" name="box"/>
          <p:cNvSpPr/>
          <p:nvPr/>
        </p:nvSpPr>
        <p:spPr>
          <a:xfrm>
            <a:off x="2468880" y="4389120"/>
            <a:ext cx="9144000" cy="548640"/>
          </a:xfrm>
          <a:prstGeom prst="roundRect">
            <a:avLst>
              <a:gd name="adj" fmla="val 13333"/>
            </a:avLst>
          </a:prstGeom>
          <a:solidFill>
            <a:srgbClr val="EEF2F6"/>
          </a:solidFill>
          <a:ln w="12700">
            <a:solidFill>
              <a:srgbClr val="EEF2F6"/>
            </a:solidFill>
            <a:prstDash val="solid"/>
          </a:ln>
        </p:spPr>
      </p:sp>
      <p:sp>
        <p:nvSpPr>
          <p:cNvPr id="18" name="Text 15"/>
          <p:cNvSpPr txBox="1"/>
          <p:nvPr/>
        </p:nvSpPr>
        <p:spPr>
          <a:xfrm>
            <a:off x="2468880" y="4389120"/>
            <a:ext cx="9144000" cy="548640"/>
          </a:xfrm>
          <a:prstGeom prst="rect">
            <a:avLst/>
          </a:prstGeom>
          <a:noFill/>
          <a:ln/>
        </p:spPr>
        <p:txBody>
          <a:bodyPr wrap="square" lIns="101600" tIns="101600" rIns="101600" bIns="101600" rtlCol="0" anchor="ctr"/>
          <a:lstStyle/>
          <a:p>
            <a:pPr algn="l" indent="0" marL="0">
              <a:buNone/>
            </a:pPr>
            <a:r>
              <a:rPr lang="en-US" sz="1100" dirty="0">
                <a:solidFill>
                  <a:srgbClr val="1B2430"/>
                </a:solidFill>
                <a:latin typeface="Consolas" pitchFamily="34" charset="0"/>
                <a:ea typeface="Consolas" pitchFamily="34" charset="-122"/>
                <a:cs typeface="Consolas" pitchFamily="34" charset="-120"/>
              </a:rPr>
              <a:t>v=DMARC1; p=reject; rua=mailto:dmarc@uni.ro</a:t>
            </a:r>
            <a:endParaRPr lang="en-US" sz="1100" dirty="0"/>
          </a:p>
        </p:txBody>
      </p:sp>
      <p:sp>
        <p:nvSpPr>
          <p:cNvPr id="19" name="Text 16"/>
          <p:cNvSpPr txBox="1"/>
          <p:nvPr/>
        </p:nvSpPr>
        <p:spPr>
          <a:xfrm>
            <a:off x="548640" y="5212080"/>
            <a:ext cx="11064240" cy="411480"/>
          </a:xfrm>
          <a:prstGeom prst="rect">
            <a:avLst/>
          </a:prstGeom>
          <a:noFill/>
          <a:ln/>
        </p:spPr>
        <p:txBody>
          <a:bodyPr wrap="square" lIns="0" tIns="0" rIns="0" bIns="0" rtlCol="0" anchor="t"/>
          <a:lstStyle/>
          <a:p>
            <a:pPr algn="l" indent="0" marL="0">
              <a:spcAft>
                <a:spcPts val="400"/>
              </a:spcAft>
              <a:buNone/>
            </a:pPr>
            <a:r>
              <a:rPr lang="en-US" sz="1200" dirty="0">
                <a:solidFill>
                  <a:srgbClr val="5B6770"/>
                </a:solidFill>
              </a:rPr>
              <a:t>Since 2024 the largest mailbox providers reject bulk mail that fails these checks; spam filters add content and reputation.</a:t>
            </a:r>
            <a:endParaRPr lang="en-US" sz="1200" dirty="0"/>
          </a:p>
        </p:txBody>
      </p:sp>
      <p:sp>
        <p:nvSpPr>
          <p:cNvPr id="2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1" name="Text 1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SPF: who may send; DKIM: was it signed; DMARC: what to do when they fail — all published in DNS.</a:t>
            </a:r>
            <a:endParaRPr lang="en-US" sz="1400" dirty="0"/>
          </a:p>
        </p:txBody>
      </p:sp>
      <p:sp>
        <p:nvSpPr>
          <p:cNvPr id="22" name="Text 19"/>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DMARC (Domain-based Message Authentication, Reporting and Conformance) · DKIM (DomainKeys Identified Mail) · DNS (Domain Name System) · RFC (Request for Comments) · SPF (Sender Policy Framework) · TXT (text)</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6 · Usenet: newsgroups in hierarchies</a:t>
            </a:r>
            <a:endParaRPr lang="en-US" sz="3000" dirty="0"/>
          </a:p>
        </p:txBody>
      </p:sp>
      <p:sp>
        <p:nvSpPr>
          <p:cNvPr id="4" name="box"/>
          <p:cNvSpPr/>
          <p:nvPr/>
        </p:nvSpPr>
        <p:spPr>
          <a:xfrm>
            <a:off x="4937760" y="1280160"/>
            <a:ext cx="2286000" cy="640080"/>
          </a:xfrm>
          <a:prstGeom prst="roundRect">
            <a:avLst>
              <a:gd name="adj" fmla="val 11429"/>
            </a:avLst>
          </a:prstGeom>
          <a:solidFill>
            <a:srgbClr val="1F3A5F"/>
          </a:solidFill>
          <a:ln w="12700">
            <a:solidFill>
              <a:srgbClr val="1F3A5F"/>
            </a:solidFill>
            <a:prstDash val="solid"/>
          </a:ln>
        </p:spPr>
      </p:sp>
      <p:sp>
        <p:nvSpPr>
          <p:cNvPr id="5" name="Text 2"/>
          <p:cNvSpPr txBox="1"/>
          <p:nvPr/>
        </p:nvSpPr>
        <p:spPr>
          <a:xfrm>
            <a:off x="4937760" y="1280160"/>
            <a:ext cx="2286000" cy="640080"/>
          </a:xfrm>
          <a:prstGeom prst="rect">
            <a:avLst/>
          </a:prstGeom>
          <a:noFill/>
          <a:ln/>
        </p:spPr>
        <p:txBody>
          <a:bodyPr wrap="square" lIns="635" tIns="635" rIns="635" bIns="635" rtlCol="0" anchor="ctr"/>
          <a:lstStyle/>
          <a:p>
            <a:pPr algn="ctr" indent="0" marL="0">
              <a:buNone/>
            </a:pPr>
            <a:r>
              <a:rPr lang="en-US" sz="1500" b="1" dirty="0">
                <a:solidFill>
                  <a:srgbClr val="FFFFFF"/>
                </a:solidFill>
              </a:rPr>
              <a:t>Usenet</a:t>
            </a:r>
            <a:endParaRPr lang="en-US" sz="1500" dirty="0"/>
          </a:p>
        </p:txBody>
      </p:sp>
      <p:sp>
        <p:nvSpPr>
          <p:cNvPr id="6" name="box"/>
          <p:cNvSpPr/>
          <p:nvPr/>
        </p:nvSpPr>
        <p:spPr>
          <a:xfrm>
            <a:off x="548640" y="2331720"/>
            <a:ext cx="1051560" cy="548640"/>
          </a:xfrm>
          <a:prstGeom prst="roundRect">
            <a:avLst>
              <a:gd name="adj" fmla="val 13333"/>
            </a:avLst>
          </a:prstGeom>
          <a:solidFill>
            <a:srgbClr val="2A7F8E"/>
          </a:solidFill>
          <a:ln w="12700">
            <a:solidFill>
              <a:srgbClr val="2A7F8E"/>
            </a:solidFill>
            <a:prstDash val="solid"/>
          </a:ln>
        </p:spPr>
      </p:sp>
      <p:sp>
        <p:nvSpPr>
          <p:cNvPr id="7" name="Text 4"/>
          <p:cNvSpPr txBox="1"/>
          <p:nvPr/>
        </p:nvSpPr>
        <p:spPr>
          <a:xfrm>
            <a:off x="548640" y="2331720"/>
            <a:ext cx="1051560" cy="548640"/>
          </a:xfrm>
          <a:prstGeom prst="rect">
            <a:avLst/>
          </a:prstGeom>
          <a:noFill/>
          <a:ln/>
        </p:spPr>
        <p:txBody>
          <a:bodyPr wrap="square" lIns="635" tIns="635" rIns="635" bIns="635"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comp.</a:t>
            </a:r>
            <a:endParaRPr lang="en-US" sz="1100" dirty="0"/>
          </a:p>
        </p:txBody>
      </p:sp>
      <p:sp>
        <p:nvSpPr>
          <p:cNvPr id="8" name="Shape 5"/>
          <p:cNvSpPr/>
          <p:nvPr/>
        </p:nvSpPr>
        <p:spPr>
          <a:xfrm flipH="1">
            <a:off x="1069848" y="1920240"/>
            <a:ext cx="5010912" cy="411480"/>
          </a:xfrm>
          <a:prstGeom prst="line">
            <a:avLst/>
          </a:prstGeom>
          <a:noFill/>
          <a:ln w="12700">
            <a:solidFill>
              <a:srgbClr val="9AA5AE"/>
            </a:solidFill>
            <a:prstDash val="solid"/>
            <a:tailEnd type="triangle"/>
          </a:ln>
        </p:spPr>
      </p:sp>
      <p:sp>
        <p:nvSpPr>
          <p:cNvPr id="9" name="box"/>
          <p:cNvSpPr/>
          <p:nvPr/>
        </p:nvSpPr>
        <p:spPr>
          <a:xfrm>
            <a:off x="1673352" y="2331720"/>
            <a:ext cx="1051560" cy="548640"/>
          </a:xfrm>
          <a:prstGeom prst="roundRect">
            <a:avLst>
              <a:gd name="adj" fmla="val 13333"/>
            </a:avLst>
          </a:prstGeom>
          <a:solidFill>
            <a:srgbClr val="2A7F8E"/>
          </a:solidFill>
          <a:ln w="12700">
            <a:solidFill>
              <a:srgbClr val="2A7F8E"/>
            </a:solidFill>
            <a:prstDash val="solid"/>
          </a:ln>
        </p:spPr>
      </p:sp>
      <p:sp>
        <p:nvSpPr>
          <p:cNvPr id="10" name="Text 7"/>
          <p:cNvSpPr txBox="1"/>
          <p:nvPr/>
        </p:nvSpPr>
        <p:spPr>
          <a:xfrm>
            <a:off x="1673352" y="2331720"/>
            <a:ext cx="1051560" cy="548640"/>
          </a:xfrm>
          <a:prstGeom prst="rect">
            <a:avLst/>
          </a:prstGeom>
          <a:noFill/>
          <a:ln/>
        </p:spPr>
        <p:txBody>
          <a:bodyPr wrap="square" lIns="635" tIns="635" rIns="635" bIns="635"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sci.</a:t>
            </a:r>
            <a:endParaRPr lang="en-US" sz="1100" dirty="0"/>
          </a:p>
        </p:txBody>
      </p:sp>
      <p:sp>
        <p:nvSpPr>
          <p:cNvPr id="11" name="Shape 8"/>
          <p:cNvSpPr/>
          <p:nvPr/>
        </p:nvSpPr>
        <p:spPr>
          <a:xfrm flipH="1">
            <a:off x="2194560" y="1920240"/>
            <a:ext cx="3886200" cy="411480"/>
          </a:xfrm>
          <a:prstGeom prst="line">
            <a:avLst/>
          </a:prstGeom>
          <a:noFill/>
          <a:ln w="12700">
            <a:solidFill>
              <a:srgbClr val="9AA5AE"/>
            </a:solidFill>
            <a:prstDash val="solid"/>
            <a:tailEnd type="triangle"/>
          </a:ln>
        </p:spPr>
      </p:sp>
      <p:sp>
        <p:nvSpPr>
          <p:cNvPr id="12" name="box"/>
          <p:cNvSpPr/>
          <p:nvPr/>
        </p:nvSpPr>
        <p:spPr>
          <a:xfrm>
            <a:off x="2798064" y="2331720"/>
            <a:ext cx="1051560" cy="548640"/>
          </a:xfrm>
          <a:prstGeom prst="roundRect">
            <a:avLst>
              <a:gd name="adj" fmla="val 13333"/>
            </a:avLst>
          </a:prstGeom>
          <a:solidFill>
            <a:srgbClr val="2A7F8E"/>
          </a:solidFill>
          <a:ln w="12700">
            <a:solidFill>
              <a:srgbClr val="2A7F8E"/>
            </a:solidFill>
            <a:prstDash val="solid"/>
          </a:ln>
        </p:spPr>
      </p:sp>
      <p:sp>
        <p:nvSpPr>
          <p:cNvPr id="13" name="Text 10"/>
          <p:cNvSpPr txBox="1"/>
          <p:nvPr/>
        </p:nvSpPr>
        <p:spPr>
          <a:xfrm>
            <a:off x="2798064" y="2331720"/>
            <a:ext cx="1051560" cy="548640"/>
          </a:xfrm>
          <a:prstGeom prst="rect">
            <a:avLst/>
          </a:prstGeom>
          <a:noFill/>
          <a:ln/>
        </p:spPr>
        <p:txBody>
          <a:bodyPr wrap="square" lIns="635" tIns="635" rIns="635" bIns="635"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rec.</a:t>
            </a:r>
            <a:endParaRPr lang="en-US" sz="1100" dirty="0"/>
          </a:p>
        </p:txBody>
      </p:sp>
      <p:sp>
        <p:nvSpPr>
          <p:cNvPr id="14" name="Shape 11"/>
          <p:cNvSpPr/>
          <p:nvPr/>
        </p:nvSpPr>
        <p:spPr>
          <a:xfrm flipH="1">
            <a:off x="3319272" y="1920240"/>
            <a:ext cx="2761488" cy="411480"/>
          </a:xfrm>
          <a:prstGeom prst="line">
            <a:avLst/>
          </a:prstGeom>
          <a:noFill/>
          <a:ln w="12700">
            <a:solidFill>
              <a:srgbClr val="9AA5AE"/>
            </a:solidFill>
            <a:prstDash val="solid"/>
            <a:tailEnd type="triangle"/>
          </a:ln>
        </p:spPr>
      </p:sp>
      <p:sp>
        <p:nvSpPr>
          <p:cNvPr id="15" name="box"/>
          <p:cNvSpPr/>
          <p:nvPr/>
        </p:nvSpPr>
        <p:spPr>
          <a:xfrm>
            <a:off x="3922776" y="2331720"/>
            <a:ext cx="1051560" cy="548640"/>
          </a:xfrm>
          <a:prstGeom prst="roundRect">
            <a:avLst>
              <a:gd name="adj" fmla="val 13333"/>
            </a:avLst>
          </a:prstGeom>
          <a:solidFill>
            <a:srgbClr val="2A7F8E"/>
          </a:solidFill>
          <a:ln w="12700">
            <a:solidFill>
              <a:srgbClr val="2A7F8E"/>
            </a:solidFill>
            <a:prstDash val="solid"/>
          </a:ln>
        </p:spPr>
      </p:sp>
      <p:sp>
        <p:nvSpPr>
          <p:cNvPr id="16" name="Text 13"/>
          <p:cNvSpPr txBox="1"/>
          <p:nvPr/>
        </p:nvSpPr>
        <p:spPr>
          <a:xfrm>
            <a:off x="3922776" y="2331720"/>
            <a:ext cx="1051560" cy="548640"/>
          </a:xfrm>
          <a:prstGeom prst="rect">
            <a:avLst/>
          </a:prstGeom>
          <a:noFill/>
          <a:ln/>
        </p:spPr>
        <p:txBody>
          <a:bodyPr wrap="square" lIns="635" tIns="635" rIns="635" bIns="635"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soc.</a:t>
            </a:r>
            <a:endParaRPr lang="en-US" sz="1100" dirty="0"/>
          </a:p>
        </p:txBody>
      </p:sp>
      <p:sp>
        <p:nvSpPr>
          <p:cNvPr id="17" name="Shape 14"/>
          <p:cNvSpPr/>
          <p:nvPr/>
        </p:nvSpPr>
        <p:spPr>
          <a:xfrm flipH="1">
            <a:off x="4443984" y="1920240"/>
            <a:ext cx="1636776" cy="411480"/>
          </a:xfrm>
          <a:prstGeom prst="line">
            <a:avLst/>
          </a:prstGeom>
          <a:noFill/>
          <a:ln w="12700">
            <a:solidFill>
              <a:srgbClr val="9AA5AE"/>
            </a:solidFill>
            <a:prstDash val="solid"/>
            <a:tailEnd type="triangle"/>
          </a:ln>
        </p:spPr>
      </p:sp>
      <p:sp>
        <p:nvSpPr>
          <p:cNvPr id="18" name="box"/>
          <p:cNvSpPr/>
          <p:nvPr/>
        </p:nvSpPr>
        <p:spPr>
          <a:xfrm>
            <a:off x="5047488" y="2331720"/>
            <a:ext cx="1051560" cy="548640"/>
          </a:xfrm>
          <a:prstGeom prst="roundRect">
            <a:avLst>
              <a:gd name="adj" fmla="val 13333"/>
            </a:avLst>
          </a:prstGeom>
          <a:solidFill>
            <a:srgbClr val="2A7F8E"/>
          </a:solidFill>
          <a:ln w="12700">
            <a:solidFill>
              <a:srgbClr val="2A7F8E"/>
            </a:solidFill>
            <a:prstDash val="solid"/>
          </a:ln>
        </p:spPr>
      </p:sp>
      <p:sp>
        <p:nvSpPr>
          <p:cNvPr id="19" name="Text 16"/>
          <p:cNvSpPr txBox="1"/>
          <p:nvPr/>
        </p:nvSpPr>
        <p:spPr>
          <a:xfrm>
            <a:off x="5047488" y="2331720"/>
            <a:ext cx="1051560" cy="548640"/>
          </a:xfrm>
          <a:prstGeom prst="rect">
            <a:avLst/>
          </a:prstGeom>
          <a:noFill/>
          <a:ln/>
        </p:spPr>
        <p:txBody>
          <a:bodyPr wrap="square" lIns="635" tIns="635" rIns="635" bIns="635"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talk.</a:t>
            </a:r>
            <a:endParaRPr lang="en-US" sz="1100" dirty="0"/>
          </a:p>
        </p:txBody>
      </p:sp>
      <p:sp>
        <p:nvSpPr>
          <p:cNvPr id="20" name="Shape 17"/>
          <p:cNvSpPr/>
          <p:nvPr/>
        </p:nvSpPr>
        <p:spPr>
          <a:xfrm flipH="1">
            <a:off x="5568696" y="1920240"/>
            <a:ext cx="512064" cy="411480"/>
          </a:xfrm>
          <a:prstGeom prst="line">
            <a:avLst/>
          </a:prstGeom>
          <a:noFill/>
          <a:ln w="12700">
            <a:solidFill>
              <a:srgbClr val="9AA5AE"/>
            </a:solidFill>
            <a:prstDash val="solid"/>
            <a:tailEnd type="triangle"/>
          </a:ln>
        </p:spPr>
      </p:sp>
      <p:sp>
        <p:nvSpPr>
          <p:cNvPr id="21" name="box"/>
          <p:cNvSpPr/>
          <p:nvPr/>
        </p:nvSpPr>
        <p:spPr>
          <a:xfrm>
            <a:off x="6172200" y="2331720"/>
            <a:ext cx="1051560" cy="548640"/>
          </a:xfrm>
          <a:prstGeom prst="roundRect">
            <a:avLst>
              <a:gd name="adj" fmla="val 13333"/>
            </a:avLst>
          </a:prstGeom>
          <a:solidFill>
            <a:srgbClr val="2A7F8E"/>
          </a:solidFill>
          <a:ln w="12700">
            <a:solidFill>
              <a:srgbClr val="2A7F8E"/>
            </a:solidFill>
            <a:prstDash val="solid"/>
          </a:ln>
        </p:spPr>
      </p:sp>
      <p:sp>
        <p:nvSpPr>
          <p:cNvPr id="22" name="Text 19"/>
          <p:cNvSpPr txBox="1"/>
          <p:nvPr/>
        </p:nvSpPr>
        <p:spPr>
          <a:xfrm>
            <a:off x="6172200" y="2331720"/>
            <a:ext cx="1051560" cy="548640"/>
          </a:xfrm>
          <a:prstGeom prst="rect">
            <a:avLst/>
          </a:prstGeom>
          <a:noFill/>
          <a:ln/>
        </p:spPr>
        <p:txBody>
          <a:bodyPr wrap="square" lIns="635" tIns="635" rIns="635" bIns="635"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news.</a:t>
            </a:r>
            <a:endParaRPr lang="en-US" sz="1100" dirty="0"/>
          </a:p>
        </p:txBody>
      </p:sp>
      <p:sp>
        <p:nvSpPr>
          <p:cNvPr id="23" name="Shape 20"/>
          <p:cNvSpPr/>
          <p:nvPr/>
        </p:nvSpPr>
        <p:spPr>
          <a:xfrm>
            <a:off x="6080760" y="1920240"/>
            <a:ext cx="612648" cy="411480"/>
          </a:xfrm>
          <a:prstGeom prst="line">
            <a:avLst/>
          </a:prstGeom>
          <a:noFill/>
          <a:ln w="12700">
            <a:solidFill>
              <a:srgbClr val="9AA5AE"/>
            </a:solidFill>
            <a:prstDash val="solid"/>
            <a:tailEnd type="triangle"/>
          </a:ln>
        </p:spPr>
      </p:sp>
      <p:sp>
        <p:nvSpPr>
          <p:cNvPr id="24" name="box"/>
          <p:cNvSpPr/>
          <p:nvPr/>
        </p:nvSpPr>
        <p:spPr>
          <a:xfrm>
            <a:off x="7296912" y="2331720"/>
            <a:ext cx="1051560" cy="548640"/>
          </a:xfrm>
          <a:prstGeom prst="roundRect">
            <a:avLst>
              <a:gd name="adj" fmla="val 13333"/>
            </a:avLst>
          </a:prstGeom>
          <a:solidFill>
            <a:srgbClr val="2A7F8E"/>
          </a:solidFill>
          <a:ln w="12700">
            <a:solidFill>
              <a:srgbClr val="2A7F8E"/>
            </a:solidFill>
            <a:prstDash val="solid"/>
          </a:ln>
        </p:spPr>
      </p:sp>
      <p:sp>
        <p:nvSpPr>
          <p:cNvPr id="25" name="Text 22"/>
          <p:cNvSpPr txBox="1"/>
          <p:nvPr/>
        </p:nvSpPr>
        <p:spPr>
          <a:xfrm>
            <a:off x="7296912" y="2331720"/>
            <a:ext cx="1051560" cy="548640"/>
          </a:xfrm>
          <a:prstGeom prst="rect">
            <a:avLst/>
          </a:prstGeom>
          <a:noFill/>
          <a:ln/>
        </p:spPr>
        <p:txBody>
          <a:bodyPr wrap="square" lIns="635" tIns="635" rIns="635" bIns="635"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misc.</a:t>
            </a:r>
            <a:endParaRPr lang="en-US" sz="1100" dirty="0"/>
          </a:p>
        </p:txBody>
      </p:sp>
      <p:sp>
        <p:nvSpPr>
          <p:cNvPr id="26" name="Shape 23"/>
          <p:cNvSpPr/>
          <p:nvPr/>
        </p:nvSpPr>
        <p:spPr>
          <a:xfrm>
            <a:off x="6080760" y="1920240"/>
            <a:ext cx="1737360" cy="411480"/>
          </a:xfrm>
          <a:prstGeom prst="line">
            <a:avLst/>
          </a:prstGeom>
          <a:noFill/>
          <a:ln w="12700">
            <a:solidFill>
              <a:srgbClr val="9AA5AE"/>
            </a:solidFill>
            <a:prstDash val="solid"/>
            <a:tailEnd type="triangle"/>
          </a:ln>
        </p:spPr>
      </p:sp>
      <p:sp>
        <p:nvSpPr>
          <p:cNvPr id="27" name="box"/>
          <p:cNvSpPr/>
          <p:nvPr/>
        </p:nvSpPr>
        <p:spPr>
          <a:xfrm>
            <a:off x="8421624" y="2331720"/>
            <a:ext cx="1051560" cy="548640"/>
          </a:xfrm>
          <a:prstGeom prst="roundRect">
            <a:avLst>
              <a:gd name="adj" fmla="val 13333"/>
            </a:avLst>
          </a:prstGeom>
          <a:solidFill>
            <a:srgbClr val="2A7F8E"/>
          </a:solidFill>
          <a:ln w="12700">
            <a:solidFill>
              <a:srgbClr val="2A7F8E"/>
            </a:solidFill>
            <a:prstDash val="solid"/>
          </a:ln>
        </p:spPr>
      </p:sp>
      <p:sp>
        <p:nvSpPr>
          <p:cNvPr id="28" name="Text 25"/>
          <p:cNvSpPr txBox="1"/>
          <p:nvPr/>
        </p:nvSpPr>
        <p:spPr>
          <a:xfrm>
            <a:off x="8421624" y="2331720"/>
            <a:ext cx="1051560" cy="548640"/>
          </a:xfrm>
          <a:prstGeom prst="rect">
            <a:avLst/>
          </a:prstGeom>
          <a:noFill/>
          <a:ln/>
        </p:spPr>
        <p:txBody>
          <a:bodyPr wrap="square" lIns="635" tIns="635" rIns="635" bIns="635"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humanities.</a:t>
            </a:r>
            <a:endParaRPr lang="en-US" sz="1100" dirty="0"/>
          </a:p>
        </p:txBody>
      </p:sp>
      <p:sp>
        <p:nvSpPr>
          <p:cNvPr id="29" name="Shape 26"/>
          <p:cNvSpPr/>
          <p:nvPr/>
        </p:nvSpPr>
        <p:spPr>
          <a:xfrm>
            <a:off x="6080760" y="1920240"/>
            <a:ext cx="2862072" cy="411480"/>
          </a:xfrm>
          <a:prstGeom prst="line">
            <a:avLst/>
          </a:prstGeom>
          <a:noFill/>
          <a:ln w="12700">
            <a:solidFill>
              <a:srgbClr val="9AA5AE"/>
            </a:solidFill>
            <a:prstDash val="solid"/>
            <a:tailEnd type="triangle"/>
          </a:ln>
        </p:spPr>
      </p:sp>
      <p:sp>
        <p:nvSpPr>
          <p:cNvPr id="30" name="box"/>
          <p:cNvSpPr/>
          <p:nvPr/>
        </p:nvSpPr>
        <p:spPr>
          <a:xfrm>
            <a:off x="9546336" y="2331720"/>
            <a:ext cx="1051560" cy="548640"/>
          </a:xfrm>
          <a:prstGeom prst="roundRect">
            <a:avLst>
              <a:gd name="adj" fmla="val 13333"/>
            </a:avLst>
          </a:prstGeom>
          <a:solidFill>
            <a:srgbClr val="B9772A"/>
          </a:solidFill>
          <a:ln w="12700">
            <a:solidFill>
              <a:srgbClr val="B9772A"/>
            </a:solidFill>
            <a:prstDash val="solid"/>
          </a:ln>
        </p:spPr>
      </p:sp>
      <p:sp>
        <p:nvSpPr>
          <p:cNvPr id="31" name="Text 28"/>
          <p:cNvSpPr txBox="1"/>
          <p:nvPr/>
        </p:nvSpPr>
        <p:spPr>
          <a:xfrm>
            <a:off x="9546336" y="2331720"/>
            <a:ext cx="1051560" cy="548640"/>
          </a:xfrm>
          <a:prstGeom prst="rect">
            <a:avLst/>
          </a:prstGeom>
          <a:noFill/>
          <a:ln/>
        </p:spPr>
        <p:txBody>
          <a:bodyPr wrap="square" lIns="635" tIns="635" rIns="635" bIns="635"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alt.</a:t>
            </a:r>
            <a:endParaRPr lang="en-US" sz="1100" dirty="0"/>
          </a:p>
        </p:txBody>
      </p:sp>
      <p:sp>
        <p:nvSpPr>
          <p:cNvPr id="32" name="Shape 29"/>
          <p:cNvSpPr/>
          <p:nvPr/>
        </p:nvSpPr>
        <p:spPr>
          <a:xfrm>
            <a:off x="6080760" y="1920240"/>
            <a:ext cx="3986784" cy="411480"/>
          </a:xfrm>
          <a:prstGeom prst="line">
            <a:avLst/>
          </a:prstGeom>
          <a:noFill/>
          <a:ln w="12700">
            <a:solidFill>
              <a:srgbClr val="9AA5AE"/>
            </a:solidFill>
            <a:prstDash val="solid"/>
            <a:tailEnd type="triangle"/>
          </a:ln>
        </p:spPr>
      </p:sp>
      <p:sp>
        <p:nvSpPr>
          <p:cNvPr id="33" name="box"/>
          <p:cNvSpPr/>
          <p:nvPr/>
        </p:nvSpPr>
        <p:spPr>
          <a:xfrm>
            <a:off x="10671048" y="2331720"/>
            <a:ext cx="1051560" cy="548640"/>
          </a:xfrm>
          <a:prstGeom prst="roundRect">
            <a:avLst>
              <a:gd name="adj" fmla="val 13333"/>
            </a:avLst>
          </a:prstGeom>
          <a:solidFill>
            <a:srgbClr val="B9772A"/>
          </a:solidFill>
          <a:ln w="12700">
            <a:solidFill>
              <a:srgbClr val="B9772A"/>
            </a:solidFill>
            <a:prstDash val="solid"/>
          </a:ln>
        </p:spPr>
      </p:sp>
      <p:sp>
        <p:nvSpPr>
          <p:cNvPr id="34" name="Text 31"/>
          <p:cNvSpPr txBox="1"/>
          <p:nvPr/>
        </p:nvSpPr>
        <p:spPr>
          <a:xfrm>
            <a:off x="10671048" y="2331720"/>
            <a:ext cx="1051560" cy="548640"/>
          </a:xfrm>
          <a:prstGeom prst="rect">
            <a:avLst/>
          </a:prstGeom>
          <a:noFill/>
          <a:ln/>
        </p:spPr>
        <p:txBody>
          <a:bodyPr wrap="square" lIns="635" tIns="635" rIns="635" bIns="635"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ro.</a:t>
            </a:r>
            <a:endParaRPr lang="en-US" sz="1100" dirty="0"/>
          </a:p>
        </p:txBody>
      </p:sp>
      <p:sp>
        <p:nvSpPr>
          <p:cNvPr id="35" name="Shape 32"/>
          <p:cNvSpPr/>
          <p:nvPr/>
        </p:nvSpPr>
        <p:spPr>
          <a:xfrm>
            <a:off x="6080760" y="1920240"/>
            <a:ext cx="5111496" cy="411480"/>
          </a:xfrm>
          <a:prstGeom prst="line">
            <a:avLst/>
          </a:prstGeom>
          <a:noFill/>
          <a:ln w="12700">
            <a:solidFill>
              <a:srgbClr val="9AA5AE"/>
            </a:solidFill>
            <a:prstDash val="solid"/>
            <a:tailEnd type="triangle"/>
          </a:ln>
        </p:spPr>
      </p:sp>
      <p:sp>
        <p:nvSpPr>
          <p:cNvPr id="36" name="Text 33"/>
          <p:cNvSpPr txBox="1"/>
          <p:nvPr/>
        </p:nvSpPr>
        <p:spPr>
          <a:xfrm>
            <a:off x="548640" y="2926080"/>
            <a:ext cx="8778240" cy="32004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the “Big Eight” (teal) · alternative and national hierarchies (amber)</a:t>
            </a:r>
            <a:endParaRPr lang="en-US" sz="1100" dirty="0"/>
          </a:p>
        </p:txBody>
      </p:sp>
      <p:sp>
        <p:nvSpPr>
          <p:cNvPr id="37" name="box"/>
          <p:cNvSpPr/>
          <p:nvPr/>
        </p:nvSpPr>
        <p:spPr>
          <a:xfrm>
            <a:off x="548640" y="3429000"/>
            <a:ext cx="2651760" cy="502920"/>
          </a:xfrm>
          <a:prstGeom prst="roundRect">
            <a:avLst>
              <a:gd name="adj" fmla="val 14545"/>
            </a:avLst>
          </a:prstGeom>
          <a:solidFill>
            <a:srgbClr val="EEF2F6"/>
          </a:solidFill>
          <a:ln w="12700">
            <a:solidFill>
              <a:srgbClr val="EEF2F6"/>
            </a:solidFill>
            <a:prstDash val="solid"/>
          </a:ln>
        </p:spPr>
      </p:sp>
      <p:sp>
        <p:nvSpPr>
          <p:cNvPr id="38" name="Text 35"/>
          <p:cNvSpPr txBox="1"/>
          <p:nvPr/>
        </p:nvSpPr>
        <p:spPr>
          <a:xfrm>
            <a:off x="548640" y="3429000"/>
            <a:ext cx="2651760" cy="502920"/>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comp.os.linux.networking</a:t>
            </a:r>
            <a:endParaRPr lang="en-US" sz="1100" dirty="0"/>
          </a:p>
        </p:txBody>
      </p:sp>
      <p:sp>
        <p:nvSpPr>
          <p:cNvPr id="39" name="box"/>
          <p:cNvSpPr/>
          <p:nvPr/>
        </p:nvSpPr>
        <p:spPr>
          <a:xfrm>
            <a:off x="3337560" y="3429000"/>
            <a:ext cx="2651760" cy="502920"/>
          </a:xfrm>
          <a:prstGeom prst="roundRect">
            <a:avLst>
              <a:gd name="adj" fmla="val 14545"/>
            </a:avLst>
          </a:prstGeom>
          <a:solidFill>
            <a:srgbClr val="EEF2F6"/>
          </a:solidFill>
          <a:ln w="12700">
            <a:solidFill>
              <a:srgbClr val="EEF2F6"/>
            </a:solidFill>
            <a:prstDash val="solid"/>
          </a:ln>
        </p:spPr>
      </p:sp>
      <p:sp>
        <p:nvSpPr>
          <p:cNvPr id="40" name="Text 37"/>
          <p:cNvSpPr txBox="1"/>
          <p:nvPr/>
        </p:nvSpPr>
        <p:spPr>
          <a:xfrm>
            <a:off x="3337560" y="3429000"/>
            <a:ext cx="2651760" cy="502920"/>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comp.protocols.tcp-ip</a:t>
            </a:r>
            <a:endParaRPr lang="en-US" sz="1100" dirty="0"/>
          </a:p>
        </p:txBody>
      </p:sp>
      <p:sp>
        <p:nvSpPr>
          <p:cNvPr id="41" name="box"/>
          <p:cNvSpPr/>
          <p:nvPr/>
        </p:nvSpPr>
        <p:spPr>
          <a:xfrm>
            <a:off x="6126480" y="3429000"/>
            <a:ext cx="2651760" cy="502920"/>
          </a:xfrm>
          <a:prstGeom prst="roundRect">
            <a:avLst>
              <a:gd name="adj" fmla="val 14545"/>
            </a:avLst>
          </a:prstGeom>
          <a:solidFill>
            <a:srgbClr val="EEF2F6"/>
          </a:solidFill>
          <a:ln w="12700">
            <a:solidFill>
              <a:srgbClr val="EEF2F6"/>
            </a:solidFill>
            <a:prstDash val="solid"/>
          </a:ln>
        </p:spPr>
      </p:sp>
      <p:sp>
        <p:nvSpPr>
          <p:cNvPr id="42" name="Text 39"/>
          <p:cNvSpPr txBox="1"/>
          <p:nvPr/>
        </p:nvSpPr>
        <p:spPr>
          <a:xfrm>
            <a:off x="6126480" y="3429000"/>
            <a:ext cx="2651760" cy="502920"/>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sci.physics</a:t>
            </a:r>
            <a:endParaRPr lang="en-US" sz="1100" dirty="0"/>
          </a:p>
        </p:txBody>
      </p:sp>
      <p:sp>
        <p:nvSpPr>
          <p:cNvPr id="43" name="box"/>
          <p:cNvSpPr/>
          <p:nvPr/>
        </p:nvSpPr>
        <p:spPr>
          <a:xfrm>
            <a:off x="8915400" y="3429000"/>
            <a:ext cx="2651760" cy="502920"/>
          </a:xfrm>
          <a:prstGeom prst="roundRect">
            <a:avLst>
              <a:gd name="adj" fmla="val 14545"/>
            </a:avLst>
          </a:prstGeom>
          <a:solidFill>
            <a:srgbClr val="EEF2F6"/>
          </a:solidFill>
          <a:ln w="12700">
            <a:solidFill>
              <a:srgbClr val="EEF2F6"/>
            </a:solidFill>
            <a:prstDash val="solid"/>
          </a:ln>
        </p:spPr>
      </p:sp>
      <p:sp>
        <p:nvSpPr>
          <p:cNvPr id="44" name="Text 41"/>
          <p:cNvSpPr txBox="1"/>
          <p:nvPr/>
        </p:nvSpPr>
        <p:spPr>
          <a:xfrm>
            <a:off x="8915400" y="3429000"/>
            <a:ext cx="2651760" cy="502920"/>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ro.comp.retele</a:t>
            </a:r>
            <a:endParaRPr lang="en-US" sz="1100" dirty="0"/>
          </a:p>
        </p:txBody>
      </p:sp>
      <p:sp>
        <p:nvSpPr>
          <p:cNvPr id="45" name="box"/>
          <p:cNvSpPr/>
          <p:nvPr/>
        </p:nvSpPr>
        <p:spPr>
          <a:xfrm>
            <a:off x="548640" y="4160520"/>
            <a:ext cx="11064240" cy="1371600"/>
          </a:xfrm>
          <a:prstGeom prst="roundRect">
            <a:avLst>
              <a:gd name="adj" fmla="val 5333"/>
            </a:avLst>
          </a:prstGeom>
          <a:solidFill>
            <a:srgbClr val="F3EAD7"/>
          </a:solidFill>
          <a:ln w="12700">
            <a:solidFill>
              <a:srgbClr val="F3EAD7"/>
            </a:solidFill>
            <a:prstDash val="solid"/>
          </a:ln>
        </p:spPr>
      </p:sp>
      <p:sp>
        <p:nvSpPr>
          <p:cNvPr id="46" name="Text 43"/>
          <p:cNvSpPr txBox="1"/>
          <p:nvPr/>
        </p:nvSpPr>
        <p:spPr>
          <a:xfrm>
            <a:off x="548640" y="4160520"/>
            <a:ext cx="11064240" cy="1371600"/>
          </a:xfrm>
          <a:prstGeom prst="rect">
            <a:avLst/>
          </a:prstGeom>
          <a:noFill/>
          <a:ln/>
        </p:spPr>
        <p:txBody>
          <a:bodyPr wrap="square" lIns="635" tIns="635" rIns="635" bIns="635" rtlCol="0" anchor="ctr"/>
          <a:lstStyle/>
          <a:p>
            <a:pPr algn="ctr" indent="0" marL="0">
              <a:spcAft>
                <a:spcPts val="400"/>
              </a:spcAft>
              <a:buNone/>
            </a:pPr>
            <a:r>
              <a:rPr lang="en-US" sz="1300" dirty="0">
                <a:solidFill>
                  <a:srgbClr val="1B2430"/>
                </a:solidFill>
              </a:rPr>
              <a:t>An article = a mail-like message (RFC 5536) + </a:t>
            </a:r>
            <a:r>
              <a:rPr lang="en-US" sz="1300" b="1" dirty="0">
                <a:solidFill>
                  <a:srgbClr val="1B2430"/>
                </a:solidFill>
              </a:rPr>
              <a:t>Newsgroups:</a:t>
            </a:r>
            <a:r>
              <a:rPr lang="en-US" sz="1300" dirty="0">
                <a:solidFill>
                  <a:srgbClr val="1B2430"/>
                </a:solidFill>
              </a:rPr>
              <a:t> · </a:t>
            </a:r>
            <a:r>
              <a:rPr lang="en-US" sz="1300" b="1" dirty="0">
                <a:solidFill>
                  <a:srgbClr val="1B2430"/>
                </a:solidFill>
              </a:rPr>
              <a:t>Message-ID:</a:t>
            </a:r>
            <a:r>
              <a:rPr lang="en-US" sz="1300" dirty="0">
                <a:solidFill>
                  <a:srgbClr val="1B2430"/>
                </a:solidFill>
              </a:rPr>
              <a:t> (unique) · </a:t>
            </a:r>
            <a:r>
              <a:rPr lang="en-US" sz="1300" b="1" dirty="0">
                <a:solidFill>
                  <a:srgbClr val="1B2430"/>
                </a:solidFill>
              </a:rPr>
              <a:t>References:</a:t>
            </a:r>
            <a:r>
              <a:rPr lang="en-US" sz="1300" dirty="0">
                <a:solidFill>
                  <a:srgbClr val="1B2430"/>
                </a:solidFill>
              </a:rPr>
              <a:t> (thread) · </a:t>
            </a:r>
            <a:r>
              <a:rPr lang="en-US" sz="1300" b="1" dirty="0">
                <a:solidFill>
                  <a:srgbClr val="1B2430"/>
                </a:solidFill>
              </a:rPr>
              <a:t>Path:</a:t>
            </a:r>
            <a:endParaRPr lang="en-US" sz="1300" dirty="0"/>
          </a:p>
          <a:p>
            <a:pPr algn="ctr" indent="0" marL="0">
              <a:spcAft>
                <a:spcPts val="400"/>
              </a:spcAft>
              <a:buNone/>
            </a:pPr>
            <a:r>
              <a:rPr lang="en-US" sz="1300" dirty="0">
                <a:solidFill>
                  <a:srgbClr val="1B2430"/>
                </a:solidFill>
              </a:rPr>
              <a:t>1991: Linux announced on comp.os.minix, the Web on alt.hypertext · 1994: the first commercial spam</a:t>
            </a:r>
            <a:endParaRPr lang="en-US" sz="1300" dirty="0"/>
          </a:p>
        </p:txBody>
      </p:sp>
      <p:sp>
        <p:nvSpPr>
          <p:cNvPr id="4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48" name="Text 4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Usenet is mail-shaped messages, addressed to topics instead of people.</a:t>
            </a:r>
            <a:endParaRPr lang="en-US" sz="1400" dirty="0"/>
          </a:p>
        </p:txBody>
      </p:sp>
      <p:sp>
        <p:nvSpPr>
          <p:cNvPr id="49" name="Text 46"/>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RFC (Request for Comments)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6 · Flooding: how an article reaches every server</a:t>
            </a:r>
            <a:endParaRPr lang="en-US" sz="3000" dirty="0"/>
          </a:p>
        </p:txBody>
      </p:sp>
      <p:sp>
        <p:nvSpPr>
          <p:cNvPr id="4" name="Shape 1"/>
          <p:cNvSpPr/>
          <p:nvPr/>
        </p:nvSpPr>
        <p:spPr>
          <a:xfrm flipV="1">
            <a:off x="1737360" y="1965960"/>
            <a:ext cx="2560320" cy="1371600"/>
          </a:xfrm>
          <a:prstGeom prst="line">
            <a:avLst/>
          </a:prstGeom>
          <a:noFill/>
          <a:ln w="25400">
            <a:solidFill>
              <a:srgbClr val="9AA5AE"/>
            </a:solidFill>
            <a:prstDash val="solid"/>
          </a:ln>
        </p:spPr>
      </p:sp>
      <p:sp>
        <p:nvSpPr>
          <p:cNvPr id="5" name="Shape 2"/>
          <p:cNvSpPr/>
          <p:nvPr/>
        </p:nvSpPr>
        <p:spPr>
          <a:xfrm>
            <a:off x="1737360" y="3337560"/>
            <a:ext cx="2560320" cy="1371600"/>
          </a:xfrm>
          <a:prstGeom prst="line">
            <a:avLst/>
          </a:prstGeom>
          <a:noFill/>
          <a:ln w="25400">
            <a:solidFill>
              <a:srgbClr val="9AA5AE"/>
            </a:solidFill>
            <a:prstDash val="solid"/>
          </a:ln>
        </p:spPr>
      </p:sp>
      <p:sp>
        <p:nvSpPr>
          <p:cNvPr id="6" name="Shape 3"/>
          <p:cNvSpPr/>
          <p:nvPr/>
        </p:nvSpPr>
        <p:spPr>
          <a:xfrm>
            <a:off x="4297680" y="1965960"/>
            <a:ext cx="914" cy="2743200"/>
          </a:xfrm>
          <a:prstGeom prst="line">
            <a:avLst/>
          </a:prstGeom>
          <a:noFill/>
          <a:ln w="25400">
            <a:solidFill>
              <a:srgbClr val="9AA5AE"/>
            </a:solidFill>
            <a:prstDash val="solid"/>
          </a:ln>
        </p:spPr>
      </p:sp>
      <p:sp>
        <p:nvSpPr>
          <p:cNvPr id="7" name="Shape 4"/>
          <p:cNvSpPr/>
          <p:nvPr/>
        </p:nvSpPr>
        <p:spPr>
          <a:xfrm>
            <a:off x="4297680" y="1965960"/>
            <a:ext cx="2926080" cy="1371600"/>
          </a:xfrm>
          <a:prstGeom prst="line">
            <a:avLst/>
          </a:prstGeom>
          <a:noFill/>
          <a:ln w="25400">
            <a:solidFill>
              <a:srgbClr val="9AA5AE"/>
            </a:solidFill>
            <a:prstDash val="solid"/>
          </a:ln>
        </p:spPr>
      </p:sp>
      <p:sp>
        <p:nvSpPr>
          <p:cNvPr id="8" name="Shape 5"/>
          <p:cNvSpPr/>
          <p:nvPr/>
        </p:nvSpPr>
        <p:spPr>
          <a:xfrm flipV="1">
            <a:off x="4297680" y="3337560"/>
            <a:ext cx="2926080" cy="1371600"/>
          </a:xfrm>
          <a:prstGeom prst="line">
            <a:avLst/>
          </a:prstGeom>
          <a:noFill/>
          <a:ln w="25400">
            <a:solidFill>
              <a:srgbClr val="9AA5AE"/>
            </a:solidFill>
            <a:prstDash val="solid"/>
          </a:ln>
        </p:spPr>
      </p:sp>
      <p:sp>
        <p:nvSpPr>
          <p:cNvPr id="9" name="Shape 6"/>
          <p:cNvSpPr/>
          <p:nvPr/>
        </p:nvSpPr>
        <p:spPr>
          <a:xfrm>
            <a:off x="7223760" y="3337560"/>
            <a:ext cx="2926080" cy="914"/>
          </a:xfrm>
          <a:prstGeom prst="line">
            <a:avLst/>
          </a:prstGeom>
          <a:noFill/>
          <a:ln w="25400">
            <a:solidFill>
              <a:srgbClr val="9AA5AE"/>
            </a:solidFill>
            <a:prstDash val="solid"/>
          </a:ln>
        </p:spPr>
      </p:sp>
      <p:sp>
        <p:nvSpPr>
          <p:cNvPr id="10" name="box"/>
          <p:cNvSpPr/>
          <p:nvPr/>
        </p:nvSpPr>
        <p:spPr>
          <a:xfrm>
            <a:off x="1280160" y="3017520"/>
            <a:ext cx="914400" cy="640080"/>
          </a:xfrm>
          <a:prstGeom prst="ellipse">
            <a:avLst/>
          </a:prstGeom>
          <a:solidFill>
            <a:srgbClr val="B9772A"/>
          </a:solidFill>
          <a:ln w="12700">
            <a:solidFill>
              <a:srgbClr val="B9772A"/>
            </a:solidFill>
            <a:prstDash val="solid"/>
          </a:ln>
        </p:spPr>
      </p:sp>
      <p:sp>
        <p:nvSpPr>
          <p:cNvPr id="11" name="Text 8"/>
          <p:cNvSpPr txBox="1"/>
          <p:nvPr/>
        </p:nvSpPr>
        <p:spPr>
          <a:xfrm>
            <a:off x="1280160" y="3017520"/>
            <a:ext cx="914400" cy="640080"/>
          </a:xfrm>
          <a:prstGeom prst="rect">
            <a:avLst/>
          </a:prstGeom>
          <a:noFill/>
          <a:ln/>
        </p:spPr>
        <p:txBody>
          <a:bodyPr wrap="square" lIns="635" tIns="635" rIns="635" bIns="635" rtlCol="0" anchor="ctr"/>
          <a:lstStyle/>
          <a:p>
            <a:pPr algn="ctr" indent="0" marL="0">
              <a:buNone/>
            </a:pPr>
            <a:r>
              <a:rPr lang="en-US" sz="1600" b="1" dirty="0">
                <a:solidFill>
                  <a:srgbClr val="FFFFFF"/>
                </a:solidFill>
              </a:rPr>
              <a:t>A</a:t>
            </a:r>
            <a:endParaRPr lang="en-US" sz="1600" dirty="0"/>
          </a:p>
        </p:txBody>
      </p:sp>
      <p:sp>
        <p:nvSpPr>
          <p:cNvPr id="12" name="box"/>
          <p:cNvSpPr/>
          <p:nvPr/>
        </p:nvSpPr>
        <p:spPr>
          <a:xfrm>
            <a:off x="3840480" y="1645920"/>
            <a:ext cx="914400" cy="640080"/>
          </a:xfrm>
          <a:prstGeom prst="ellipse">
            <a:avLst/>
          </a:prstGeom>
          <a:solidFill>
            <a:srgbClr val="2A7F8E"/>
          </a:solidFill>
          <a:ln w="12700">
            <a:solidFill>
              <a:srgbClr val="2A7F8E"/>
            </a:solidFill>
            <a:prstDash val="solid"/>
          </a:ln>
        </p:spPr>
      </p:sp>
      <p:sp>
        <p:nvSpPr>
          <p:cNvPr id="13" name="Text 10"/>
          <p:cNvSpPr txBox="1"/>
          <p:nvPr/>
        </p:nvSpPr>
        <p:spPr>
          <a:xfrm>
            <a:off x="3840480" y="1645920"/>
            <a:ext cx="914400" cy="640080"/>
          </a:xfrm>
          <a:prstGeom prst="rect">
            <a:avLst/>
          </a:prstGeom>
          <a:noFill/>
          <a:ln/>
        </p:spPr>
        <p:txBody>
          <a:bodyPr wrap="square" lIns="635" tIns="635" rIns="635" bIns="635" rtlCol="0" anchor="ctr"/>
          <a:lstStyle/>
          <a:p>
            <a:pPr algn="ctr" indent="0" marL="0">
              <a:buNone/>
            </a:pPr>
            <a:r>
              <a:rPr lang="en-US" sz="1600" b="1" dirty="0">
                <a:solidFill>
                  <a:srgbClr val="FFFFFF"/>
                </a:solidFill>
              </a:rPr>
              <a:t>B</a:t>
            </a:r>
            <a:endParaRPr lang="en-US" sz="1600" dirty="0"/>
          </a:p>
        </p:txBody>
      </p:sp>
      <p:sp>
        <p:nvSpPr>
          <p:cNvPr id="14" name="box"/>
          <p:cNvSpPr/>
          <p:nvPr/>
        </p:nvSpPr>
        <p:spPr>
          <a:xfrm>
            <a:off x="3840480" y="4389120"/>
            <a:ext cx="914400" cy="640080"/>
          </a:xfrm>
          <a:prstGeom prst="ellipse">
            <a:avLst/>
          </a:prstGeom>
          <a:solidFill>
            <a:srgbClr val="2A7F8E"/>
          </a:solidFill>
          <a:ln w="12700">
            <a:solidFill>
              <a:srgbClr val="2A7F8E"/>
            </a:solidFill>
            <a:prstDash val="solid"/>
          </a:ln>
        </p:spPr>
      </p:sp>
      <p:sp>
        <p:nvSpPr>
          <p:cNvPr id="15" name="Text 12"/>
          <p:cNvSpPr txBox="1"/>
          <p:nvPr/>
        </p:nvSpPr>
        <p:spPr>
          <a:xfrm>
            <a:off x="3840480" y="4389120"/>
            <a:ext cx="914400" cy="640080"/>
          </a:xfrm>
          <a:prstGeom prst="rect">
            <a:avLst/>
          </a:prstGeom>
          <a:noFill/>
          <a:ln/>
        </p:spPr>
        <p:txBody>
          <a:bodyPr wrap="square" lIns="635" tIns="635" rIns="635" bIns="635" rtlCol="0" anchor="ctr"/>
          <a:lstStyle/>
          <a:p>
            <a:pPr algn="ctr" indent="0" marL="0">
              <a:buNone/>
            </a:pPr>
            <a:r>
              <a:rPr lang="en-US" sz="1600" b="1" dirty="0">
                <a:solidFill>
                  <a:srgbClr val="FFFFFF"/>
                </a:solidFill>
              </a:rPr>
              <a:t>C</a:t>
            </a:r>
            <a:endParaRPr lang="en-US" sz="1600" dirty="0"/>
          </a:p>
        </p:txBody>
      </p:sp>
      <p:sp>
        <p:nvSpPr>
          <p:cNvPr id="16" name="box"/>
          <p:cNvSpPr/>
          <p:nvPr/>
        </p:nvSpPr>
        <p:spPr>
          <a:xfrm>
            <a:off x="6766560" y="3017520"/>
            <a:ext cx="914400" cy="640080"/>
          </a:xfrm>
          <a:prstGeom prst="ellipse">
            <a:avLst/>
          </a:prstGeom>
          <a:solidFill>
            <a:srgbClr val="2A7F8E"/>
          </a:solidFill>
          <a:ln w="12700">
            <a:solidFill>
              <a:srgbClr val="2A7F8E"/>
            </a:solidFill>
            <a:prstDash val="solid"/>
          </a:ln>
        </p:spPr>
      </p:sp>
      <p:sp>
        <p:nvSpPr>
          <p:cNvPr id="17" name="Text 14"/>
          <p:cNvSpPr txBox="1"/>
          <p:nvPr/>
        </p:nvSpPr>
        <p:spPr>
          <a:xfrm>
            <a:off x="6766560" y="3017520"/>
            <a:ext cx="914400" cy="640080"/>
          </a:xfrm>
          <a:prstGeom prst="rect">
            <a:avLst/>
          </a:prstGeom>
          <a:noFill/>
          <a:ln/>
        </p:spPr>
        <p:txBody>
          <a:bodyPr wrap="square" lIns="635" tIns="635" rIns="635" bIns="635" rtlCol="0" anchor="ctr"/>
          <a:lstStyle/>
          <a:p>
            <a:pPr algn="ctr" indent="0" marL="0">
              <a:buNone/>
            </a:pPr>
            <a:r>
              <a:rPr lang="en-US" sz="1600" b="1" dirty="0">
                <a:solidFill>
                  <a:srgbClr val="FFFFFF"/>
                </a:solidFill>
              </a:rPr>
              <a:t>D</a:t>
            </a:r>
            <a:endParaRPr lang="en-US" sz="1600" dirty="0"/>
          </a:p>
        </p:txBody>
      </p:sp>
      <p:sp>
        <p:nvSpPr>
          <p:cNvPr id="18" name="box"/>
          <p:cNvSpPr/>
          <p:nvPr/>
        </p:nvSpPr>
        <p:spPr>
          <a:xfrm>
            <a:off x="9692640" y="3017520"/>
            <a:ext cx="914400" cy="640080"/>
          </a:xfrm>
          <a:prstGeom prst="ellipse">
            <a:avLst/>
          </a:prstGeom>
          <a:solidFill>
            <a:srgbClr val="2A7F8E"/>
          </a:solidFill>
          <a:ln w="12700">
            <a:solidFill>
              <a:srgbClr val="2A7F8E"/>
            </a:solidFill>
            <a:prstDash val="solid"/>
          </a:ln>
        </p:spPr>
      </p:sp>
      <p:sp>
        <p:nvSpPr>
          <p:cNvPr id="19" name="Text 16"/>
          <p:cNvSpPr txBox="1"/>
          <p:nvPr/>
        </p:nvSpPr>
        <p:spPr>
          <a:xfrm>
            <a:off x="9692640" y="3017520"/>
            <a:ext cx="914400" cy="640080"/>
          </a:xfrm>
          <a:prstGeom prst="rect">
            <a:avLst/>
          </a:prstGeom>
          <a:noFill/>
          <a:ln/>
        </p:spPr>
        <p:txBody>
          <a:bodyPr wrap="square" lIns="635" tIns="635" rIns="635" bIns="635" rtlCol="0" anchor="ctr"/>
          <a:lstStyle/>
          <a:p>
            <a:pPr algn="ctr" indent="0" marL="0">
              <a:buNone/>
            </a:pPr>
            <a:r>
              <a:rPr lang="en-US" sz="1600" b="1" dirty="0">
                <a:solidFill>
                  <a:srgbClr val="FFFFFF"/>
                </a:solidFill>
              </a:rPr>
              <a:t>E</a:t>
            </a:r>
            <a:endParaRPr lang="en-US" sz="1600" dirty="0"/>
          </a:p>
        </p:txBody>
      </p:sp>
      <p:sp>
        <p:nvSpPr>
          <p:cNvPr id="20" name="Text 17"/>
          <p:cNvSpPr txBox="1"/>
          <p:nvPr/>
        </p:nvSpPr>
        <p:spPr>
          <a:xfrm>
            <a:off x="1188720" y="3749040"/>
            <a:ext cx="1097280" cy="32004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t = 0</a:t>
            </a:r>
            <a:endParaRPr lang="en-US" sz="1100" dirty="0"/>
          </a:p>
        </p:txBody>
      </p:sp>
      <p:sp>
        <p:nvSpPr>
          <p:cNvPr id="21" name="Text 18"/>
          <p:cNvSpPr txBox="1"/>
          <p:nvPr/>
        </p:nvSpPr>
        <p:spPr>
          <a:xfrm>
            <a:off x="3749040" y="1188720"/>
            <a:ext cx="1097280" cy="32004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t = 1</a:t>
            </a:r>
            <a:endParaRPr lang="en-US" sz="1100" dirty="0"/>
          </a:p>
        </p:txBody>
      </p:sp>
      <p:sp>
        <p:nvSpPr>
          <p:cNvPr id="22" name="Text 19"/>
          <p:cNvSpPr txBox="1"/>
          <p:nvPr/>
        </p:nvSpPr>
        <p:spPr>
          <a:xfrm>
            <a:off x="3749040" y="5074920"/>
            <a:ext cx="1097280" cy="32004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t = 1</a:t>
            </a:r>
            <a:endParaRPr lang="en-US" sz="1100" dirty="0"/>
          </a:p>
        </p:txBody>
      </p:sp>
      <p:sp>
        <p:nvSpPr>
          <p:cNvPr id="23" name="Text 20"/>
          <p:cNvSpPr txBox="1"/>
          <p:nvPr/>
        </p:nvSpPr>
        <p:spPr>
          <a:xfrm>
            <a:off x="6675120" y="3749040"/>
            <a:ext cx="1097280" cy="32004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t = 2</a:t>
            </a:r>
            <a:endParaRPr lang="en-US" sz="1100" dirty="0"/>
          </a:p>
        </p:txBody>
      </p:sp>
      <p:sp>
        <p:nvSpPr>
          <p:cNvPr id="24" name="Text 21"/>
          <p:cNvSpPr txBox="1"/>
          <p:nvPr/>
        </p:nvSpPr>
        <p:spPr>
          <a:xfrm>
            <a:off x="9601200" y="3749040"/>
            <a:ext cx="1097280" cy="32004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t = 3</a:t>
            </a:r>
            <a:endParaRPr lang="en-US" sz="1100" dirty="0"/>
          </a:p>
        </p:txBody>
      </p:sp>
      <p:sp>
        <p:nvSpPr>
          <p:cNvPr id="25" name="box"/>
          <p:cNvSpPr/>
          <p:nvPr/>
        </p:nvSpPr>
        <p:spPr>
          <a:xfrm>
            <a:off x="7863840" y="1280160"/>
            <a:ext cx="3749040" cy="1097280"/>
          </a:xfrm>
          <a:prstGeom prst="roundRect">
            <a:avLst>
              <a:gd name="adj" fmla="val 6667"/>
            </a:avLst>
          </a:prstGeom>
          <a:solidFill>
            <a:srgbClr val="F3EAD7"/>
          </a:solidFill>
          <a:ln w="12700">
            <a:solidFill>
              <a:srgbClr val="F3EAD7"/>
            </a:solidFill>
            <a:prstDash val="solid"/>
          </a:ln>
        </p:spPr>
      </p:sp>
      <p:sp>
        <p:nvSpPr>
          <p:cNvPr id="26" name="Text 23"/>
          <p:cNvSpPr txBox="1"/>
          <p:nvPr/>
        </p:nvSpPr>
        <p:spPr>
          <a:xfrm>
            <a:off x="7863840" y="1280160"/>
            <a:ext cx="3749040" cy="109728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Path on E:</a:t>
            </a:r>
            <a:endParaRPr lang="en-US" sz="1200" dirty="0"/>
          </a:p>
          <a:p>
            <a:pPr algn="ctr" indent="0" marL="0">
              <a:buNone/>
            </a:pPr>
            <a:r>
              <a:rPr lang="en-US" sz="1200" dirty="0">
                <a:solidFill>
                  <a:srgbClr val="1B2430"/>
                </a:solidFill>
                <a:latin typeface="Consolas" pitchFamily="34" charset="0"/>
                <a:ea typeface="Consolas" pitchFamily="34" charset="-122"/>
                <a:cs typeface="Consolas" pitchFamily="34" charset="-120"/>
              </a:rPr>
              <a:t>E!D!B!A!not-for-mail</a:t>
            </a:r>
            <a:endParaRPr lang="en-US" sz="1200" dirty="0"/>
          </a:p>
        </p:txBody>
      </p:sp>
      <p:sp>
        <p:nvSpPr>
          <p:cNvPr id="27" name="Shape 24"/>
          <p:cNvSpPr/>
          <p:nvPr/>
        </p:nvSpPr>
        <p:spPr>
          <a:xfrm>
            <a:off x="7863840" y="4361688"/>
            <a:ext cx="384048" cy="384048"/>
          </a:xfrm>
          <a:prstGeom prst="ellipse">
            <a:avLst/>
          </a:prstGeom>
          <a:solidFill>
            <a:srgbClr val="B9772A"/>
          </a:solidFill>
          <a:ln w="12700">
            <a:solidFill>
              <a:srgbClr val="B9772A"/>
            </a:solidFill>
            <a:prstDash val="solid"/>
          </a:ln>
        </p:spPr>
      </p:sp>
      <p:sp>
        <p:nvSpPr>
          <p:cNvPr id="28" name="Text 25"/>
          <p:cNvSpPr txBox="1"/>
          <p:nvPr/>
        </p:nvSpPr>
        <p:spPr>
          <a:xfrm>
            <a:off x="7863840" y="43616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9" name="Text 26"/>
          <p:cNvSpPr txBox="1"/>
          <p:nvPr/>
        </p:nvSpPr>
        <p:spPr>
          <a:xfrm>
            <a:off x="8366760" y="4343400"/>
            <a:ext cx="3246120" cy="118872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8 offers, 4 accepted, 4 refused as duplicates (Seminar, Problem 5).</a:t>
            </a:r>
            <a:endParaRPr lang="en-US" sz="1200" dirty="0"/>
          </a:p>
        </p:txBody>
      </p:sp>
      <p:sp>
        <p:nvSpPr>
          <p:cNvPr id="3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1" name="Text 2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Duplicate suppression by Message-ID bounds the flood: each server accepts each article once.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6 · NNTP: reading and feeding news</a:t>
            </a:r>
            <a:endParaRPr lang="en-US" sz="3000" dirty="0"/>
          </a:p>
        </p:txBody>
      </p:sp>
      <p:sp>
        <p:nvSpPr>
          <p:cNvPr id="4" name="code"/>
          <p:cNvSpPr/>
          <p:nvPr/>
        </p:nvSpPr>
        <p:spPr>
          <a:xfrm>
            <a:off x="548640" y="1280160"/>
            <a:ext cx="5486400" cy="2743200"/>
          </a:xfrm>
          <a:prstGeom prst="rect">
            <a:avLst/>
          </a:prstGeom>
          <a:solidFill>
            <a:srgbClr val="1E2A38"/>
          </a:solidFill>
          <a:ln w="12700">
            <a:solidFill>
              <a:srgbClr val="1E2A38"/>
            </a:solidFill>
            <a:prstDash val="solid"/>
          </a:ln>
        </p:spPr>
      </p:sp>
      <p:sp>
        <p:nvSpPr>
          <p:cNvPr id="5" name="Text 2"/>
          <p:cNvSpPr txBox="1"/>
          <p:nvPr/>
        </p:nvSpPr>
        <p:spPr>
          <a:xfrm>
            <a:off x="548640" y="1280160"/>
            <a:ext cx="5486400" cy="274320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 GROUP comp.protocols.tcp-ip</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S: 211 1234 3000 4233 comp.protocols.tcp-ip</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 OVER 4200-4233</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 ARTICLE 4233</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 POST</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S: 340 send article, end with .</a:t>
            </a:r>
            <a:endParaRPr lang="en-US" sz="1200" dirty="0"/>
          </a:p>
        </p:txBody>
      </p:sp>
      <p:sp>
        <p:nvSpPr>
          <p:cNvPr id="6" name="code"/>
          <p:cNvSpPr/>
          <p:nvPr/>
        </p:nvSpPr>
        <p:spPr>
          <a:xfrm>
            <a:off x="6309360" y="1280160"/>
            <a:ext cx="5303520" cy="2743200"/>
          </a:xfrm>
          <a:prstGeom prst="rect">
            <a:avLst/>
          </a:prstGeom>
          <a:solidFill>
            <a:srgbClr val="1E2A38"/>
          </a:solidFill>
          <a:ln w="12700">
            <a:solidFill>
              <a:srgbClr val="1E2A38"/>
            </a:solidFill>
            <a:prstDash val="solid"/>
          </a:ln>
        </p:spPr>
      </p:sp>
      <p:sp>
        <p:nvSpPr>
          <p:cNvPr id="7" name="Text 4"/>
          <p:cNvSpPr txBox="1"/>
          <p:nvPr/>
        </p:nvSpPr>
        <p:spPr>
          <a:xfrm>
            <a:off x="6309360" y="1280160"/>
            <a:ext cx="5303520" cy="274320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 IHAVE &lt;a81f2@news.uni.ro&gt;</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S: 335 send it</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S: 435 not wanted (already seen)</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 </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streaming feeds (RFC 4644):</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CHECK · TAKETHIS — no round trip per article</a:t>
            </a:r>
            <a:endParaRPr lang="en-US" sz="1200" dirty="0"/>
          </a:p>
        </p:txBody>
      </p:sp>
      <p:sp>
        <p:nvSpPr>
          <p:cNvPr id="8" name="Text 5"/>
          <p:cNvSpPr txBox="1"/>
          <p:nvPr/>
        </p:nvSpPr>
        <p:spPr>
          <a:xfrm>
            <a:off x="548640" y="4114800"/>
            <a:ext cx="5486400" cy="36576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reader commands</a:t>
            </a:r>
            <a:r>
              <a:rPr lang="en-US" sz="1200" dirty="0">
                <a:solidFill>
                  <a:srgbClr val="1B2430"/>
                </a:solidFill>
              </a:rPr>
              <a:t>: LIST · GROUP · OVER · ARTICLE · HEAD · BODY · POST</a:t>
            </a:r>
            <a:endParaRPr lang="en-US" sz="1200" dirty="0"/>
          </a:p>
        </p:txBody>
      </p:sp>
      <p:sp>
        <p:nvSpPr>
          <p:cNvPr id="9" name="Text 6"/>
          <p:cNvSpPr txBox="1"/>
          <p:nvPr/>
        </p:nvSpPr>
        <p:spPr>
          <a:xfrm>
            <a:off x="6309360" y="4114800"/>
            <a:ext cx="5303520" cy="36576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server to server</a:t>
            </a:r>
            <a:r>
              <a:rPr lang="en-US" sz="1200" dirty="0">
                <a:solidFill>
                  <a:srgbClr val="1B2430"/>
                </a:solidFill>
              </a:rPr>
              <a:t>: “do you want it?” before sending</a:t>
            </a:r>
            <a:endParaRPr lang="en-US" sz="1200" dirty="0"/>
          </a:p>
        </p:txBody>
      </p:sp>
      <p:sp>
        <p:nvSpPr>
          <p:cNvPr id="10" name="Shape 7"/>
          <p:cNvSpPr/>
          <p:nvPr/>
        </p:nvSpPr>
        <p:spPr>
          <a:xfrm>
            <a:off x="548640" y="4727448"/>
            <a:ext cx="384048" cy="384048"/>
          </a:xfrm>
          <a:prstGeom prst="ellipse">
            <a:avLst/>
          </a:prstGeom>
          <a:solidFill>
            <a:srgbClr val="B9772A"/>
          </a:solidFill>
          <a:ln w="12700">
            <a:solidFill>
              <a:srgbClr val="B9772A"/>
            </a:solidFill>
            <a:prstDash val="solid"/>
          </a:ln>
        </p:spPr>
      </p:sp>
      <p:sp>
        <p:nvSpPr>
          <p:cNvPr id="11" name="Text 8"/>
          <p:cNvSpPr txBox="1"/>
          <p:nvPr/>
        </p:nvSpPr>
        <p:spPr>
          <a:xfrm>
            <a:off x="548640" y="4727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2" name="Text 9"/>
          <p:cNvSpPr txBox="1"/>
          <p:nvPr/>
        </p:nvSpPr>
        <p:spPr>
          <a:xfrm>
            <a:off x="1051560" y="4709160"/>
            <a:ext cx="10561320" cy="8686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Discussion moved to mailing lists, forums and social networks — all client–server; flooding with duplicate suppression returns in </a:t>
            </a:r>
            <a:r>
              <a:rPr lang="en-US" sz="1300" b="1" dirty="0">
                <a:solidFill>
                  <a:srgbClr val="1B2430"/>
                </a:solidFill>
              </a:rPr>
              <a:t>routing protocols</a:t>
            </a:r>
            <a:r>
              <a:rPr lang="en-US" sz="1300" dirty="0">
                <a:solidFill>
                  <a:srgbClr val="1B2430"/>
                </a:solidFill>
              </a:rPr>
              <a:t>.</a:t>
            </a:r>
            <a:endParaRPr lang="en-US" sz="1300" dirty="0"/>
          </a:p>
        </p:txBody>
      </p:sp>
      <p:sp>
        <p:nvSpPr>
          <p:cNvPr id="13"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4" name="Text 11"/>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IHAVE asks before sending: a refusal costs one short line, not the article.</a:t>
            </a:r>
            <a:endParaRPr lang="en-US" sz="1400" dirty="0"/>
          </a:p>
        </p:txBody>
      </p:sp>
      <p:sp>
        <p:nvSpPr>
          <p:cNvPr id="15" name="Text 12"/>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NNTP (Network News Transfer Protocol) · RFC (Request for Comments)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7 · DNS: what the naming system provides</a:t>
            </a:r>
            <a:endParaRPr lang="en-US" sz="3000" dirty="0"/>
          </a:p>
        </p:txBody>
      </p:sp>
      <p:sp>
        <p:nvSpPr>
          <p:cNvPr id="4" name="box"/>
          <p:cNvSpPr/>
          <p:nvPr/>
        </p:nvSpPr>
        <p:spPr>
          <a:xfrm>
            <a:off x="548640" y="1325880"/>
            <a:ext cx="2194560" cy="1143000"/>
          </a:xfrm>
          <a:prstGeom prst="roundRect">
            <a:avLst>
              <a:gd name="adj" fmla="val 6400"/>
            </a:avLst>
          </a:prstGeom>
          <a:solidFill>
            <a:srgbClr val="1F3A5F"/>
          </a:solidFill>
          <a:ln w="12700">
            <a:solidFill>
              <a:srgbClr val="1F3A5F"/>
            </a:solidFill>
            <a:prstDash val="solid"/>
          </a:ln>
        </p:spPr>
      </p:sp>
      <p:sp>
        <p:nvSpPr>
          <p:cNvPr id="5" name="Text 2"/>
          <p:cNvSpPr txBox="1"/>
          <p:nvPr/>
        </p:nvSpPr>
        <p:spPr>
          <a:xfrm>
            <a:off x="548640" y="1325880"/>
            <a:ext cx="2194560" cy="1143000"/>
          </a:xfrm>
          <a:prstGeom prst="rect">
            <a:avLst/>
          </a:prstGeom>
          <a:noFill/>
          <a:ln/>
        </p:spPr>
        <p:txBody>
          <a:bodyPr wrap="square" lIns="635" tIns="635" rIns="635" bIns="635" rtlCol="0" anchor="ctr"/>
          <a:lstStyle/>
          <a:p>
            <a:pPr algn="ctr" indent="0" marL="0">
              <a:buNone/>
            </a:pPr>
            <a:r>
              <a:rPr lang="en-US" sz="1400" b="1" dirty="0">
                <a:solidFill>
                  <a:srgbClr val="FFFFFF"/>
                </a:solidFill>
              </a:rPr>
              <a:t>A · AAAA</a:t>
            </a:r>
            <a:endParaRPr lang="en-US" sz="1400" dirty="0"/>
          </a:p>
        </p:txBody>
      </p:sp>
      <p:sp>
        <p:nvSpPr>
          <p:cNvPr id="6" name="box"/>
          <p:cNvSpPr/>
          <p:nvPr/>
        </p:nvSpPr>
        <p:spPr>
          <a:xfrm>
            <a:off x="2834640" y="1325880"/>
            <a:ext cx="3154680" cy="1143000"/>
          </a:xfrm>
          <a:prstGeom prst="roundRect">
            <a:avLst>
              <a:gd name="adj" fmla="val 6400"/>
            </a:avLst>
          </a:prstGeom>
          <a:solidFill>
            <a:srgbClr val="EEF2F6"/>
          </a:solidFill>
          <a:ln w="12700">
            <a:solidFill>
              <a:srgbClr val="EEF2F6"/>
            </a:solidFill>
            <a:prstDash val="solid"/>
          </a:ln>
        </p:spPr>
      </p:sp>
      <p:sp>
        <p:nvSpPr>
          <p:cNvPr id="7" name="Text 4"/>
          <p:cNvSpPr txBox="1"/>
          <p:nvPr/>
        </p:nvSpPr>
        <p:spPr>
          <a:xfrm>
            <a:off x="2834640" y="1325880"/>
            <a:ext cx="3154680" cy="1143000"/>
          </a:xfrm>
          <a:prstGeom prst="rect">
            <a:avLst/>
          </a:prstGeom>
          <a:noFill/>
          <a:ln/>
        </p:spPr>
        <p:txBody>
          <a:bodyPr wrap="square" lIns="635" tIns="635" rIns="635" bIns="635" rtlCol="0" anchor="ctr"/>
          <a:lstStyle/>
          <a:p>
            <a:pPr algn="ctr" indent="0" marL="0">
              <a:buNone/>
            </a:pPr>
            <a:r>
              <a:rPr lang="en-US" sz="1300" dirty="0">
                <a:solidFill>
                  <a:srgbClr val="1B2430"/>
                </a:solidFill>
              </a:rPr>
              <a:t>name → IPv4 / IPv6 address</a:t>
            </a:r>
            <a:endParaRPr lang="en-US" sz="1300" dirty="0"/>
          </a:p>
        </p:txBody>
      </p:sp>
      <p:sp>
        <p:nvSpPr>
          <p:cNvPr id="8" name="box"/>
          <p:cNvSpPr/>
          <p:nvPr/>
        </p:nvSpPr>
        <p:spPr>
          <a:xfrm>
            <a:off x="6172200" y="1325880"/>
            <a:ext cx="2194560" cy="1143000"/>
          </a:xfrm>
          <a:prstGeom prst="roundRect">
            <a:avLst>
              <a:gd name="adj" fmla="val 6400"/>
            </a:avLst>
          </a:prstGeom>
          <a:solidFill>
            <a:srgbClr val="2A7F8E"/>
          </a:solidFill>
          <a:ln w="12700">
            <a:solidFill>
              <a:srgbClr val="2A7F8E"/>
            </a:solidFill>
            <a:prstDash val="solid"/>
          </a:ln>
        </p:spPr>
      </p:sp>
      <p:sp>
        <p:nvSpPr>
          <p:cNvPr id="9" name="Text 6"/>
          <p:cNvSpPr txBox="1"/>
          <p:nvPr/>
        </p:nvSpPr>
        <p:spPr>
          <a:xfrm>
            <a:off x="6172200" y="1325880"/>
            <a:ext cx="2194560" cy="1143000"/>
          </a:xfrm>
          <a:prstGeom prst="rect">
            <a:avLst/>
          </a:prstGeom>
          <a:noFill/>
          <a:ln/>
        </p:spPr>
        <p:txBody>
          <a:bodyPr wrap="square" lIns="635" tIns="635" rIns="635" bIns="635" rtlCol="0" anchor="ctr"/>
          <a:lstStyle/>
          <a:p>
            <a:pPr algn="ctr" indent="0" marL="0">
              <a:buNone/>
            </a:pPr>
            <a:r>
              <a:rPr lang="en-US" sz="1400" b="1" dirty="0">
                <a:solidFill>
                  <a:srgbClr val="FFFFFF"/>
                </a:solidFill>
              </a:rPr>
              <a:t>CNAME</a:t>
            </a:r>
            <a:endParaRPr lang="en-US" sz="1400" dirty="0"/>
          </a:p>
        </p:txBody>
      </p:sp>
      <p:sp>
        <p:nvSpPr>
          <p:cNvPr id="10" name="box"/>
          <p:cNvSpPr/>
          <p:nvPr/>
        </p:nvSpPr>
        <p:spPr>
          <a:xfrm>
            <a:off x="8458200" y="1325880"/>
            <a:ext cx="3154680" cy="1143000"/>
          </a:xfrm>
          <a:prstGeom prst="roundRect">
            <a:avLst>
              <a:gd name="adj" fmla="val 6400"/>
            </a:avLst>
          </a:prstGeom>
          <a:solidFill>
            <a:srgbClr val="EEF2F6"/>
          </a:solidFill>
          <a:ln w="12700">
            <a:solidFill>
              <a:srgbClr val="EEF2F6"/>
            </a:solidFill>
            <a:prstDash val="solid"/>
          </a:ln>
        </p:spPr>
      </p:sp>
      <p:sp>
        <p:nvSpPr>
          <p:cNvPr id="11" name="Text 8"/>
          <p:cNvSpPr txBox="1"/>
          <p:nvPr/>
        </p:nvSpPr>
        <p:spPr>
          <a:xfrm>
            <a:off x="8458200" y="1325880"/>
            <a:ext cx="3154680" cy="1143000"/>
          </a:xfrm>
          <a:prstGeom prst="rect">
            <a:avLst/>
          </a:prstGeom>
          <a:noFill/>
          <a:ln/>
        </p:spPr>
        <p:txBody>
          <a:bodyPr wrap="square" lIns="635" tIns="635" rIns="635" bIns="635" rtlCol="0" anchor="ctr"/>
          <a:lstStyle/>
          <a:p>
            <a:pPr algn="ctr" indent="0" marL="0">
              <a:buNone/>
            </a:pPr>
            <a:r>
              <a:rPr lang="en-US" sz="1300" dirty="0">
                <a:solidFill>
                  <a:srgbClr val="1B2430"/>
                </a:solidFill>
              </a:rPr>
              <a:t>alias → canonical name</a:t>
            </a:r>
            <a:endParaRPr lang="en-US" sz="1300" dirty="0"/>
          </a:p>
        </p:txBody>
      </p:sp>
      <p:sp>
        <p:nvSpPr>
          <p:cNvPr id="12" name="box"/>
          <p:cNvSpPr/>
          <p:nvPr/>
        </p:nvSpPr>
        <p:spPr>
          <a:xfrm>
            <a:off x="548640" y="2697480"/>
            <a:ext cx="2194560" cy="1143000"/>
          </a:xfrm>
          <a:prstGeom prst="roundRect">
            <a:avLst>
              <a:gd name="adj" fmla="val 6400"/>
            </a:avLst>
          </a:prstGeom>
          <a:solidFill>
            <a:srgbClr val="B9772A"/>
          </a:solidFill>
          <a:ln w="12700">
            <a:solidFill>
              <a:srgbClr val="B9772A"/>
            </a:solidFill>
            <a:prstDash val="solid"/>
          </a:ln>
        </p:spPr>
      </p:sp>
      <p:sp>
        <p:nvSpPr>
          <p:cNvPr id="13" name="Text 10"/>
          <p:cNvSpPr txBox="1"/>
          <p:nvPr/>
        </p:nvSpPr>
        <p:spPr>
          <a:xfrm>
            <a:off x="548640" y="2697480"/>
            <a:ext cx="2194560" cy="1143000"/>
          </a:xfrm>
          <a:prstGeom prst="rect">
            <a:avLst/>
          </a:prstGeom>
          <a:noFill/>
          <a:ln/>
        </p:spPr>
        <p:txBody>
          <a:bodyPr wrap="square" lIns="635" tIns="635" rIns="635" bIns="635" rtlCol="0" anchor="ctr"/>
          <a:lstStyle/>
          <a:p>
            <a:pPr algn="ctr" indent="0" marL="0">
              <a:buNone/>
            </a:pPr>
            <a:r>
              <a:rPr lang="en-US" sz="1400" b="1" dirty="0">
                <a:solidFill>
                  <a:srgbClr val="FFFFFF"/>
                </a:solidFill>
              </a:rPr>
              <a:t>MX</a:t>
            </a:r>
            <a:endParaRPr lang="en-US" sz="1400" dirty="0"/>
          </a:p>
        </p:txBody>
      </p:sp>
      <p:sp>
        <p:nvSpPr>
          <p:cNvPr id="14" name="box"/>
          <p:cNvSpPr/>
          <p:nvPr/>
        </p:nvSpPr>
        <p:spPr>
          <a:xfrm>
            <a:off x="2834640" y="2697480"/>
            <a:ext cx="3154680" cy="1143000"/>
          </a:xfrm>
          <a:prstGeom prst="roundRect">
            <a:avLst>
              <a:gd name="adj" fmla="val 6400"/>
            </a:avLst>
          </a:prstGeom>
          <a:solidFill>
            <a:srgbClr val="EEF2F6"/>
          </a:solidFill>
          <a:ln w="12700">
            <a:solidFill>
              <a:srgbClr val="EEF2F6"/>
            </a:solidFill>
            <a:prstDash val="solid"/>
          </a:ln>
        </p:spPr>
      </p:sp>
      <p:sp>
        <p:nvSpPr>
          <p:cNvPr id="15" name="Text 12"/>
          <p:cNvSpPr txBox="1"/>
          <p:nvPr/>
        </p:nvSpPr>
        <p:spPr>
          <a:xfrm>
            <a:off x="2834640" y="2697480"/>
            <a:ext cx="3154680" cy="1143000"/>
          </a:xfrm>
          <a:prstGeom prst="rect">
            <a:avLst/>
          </a:prstGeom>
          <a:noFill/>
          <a:ln/>
        </p:spPr>
        <p:txBody>
          <a:bodyPr wrap="square" lIns="635" tIns="635" rIns="635" bIns="635" rtlCol="0" anchor="ctr"/>
          <a:lstStyle/>
          <a:p>
            <a:pPr algn="ctr" indent="0" marL="0">
              <a:buNone/>
            </a:pPr>
            <a:r>
              <a:rPr lang="en-US" sz="1300" dirty="0">
                <a:solidFill>
                  <a:srgbClr val="1B2430"/>
                </a:solidFill>
              </a:rPr>
              <a:t>mail servers of a domain</a:t>
            </a:r>
            <a:endParaRPr lang="en-US" sz="1300" dirty="0"/>
          </a:p>
        </p:txBody>
      </p:sp>
      <p:sp>
        <p:nvSpPr>
          <p:cNvPr id="16" name="box"/>
          <p:cNvSpPr/>
          <p:nvPr/>
        </p:nvSpPr>
        <p:spPr>
          <a:xfrm>
            <a:off x="6172200" y="2697480"/>
            <a:ext cx="2194560" cy="1143000"/>
          </a:xfrm>
          <a:prstGeom prst="roundRect">
            <a:avLst>
              <a:gd name="adj" fmla="val 6400"/>
            </a:avLst>
          </a:prstGeom>
          <a:solidFill>
            <a:srgbClr val="2E7D4F"/>
          </a:solidFill>
          <a:ln w="12700">
            <a:solidFill>
              <a:srgbClr val="2E7D4F"/>
            </a:solidFill>
            <a:prstDash val="solid"/>
          </a:ln>
        </p:spPr>
      </p:sp>
      <p:sp>
        <p:nvSpPr>
          <p:cNvPr id="17" name="Text 14"/>
          <p:cNvSpPr txBox="1"/>
          <p:nvPr/>
        </p:nvSpPr>
        <p:spPr>
          <a:xfrm>
            <a:off x="6172200" y="2697480"/>
            <a:ext cx="2194560" cy="1143000"/>
          </a:xfrm>
          <a:prstGeom prst="rect">
            <a:avLst/>
          </a:prstGeom>
          <a:noFill/>
          <a:ln/>
        </p:spPr>
        <p:txBody>
          <a:bodyPr wrap="square" lIns="635" tIns="635" rIns="635" bIns="635" rtlCol="0" anchor="ctr"/>
          <a:lstStyle/>
          <a:p>
            <a:pPr algn="ctr" indent="0" marL="0">
              <a:buNone/>
            </a:pPr>
            <a:r>
              <a:rPr lang="en-US" sz="1400" b="1" dirty="0">
                <a:solidFill>
                  <a:srgbClr val="FFFFFF"/>
                </a:solidFill>
              </a:rPr>
              <a:t>several A records</a:t>
            </a:r>
            <a:endParaRPr lang="en-US" sz="1400" dirty="0"/>
          </a:p>
        </p:txBody>
      </p:sp>
      <p:sp>
        <p:nvSpPr>
          <p:cNvPr id="18" name="box"/>
          <p:cNvSpPr/>
          <p:nvPr/>
        </p:nvSpPr>
        <p:spPr>
          <a:xfrm>
            <a:off x="8458200" y="2697480"/>
            <a:ext cx="3154680" cy="1143000"/>
          </a:xfrm>
          <a:prstGeom prst="roundRect">
            <a:avLst>
              <a:gd name="adj" fmla="val 6400"/>
            </a:avLst>
          </a:prstGeom>
          <a:solidFill>
            <a:srgbClr val="EEF2F6"/>
          </a:solidFill>
          <a:ln w="12700">
            <a:solidFill>
              <a:srgbClr val="EEF2F6"/>
            </a:solidFill>
            <a:prstDash val="solid"/>
          </a:ln>
        </p:spPr>
      </p:sp>
      <p:sp>
        <p:nvSpPr>
          <p:cNvPr id="19" name="Text 16"/>
          <p:cNvSpPr txBox="1"/>
          <p:nvPr/>
        </p:nvSpPr>
        <p:spPr>
          <a:xfrm>
            <a:off x="8458200" y="2697480"/>
            <a:ext cx="3154680" cy="1143000"/>
          </a:xfrm>
          <a:prstGeom prst="rect">
            <a:avLst/>
          </a:prstGeom>
          <a:noFill/>
          <a:ln/>
        </p:spPr>
        <p:txBody>
          <a:bodyPr wrap="square" lIns="635" tIns="635" rIns="635" bIns="635" rtlCol="0" anchor="ctr"/>
          <a:lstStyle/>
          <a:p>
            <a:pPr algn="ctr" indent="0" marL="0">
              <a:buNone/>
            </a:pPr>
            <a:r>
              <a:rPr lang="en-US" sz="1300" dirty="0">
                <a:solidFill>
                  <a:srgbClr val="1B2430"/>
                </a:solidFill>
              </a:rPr>
              <a:t>load distribution; CDNs answer by location</a:t>
            </a:r>
            <a:endParaRPr lang="en-US" sz="1300" dirty="0"/>
          </a:p>
        </p:txBody>
      </p:sp>
      <p:sp>
        <p:nvSpPr>
          <p:cNvPr id="20" name="box"/>
          <p:cNvSpPr/>
          <p:nvPr/>
        </p:nvSpPr>
        <p:spPr>
          <a:xfrm>
            <a:off x="548640" y="4069080"/>
            <a:ext cx="2194560" cy="1143000"/>
          </a:xfrm>
          <a:prstGeom prst="roundRect">
            <a:avLst>
              <a:gd name="adj" fmla="val 6400"/>
            </a:avLst>
          </a:prstGeom>
          <a:solidFill>
            <a:srgbClr val="5B6770"/>
          </a:solidFill>
          <a:ln w="12700">
            <a:solidFill>
              <a:srgbClr val="5B6770"/>
            </a:solidFill>
            <a:prstDash val="solid"/>
          </a:ln>
        </p:spPr>
      </p:sp>
      <p:sp>
        <p:nvSpPr>
          <p:cNvPr id="21" name="Text 18"/>
          <p:cNvSpPr txBox="1"/>
          <p:nvPr/>
        </p:nvSpPr>
        <p:spPr>
          <a:xfrm>
            <a:off x="548640" y="4069080"/>
            <a:ext cx="2194560" cy="1143000"/>
          </a:xfrm>
          <a:prstGeom prst="rect">
            <a:avLst/>
          </a:prstGeom>
          <a:noFill/>
          <a:ln/>
        </p:spPr>
        <p:txBody>
          <a:bodyPr wrap="square" lIns="635" tIns="635" rIns="635" bIns="635" rtlCol="0" anchor="ctr"/>
          <a:lstStyle/>
          <a:p>
            <a:pPr algn="ctr" indent="0" marL="0">
              <a:buNone/>
            </a:pPr>
            <a:r>
              <a:rPr lang="en-US" sz="1400" b="1" dirty="0">
                <a:solidFill>
                  <a:srgbClr val="FFFFFF"/>
                </a:solidFill>
              </a:rPr>
              <a:t>PTR</a:t>
            </a:r>
            <a:endParaRPr lang="en-US" sz="1400" dirty="0"/>
          </a:p>
        </p:txBody>
      </p:sp>
      <p:sp>
        <p:nvSpPr>
          <p:cNvPr id="22" name="box"/>
          <p:cNvSpPr/>
          <p:nvPr/>
        </p:nvSpPr>
        <p:spPr>
          <a:xfrm>
            <a:off x="2834640" y="4069080"/>
            <a:ext cx="3154680" cy="1143000"/>
          </a:xfrm>
          <a:prstGeom prst="roundRect">
            <a:avLst>
              <a:gd name="adj" fmla="val 6400"/>
            </a:avLst>
          </a:prstGeom>
          <a:solidFill>
            <a:srgbClr val="EEF2F6"/>
          </a:solidFill>
          <a:ln w="12700">
            <a:solidFill>
              <a:srgbClr val="EEF2F6"/>
            </a:solidFill>
            <a:prstDash val="solid"/>
          </a:ln>
        </p:spPr>
      </p:sp>
      <p:sp>
        <p:nvSpPr>
          <p:cNvPr id="23" name="Text 20"/>
          <p:cNvSpPr txBox="1"/>
          <p:nvPr/>
        </p:nvSpPr>
        <p:spPr>
          <a:xfrm>
            <a:off x="2834640" y="4069080"/>
            <a:ext cx="3154680" cy="1143000"/>
          </a:xfrm>
          <a:prstGeom prst="rect">
            <a:avLst/>
          </a:prstGeom>
          <a:noFill/>
          <a:ln/>
        </p:spPr>
        <p:txBody>
          <a:bodyPr wrap="square" lIns="635" tIns="635" rIns="635" bIns="635" rtlCol="0" anchor="ctr"/>
          <a:lstStyle/>
          <a:p>
            <a:pPr algn="ctr" indent="0" marL="0">
              <a:buNone/>
            </a:pPr>
            <a:r>
              <a:rPr lang="en-US" sz="1300" dirty="0">
                <a:solidFill>
                  <a:srgbClr val="1B2430"/>
                </a:solidFill>
              </a:rPr>
              <a:t>address → name (in-addr.arpa, ip6.arpa)</a:t>
            </a:r>
            <a:endParaRPr lang="en-US" sz="1300" dirty="0"/>
          </a:p>
        </p:txBody>
      </p:sp>
      <p:sp>
        <p:nvSpPr>
          <p:cNvPr id="24" name="box"/>
          <p:cNvSpPr/>
          <p:nvPr/>
        </p:nvSpPr>
        <p:spPr>
          <a:xfrm>
            <a:off x="6172200" y="4069080"/>
            <a:ext cx="2194560" cy="1143000"/>
          </a:xfrm>
          <a:prstGeom prst="roundRect">
            <a:avLst>
              <a:gd name="adj" fmla="val 6400"/>
            </a:avLst>
          </a:prstGeom>
          <a:solidFill>
            <a:srgbClr val="A23B3B"/>
          </a:solidFill>
          <a:ln w="12700">
            <a:solidFill>
              <a:srgbClr val="A23B3B"/>
            </a:solidFill>
            <a:prstDash val="solid"/>
          </a:ln>
        </p:spPr>
      </p:sp>
      <p:sp>
        <p:nvSpPr>
          <p:cNvPr id="25" name="Text 22"/>
          <p:cNvSpPr txBox="1"/>
          <p:nvPr/>
        </p:nvSpPr>
        <p:spPr>
          <a:xfrm>
            <a:off x="6172200" y="4069080"/>
            <a:ext cx="2194560" cy="1143000"/>
          </a:xfrm>
          <a:prstGeom prst="rect">
            <a:avLst/>
          </a:prstGeom>
          <a:noFill/>
          <a:ln/>
        </p:spPr>
        <p:txBody>
          <a:bodyPr wrap="square" lIns="635" tIns="635" rIns="635" bIns="635" rtlCol="0" anchor="ctr"/>
          <a:lstStyle/>
          <a:p>
            <a:pPr algn="ctr" indent="0" marL="0">
              <a:buNone/>
            </a:pPr>
            <a:r>
              <a:rPr lang="en-US" sz="1400" b="1" dirty="0">
                <a:solidFill>
                  <a:srgbClr val="FFFFFF"/>
                </a:solidFill>
              </a:rPr>
              <a:t>TXT · SRV · CAA</a:t>
            </a:r>
            <a:endParaRPr lang="en-US" sz="1400" dirty="0"/>
          </a:p>
        </p:txBody>
      </p:sp>
      <p:sp>
        <p:nvSpPr>
          <p:cNvPr id="26" name="box"/>
          <p:cNvSpPr/>
          <p:nvPr/>
        </p:nvSpPr>
        <p:spPr>
          <a:xfrm>
            <a:off x="8458200" y="4069080"/>
            <a:ext cx="3154680" cy="1143000"/>
          </a:xfrm>
          <a:prstGeom prst="roundRect">
            <a:avLst>
              <a:gd name="adj" fmla="val 6400"/>
            </a:avLst>
          </a:prstGeom>
          <a:solidFill>
            <a:srgbClr val="EEF2F6"/>
          </a:solidFill>
          <a:ln w="12700">
            <a:solidFill>
              <a:srgbClr val="EEF2F6"/>
            </a:solidFill>
            <a:prstDash val="solid"/>
          </a:ln>
        </p:spPr>
      </p:sp>
      <p:sp>
        <p:nvSpPr>
          <p:cNvPr id="27" name="Text 24"/>
          <p:cNvSpPr txBox="1"/>
          <p:nvPr/>
        </p:nvSpPr>
        <p:spPr>
          <a:xfrm>
            <a:off x="8458200" y="4069080"/>
            <a:ext cx="3154680" cy="1143000"/>
          </a:xfrm>
          <a:prstGeom prst="rect">
            <a:avLst/>
          </a:prstGeom>
          <a:noFill/>
          <a:ln/>
        </p:spPr>
        <p:txBody>
          <a:bodyPr wrap="square" lIns="635" tIns="635" rIns="635" bIns="635" rtlCol="0" anchor="ctr"/>
          <a:lstStyle/>
          <a:p>
            <a:pPr algn="ctr" indent="0" marL="0">
              <a:buNone/>
            </a:pPr>
            <a:r>
              <a:rPr lang="en-US" sz="1300" dirty="0">
                <a:solidFill>
                  <a:srgbClr val="1B2430"/>
                </a:solidFill>
              </a:rPr>
              <a:t>SPF, DMARC · service location · allowed CAs</a:t>
            </a:r>
            <a:endParaRPr lang="en-US" sz="1300" dirty="0"/>
          </a:p>
        </p:txBody>
      </p:sp>
      <p:sp>
        <p:nvSpPr>
          <p:cNvPr id="2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9" name="Text 2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DNS answers more than “which address?”: aliases, mail routing, load spreading, reverse lookups and policies.</a:t>
            </a:r>
            <a:endParaRPr lang="en-US" sz="1400" dirty="0"/>
          </a:p>
        </p:txBody>
      </p:sp>
      <p:sp>
        <p:nvSpPr>
          <p:cNvPr id="30" name="Text 27"/>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DMARC (Domain-based Message Authentication, Reporting and Conformance) · IPv4 (Internet Protocol version 4) · IPv6 (Internet Protocol version 6) · AAAA (IPv6 address record) · DNS (Domain Name System) · SPF (Sender Policy Framework) · PTR (pointer) · TXT (text) · SRV (service locator) · CAA (Certification Authority Authorization) · MX (mail exchanger)</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7 · Why not one big server?</a:t>
            </a:r>
            <a:endParaRPr lang="en-US" sz="3000" dirty="0"/>
          </a:p>
        </p:txBody>
      </p:sp>
      <p:sp>
        <p:nvSpPr>
          <p:cNvPr id="4" name="box"/>
          <p:cNvSpPr/>
          <p:nvPr/>
        </p:nvSpPr>
        <p:spPr>
          <a:xfrm>
            <a:off x="548640" y="1371600"/>
            <a:ext cx="2606040" cy="1463040"/>
          </a:xfrm>
          <a:prstGeom prst="roundRect">
            <a:avLst>
              <a:gd name="adj" fmla="val 5000"/>
            </a:avLst>
          </a:prstGeom>
          <a:solidFill>
            <a:srgbClr val="F2D6D6"/>
          </a:solidFill>
          <a:ln w="12700">
            <a:solidFill>
              <a:srgbClr val="F2D6D6"/>
            </a:solidFill>
            <a:prstDash val="solid"/>
          </a:ln>
        </p:spPr>
      </p:sp>
      <p:sp>
        <p:nvSpPr>
          <p:cNvPr id="5" name="Text 2"/>
          <p:cNvSpPr txBox="1"/>
          <p:nvPr/>
        </p:nvSpPr>
        <p:spPr>
          <a:xfrm>
            <a:off x="548640" y="1371600"/>
            <a:ext cx="2606040" cy="1463040"/>
          </a:xfrm>
          <a:prstGeom prst="rect">
            <a:avLst/>
          </a:prstGeom>
          <a:noFill/>
          <a:ln/>
        </p:spPr>
        <p:txBody>
          <a:bodyPr wrap="square" lIns="635" tIns="635" rIns="635" bIns="635" rtlCol="0" anchor="ctr"/>
          <a:lstStyle/>
          <a:p>
            <a:pPr algn="ctr" indent="0" marL="0">
              <a:buNone/>
            </a:pPr>
            <a:r>
              <a:rPr lang="en-US" sz="1300" b="1" dirty="0">
                <a:solidFill>
                  <a:srgbClr val="1B2430"/>
                </a:solidFill>
              </a:rPr>
              <a:t>single point of failure</a:t>
            </a:r>
            <a:endParaRPr lang="en-US" sz="1300" dirty="0"/>
          </a:p>
          <a:p>
            <a:pPr algn="ctr" indent="0" marL="0">
              <a:buNone/>
            </a:pPr>
            <a:r>
              <a:rPr lang="en-US" sz="1300" dirty="0">
                <a:solidFill>
                  <a:srgbClr val="1B2430"/>
                </a:solidFill>
              </a:rPr>
              <a:t>one outage stops the Internet</a:t>
            </a:r>
            <a:endParaRPr lang="en-US" sz="1300" dirty="0"/>
          </a:p>
        </p:txBody>
      </p:sp>
      <p:sp>
        <p:nvSpPr>
          <p:cNvPr id="6" name="box"/>
          <p:cNvSpPr/>
          <p:nvPr/>
        </p:nvSpPr>
        <p:spPr>
          <a:xfrm>
            <a:off x="3337560" y="1371600"/>
            <a:ext cx="2606040" cy="1463040"/>
          </a:xfrm>
          <a:prstGeom prst="roundRect">
            <a:avLst>
              <a:gd name="adj" fmla="val 5000"/>
            </a:avLst>
          </a:prstGeom>
          <a:solidFill>
            <a:srgbClr val="F2D6D6"/>
          </a:solidFill>
          <a:ln w="12700">
            <a:solidFill>
              <a:srgbClr val="F2D6D6"/>
            </a:solidFill>
            <a:prstDash val="solid"/>
          </a:ln>
        </p:spPr>
      </p:sp>
      <p:sp>
        <p:nvSpPr>
          <p:cNvPr id="7" name="Text 4"/>
          <p:cNvSpPr txBox="1"/>
          <p:nvPr/>
        </p:nvSpPr>
        <p:spPr>
          <a:xfrm>
            <a:off x="3337560" y="1371600"/>
            <a:ext cx="2606040" cy="1463040"/>
          </a:xfrm>
          <a:prstGeom prst="rect">
            <a:avLst/>
          </a:prstGeom>
          <a:noFill/>
          <a:ln/>
        </p:spPr>
        <p:txBody>
          <a:bodyPr wrap="square" lIns="635" tIns="635" rIns="635" bIns="635" rtlCol="0" anchor="ctr"/>
          <a:lstStyle/>
          <a:p>
            <a:pPr algn="ctr" indent="0" marL="0">
              <a:buNone/>
            </a:pPr>
            <a:r>
              <a:rPr lang="en-US" sz="1300" b="1" dirty="0">
                <a:solidFill>
                  <a:srgbClr val="1B2430"/>
                </a:solidFill>
              </a:rPr>
              <a:t>traffic</a:t>
            </a:r>
            <a:endParaRPr lang="en-US" sz="1300" dirty="0"/>
          </a:p>
          <a:p>
            <a:pPr algn="ctr" indent="0" marL="0">
              <a:buNone/>
            </a:pPr>
            <a:r>
              <a:rPr lang="en-US" sz="1300" dirty="0">
                <a:solidFill>
                  <a:srgbClr val="1B2430"/>
                </a:solidFill>
              </a:rPr>
              <a:t>every lookup on the planet</a:t>
            </a:r>
            <a:endParaRPr lang="en-US" sz="1300" dirty="0"/>
          </a:p>
        </p:txBody>
      </p:sp>
      <p:sp>
        <p:nvSpPr>
          <p:cNvPr id="8" name="box"/>
          <p:cNvSpPr/>
          <p:nvPr/>
        </p:nvSpPr>
        <p:spPr>
          <a:xfrm>
            <a:off x="6126480" y="1371600"/>
            <a:ext cx="2606040" cy="1463040"/>
          </a:xfrm>
          <a:prstGeom prst="roundRect">
            <a:avLst>
              <a:gd name="adj" fmla="val 5000"/>
            </a:avLst>
          </a:prstGeom>
          <a:solidFill>
            <a:srgbClr val="F2D6D6"/>
          </a:solidFill>
          <a:ln w="12700">
            <a:solidFill>
              <a:srgbClr val="F2D6D6"/>
            </a:solidFill>
            <a:prstDash val="solid"/>
          </a:ln>
        </p:spPr>
      </p:sp>
      <p:sp>
        <p:nvSpPr>
          <p:cNvPr id="9" name="Text 6"/>
          <p:cNvSpPr txBox="1"/>
          <p:nvPr/>
        </p:nvSpPr>
        <p:spPr>
          <a:xfrm>
            <a:off x="6126480" y="1371600"/>
            <a:ext cx="2606040" cy="1463040"/>
          </a:xfrm>
          <a:prstGeom prst="rect">
            <a:avLst/>
          </a:prstGeom>
          <a:noFill/>
          <a:ln/>
        </p:spPr>
        <p:txBody>
          <a:bodyPr wrap="square" lIns="635" tIns="635" rIns="635" bIns="635" rtlCol="0" anchor="ctr"/>
          <a:lstStyle/>
          <a:p>
            <a:pPr algn="ctr" indent="0" marL="0">
              <a:buNone/>
            </a:pPr>
            <a:r>
              <a:rPr lang="en-US" sz="1300" b="1" dirty="0">
                <a:solidFill>
                  <a:srgbClr val="1B2430"/>
                </a:solidFill>
              </a:rPr>
              <a:t>distance</a:t>
            </a:r>
            <a:endParaRPr lang="en-US" sz="1300" dirty="0"/>
          </a:p>
          <a:p>
            <a:pPr algn="ctr" indent="0" marL="0">
              <a:buNone/>
            </a:pPr>
            <a:r>
              <a:rPr lang="en-US" sz="1300" dirty="0">
                <a:solidFill>
                  <a:srgbClr val="1B2430"/>
                </a:solidFill>
              </a:rPr>
              <a:t>far from most users</a:t>
            </a:r>
            <a:endParaRPr lang="en-US" sz="1300" dirty="0"/>
          </a:p>
        </p:txBody>
      </p:sp>
      <p:sp>
        <p:nvSpPr>
          <p:cNvPr id="10" name="box"/>
          <p:cNvSpPr/>
          <p:nvPr/>
        </p:nvSpPr>
        <p:spPr>
          <a:xfrm>
            <a:off x="8915400" y="1371600"/>
            <a:ext cx="2606040" cy="1463040"/>
          </a:xfrm>
          <a:prstGeom prst="roundRect">
            <a:avLst>
              <a:gd name="adj" fmla="val 5000"/>
            </a:avLst>
          </a:prstGeom>
          <a:solidFill>
            <a:srgbClr val="F2D6D6"/>
          </a:solidFill>
          <a:ln w="12700">
            <a:solidFill>
              <a:srgbClr val="F2D6D6"/>
            </a:solidFill>
            <a:prstDash val="solid"/>
          </a:ln>
        </p:spPr>
      </p:sp>
      <p:sp>
        <p:nvSpPr>
          <p:cNvPr id="11" name="Text 8"/>
          <p:cNvSpPr txBox="1"/>
          <p:nvPr/>
        </p:nvSpPr>
        <p:spPr>
          <a:xfrm>
            <a:off x="8915400" y="1371600"/>
            <a:ext cx="2606040" cy="1463040"/>
          </a:xfrm>
          <a:prstGeom prst="rect">
            <a:avLst/>
          </a:prstGeom>
          <a:noFill/>
          <a:ln/>
        </p:spPr>
        <p:txBody>
          <a:bodyPr wrap="square" lIns="635" tIns="635" rIns="635" bIns="635" rtlCol="0" anchor="ctr"/>
          <a:lstStyle/>
          <a:p>
            <a:pPr algn="ctr" indent="0" marL="0">
              <a:buNone/>
            </a:pPr>
            <a:r>
              <a:rPr lang="en-US" sz="1300" b="1" dirty="0">
                <a:solidFill>
                  <a:srgbClr val="1B2430"/>
                </a:solidFill>
              </a:rPr>
              <a:t>maintenance</a:t>
            </a:r>
            <a:endParaRPr lang="en-US" sz="1300" dirty="0"/>
          </a:p>
          <a:p>
            <a:pPr algn="ctr" indent="0" marL="0">
              <a:buNone/>
            </a:pPr>
            <a:r>
              <a:rPr lang="en-US" sz="1300" dirty="0">
                <a:solidFill>
                  <a:srgbClr val="1B2430"/>
                </a:solidFill>
              </a:rPr>
              <a:t>every change in the world, in one place</a:t>
            </a:r>
            <a:endParaRPr lang="en-US" sz="1300" dirty="0"/>
          </a:p>
        </p:txBody>
      </p:sp>
      <p:sp>
        <p:nvSpPr>
          <p:cNvPr id="12" name="Shape 9"/>
          <p:cNvSpPr/>
          <p:nvPr/>
        </p:nvSpPr>
        <p:spPr>
          <a:xfrm>
            <a:off x="6080760" y="2926080"/>
            <a:ext cx="914" cy="502920"/>
          </a:xfrm>
          <a:prstGeom prst="line">
            <a:avLst/>
          </a:prstGeom>
          <a:noFill/>
          <a:ln w="38100">
            <a:solidFill>
              <a:srgbClr val="2E7D4F"/>
            </a:solidFill>
            <a:prstDash val="solid"/>
            <a:tailEnd type="triangle"/>
          </a:ln>
        </p:spPr>
      </p:sp>
      <p:sp>
        <p:nvSpPr>
          <p:cNvPr id="13" name="box"/>
          <p:cNvSpPr/>
          <p:nvPr/>
        </p:nvSpPr>
        <p:spPr>
          <a:xfrm>
            <a:off x="548640" y="3474720"/>
            <a:ext cx="11064240" cy="914400"/>
          </a:xfrm>
          <a:prstGeom prst="roundRect">
            <a:avLst>
              <a:gd name="adj" fmla="val 8000"/>
            </a:avLst>
          </a:prstGeom>
          <a:solidFill>
            <a:srgbClr val="D7EBDD"/>
          </a:solidFill>
          <a:ln w="12700">
            <a:solidFill>
              <a:srgbClr val="D7EBDD"/>
            </a:solidFill>
            <a:prstDash val="solid"/>
          </a:ln>
        </p:spPr>
      </p:sp>
      <p:sp>
        <p:nvSpPr>
          <p:cNvPr id="14" name="Text 11"/>
          <p:cNvSpPr txBox="1"/>
          <p:nvPr/>
        </p:nvSpPr>
        <p:spPr>
          <a:xfrm>
            <a:off x="548640" y="3474720"/>
            <a:ext cx="11064240" cy="914400"/>
          </a:xfrm>
          <a:prstGeom prst="rect">
            <a:avLst/>
          </a:prstGeom>
          <a:noFill/>
          <a:ln/>
        </p:spPr>
        <p:txBody>
          <a:bodyPr wrap="square" lIns="635" tIns="635" rIns="635" bIns="635" rtlCol="0" anchor="ctr"/>
          <a:lstStyle/>
          <a:p>
            <a:pPr algn="ctr" indent="0" marL="0">
              <a:buNone/>
            </a:pPr>
            <a:r>
              <a:rPr lang="en-US" sz="1400" b="1" dirty="0">
                <a:solidFill>
                  <a:srgbClr val="1B2430"/>
                </a:solidFill>
              </a:rPr>
              <a:t>distributed</a:t>
            </a:r>
            <a:r>
              <a:rPr lang="en-US" sz="1400" dirty="0">
                <a:solidFill>
                  <a:srgbClr val="1B2430"/>
                </a:solidFill>
              </a:rPr>
              <a:t> (zones, delegation) · </a:t>
            </a:r>
            <a:r>
              <a:rPr lang="en-US" sz="1400" b="1" dirty="0">
                <a:solidFill>
                  <a:srgbClr val="1B2430"/>
                </a:solidFill>
              </a:rPr>
              <a:t>hierarchical</a:t>
            </a:r>
            <a:r>
              <a:rPr lang="en-US" sz="1400" dirty="0">
                <a:solidFill>
                  <a:srgbClr val="1B2430"/>
                </a:solidFill>
              </a:rPr>
              <a:t> (root → TLD → domain) · </a:t>
            </a:r>
            <a:r>
              <a:rPr lang="en-US" sz="1400" b="1" dirty="0">
                <a:solidFill>
                  <a:srgbClr val="1B2430"/>
                </a:solidFill>
              </a:rPr>
              <a:t>replicated</a:t>
            </a:r>
            <a:r>
              <a:rPr lang="en-US" sz="1400" dirty="0">
                <a:solidFill>
                  <a:srgbClr val="1B2430"/>
                </a:solidFill>
              </a:rPr>
              <a:t> (several servers per zone) · </a:t>
            </a:r>
            <a:r>
              <a:rPr lang="en-US" sz="1400" b="1" dirty="0">
                <a:solidFill>
                  <a:srgbClr val="1B2430"/>
                </a:solidFill>
              </a:rPr>
              <a:t>cached</a:t>
            </a:r>
            <a:r>
              <a:rPr lang="en-US" sz="1400" dirty="0">
                <a:solidFill>
                  <a:srgbClr val="1B2430"/>
                </a:solidFill>
              </a:rPr>
              <a:t> (TTL)</a:t>
            </a:r>
            <a:endParaRPr lang="en-US" sz="1400" dirty="0"/>
          </a:p>
        </p:txBody>
      </p:sp>
      <p:sp>
        <p:nvSpPr>
          <p:cNvPr id="15" name="Shape 12"/>
          <p:cNvSpPr/>
          <p:nvPr/>
        </p:nvSpPr>
        <p:spPr>
          <a:xfrm>
            <a:off x="548640" y="4636008"/>
            <a:ext cx="384048" cy="384048"/>
          </a:xfrm>
          <a:prstGeom prst="ellipse">
            <a:avLst/>
          </a:prstGeom>
          <a:solidFill>
            <a:srgbClr val="B9772A"/>
          </a:solidFill>
          <a:ln w="12700">
            <a:solidFill>
              <a:srgbClr val="B9772A"/>
            </a:solidFill>
            <a:prstDash val="solid"/>
          </a:ln>
        </p:spPr>
      </p:sp>
      <p:sp>
        <p:nvSpPr>
          <p:cNvPr id="16" name="Text 13"/>
          <p:cNvSpPr txBox="1"/>
          <p:nvPr/>
        </p:nvSpPr>
        <p:spPr>
          <a:xfrm>
            <a:off x="548640" y="4636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7" name="Text 14"/>
          <p:cNvSpPr txBox="1"/>
          <p:nvPr/>
        </p:nvSpPr>
        <p:spPr>
          <a:xfrm>
            <a:off x="1051560" y="4617720"/>
            <a:ext cx="10561320" cy="9144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 core Internet function implemented at the application layer, at the edge — the end-to-end principle at work.</a:t>
            </a:r>
            <a:endParaRPr lang="en-US" sz="1300" dirty="0"/>
          </a:p>
        </p:txBody>
      </p:sp>
      <p:sp>
        <p:nvSpPr>
          <p:cNvPr id="1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9" name="Text 1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DNS scales because nobody holds the whole database and everybody caches.</a:t>
            </a:r>
            <a:endParaRPr lang="en-US" sz="1400" dirty="0"/>
          </a:p>
        </p:txBody>
      </p:sp>
      <p:sp>
        <p:nvSpPr>
          <p:cNvPr id="20" name="Text 1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DNS (Domain Name System) · TLD (top-level domain) · TTL (time to live)</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7 · The hierarchy of zones</a:t>
            </a:r>
            <a:endParaRPr lang="en-US" sz="3000" dirty="0"/>
          </a:p>
        </p:txBody>
      </p:sp>
      <p:sp>
        <p:nvSpPr>
          <p:cNvPr id="4" name="box"/>
          <p:cNvSpPr/>
          <p:nvPr/>
        </p:nvSpPr>
        <p:spPr>
          <a:xfrm>
            <a:off x="5166360" y="1234440"/>
            <a:ext cx="1828800" cy="594360"/>
          </a:xfrm>
          <a:prstGeom prst="roundRect">
            <a:avLst>
              <a:gd name="adj" fmla="val 12308"/>
            </a:avLst>
          </a:prstGeom>
          <a:solidFill>
            <a:srgbClr val="1F3A5F"/>
          </a:solidFill>
          <a:ln w="12700">
            <a:solidFill>
              <a:srgbClr val="1F3A5F"/>
            </a:solidFill>
            <a:prstDash val="solid"/>
          </a:ln>
        </p:spPr>
      </p:sp>
      <p:sp>
        <p:nvSpPr>
          <p:cNvPr id="5" name="Text 2"/>
          <p:cNvSpPr txBox="1"/>
          <p:nvPr/>
        </p:nvSpPr>
        <p:spPr>
          <a:xfrm>
            <a:off x="5166360" y="1234440"/>
            <a:ext cx="1828800" cy="594360"/>
          </a:xfrm>
          <a:prstGeom prst="rect">
            <a:avLst/>
          </a:prstGeom>
          <a:noFill/>
          <a:ln/>
        </p:spPr>
        <p:txBody>
          <a:bodyPr wrap="square" lIns="635" tIns="635" rIns="635" bIns="635" rtlCol="0" anchor="ctr"/>
          <a:lstStyle/>
          <a:p>
            <a:pPr algn="ctr" indent="0" marL="0">
              <a:buNone/>
            </a:pPr>
            <a:r>
              <a:rPr lang="en-US" sz="1400" b="1" dirty="0">
                <a:solidFill>
                  <a:srgbClr val="FFFFFF"/>
                </a:solidFill>
              </a:rPr>
              <a:t>root</a:t>
            </a:r>
            <a:r>
              <a:rPr lang="en-US" sz="1400" dirty="0">
                <a:solidFill>
                  <a:srgbClr val="FFFFFF"/>
                </a:solidFill>
              </a:rPr>
              <a:t> “.”</a:t>
            </a:r>
            <a:endParaRPr lang="en-US" sz="1400" dirty="0"/>
          </a:p>
        </p:txBody>
      </p:sp>
      <p:sp>
        <p:nvSpPr>
          <p:cNvPr id="6" name="box"/>
          <p:cNvSpPr/>
          <p:nvPr/>
        </p:nvSpPr>
        <p:spPr>
          <a:xfrm>
            <a:off x="914400" y="2377440"/>
            <a:ext cx="1463040" cy="548640"/>
          </a:xfrm>
          <a:prstGeom prst="roundRect">
            <a:avLst>
              <a:gd name="adj" fmla="val 13333"/>
            </a:avLst>
          </a:prstGeom>
          <a:solidFill>
            <a:srgbClr val="2A7F8E"/>
          </a:solidFill>
          <a:ln w="12700">
            <a:solidFill>
              <a:srgbClr val="2A7F8E"/>
            </a:solidFill>
            <a:prstDash val="solid"/>
          </a:ln>
        </p:spPr>
      </p:sp>
      <p:sp>
        <p:nvSpPr>
          <p:cNvPr id="7" name="Text 4"/>
          <p:cNvSpPr txBox="1"/>
          <p:nvPr/>
        </p:nvSpPr>
        <p:spPr>
          <a:xfrm>
            <a:off x="914400" y="2377440"/>
            <a:ext cx="1463040" cy="548640"/>
          </a:xfrm>
          <a:prstGeom prst="rect">
            <a:avLst/>
          </a:prstGeom>
          <a:noFill/>
          <a:ln/>
        </p:spPr>
        <p:txBody>
          <a:bodyPr wrap="square" lIns="635" tIns="635" rIns="635" bIns="635"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.com</a:t>
            </a:r>
            <a:endParaRPr lang="en-US" sz="1400" dirty="0"/>
          </a:p>
        </p:txBody>
      </p:sp>
      <p:sp>
        <p:nvSpPr>
          <p:cNvPr id="8" name="Shape 5"/>
          <p:cNvSpPr/>
          <p:nvPr/>
        </p:nvSpPr>
        <p:spPr>
          <a:xfrm flipH="1">
            <a:off x="1645920" y="1828800"/>
            <a:ext cx="4434840" cy="548640"/>
          </a:xfrm>
          <a:prstGeom prst="line">
            <a:avLst/>
          </a:prstGeom>
          <a:noFill/>
          <a:ln w="15875">
            <a:solidFill>
              <a:srgbClr val="9AA5AE"/>
            </a:solidFill>
            <a:prstDash val="solid"/>
            <a:tailEnd type="triangle"/>
          </a:ln>
        </p:spPr>
      </p:sp>
      <p:sp>
        <p:nvSpPr>
          <p:cNvPr id="9" name="box"/>
          <p:cNvSpPr/>
          <p:nvPr/>
        </p:nvSpPr>
        <p:spPr>
          <a:xfrm>
            <a:off x="2834640" y="2377440"/>
            <a:ext cx="1463040" cy="548640"/>
          </a:xfrm>
          <a:prstGeom prst="roundRect">
            <a:avLst>
              <a:gd name="adj" fmla="val 13333"/>
            </a:avLst>
          </a:prstGeom>
          <a:solidFill>
            <a:srgbClr val="2A7F8E"/>
          </a:solidFill>
          <a:ln w="12700">
            <a:solidFill>
              <a:srgbClr val="2A7F8E"/>
            </a:solidFill>
            <a:prstDash val="solid"/>
          </a:ln>
        </p:spPr>
      </p:sp>
      <p:sp>
        <p:nvSpPr>
          <p:cNvPr id="10" name="Text 7"/>
          <p:cNvSpPr txBox="1"/>
          <p:nvPr/>
        </p:nvSpPr>
        <p:spPr>
          <a:xfrm>
            <a:off x="2834640" y="2377440"/>
            <a:ext cx="1463040" cy="548640"/>
          </a:xfrm>
          <a:prstGeom prst="rect">
            <a:avLst/>
          </a:prstGeom>
          <a:noFill/>
          <a:ln/>
        </p:spPr>
        <p:txBody>
          <a:bodyPr wrap="square" lIns="635" tIns="635" rIns="635" bIns="635"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.org</a:t>
            </a:r>
            <a:endParaRPr lang="en-US" sz="1400" dirty="0"/>
          </a:p>
        </p:txBody>
      </p:sp>
      <p:sp>
        <p:nvSpPr>
          <p:cNvPr id="11" name="Shape 8"/>
          <p:cNvSpPr/>
          <p:nvPr/>
        </p:nvSpPr>
        <p:spPr>
          <a:xfrm flipH="1">
            <a:off x="3566160" y="1828800"/>
            <a:ext cx="2514600" cy="548640"/>
          </a:xfrm>
          <a:prstGeom prst="line">
            <a:avLst/>
          </a:prstGeom>
          <a:noFill/>
          <a:ln w="15875">
            <a:solidFill>
              <a:srgbClr val="9AA5AE"/>
            </a:solidFill>
            <a:prstDash val="solid"/>
            <a:tailEnd type="triangle"/>
          </a:ln>
        </p:spPr>
      </p:sp>
      <p:sp>
        <p:nvSpPr>
          <p:cNvPr id="12" name="box"/>
          <p:cNvSpPr/>
          <p:nvPr/>
        </p:nvSpPr>
        <p:spPr>
          <a:xfrm>
            <a:off x="5623560" y="2377440"/>
            <a:ext cx="1463040" cy="548640"/>
          </a:xfrm>
          <a:prstGeom prst="roundRect">
            <a:avLst>
              <a:gd name="adj" fmla="val 13333"/>
            </a:avLst>
          </a:prstGeom>
          <a:solidFill>
            <a:srgbClr val="2A7F8E"/>
          </a:solidFill>
          <a:ln w="12700">
            <a:solidFill>
              <a:srgbClr val="2A7F8E"/>
            </a:solidFill>
            <a:prstDash val="solid"/>
          </a:ln>
        </p:spPr>
      </p:sp>
      <p:sp>
        <p:nvSpPr>
          <p:cNvPr id="13" name="Text 10"/>
          <p:cNvSpPr txBox="1"/>
          <p:nvPr/>
        </p:nvSpPr>
        <p:spPr>
          <a:xfrm>
            <a:off x="5623560" y="2377440"/>
            <a:ext cx="1463040" cy="548640"/>
          </a:xfrm>
          <a:prstGeom prst="rect">
            <a:avLst/>
          </a:prstGeom>
          <a:noFill/>
          <a:ln/>
        </p:spPr>
        <p:txBody>
          <a:bodyPr wrap="square" lIns="635" tIns="635" rIns="635" bIns="635"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.ro</a:t>
            </a:r>
            <a:endParaRPr lang="en-US" sz="1400" dirty="0"/>
          </a:p>
        </p:txBody>
      </p:sp>
      <p:sp>
        <p:nvSpPr>
          <p:cNvPr id="14" name="Shape 11"/>
          <p:cNvSpPr/>
          <p:nvPr/>
        </p:nvSpPr>
        <p:spPr>
          <a:xfrm>
            <a:off x="6080760" y="1828800"/>
            <a:ext cx="274320" cy="548640"/>
          </a:xfrm>
          <a:prstGeom prst="line">
            <a:avLst/>
          </a:prstGeom>
          <a:noFill/>
          <a:ln w="15875">
            <a:solidFill>
              <a:srgbClr val="9AA5AE"/>
            </a:solidFill>
            <a:prstDash val="solid"/>
            <a:tailEnd type="triangle"/>
          </a:ln>
        </p:spPr>
      </p:sp>
      <p:sp>
        <p:nvSpPr>
          <p:cNvPr id="15" name="box"/>
          <p:cNvSpPr/>
          <p:nvPr/>
        </p:nvSpPr>
        <p:spPr>
          <a:xfrm>
            <a:off x="7680960" y="2377440"/>
            <a:ext cx="1463040" cy="548640"/>
          </a:xfrm>
          <a:prstGeom prst="roundRect">
            <a:avLst>
              <a:gd name="adj" fmla="val 13333"/>
            </a:avLst>
          </a:prstGeom>
          <a:solidFill>
            <a:srgbClr val="2A7F8E"/>
          </a:solidFill>
          <a:ln w="12700">
            <a:solidFill>
              <a:srgbClr val="2A7F8E"/>
            </a:solidFill>
            <a:prstDash val="solid"/>
          </a:ln>
        </p:spPr>
      </p:sp>
      <p:sp>
        <p:nvSpPr>
          <p:cNvPr id="16" name="Text 13"/>
          <p:cNvSpPr txBox="1"/>
          <p:nvPr/>
        </p:nvSpPr>
        <p:spPr>
          <a:xfrm>
            <a:off x="7680960" y="2377440"/>
            <a:ext cx="1463040" cy="548640"/>
          </a:xfrm>
          <a:prstGeom prst="rect">
            <a:avLst/>
          </a:prstGeom>
          <a:noFill/>
          <a:ln/>
        </p:spPr>
        <p:txBody>
          <a:bodyPr wrap="square" lIns="635" tIns="635" rIns="635" bIns="635"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.de</a:t>
            </a:r>
            <a:endParaRPr lang="en-US" sz="1400" dirty="0"/>
          </a:p>
        </p:txBody>
      </p:sp>
      <p:sp>
        <p:nvSpPr>
          <p:cNvPr id="17" name="Shape 14"/>
          <p:cNvSpPr/>
          <p:nvPr/>
        </p:nvSpPr>
        <p:spPr>
          <a:xfrm>
            <a:off x="6080760" y="1828800"/>
            <a:ext cx="2331720" cy="548640"/>
          </a:xfrm>
          <a:prstGeom prst="line">
            <a:avLst/>
          </a:prstGeom>
          <a:noFill/>
          <a:ln w="15875">
            <a:solidFill>
              <a:srgbClr val="9AA5AE"/>
            </a:solidFill>
            <a:prstDash val="solid"/>
            <a:tailEnd type="triangle"/>
          </a:ln>
        </p:spPr>
      </p:sp>
      <p:sp>
        <p:nvSpPr>
          <p:cNvPr id="18" name="box"/>
          <p:cNvSpPr/>
          <p:nvPr/>
        </p:nvSpPr>
        <p:spPr>
          <a:xfrm>
            <a:off x="9692640" y="2377440"/>
            <a:ext cx="1463040" cy="548640"/>
          </a:xfrm>
          <a:prstGeom prst="roundRect">
            <a:avLst>
              <a:gd name="adj" fmla="val 13333"/>
            </a:avLst>
          </a:prstGeom>
          <a:solidFill>
            <a:srgbClr val="2A7F8E"/>
          </a:solidFill>
          <a:ln w="12700">
            <a:solidFill>
              <a:srgbClr val="2A7F8E"/>
            </a:solidFill>
            <a:prstDash val="solid"/>
          </a:ln>
        </p:spPr>
      </p:sp>
      <p:sp>
        <p:nvSpPr>
          <p:cNvPr id="19" name="Text 16"/>
          <p:cNvSpPr txBox="1"/>
          <p:nvPr/>
        </p:nvSpPr>
        <p:spPr>
          <a:xfrm>
            <a:off x="9692640" y="2377440"/>
            <a:ext cx="1463040" cy="548640"/>
          </a:xfrm>
          <a:prstGeom prst="rect">
            <a:avLst/>
          </a:prstGeom>
          <a:noFill/>
          <a:ln/>
        </p:spPr>
        <p:txBody>
          <a:bodyPr wrap="square" lIns="635" tIns="635" rIns="635" bIns="635"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.arpa</a:t>
            </a:r>
            <a:endParaRPr lang="en-US" sz="1400" dirty="0"/>
          </a:p>
        </p:txBody>
      </p:sp>
      <p:sp>
        <p:nvSpPr>
          <p:cNvPr id="20" name="Shape 17"/>
          <p:cNvSpPr/>
          <p:nvPr/>
        </p:nvSpPr>
        <p:spPr>
          <a:xfrm>
            <a:off x="6080760" y="1828800"/>
            <a:ext cx="4343400" cy="548640"/>
          </a:xfrm>
          <a:prstGeom prst="line">
            <a:avLst/>
          </a:prstGeom>
          <a:noFill/>
          <a:ln w="15875">
            <a:solidFill>
              <a:srgbClr val="9AA5AE"/>
            </a:solidFill>
            <a:prstDash val="solid"/>
            <a:tailEnd type="triangle"/>
          </a:ln>
        </p:spPr>
      </p:sp>
      <p:sp>
        <p:nvSpPr>
          <p:cNvPr id="21" name="box"/>
          <p:cNvSpPr/>
          <p:nvPr/>
        </p:nvSpPr>
        <p:spPr>
          <a:xfrm>
            <a:off x="548640" y="3429000"/>
            <a:ext cx="1920240" cy="548640"/>
          </a:xfrm>
          <a:prstGeom prst="roundRect">
            <a:avLst>
              <a:gd name="adj" fmla="val 13333"/>
            </a:avLst>
          </a:prstGeom>
          <a:solidFill>
            <a:srgbClr val="B9772A"/>
          </a:solidFill>
          <a:ln w="12700">
            <a:solidFill>
              <a:srgbClr val="B9772A"/>
            </a:solidFill>
            <a:prstDash val="solid"/>
          </a:ln>
        </p:spPr>
      </p:sp>
      <p:sp>
        <p:nvSpPr>
          <p:cNvPr id="22" name="Text 19"/>
          <p:cNvSpPr txBox="1"/>
          <p:nvPr/>
        </p:nvSpPr>
        <p:spPr>
          <a:xfrm>
            <a:off x="548640" y="3429000"/>
            <a:ext cx="1920240" cy="54864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google.com</a:t>
            </a:r>
            <a:endParaRPr lang="en-US" sz="1200" dirty="0"/>
          </a:p>
        </p:txBody>
      </p:sp>
      <p:sp>
        <p:nvSpPr>
          <p:cNvPr id="23" name="Shape 20"/>
          <p:cNvSpPr/>
          <p:nvPr/>
        </p:nvSpPr>
        <p:spPr>
          <a:xfrm flipH="1">
            <a:off x="1508760" y="2926080"/>
            <a:ext cx="137160" cy="502920"/>
          </a:xfrm>
          <a:prstGeom prst="line">
            <a:avLst/>
          </a:prstGeom>
          <a:noFill/>
          <a:ln w="15875">
            <a:solidFill>
              <a:srgbClr val="9AA5AE"/>
            </a:solidFill>
            <a:prstDash val="solid"/>
            <a:tailEnd type="triangle"/>
          </a:ln>
        </p:spPr>
      </p:sp>
      <p:sp>
        <p:nvSpPr>
          <p:cNvPr id="24" name="box"/>
          <p:cNvSpPr/>
          <p:nvPr/>
        </p:nvSpPr>
        <p:spPr>
          <a:xfrm>
            <a:off x="4572000" y="3429000"/>
            <a:ext cx="1920240" cy="548640"/>
          </a:xfrm>
          <a:prstGeom prst="roundRect">
            <a:avLst>
              <a:gd name="adj" fmla="val 13333"/>
            </a:avLst>
          </a:prstGeom>
          <a:solidFill>
            <a:srgbClr val="B9772A"/>
          </a:solidFill>
          <a:ln w="12700">
            <a:solidFill>
              <a:srgbClr val="B9772A"/>
            </a:solidFill>
            <a:prstDash val="solid"/>
          </a:ln>
        </p:spPr>
      </p:sp>
      <p:sp>
        <p:nvSpPr>
          <p:cNvPr id="25" name="Text 22"/>
          <p:cNvSpPr txBox="1"/>
          <p:nvPr/>
        </p:nvSpPr>
        <p:spPr>
          <a:xfrm>
            <a:off x="4572000" y="3429000"/>
            <a:ext cx="1920240" cy="54864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unibuc.ro</a:t>
            </a:r>
            <a:endParaRPr lang="en-US" sz="1200" dirty="0"/>
          </a:p>
        </p:txBody>
      </p:sp>
      <p:sp>
        <p:nvSpPr>
          <p:cNvPr id="26" name="Shape 23"/>
          <p:cNvSpPr/>
          <p:nvPr/>
        </p:nvSpPr>
        <p:spPr>
          <a:xfrm flipH="1">
            <a:off x="5532120" y="2926080"/>
            <a:ext cx="822960" cy="502920"/>
          </a:xfrm>
          <a:prstGeom prst="line">
            <a:avLst/>
          </a:prstGeom>
          <a:noFill/>
          <a:ln w="15875">
            <a:solidFill>
              <a:srgbClr val="9AA5AE"/>
            </a:solidFill>
            <a:prstDash val="solid"/>
            <a:tailEnd type="triangle"/>
          </a:ln>
        </p:spPr>
      </p:sp>
      <p:sp>
        <p:nvSpPr>
          <p:cNvPr id="27" name="box"/>
          <p:cNvSpPr/>
          <p:nvPr/>
        </p:nvSpPr>
        <p:spPr>
          <a:xfrm>
            <a:off x="6675120" y="3429000"/>
            <a:ext cx="1920240" cy="548640"/>
          </a:xfrm>
          <a:prstGeom prst="roundRect">
            <a:avLst>
              <a:gd name="adj" fmla="val 13333"/>
            </a:avLst>
          </a:prstGeom>
          <a:solidFill>
            <a:srgbClr val="B9772A"/>
          </a:solidFill>
          <a:ln w="12700">
            <a:solidFill>
              <a:srgbClr val="B9772A"/>
            </a:solidFill>
            <a:prstDash val="solid"/>
          </a:ln>
        </p:spPr>
      </p:sp>
      <p:sp>
        <p:nvSpPr>
          <p:cNvPr id="28" name="Text 25"/>
          <p:cNvSpPr txBox="1"/>
          <p:nvPr/>
        </p:nvSpPr>
        <p:spPr>
          <a:xfrm>
            <a:off x="6675120" y="3429000"/>
            <a:ext cx="1920240" cy="54864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ici.ro</a:t>
            </a:r>
            <a:endParaRPr lang="en-US" sz="1200" dirty="0"/>
          </a:p>
        </p:txBody>
      </p:sp>
      <p:sp>
        <p:nvSpPr>
          <p:cNvPr id="29" name="Shape 26"/>
          <p:cNvSpPr/>
          <p:nvPr/>
        </p:nvSpPr>
        <p:spPr>
          <a:xfrm>
            <a:off x="6355080" y="2926080"/>
            <a:ext cx="1280160" cy="502920"/>
          </a:xfrm>
          <a:prstGeom prst="line">
            <a:avLst/>
          </a:prstGeom>
          <a:noFill/>
          <a:ln w="15875">
            <a:solidFill>
              <a:srgbClr val="9AA5AE"/>
            </a:solidFill>
            <a:prstDash val="solid"/>
            <a:tailEnd type="triangle"/>
          </a:ln>
        </p:spPr>
      </p:sp>
      <p:sp>
        <p:nvSpPr>
          <p:cNvPr id="30" name="box"/>
          <p:cNvSpPr/>
          <p:nvPr/>
        </p:nvSpPr>
        <p:spPr>
          <a:xfrm>
            <a:off x="4572000" y="4434840"/>
            <a:ext cx="1920240" cy="548640"/>
          </a:xfrm>
          <a:prstGeom prst="roundRect">
            <a:avLst>
              <a:gd name="adj" fmla="val 13333"/>
            </a:avLst>
          </a:prstGeom>
          <a:solidFill>
            <a:srgbClr val="F3EAD7"/>
          </a:solidFill>
          <a:ln w="12700">
            <a:solidFill>
              <a:srgbClr val="F3EAD7"/>
            </a:solidFill>
            <a:prstDash val="solid"/>
          </a:ln>
        </p:spPr>
      </p:sp>
      <p:sp>
        <p:nvSpPr>
          <p:cNvPr id="31" name="Text 28"/>
          <p:cNvSpPr txBox="1"/>
          <p:nvPr/>
        </p:nvSpPr>
        <p:spPr>
          <a:xfrm>
            <a:off x="4572000" y="4434840"/>
            <a:ext cx="1920240" cy="54864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fmi.unibuc.ro</a:t>
            </a:r>
            <a:endParaRPr lang="en-US" sz="1200" dirty="0"/>
          </a:p>
        </p:txBody>
      </p:sp>
      <p:sp>
        <p:nvSpPr>
          <p:cNvPr id="32" name="Shape 29"/>
          <p:cNvSpPr/>
          <p:nvPr/>
        </p:nvSpPr>
        <p:spPr>
          <a:xfrm>
            <a:off x="5532120" y="3977640"/>
            <a:ext cx="914" cy="457200"/>
          </a:xfrm>
          <a:prstGeom prst="line">
            <a:avLst/>
          </a:prstGeom>
          <a:noFill/>
          <a:ln w="19050">
            <a:solidFill>
              <a:srgbClr val="B9772A"/>
            </a:solidFill>
            <a:prstDash val="dash"/>
            <a:tailEnd type="triangle"/>
          </a:ln>
        </p:spPr>
      </p:sp>
      <p:sp>
        <p:nvSpPr>
          <p:cNvPr id="33" name="Text 30"/>
          <p:cNvSpPr txBox="1"/>
          <p:nvPr/>
        </p:nvSpPr>
        <p:spPr>
          <a:xfrm>
            <a:off x="6492240" y="4069080"/>
            <a:ext cx="146304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B9772A"/>
                </a:solidFill>
              </a:rPr>
              <a:t>delegated (NS)</a:t>
            </a:r>
            <a:endParaRPr lang="en-US" sz="1200" dirty="0"/>
          </a:p>
        </p:txBody>
      </p:sp>
      <p:sp>
        <p:nvSpPr>
          <p:cNvPr id="34" name="box"/>
          <p:cNvSpPr/>
          <p:nvPr/>
        </p:nvSpPr>
        <p:spPr>
          <a:xfrm>
            <a:off x="8778240" y="3291840"/>
            <a:ext cx="2834640" cy="1691640"/>
          </a:xfrm>
          <a:prstGeom prst="roundRect">
            <a:avLst>
              <a:gd name="adj" fmla="val 4324"/>
            </a:avLst>
          </a:prstGeom>
          <a:solidFill>
            <a:srgbClr val="EEF2F6"/>
          </a:solidFill>
          <a:ln w="12700">
            <a:solidFill>
              <a:srgbClr val="EEF2F6"/>
            </a:solidFill>
            <a:prstDash val="solid"/>
          </a:ln>
        </p:spPr>
      </p:sp>
      <p:sp>
        <p:nvSpPr>
          <p:cNvPr id="35" name="Text 32"/>
          <p:cNvSpPr txBox="1"/>
          <p:nvPr/>
        </p:nvSpPr>
        <p:spPr>
          <a:xfrm>
            <a:off x="8778240" y="3291840"/>
            <a:ext cx="2834640" cy="1691640"/>
          </a:xfrm>
          <a:prstGeom prst="rect">
            <a:avLst/>
          </a:prstGeom>
          <a:noFill/>
          <a:ln/>
        </p:spPr>
        <p:txBody>
          <a:bodyPr wrap="square" lIns="635" tIns="635" rIns="635" bIns="635" rtlCol="0" anchor="ctr"/>
          <a:lstStyle/>
          <a:p>
            <a:pPr algn="ctr" indent="0" marL="0">
              <a:buNone/>
            </a:pPr>
            <a:r>
              <a:rPr lang="en-US" sz="1200" b="1" dirty="0">
                <a:solidFill>
                  <a:srgbClr val="1B2430"/>
                </a:solidFill>
              </a:rPr>
              <a:t>.ro</a:t>
            </a:r>
            <a:endParaRPr lang="en-US" sz="1200" dirty="0"/>
          </a:p>
          <a:p>
            <a:pPr algn="ctr" indent="0" marL="0">
              <a:buNone/>
            </a:pPr>
            <a:r>
              <a:rPr lang="en-US" sz="1200" dirty="0">
                <a:solidFill>
                  <a:srgbClr val="1B2430"/>
                </a:solidFill>
              </a:rPr>
              <a:t>run by ICI Bucharest (RoTLD)</a:t>
            </a:r>
            <a:endParaRPr lang="en-US" sz="1200" dirty="0"/>
          </a:p>
          <a:p>
            <a:pPr algn="ctr" indent="0" marL="0">
              <a:buNone/>
            </a:pPr>
            <a:r>
              <a:rPr lang="en-US" sz="1200" dirty="0">
                <a:solidFill>
                  <a:srgbClr val="1B2430"/>
                </a:solidFill>
              </a:rPr>
              <a:t> </a:t>
            </a:r>
            <a:endParaRPr lang="en-US" sz="1200" dirty="0"/>
          </a:p>
          <a:p>
            <a:pPr algn="ctr" indent="0" marL="0">
              <a:buNone/>
            </a:pPr>
            <a:r>
              <a:rPr lang="en-US" sz="1200" b="1" dirty="0">
                <a:solidFill>
                  <a:srgbClr val="1B2430"/>
                </a:solidFill>
              </a:rPr>
              <a:t>.arpa</a:t>
            </a:r>
            <a:r>
              <a:rPr lang="en-US" sz="1200" dirty="0">
                <a:solidFill>
                  <a:srgbClr val="1B2430"/>
                </a:solidFill>
              </a:rPr>
              <a:t>: reverse lookups</a:t>
            </a:r>
            <a:endParaRPr lang="en-US" sz="1200" dirty="0"/>
          </a:p>
        </p:txBody>
      </p:sp>
      <p:sp>
        <p:nvSpPr>
          <p:cNvPr id="3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7" name="Text 3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Each level knows only the next one down: delegation with NS records makes the tree.</a:t>
            </a:r>
            <a:endParaRPr lang="en-US" sz="1400" dirty="0"/>
          </a:p>
        </p:txBody>
      </p:sp>
      <p:sp>
        <p:nvSpPr>
          <p:cNvPr id="38" name="Text 3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RoTLD (the .ro registry) · NS (name server)</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7 · Root servers and the four roles</a:t>
            </a:r>
            <a:endParaRPr lang="en-US" sz="3000" dirty="0"/>
          </a:p>
        </p:txBody>
      </p:sp>
      <p:sp>
        <p:nvSpPr>
          <p:cNvPr id="4" name="box"/>
          <p:cNvSpPr/>
          <p:nvPr/>
        </p:nvSpPr>
        <p:spPr>
          <a:xfrm>
            <a:off x="548640" y="1325880"/>
            <a:ext cx="3108960" cy="777240"/>
          </a:xfrm>
          <a:prstGeom prst="roundRect">
            <a:avLst>
              <a:gd name="adj" fmla="val 9412"/>
            </a:avLst>
          </a:prstGeom>
          <a:solidFill>
            <a:srgbClr val="EEF2F6"/>
          </a:solidFill>
          <a:ln w="12700">
            <a:solidFill>
              <a:srgbClr val="EEF2F6"/>
            </a:solidFill>
            <a:prstDash val="solid"/>
          </a:ln>
        </p:spPr>
      </p:sp>
      <p:sp>
        <p:nvSpPr>
          <p:cNvPr id="5" name="Text 2"/>
          <p:cNvSpPr txBox="1"/>
          <p:nvPr/>
        </p:nvSpPr>
        <p:spPr>
          <a:xfrm>
            <a:off x="548640" y="1325880"/>
            <a:ext cx="3108960" cy="777240"/>
          </a:xfrm>
          <a:prstGeom prst="rect">
            <a:avLst/>
          </a:prstGeom>
          <a:noFill/>
          <a:ln/>
        </p:spPr>
        <p:txBody>
          <a:bodyPr wrap="square" lIns="635" tIns="635" rIns="635" bIns="635" rtlCol="0" anchor="ctr"/>
          <a:lstStyle/>
          <a:p>
            <a:pPr algn="ctr" indent="0" marL="0">
              <a:buNone/>
            </a:pPr>
            <a:r>
              <a:rPr lang="en-US" sz="1400" b="1" dirty="0">
                <a:solidFill>
                  <a:srgbClr val="1B2430"/>
                </a:solidFill>
              </a:rPr>
              <a:t>stub resolver</a:t>
            </a:r>
            <a:endParaRPr lang="en-US" sz="1400" dirty="0"/>
          </a:p>
        </p:txBody>
      </p:sp>
      <p:sp>
        <p:nvSpPr>
          <p:cNvPr id="6" name="Text 3"/>
          <p:cNvSpPr txBox="1"/>
          <p:nvPr/>
        </p:nvSpPr>
        <p:spPr>
          <a:xfrm>
            <a:off x="3840480" y="1490472"/>
            <a:ext cx="3840480" cy="5486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 library in every host: sends queries</a:t>
            </a:r>
            <a:endParaRPr lang="en-US" sz="1300" dirty="0"/>
          </a:p>
        </p:txBody>
      </p:sp>
      <p:sp>
        <p:nvSpPr>
          <p:cNvPr id="7" name="box"/>
          <p:cNvSpPr/>
          <p:nvPr/>
        </p:nvSpPr>
        <p:spPr>
          <a:xfrm>
            <a:off x="548640" y="2240280"/>
            <a:ext cx="3108960" cy="777240"/>
          </a:xfrm>
          <a:prstGeom prst="roundRect">
            <a:avLst>
              <a:gd name="adj" fmla="val 9412"/>
            </a:avLst>
          </a:prstGeom>
          <a:solidFill>
            <a:srgbClr val="DDF0F2"/>
          </a:solidFill>
          <a:ln w="12700">
            <a:solidFill>
              <a:srgbClr val="DDF0F2"/>
            </a:solidFill>
            <a:prstDash val="solid"/>
          </a:ln>
        </p:spPr>
      </p:sp>
      <p:sp>
        <p:nvSpPr>
          <p:cNvPr id="8" name="Text 5"/>
          <p:cNvSpPr txBox="1"/>
          <p:nvPr/>
        </p:nvSpPr>
        <p:spPr>
          <a:xfrm>
            <a:off x="548640" y="2240280"/>
            <a:ext cx="3108960" cy="777240"/>
          </a:xfrm>
          <a:prstGeom prst="rect">
            <a:avLst/>
          </a:prstGeom>
          <a:noFill/>
          <a:ln/>
        </p:spPr>
        <p:txBody>
          <a:bodyPr wrap="square" lIns="635" tIns="635" rIns="635" bIns="635" rtlCol="0" anchor="ctr"/>
          <a:lstStyle/>
          <a:p>
            <a:pPr algn="ctr" indent="0" marL="0">
              <a:buNone/>
            </a:pPr>
            <a:r>
              <a:rPr lang="en-US" sz="1400" b="1" dirty="0">
                <a:solidFill>
                  <a:srgbClr val="1B2430"/>
                </a:solidFill>
              </a:rPr>
              <a:t>recursive resolver</a:t>
            </a:r>
            <a:endParaRPr lang="en-US" sz="1400" dirty="0"/>
          </a:p>
        </p:txBody>
      </p:sp>
      <p:sp>
        <p:nvSpPr>
          <p:cNvPr id="9" name="Text 6"/>
          <p:cNvSpPr txBox="1"/>
          <p:nvPr/>
        </p:nvSpPr>
        <p:spPr>
          <a:xfrm>
            <a:off x="3840480" y="2404872"/>
            <a:ext cx="3840480" cy="5486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ISP, university, 1.1.1.1, 8.8.8.8, 9.9.9.9: does the work, caches</a:t>
            </a:r>
            <a:endParaRPr lang="en-US" sz="1300" dirty="0"/>
          </a:p>
        </p:txBody>
      </p:sp>
      <p:sp>
        <p:nvSpPr>
          <p:cNvPr id="10" name="box"/>
          <p:cNvSpPr/>
          <p:nvPr/>
        </p:nvSpPr>
        <p:spPr>
          <a:xfrm>
            <a:off x="548640" y="3154680"/>
            <a:ext cx="3108960" cy="777240"/>
          </a:xfrm>
          <a:prstGeom prst="roundRect">
            <a:avLst>
              <a:gd name="adj" fmla="val 9412"/>
            </a:avLst>
          </a:prstGeom>
          <a:solidFill>
            <a:srgbClr val="F3EAD7"/>
          </a:solidFill>
          <a:ln w="12700">
            <a:solidFill>
              <a:srgbClr val="F3EAD7"/>
            </a:solidFill>
            <a:prstDash val="solid"/>
          </a:ln>
        </p:spPr>
      </p:sp>
      <p:sp>
        <p:nvSpPr>
          <p:cNvPr id="11" name="Text 8"/>
          <p:cNvSpPr txBox="1"/>
          <p:nvPr/>
        </p:nvSpPr>
        <p:spPr>
          <a:xfrm>
            <a:off x="548640" y="3154680"/>
            <a:ext cx="3108960" cy="777240"/>
          </a:xfrm>
          <a:prstGeom prst="rect">
            <a:avLst/>
          </a:prstGeom>
          <a:noFill/>
          <a:ln/>
        </p:spPr>
        <p:txBody>
          <a:bodyPr wrap="square" lIns="635" tIns="635" rIns="635" bIns="635" rtlCol="0" anchor="ctr"/>
          <a:lstStyle/>
          <a:p>
            <a:pPr algn="ctr" indent="0" marL="0">
              <a:buNone/>
            </a:pPr>
            <a:r>
              <a:rPr lang="en-US" sz="1400" b="1" dirty="0">
                <a:solidFill>
                  <a:srgbClr val="1B2430"/>
                </a:solidFill>
              </a:rPr>
              <a:t>root / TLD servers</a:t>
            </a:r>
            <a:endParaRPr lang="en-US" sz="1400" dirty="0"/>
          </a:p>
        </p:txBody>
      </p:sp>
      <p:sp>
        <p:nvSpPr>
          <p:cNvPr id="12" name="Text 9"/>
          <p:cNvSpPr txBox="1"/>
          <p:nvPr/>
        </p:nvSpPr>
        <p:spPr>
          <a:xfrm>
            <a:off x="3840480" y="3319272"/>
            <a:ext cx="3840480" cy="5486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answer with referrals one level down</a:t>
            </a:r>
            <a:endParaRPr lang="en-US" sz="1300" dirty="0"/>
          </a:p>
        </p:txBody>
      </p:sp>
      <p:sp>
        <p:nvSpPr>
          <p:cNvPr id="13" name="box"/>
          <p:cNvSpPr/>
          <p:nvPr/>
        </p:nvSpPr>
        <p:spPr>
          <a:xfrm>
            <a:off x="548640" y="4069080"/>
            <a:ext cx="3108960" cy="777240"/>
          </a:xfrm>
          <a:prstGeom prst="roundRect">
            <a:avLst>
              <a:gd name="adj" fmla="val 9412"/>
            </a:avLst>
          </a:prstGeom>
          <a:solidFill>
            <a:srgbClr val="D7EBDD"/>
          </a:solidFill>
          <a:ln w="12700">
            <a:solidFill>
              <a:srgbClr val="D7EBDD"/>
            </a:solidFill>
            <a:prstDash val="solid"/>
          </a:ln>
        </p:spPr>
      </p:sp>
      <p:sp>
        <p:nvSpPr>
          <p:cNvPr id="14" name="Text 11"/>
          <p:cNvSpPr txBox="1"/>
          <p:nvPr/>
        </p:nvSpPr>
        <p:spPr>
          <a:xfrm>
            <a:off x="548640" y="4069080"/>
            <a:ext cx="3108960" cy="777240"/>
          </a:xfrm>
          <a:prstGeom prst="rect">
            <a:avLst/>
          </a:prstGeom>
          <a:noFill/>
          <a:ln/>
        </p:spPr>
        <p:txBody>
          <a:bodyPr wrap="square" lIns="635" tIns="635" rIns="635" bIns="635" rtlCol="0" anchor="ctr"/>
          <a:lstStyle/>
          <a:p>
            <a:pPr algn="ctr" indent="0" marL="0">
              <a:buNone/>
            </a:pPr>
            <a:r>
              <a:rPr lang="en-US" sz="1400" b="1" dirty="0">
                <a:solidFill>
                  <a:srgbClr val="1B2430"/>
                </a:solidFill>
              </a:rPr>
              <a:t>authoritative server</a:t>
            </a:r>
            <a:endParaRPr lang="en-US" sz="1400" dirty="0"/>
          </a:p>
        </p:txBody>
      </p:sp>
      <p:sp>
        <p:nvSpPr>
          <p:cNvPr id="15" name="Text 12"/>
          <p:cNvSpPr txBox="1"/>
          <p:nvPr/>
        </p:nvSpPr>
        <p:spPr>
          <a:xfrm>
            <a:off x="3840480" y="4233672"/>
            <a:ext cx="3840480" cy="5486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holds a zone’s records; answers with AA set</a:t>
            </a:r>
            <a:endParaRPr lang="en-US" sz="1300" dirty="0"/>
          </a:p>
        </p:txBody>
      </p:sp>
      <p:sp>
        <p:nvSpPr>
          <p:cNvPr id="16" name="box"/>
          <p:cNvSpPr/>
          <p:nvPr/>
        </p:nvSpPr>
        <p:spPr>
          <a:xfrm>
            <a:off x="7955280" y="1325880"/>
            <a:ext cx="3657600" cy="3520440"/>
          </a:xfrm>
          <a:prstGeom prst="roundRect">
            <a:avLst>
              <a:gd name="adj" fmla="val 2078"/>
            </a:avLst>
          </a:prstGeom>
          <a:solidFill>
            <a:srgbClr val="FFFFFF"/>
          </a:solidFill>
          <a:ln w="12700">
            <a:solidFill>
              <a:srgbClr val="9AA5AE"/>
            </a:solidFill>
            <a:prstDash val="solid"/>
          </a:ln>
        </p:spPr>
      </p:sp>
      <p:sp>
        <p:nvSpPr>
          <p:cNvPr id="17" name="Text 14"/>
          <p:cNvSpPr txBox="1"/>
          <p:nvPr/>
        </p:nvSpPr>
        <p:spPr>
          <a:xfrm>
            <a:off x="8138160" y="1371600"/>
            <a:ext cx="3291840" cy="365760"/>
          </a:xfrm>
          <a:prstGeom prst="rect">
            <a:avLst/>
          </a:prstGeom>
          <a:noFill/>
          <a:ln/>
        </p:spPr>
        <p:txBody>
          <a:bodyPr wrap="square" lIns="0" tIns="0" rIns="0" bIns="0" rtlCol="0" anchor="t"/>
          <a:lstStyle/>
          <a:p>
            <a:pPr algn="l" indent="0" marL="0">
              <a:spcAft>
                <a:spcPts val="400"/>
              </a:spcAft>
              <a:buNone/>
            </a:pPr>
            <a:r>
              <a:rPr lang="en-US" sz="1200" b="1" dirty="0">
                <a:solidFill>
                  <a:srgbClr val="1F3A5F"/>
                </a:solidFill>
              </a:rPr>
              <a:t>anycast</a:t>
            </a:r>
            <a:r>
              <a:rPr lang="en-US" sz="1200" dirty="0">
                <a:solidFill>
                  <a:srgbClr val="1F3A5F"/>
                </a:solidFill>
              </a:rPr>
              <a:t>: one address, many sites</a:t>
            </a:r>
            <a:endParaRPr lang="en-US" sz="1200" dirty="0"/>
          </a:p>
        </p:txBody>
      </p:sp>
      <p:sp>
        <p:nvSpPr>
          <p:cNvPr id="18" name="box"/>
          <p:cNvSpPr/>
          <p:nvPr/>
        </p:nvSpPr>
        <p:spPr>
          <a:xfrm>
            <a:off x="8321040" y="2011680"/>
            <a:ext cx="685800" cy="457200"/>
          </a:xfrm>
          <a:prstGeom prst="ellipse">
            <a:avLst/>
          </a:prstGeom>
          <a:solidFill>
            <a:srgbClr val="1F3A5F"/>
          </a:solidFill>
          <a:ln w="12700">
            <a:solidFill>
              <a:srgbClr val="1F3A5F"/>
            </a:solidFill>
            <a:prstDash val="solid"/>
          </a:ln>
        </p:spPr>
      </p:sp>
      <p:sp>
        <p:nvSpPr>
          <p:cNvPr id="19" name="Text 16"/>
          <p:cNvSpPr txBox="1"/>
          <p:nvPr/>
        </p:nvSpPr>
        <p:spPr>
          <a:xfrm>
            <a:off x="8321040" y="2011680"/>
            <a:ext cx="685800" cy="45720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k</a:t>
            </a:r>
            <a:endParaRPr lang="en-US" sz="1200" dirty="0"/>
          </a:p>
        </p:txBody>
      </p:sp>
      <p:sp>
        <p:nvSpPr>
          <p:cNvPr id="20" name="box"/>
          <p:cNvSpPr/>
          <p:nvPr/>
        </p:nvSpPr>
        <p:spPr>
          <a:xfrm>
            <a:off x="9875520" y="1828800"/>
            <a:ext cx="685800" cy="457200"/>
          </a:xfrm>
          <a:prstGeom prst="ellipse">
            <a:avLst/>
          </a:prstGeom>
          <a:solidFill>
            <a:srgbClr val="1F3A5F"/>
          </a:solidFill>
          <a:ln w="12700">
            <a:solidFill>
              <a:srgbClr val="1F3A5F"/>
            </a:solidFill>
            <a:prstDash val="solid"/>
          </a:ln>
        </p:spPr>
      </p:sp>
      <p:sp>
        <p:nvSpPr>
          <p:cNvPr id="21" name="Text 18"/>
          <p:cNvSpPr txBox="1"/>
          <p:nvPr/>
        </p:nvSpPr>
        <p:spPr>
          <a:xfrm>
            <a:off x="9875520" y="1828800"/>
            <a:ext cx="685800" cy="45720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k</a:t>
            </a:r>
            <a:endParaRPr lang="en-US" sz="1200" dirty="0"/>
          </a:p>
        </p:txBody>
      </p:sp>
      <p:sp>
        <p:nvSpPr>
          <p:cNvPr id="22" name="box"/>
          <p:cNvSpPr/>
          <p:nvPr/>
        </p:nvSpPr>
        <p:spPr>
          <a:xfrm>
            <a:off x="8778240" y="2926080"/>
            <a:ext cx="685800" cy="457200"/>
          </a:xfrm>
          <a:prstGeom prst="ellipse">
            <a:avLst/>
          </a:prstGeom>
          <a:solidFill>
            <a:srgbClr val="1F3A5F"/>
          </a:solidFill>
          <a:ln w="12700">
            <a:solidFill>
              <a:srgbClr val="1F3A5F"/>
            </a:solidFill>
            <a:prstDash val="solid"/>
          </a:ln>
        </p:spPr>
      </p:sp>
      <p:sp>
        <p:nvSpPr>
          <p:cNvPr id="23" name="Text 20"/>
          <p:cNvSpPr txBox="1"/>
          <p:nvPr/>
        </p:nvSpPr>
        <p:spPr>
          <a:xfrm>
            <a:off x="8778240" y="2926080"/>
            <a:ext cx="685800" cy="45720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k</a:t>
            </a:r>
            <a:endParaRPr lang="en-US" sz="1200" dirty="0"/>
          </a:p>
        </p:txBody>
      </p:sp>
      <p:sp>
        <p:nvSpPr>
          <p:cNvPr id="24" name="box"/>
          <p:cNvSpPr/>
          <p:nvPr/>
        </p:nvSpPr>
        <p:spPr>
          <a:xfrm>
            <a:off x="10424160" y="2834640"/>
            <a:ext cx="685800" cy="457200"/>
          </a:xfrm>
          <a:prstGeom prst="ellipse">
            <a:avLst/>
          </a:prstGeom>
          <a:solidFill>
            <a:srgbClr val="1F3A5F"/>
          </a:solidFill>
          <a:ln w="12700">
            <a:solidFill>
              <a:srgbClr val="1F3A5F"/>
            </a:solidFill>
            <a:prstDash val="solid"/>
          </a:ln>
        </p:spPr>
      </p:sp>
      <p:sp>
        <p:nvSpPr>
          <p:cNvPr id="25" name="Text 22"/>
          <p:cNvSpPr txBox="1"/>
          <p:nvPr/>
        </p:nvSpPr>
        <p:spPr>
          <a:xfrm>
            <a:off x="10424160" y="2834640"/>
            <a:ext cx="685800" cy="45720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k</a:t>
            </a:r>
            <a:endParaRPr lang="en-US" sz="1200" dirty="0"/>
          </a:p>
        </p:txBody>
      </p:sp>
      <p:sp>
        <p:nvSpPr>
          <p:cNvPr id="26" name="box"/>
          <p:cNvSpPr/>
          <p:nvPr/>
        </p:nvSpPr>
        <p:spPr>
          <a:xfrm>
            <a:off x="9326880" y="3931920"/>
            <a:ext cx="685800" cy="457200"/>
          </a:xfrm>
          <a:prstGeom prst="ellipse">
            <a:avLst/>
          </a:prstGeom>
          <a:solidFill>
            <a:srgbClr val="1F3A5F"/>
          </a:solidFill>
          <a:ln w="12700">
            <a:solidFill>
              <a:srgbClr val="1F3A5F"/>
            </a:solidFill>
            <a:prstDash val="solid"/>
          </a:ln>
        </p:spPr>
      </p:sp>
      <p:sp>
        <p:nvSpPr>
          <p:cNvPr id="27" name="Text 24"/>
          <p:cNvSpPr txBox="1"/>
          <p:nvPr/>
        </p:nvSpPr>
        <p:spPr>
          <a:xfrm>
            <a:off x="9326880" y="3931920"/>
            <a:ext cx="685800" cy="45720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k</a:t>
            </a:r>
            <a:endParaRPr lang="en-US" sz="1200" dirty="0"/>
          </a:p>
        </p:txBody>
      </p:sp>
      <p:sp>
        <p:nvSpPr>
          <p:cNvPr id="28" name="box"/>
          <p:cNvSpPr/>
          <p:nvPr/>
        </p:nvSpPr>
        <p:spPr>
          <a:xfrm>
            <a:off x="10789920" y="4023360"/>
            <a:ext cx="685800" cy="457200"/>
          </a:xfrm>
          <a:prstGeom prst="ellipse">
            <a:avLst/>
          </a:prstGeom>
          <a:solidFill>
            <a:srgbClr val="1F3A5F"/>
          </a:solidFill>
          <a:ln w="12700">
            <a:solidFill>
              <a:srgbClr val="1F3A5F"/>
            </a:solidFill>
            <a:prstDash val="solid"/>
          </a:ln>
        </p:spPr>
      </p:sp>
      <p:sp>
        <p:nvSpPr>
          <p:cNvPr id="29" name="Text 26"/>
          <p:cNvSpPr txBox="1"/>
          <p:nvPr/>
        </p:nvSpPr>
        <p:spPr>
          <a:xfrm>
            <a:off x="10789920" y="4023360"/>
            <a:ext cx="685800" cy="45720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k</a:t>
            </a:r>
            <a:endParaRPr lang="en-US" sz="1200" dirty="0"/>
          </a:p>
        </p:txBody>
      </p:sp>
      <p:sp>
        <p:nvSpPr>
          <p:cNvPr id="30" name="Text 27"/>
          <p:cNvSpPr txBox="1"/>
          <p:nvPr/>
        </p:nvSpPr>
        <p:spPr>
          <a:xfrm>
            <a:off x="8138160" y="4434840"/>
            <a:ext cx="3291840" cy="36576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each query reaches the nearest copy</a:t>
            </a:r>
            <a:endParaRPr lang="en-US" sz="1100" dirty="0"/>
          </a:p>
        </p:txBody>
      </p:sp>
      <p:sp>
        <p:nvSpPr>
          <p:cNvPr id="31"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2" name="Text 29"/>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Hosts ask resolvers; resolvers ask the hierarchy; only authoritative servers know the answer firsthand.</a:t>
            </a:r>
            <a:endParaRPr lang="en-US" sz="1400" dirty="0"/>
          </a:p>
        </p:txBody>
      </p:sp>
      <p:sp>
        <p:nvSpPr>
          <p:cNvPr id="33" name="Text 30"/>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ISP (Internet service provider) · TLD (top-level domain) · AA (authoritative answer)</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Recursive and iterative resolution</a:t>
            </a:r>
            <a:endParaRPr lang="en-US" sz="3000" dirty="0"/>
          </a:p>
        </p:txBody>
      </p:sp>
      <p:sp>
        <p:nvSpPr>
          <p:cNvPr id="4" name="box"/>
          <p:cNvSpPr/>
          <p:nvPr/>
        </p:nvSpPr>
        <p:spPr>
          <a:xfrm>
            <a:off x="548640" y="2286000"/>
            <a:ext cx="1828800" cy="1005840"/>
          </a:xfrm>
          <a:prstGeom prst="roundRect">
            <a:avLst>
              <a:gd name="adj" fmla="val 7273"/>
            </a:avLst>
          </a:prstGeom>
          <a:solidFill>
            <a:srgbClr val="EEF2F6"/>
          </a:solidFill>
          <a:ln w="12700">
            <a:solidFill>
              <a:srgbClr val="EEF2F6"/>
            </a:solidFill>
            <a:prstDash val="solid"/>
          </a:ln>
        </p:spPr>
      </p:sp>
      <p:sp>
        <p:nvSpPr>
          <p:cNvPr id="5" name="Text 2"/>
          <p:cNvSpPr txBox="1"/>
          <p:nvPr/>
        </p:nvSpPr>
        <p:spPr>
          <a:xfrm>
            <a:off x="548640" y="2286000"/>
            <a:ext cx="1828800" cy="1005840"/>
          </a:xfrm>
          <a:prstGeom prst="rect">
            <a:avLst/>
          </a:prstGeom>
          <a:noFill/>
          <a:ln/>
        </p:spPr>
        <p:txBody>
          <a:bodyPr wrap="square" lIns="635" tIns="635" rIns="635" bIns="635" rtlCol="0" anchor="ctr"/>
          <a:lstStyle/>
          <a:p>
            <a:pPr algn="ctr" indent="0" marL="0">
              <a:buNone/>
            </a:pPr>
            <a:r>
              <a:rPr lang="en-US" sz="1300" b="1" dirty="0">
                <a:solidFill>
                  <a:srgbClr val="1B2430"/>
                </a:solidFill>
              </a:rPr>
              <a:t>host</a:t>
            </a:r>
            <a:endParaRPr lang="en-US" sz="1300" dirty="0"/>
          </a:p>
          <a:p>
            <a:pPr algn="ctr" indent="0" marL="0">
              <a:buNone/>
            </a:pPr>
            <a:r>
              <a:rPr lang="en-US" sz="1300" dirty="0">
                <a:solidFill>
                  <a:srgbClr val="1B2430"/>
                </a:solidFill>
              </a:rPr>
              <a:t>stub resolver</a:t>
            </a:r>
            <a:endParaRPr lang="en-US" sz="1300" dirty="0"/>
          </a:p>
        </p:txBody>
      </p:sp>
      <p:sp>
        <p:nvSpPr>
          <p:cNvPr id="6" name="box"/>
          <p:cNvSpPr/>
          <p:nvPr/>
        </p:nvSpPr>
        <p:spPr>
          <a:xfrm>
            <a:off x="3291840" y="1280160"/>
            <a:ext cx="2011680" cy="4114800"/>
          </a:xfrm>
          <a:prstGeom prst="roundRect">
            <a:avLst>
              <a:gd name="adj" fmla="val 3636"/>
            </a:avLst>
          </a:prstGeom>
          <a:solidFill>
            <a:srgbClr val="DDF0F2"/>
          </a:solidFill>
          <a:ln w="12700">
            <a:solidFill>
              <a:srgbClr val="DDF0F2"/>
            </a:solidFill>
            <a:prstDash val="solid"/>
          </a:ln>
        </p:spPr>
      </p:sp>
      <p:sp>
        <p:nvSpPr>
          <p:cNvPr id="7" name="Text 4"/>
          <p:cNvSpPr txBox="1"/>
          <p:nvPr/>
        </p:nvSpPr>
        <p:spPr>
          <a:xfrm>
            <a:off x="3291840" y="1280160"/>
            <a:ext cx="2011680" cy="4114800"/>
          </a:xfrm>
          <a:prstGeom prst="rect">
            <a:avLst/>
          </a:prstGeom>
          <a:noFill/>
          <a:ln/>
        </p:spPr>
        <p:txBody>
          <a:bodyPr wrap="square" lIns="635" tIns="635" rIns="635" bIns="635" rtlCol="0" anchor="ctr"/>
          <a:lstStyle/>
          <a:p>
            <a:pPr algn="ctr" indent="0" marL="0">
              <a:buNone/>
            </a:pPr>
            <a:r>
              <a:rPr lang="en-US" sz="1300" b="1" dirty="0">
                <a:solidFill>
                  <a:srgbClr val="1B2430"/>
                </a:solidFill>
              </a:rPr>
              <a:t>local</a:t>
            </a:r>
            <a:endParaRPr lang="en-US" sz="1300" dirty="0"/>
          </a:p>
          <a:p>
            <a:pPr algn="ctr" indent="0" marL="0">
              <a:buNone/>
            </a:pPr>
            <a:r>
              <a:rPr lang="en-US" sz="1300" b="1" dirty="0">
                <a:solidFill>
                  <a:srgbClr val="1B2430"/>
                </a:solidFill>
              </a:rPr>
              <a:t>recursive</a:t>
            </a:r>
            <a:endParaRPr lang="en-US" sz="1300" dirty="0"/>
          </a:p>
          <a:p>
            <a:pPr algn="ctr" indent="0" marL="0">
              <a:buNone/>
            </a:pPr>
            <a:r>
              <a:rPr lang="en-US" sz="1300" b="1" dirty="0">
                <a:solidFill>
                  <a:srgbClr val="1B2430"/>
                </a:solidFill>
              </a:rPr>
              <a:t>resolver</a:t>
            </a:r>
            <a:endParaRPr lang="en-US" sz="1300" dirty="0"/>
          </a:p>
          <a:p>
            <a:pPr algn="ctr" indent="0" marL="0">
              <a:buNone/>
            </a:pPr>
            <a:r>
              <a:rPr lang="en-US" sz="1300" dirty="0">
                <a:solidFill>
                  <a:srgbClr val="1B2430"/>
                </a:solidFill>
              </a:rPr>
              <a:t> </a:t>
            </a:r>
            <a:endParaRPr lang="en-US" sz="1300" dirty="0"/>
          </a:p>
          <a:p>
            <a:pPr algn="ctr" indent="0" marL="0">
              <a:buNone/>
            </a:pPr>
            <a:r>
              <a:rPr lang="en-US" sz="1300" dirty="0">
                <a:solidFill>
                  <a:srgbClr val="1B2430"/>
                </a:solidFill>
              </a:rPr>
              <a:t>(cache)</a:t>
            </a:r>
            <a:endParaRPr lang="en-US" sz="1300" dirty="0"/>
          </a:p>
        </p:txBody>
      </p:sp>
      <p:sp>
        <p:nvSpPr>
          <p:cNvPr id="8" name="Shape 5"/>
          <p:cNvSpPr/>
          <p:nvPr/>
        </p:nvSpPr>
        <p:spPr>
          <a:xfrm>
            <a:off x="2377440" y="2560320"/>
            <a:ext cx="914400" cy="914"/>
          </a:xfrm>
          <a:prstGeom prst="line">
            <a:avLst/>
          </a:prstGeom>
          <a:noFill/>
          <a:ln w="31750">
            <a:solidFill>
              <a:srgbClr val="1F3A5F"/>
            </a:solidFill>
            <a:prstDash val="solid"/>
            <a:tailEnd type="triangle"/>
          </a:ln>
        </p:spPr>
      </p:sp>
      <p:sp>
        <p:nvSpPr>
          <p:cNvPr id="9" name="Text 6"/>
          <p:cNvSpPr txBox="1"/>
          <p:nvPr/>
        </p:nvSpPr>
        <p:spPr>
          <a:xfrm>
            <a:off x="1965960" y="2057400"/>
            <a:ext cx="1737360" cy="310896"/>
          </a:xfrm>
          <a:prstGeom prst="rect">
            <a:avLst/>
          </a:prstGeom>
          <a:solidFill>
            <a:srgbClr val="FFFFFF"/>
          </a:solidFill>
          <a:ln/>
        </p:spPr>
        <p:txBody>
          <a:bodyPr wrap="square" lIns="0" tIns="0" rIns="0" bIns="0" rtlCol="0" anchor="ctr"/>
          <a:lstStyle/>
          <a:p>
            <a:pPr algn="ctr" indent="0" marL="0">
              <a:buNone/>
            </a:pPr>
            <a:r>
              <a:rPr lang="en-US" sz="1100" dirty="0">
                <a:solidFill>
                  <a:srgbClr val="1F3A5F"/>
                </a:solidFill>
              </a:rPr>
              <a:t>1 www.unibuc.ro?</a:t>
            </a:r>
            <a:endParaRPr lang="en-US" sz="1100" dirty="0"/>
          </a:p>
        </p:txBody>
      </p:sp>
      <p:sp>
        <p:nvSpPr>
          <p:cNvPr id="10" name="Shape 7"/>
          <p:cNvSpPr/>
          <p:nvPr/>
        </p:nvSpPr>
        <p:spPr>
          <a:xfrm flipH="1">
            <a:off x="2377440" y="3017520"/>
            <a:ext cx="914400" cy="914"/>
          </a:xfrm>
          <a:prstGeom prst="line">
            <a:avLst/>
          </a:prstGeom>
          <a:noFill/>
          <a:ln w="31750">
            <a:solidFill>
              <a:srgbClr val="2E7D4F"/>
            </a:solidFill>
            <a:prstDash val="solid"/>
            <a:tailEnd type="triangle"/>
          </a:ln>
        </p:spPr>
      </p:sp>
      <p:sp>
        <p:nvSpPr>
          <p:cNvPr id="11" name="Text 8"/>
          <p:cNvSpPr txBox="1"/>
          <p:nvPr/>
        </p:nvSpPr>
        <p:spPr>
          <a:xfrm>
            <a:off x="2286000" y="3108960"/>
            <a:ext cx="1097280" cy="310896"/>
          </a:xfrm>
          <a:prstGeom prst="rect">
            <a:avLst/>
          </a:prstGeom>
          <a:solidFill>
            <a:srgbClr val="FFFFFF"/>
          </a:solidFill>
          <a:ln/>
        </p:spPr>
        <p:txBody>
          <a:bodyPr wrap="square" lIns="0" tIns="0" rIns="0" bIns="0" rtlCol="0" anchor="ctr"/>
          <a:lstStyle/>
          <a:p>
            <a:pPr algn="ctr" indent="0" marL="0">
              <a:buNone/>
            </a:pPr>
            <a:r>
              <a:rPr lang="en-US" sz="1100" dirty="0">
                <a:solidFill>
                  <a:srgbClr val="2E7D4F"/>
                </a:solidFill>
              </a:rPr>
              <a:t>8 answer</a:t>
            </a:r>
            <a:endParaRPr lang="en-US" sz="1100" dirty="0"/>
          </a:p>
        </p:txBody>
      </p:sp>
      <p:sp>
        <p:nvSpPr>
          <p:cNvPr id="12" name="box"/>
          <p:cNvSpPr/>
          <p:nvPr/>
        </p:nvSpPr>
        <p:spPr>
          <a:xfrm>
            <a:off x="8595360" y="1371600"/>
            <a:ext cx="3017520" cy="822960"/>
          </a:xfrm>
          <a:prstGeom prst="roundRect">
            <a:avLst>
              <a:gd name="adj" fmla="val 8889"/>
            </a:avLst>
          </a:prstGeom>
          <a:solidFill>
            <a:srgbClr val="F3EAD7"/>
          </a:solidFill>
          <a:ln w="12700">
            <a:solidFill>
              <a:srgbClr val="F3EAD7"/>
            </a:solidFill>
            <a:prstDash val="solid"/>
          </a:ln>
        </p:spPr>
      </p:sp>
      <p:sp>
        <p:nvSpPr>
          <p:cNvPr id="13" name="Text 10"/>
          <p:cNvSpPr txBox="1"/>
          <p:nvPr/>
        </p:nvSpPr>
        <p:spPr>
          <a:xfrm>
            <a:off x="8595360" y="1371600"/>
            <a:ext cx="3017520" cy="822960"/>
          </a:xfrm>
          <a:prstGeom prst="rect">
            <a:avLst/>
          </a:prstGeom>
          <a:noFill/>
          <a:ln/>
        </p:spPr>
        <p:txBody>
          <a:bodyPr wrap="square" lIns="635" tIns="635" rIns="635" bIns="635" rtlCol="0" anchor="ctr"/>
          <a:lstStyle/>
          <a:p>
            <a:pPr algn="ctr" indent="0" marL="0">
              <a:buNone/>
            </a:pPr>
            <a:r>
              <a:rPr lang="en-US" sz="1300" b="1" dirty="0">
                <a:solidFill>
                  <a:srgbClr val="1B2430"/>
                </a:solidFill>
              </a:rPr>
              <a:t>root server</a:t>
            </a:r>
            <a:endParaRPr lang="en-US" sz="1300" dirty="0"/>
          </a:p>
        </p:txBody>
      </p:sp>
      <p:sp>
        <p:nvSpPr>
          <p:cNvPr id="14" name="Shape 11"/>
          <p:cNvSpPr/>
          <p:nvPr/>
        </p:nvSpPr>
        <p:spPr>
          <a:xfrm>
            <a:off x="5303520" y="1600200"/>
            <a:ext cx="3291840" cy="914"/>
          </a:xfrm>
          <a:prstGeom prst="line">
            <a:avLst/>
          </a:prstGeom>
          <a:noFill/>
          <a:ln w="22225">
            <a:solidFill>
              <a:srgbClr val="1F3A5F"/>
            </a:solidFill>
            <a:prstDash val="solid"/>
            <a:tailEnd type="triangle"/>
          </a:ln>
        </p:spPr>
      </p:sp>
      <p:sp>
        <p:nvSpPr>
          <p:cNvPr id="15" name="Shape 12"/>
          <p:cNvSpPr/>
          <p:nvPr/>
        </p:nvSpPr>
        <p:spPr>
          <a:xfrm flipH="1">
            <a:off x="5303520" y="1965960"/>
            <a:ext cx="3291840" cy="914"/>
          </a:xfrm>
          <a:prstGeom prst="line">
            <a:avLst/>
          </a:prstGeom>
          <a:noFill/>
          <a:ln w="22225">
            <a:solidFill>
              <a:srgbClr val="B9772A"/>
            </a:solidFill>
            <a:prstDash val="dash"/>
            <a:tailEnd type="triangle"/>
          </a:ln>
        </p:spPr>
      </p:sp>
      <p:sp>
        <p:nvSpPr>
          <p:cNvPr id="16" name="Text 13"/>
          <p:cNvSpPr txBox="1"/>
          <p:nvPr/>
        </p:nvSpPr>
        <p:spPr>
          <a:xfrm>
            <a:off x="5440680" y="2029968"/>
            <a:ext cx="3108960" cy="32004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2 → 3: referral to the .ro servers</a:t>
            </a:r>
            <a:endParaRPr lang="en-US" sz="1100" dirty="0"/>
          </a:p>
        </p:txBody>
      </p:sp>
      <p:sp>
        <p:nvSpPr>
          <p:cNvPr id="17" name="box"/>
          <p:cNvSpPr/>
          <p:nvPr/>
        </p:nvSpPr>
        <p:spPr>
          <a:xfrm>
            <a:off x="8595360" y="2788920"/>
            <a:ext cx="3017520" cy="822960"/>
          </a:xfrm>
          <a:prstGeom prst="roundRect">
            <a:avLst>
              <a:gd name="adj" fmla="val 8889"/>
            </a:avLst>
          </a:prstGeom>
          <a:solidFill>
            <a:srgbClr val="F3EAD7"/>
          </a:solidFill>
          <a:ln w="12700">
            <a:solidFill>
              <a:srgbClr val="F3EAD7"/>
            </a:solidFill>
            <a:prstDash val="solid"/>
          </a:ln>
        </p:spPr>
      </p:sp>
      <p:sp>
        <p:nvSpPr>
          <p:cNvPr id="18" name="Text 15"/>
          <p:cNvSpPr txBox="1"/>
          <p:nvPr/>
        </p:nvSpPr>
        <p:spPr>
          <a:xfrm>
            <a:off x="8595360" y="2788920"/>
            <a:ext cx="3017520" cy="822960"/>
          </a:xfrm>
          <a:prstGeom prst="rect">
            <a:avLst/>
          </a:prstGeom>
          <a:noFill/>
          <a:ln/>
        </p:spPr>
        <p:txBody>
          <a:bodyPr wrap="square" lIns="635" tIns="635" rIns="635" bIns="635" rtlCol="0" anchor="ctr"/>
          <a:lstStyle/>
          <a:p>
            <a:pPr algn="ctr" indent="0" marL="0">
              <a:buNone/>
            </a:pPr>
            <a:r>
              <a:rPr lang="en-US" sz="1300" b="1" dirty="0">
                <a:solidFill>
                  <a:srgbClr val="1B2430"/>
                </a:solidFill>
              </a:rPr>
              <a:t>.ro TLD server</a:t>
            </a:r>
            <a:endParaRPr lang="en-US" sz="1300" dirty="0"/>
          </a:p>
        </p:txBody>
      </p:sp>
      <p:sp>
        <p:nvSpPr>
          <p:cNvPr id="19" name="Shape 16"/>
          <p:cNvSpPr/>
          <p:nvPr/>
        </p:nvSpPr>
        <p:spPr>
          <a:xfrm>
            <a:off x="5303520" y="3017520"/>
            <a:ext cx="3291840" cy="914"/>
          </a:xfrm>
          <a:prstGeom prst="line">
            <a:avLst/>
          </a:prstGeom>
          <a:noFill/>
          <a:ln w="22225">
            <a:solidFill>
              <a:srgbClr val="1F3A5F"/>
            </a:solidFill>
            <a:prstDash val="solid"/>
            <a:tailEnd type="triangle"/>
          </a:ln>
        </p:spPr>
      </p:sp>
      <p:sp>
        <p:nvSpPr>
          <p:cNvPr id="20" name="Shape 17"/>
          <p:cNvSpPr/>
          <p:nvPr/>
        </p:nvSpPr>
        <p:spPr>
          <a:xfrm flipH="1">
            <a:off x="5303520" y="3383280"/>
            <a:ext cx="3291840" cy="914"/>
          </a:xfrm>
          <a:prstGeom prst="line">
            <a:avLst/>
          </a:prstGeom>
          <a:noFill/>
          <a:ln w="22225">
            <a:solidFill>
              <a:srgbClr val="B9772A"/>
            </a:solidFill>
            <a:prstDash val="dash"/>
            <a:tailEnd type="triangle"/>
          </a:ln>
        </p:spPr>
      </p:sp>
      <p:sp>
        <p:nvSpPr>
          <p:cNvPr id="21" name="Text 18"/>
          <p:cNvSpPr txBox="1"/>
          <p:nvPr/>
        </p:nvSpPr>
        <p:spPr>
          <a:xfrm>
            <a:off x="5440680" y="3447288"/>
            <a:ext cx="3108960" cy="32004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4 → 5: referral to unibuc.ro (+ glue)</a:t>
            </a:r>
            <a:endParaRPr lang="en-US" sz="1100" dirty="0"/>
          </a:p>
        </p:txBody>
      </p:sp>
      <p:sp>
        <p:nvSpPr>
          <p:cNvPr id="22" name="box"/>
          <p:cNvSpPr/>
          <p:nvPr/>
        </p:nvSpPr>
        <p:spPr>
          <a:xfrm>
            <a:off x="8595360" y="4206240"/>
            <a:ext cx="3017520" cy="822960"/>
          </a:xfrm>
          <a:prstGeom prst="roundRect">
            <a:avLst>
              <a:gd name="adj" fmla="val 8889"/>
            </a:avLst>
          </a:prstGeom>
          <a:solidFill>
            <a:srgbClr val="D7EBDD"/>
          </a:solidFill>
          <a:ln w="12700">
            <a:solidFill>
              <a:srgbClr val="D7EBDD"/>
            </a:solidFill>
            <a:prstDash val="solid"/>
          </a:ln>
        </p:spPr>
      </p:sp>
      <p:sp>
        <p:nvSpPr>
          <p:cNvPr id="23" name="Text 20"/>
          <p:cNvSpPr txBox="1"/>
          <p:nvPr/>
        </p:nvSpPr>
        <p:spPr>
          <a:xfrm>
            <a:off x="8595360" y="4206240"/>
            <a:ext cx="3017520" cy="822960"/>
          </a:xfrm>
          <a:prstGeom prst="rect">
            <a:avLst/>
          </a:prstGeom>
          <a:noFill/>
          <a:ln/>
        </p:spPr>
        <p:txBody>
          <a:bodyPr wrap="square" lIns="635" tIns="635" rIns="635" bIns="635" rtlCol="0" anchor="ctr"/>
          <a:lstStyle/>
          <a:p>
            <a:pPr algn="ctr" indent="0" marL="0">
              <a:buNone/>
            </a:pPr>
            <a:r>
              <a:rPr lang="en-US" sz="1300" b="1" dirty="0">
                <a:solidFill>
                  <a:srgbClr val="1B2430"/>
                </a:solidFill>
              </a:rPr>
              <a:t>unibuc.ro authoritative</a:t>
            </a:r>
            <a:endParaRPr lang="en-US" sz="1300" dirty="0"/>
          </a:p>
        </p:txBody>
      </p:sp>
      <p:sp>
        <p:nvSpPr>
          <p:cNvPr id="24" name="Shape 21"/>
          <p:cNvSpPr/>
          <p:nvPr/>
        </p:nvSpPr>
        <p:spPr>
          <a:xfrm>
            <a:off x="5303520" y="4434840"/>
            <a:ext cx="3291840" cy="914"/>
          </a:xfrm>
          <a:prstGeom prst="line">
            <a:avLst/>
          </a:prstGeom>
          <a:noFill/>
          <a:ln w="22225">
            <a:solidFill>
              <a:srgbClr val="1F3A5F"/>
            </a:solidFill>
            <a:prstDash val="solid"/>
            <a:tailEnd type="triangle"/>
          </a:ln>
        </p:spPr>
      </p:sp>
      <p:sp>
        <p:nvSpPr>
          <p:cNvPr id="25" name="Shape 22"/>
          <p:cNvSpPr/>
          <p:nvPr/>
        </p:nvSpPr>
        <p:spPr>
          <a:xfrm flipH="1">
            <a:off x="5303520" y="4800600"/>
            <a:ext cx="3291840" cy="914"/>
          </a:xfrm>
          <a:prstGeom prst="line">
            <a:avLst/>
          </a:prstGeom>
          <a:noFill/>
          <a:ln w="22225">
            <a:solidFill>
              <a:srgbClr val="B9772A"/>
            </a:solidFill>
            <a:prstDash val="dash"/>
            <a:tailEnd type="triangle"/>
          </a:ln>
        </p:spPr>
      </p:sp>
      <p:sp>
        <p:nvSpPr>
          <p:cNvPr id="26" name="Text 23"/>
          <p:cNvSpPr txBox="1"/>
          <p:nvPr/>
        </p:nvSpPr>
        <p:spPr>
          <a:xfrm>
            <a:off x="5440680" y="4864608"/>
            <a:ext cx="3108960" cy="32004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6 → 7: A 141.85.x.x (AA)</a:t>
            </a:r>
            <a:endParaRPr lang="en-US" sz="1100" dirty="0"/>
          </a:p>
        </p:txBody>
      </p:sp>
      <p:sp>
        <p:nvSpPr>
          <p:cNvPr id="27" name="Shape 24"/>
          <p:cNvSpPr/>
          <p:nvPr/>
        </p:nvSpPr>
        <p:spPr>
          <a:xfrm>
            <a:off x="548640" y="3950208"/>
            <a:ext cx="384048" cy="384048"/>
          </a:xfrm>
          <a:prstGeom prst="ellipse">
            <a:avLst/>
          </a:prstGeom>
          <a:solidFill>
            <a:srgbClr val="B9772A"/>
          </a:solidFill>
          <a:ln w="12700">
            <a:solidFill>
              <a:srgbClr val="B9772A"/>
            </a:solidFill>
            <a:prstDash val="solid"/>
          </a:ln>
        </p:spPr>
      </p:sp>
      <p:sp>
        <p:nvSpPr>
          <p:cNvPr id="28" name="Text 25"/>
          <p:cNvSpPr txBox="1"/>
          <p:nvPr/>
        </p:nvSpPr>
        <p:spPr>
          <a:xfrm>
            <a:off x="548640"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9" name="Text 26"/>
          <p:cNvSpPr txBox="1"/>
          <p:nvPr/>
        </p:nvSpPr>
        <p:spPr>
          <a:xfrm>
            <a:off x="1051560" y="3931920"/>
            <a:ext cx="2148840" cy="1554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Every answer is </a:t>
            </a:r>
            <a:r>
              <a:rPr lang="en-US" sz="1200" b="1" dirty="0">
                <a:solidFill>
                  <a:srgbClr val="1B2430"/>
                </a:solidFill>
              </a:rPr>
              <a:t>cached</a:t>
            </a:r>
            <a:r>
              <a:rPr lang="en-US" sz="1200" dirty="0">
                <a:solidFill>
                  <a:srgbClr val="1B2430"/>
                </a:solidFill>
              </a:rPr>
              <a:t> by the resolver.</a:t>
            </a:r>
            <a:endParaRPr lang="en-US" sz="1200" dirty="0"/>
          </a:p>
        </p:txBody>
      </p:sp>
      <p:sp>
        <p:nvSpPr>
          <p:cNvPr id="3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1" name="Text 2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One recursive question from the host, a chain of iterative questions from the resolver.</a:t>
            </a:r>
            <a:endParaRPr lang="en-US" sz="1400" dirty="0"/>
          </a:p>
        </p:txBody>
      </p:sp>
      <p:sp>
        <p:nvSpPr>
          <p:cNvPr id="32" name="Text 29"/>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TLD (top-level domain) · AA (authoritative answer)</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Caching and TTL</a:t>
            </a:r>
            <a:endParaRPr lang="en-US" sz="3000" dirty="0"/>
          </a:p>
        </p:txBody>
      </p:sp>
      <p:sp>
        <p:nvSpPr>
          <p:cNvPr id="4" name="Shape 1"/>
          <p:cNvSpPr/>
          <p:nvPr/>
        </p:nvSpPr>
        <p:spPr>
          <a:xfrm>
            <a:off x="822960" y="2377440"/>
            <a:ext cx="10424160" cy="914"/>
          </a:xfrm>
          <a:prstGeom prst="line">
            <a:avLst/>
          </a:prstGeom>
          <a:noFill/>
          <a:ln w="31750">
            <a:solidFill>
              <a:srgbClr val="1F3A5F"/>
            </a:solidFill>
            <a:prstDash val="solid"/>
            <a:tailEnd type="triangle"/>
          </a:ln>
        </p:spPr>
      </p:sp>
      <p:sp>
        <p:nvSpPr>
          <p:cNvPr id="5" name="Text 2"/>
          <p:cNvSpPr txBox="1"/>
          <p:nvPr/>
        </p:nvSpPr>
        <p:spPr>
          <a:xfrm>
            <a:off x="457200" y="2468880"/>
            <a:ext cx="731520" cy="27432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0 s</a:t>
            </a:r>
            <a:endParaRPr lang="en-US" sz="1100" dirty="0"/>
          </a:p>
        </p:txBody>
      </p:sp>
      <p:sp>
        <p:nvSpPr>
          <p:cNvPr id="6" name="Text 3"/>
          <p:cNvSpPr txBox="1"/>
          <p:nvPr/>
        </p:nvSpPr>
        <p:spPr>
          <a:xfrm>
            <a:off x="3017520" y="2468880"/>
            <a:ext cx="731520" cy="27432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100 s</a:t>
            </a:r>
            <a:endParaRPr lang="en-US" sz="1100" dirty="0"/>
          </a:p>
        </p:txBody>
      </p:sp>
      <p:sp>
        <p:nvSpPr>
          <p:cNvPr id="7" name="Text 4"/>
          <p:cNvSpPr txBox="1"/>
          <p:nvPr/>
        </p:nvSpPr>
        <p:spPr>
          <a:xfrm>
            <a:off x="5577840" y="2468880"/>
            <a:ext cx="731520" cy="27432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200 s</a:t>
            </a:r>
            <a:endParaRPr lang="en-US" sz="1100" dirty="0"/>
          </a:p>
        </p:txBody>
      </p:sp>
      <p:sp>
        <p:nvSpPr>
          <p:cNvPr id="8" name="Text 5"/>
          <p:cNvSpPr txBox="1"/>
          <p:nvPr/>
        </p:nvSpPr>
        <p:spPr>
          <a:xfrm>
            <a:off x="8138160" y="2468880"/>
            <a:ext cx="731520" cy="27432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300 s</a:t>
            </a:r>
            <a:endParaRPr lang="en-US" sz="1100" dirty="0"/>
          </a:p>
        </p:txBody>
      </p:sp>
      <p:sp>
        <p:nvSpPr>
          <p:cNvPr id="9" name="Text 6"/>
          <p:cNvSpPr txBox="1"/>
          <p:nvPr/>
        </p:nvSpPr>
        <p:spPr>
          <a:xfrm>
            <a:off x="10698480" y="2468880"/>
            <a:ext cx="731520" cy="27432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400 s</a:t>
            </a:r>
            <a:endParaRPr lang="en-US" sz="1100" dirty="0"/>
          </a:p>
        </p:txBody>
      </p:sp>
      <p:sp>
        <p:nvSpPr>
          <p:cNvPr id="10" name="box"/>
          <p:cNvSpPr/>
          <p:nvPr/>
        </p:nvSpPr>
        <p:spPr>
          <a:xfrm>
            <a:off x="822960" y="1600200"/>
            <a:ext cx="7680960" cy="548640"/>
          </a:xfrm>
          <a:prstGeom prst="rect">
            <a:avLst/>
          </a:prstGeom>
          <a:solidFill>
            <a:srgbClr val="D7EBDD"/>
          </a:solidFill>
          <a:ln w="12700">
            <a:solidFill>
              <a:srgbClr val="D7EBDD"/>
            </a:solidFill>
            <a:prstDash val="solid"/>
          </a:ln>
        </p:spPr>
      </p:sp>
      <p:sp>
        <p:nvSpPr>
          <p:cNvPr id="11" name="Text 8"/>
          <p:cNvSpPr txBox="1"/>
          <p:nvPr/>
        </p:nvSpPr>
        <p:spPr>
          <a:xfrm>
            <a:off x="822960" y="1600200"/>
            <a:ext cx="7680960" cy="548640"/>
          </a:xfrm>
          <a:prstGeom prst="rect">
            <a:avLst/>
          </a:prstGeom>
          <a:noFill/>
          <a:ln/>
        </p:spPr>
        <p:txBody>
          <a:bodyPr wrap="square" lIns="635" tIns="635" rIns="635" bIns="635" rtlCol="0" anchor="ctr"/>
          <a:lstStyle/>
          <a:p>
            <a:pPr algn="ctr" indent="0" marL="0">
              <a:buNone/>
            </a:pPr>
            <a:r>
              <a:rPr lang="en-US" sz="1200" dirty="0">
                <a:solidFill>
                  <a:srgbClr val="1B2430"/>
                </a:solidFill>
              </a:rPr>
              <a:t>cached: TTL 300 → 0, answered at once</a:t>
            </a:r>
            <a:endParaRPr lang="en-US" sz="1200" dirty="0"/>
          </a:p>
        </p:txBody>
      </p:sp>
      <p:sp>
        <p:nvSpPr>
          <p:cNvPr id="12" name="box"/>
          <p:cNvSpPr/>
          <p:nvPr/>
        </p:nvSpPr>
        <p:spPr>
          <a:xfrm>
            <a:off x="8503920" y="1600200"/>
            <a:ext cx="2560320" cy="548640"/>
          </a:xfrm>
          <a:prstGeom prst="rect">
            <a:avLst/>
          </a:prstGeom>
          <a:solidFill>
            <a:srgbClr val="F3EAD7"/>
          </a:solidFill>
          <a:ln w="12700">
            <a:solidFill>
              <a:srgbClr val="F3EAD7"/>
            </a:solidFill>
            <a:prstDash val="solid"/>
          </a:ln>
        </p:spPr>
      </p:sp>
      <p:sp>
        <p:nvSpPr>
          <p:cNvPr id="13" name="Text 10"/>
          <p:cNvSpPr txBox="1"/>
          <p:nvPr/>
        </p:nvSpPr>
        <p:spPr>
          <a:xfrm>
            <a:off x="8503920" y="1600200"/>
            <a:ext cx="2560320" cy="548640"/>
          </a:xfrm>
          <a:prstGeom prst="rect">
            <a:avLst/>
          </a:prstGeom>
          <a:noFill/>
          <a:ln/>
        </p:spPr>
        <p:txBody>
          <a:bodyPr wrap="square" lIns="635" tIns="635" rIns="635" bIns="635" rtlCol="0" anchor="ctr"/>
          <a:lstStyle/>
          <a:p>
            <a:pPr algn="ctr" indent="0" marL="0">
              <a:buNone/>
            </a:pPr>
            <a:r>
              <a:rPr lang="en-US" sz="1100" dirty="0">
                <a:solidFill>
                  <a:srgbClr val="1B2430"/>
                </a:solidFill>
              </a:rPr>
              <a:t>ask again</a:t>
            </a:r>
            <a:endParaRPr lang="en-US" sz="1100" dirty="0"/>
          </a:p>
        </p:txBody>
      </p:sp>
      <p:sp>
        <p:nvSpPr>
          <p:cNvPr id="14" name="box"/>
          <p:cNvSpPr/>
          <p:nvPr/>
        </p:nvSpPr>
        <p:spPr>
          <a:xfrm>
            <a:off x="548640" y="3017520"/>
            <a:ext cx="5440680" cy="914400"/>
          </a:xfrm>
          <a:prstGeom prst="roundRect">
            <a:avLst>
              <a:gd name="adj" fmla="val 8000"/>
            </a:avLst>
          </a:prstGeom>
          <a:solidFill>
            <a:srgbClr val="EEF2F6"/>
          </a:solidFill>
          <a:ln w="12700">
            <a:solidFill>
              <a:srgbClr val="EEF2F6"/>
            </a:solidFill>
            <a:prstDash val="solid"/>
          </a:ln>
        </p:spPr>
      </p:sp>
      <p:sp>
        <p:nvSpPr>
          <p:cNvPr id="15" name="Text 12"/>
          <p:cNvSpPr txBox="1"/>
          <p:nvPr/>
        </p:nvSpPr>
        <p:spPr>
          <a:xfrm>
            <a:off x="548640" y="3017520"/>
            <a:ext cx="5440680" cy="914400"/>
          </a:xfrm>
          <a:prstGeom prst="rect">
            <a:avLst/>
          </a:prstGeom>
          <a:noFill/>
          <a:ln/>
        </p:spPr>
        <p:txBody>
          <a:bodyPr wrap="square" lIns="635" tIns="635" rIns="635" bIns="635" rtlCol="0" anchor="ctr"/>
          <a:lstStyle/>
          <a:p>
            <a:pPr algn="ctr" indent="0" marL="0">
              <a:buNone/>
            </a:pPr>
            <a:r>
              <a:rPr lang="en-US" sz="1300" b="1" dirty="0">
                <a:solidFill>
                  <a:srgbClr val="1B2430"/>
                </a:solidFill>
              </a:rPr>
              <a:t>dig @1.1.1.1 www.google.com</a:t>
            </a:r>
            <a:endParaRPr lang="en-US" sz="1300" dirty="0"/>
          </a:p>
          <a:p>
            <a:pPr algn="ctr" indent="0" marL="0">
              <a:buNone/>
            </a:pPr>
            <a:r>
              <a:rPr lang="en-US" sz="1300" dirty="0">
                <a:solidFill>
                  <a:srgbClr val="1B2430"/>
                </a:solidFill>
              </a:rPr>
              <a:t>TTL counts down: 300, 287, …</a:t>
            </a:r>
            <a:endParaRPr lang="en-US" sz="1300" dirty="0"/>
          </a:p>
        </p:txBody>
      </p:sp>
      <p:sp>
        <p:nvSpPr>
          <p:cNvPr id="16" name="box"/>
          <p:cNvSpPr/>
          <p:nvPr/>
        </p:nvSpPr>
        <p:spPr>
          <a:xfrm>
            <a:off x="6172200" y="3017520"/>
            <a:ext cx="5440680" cy="914400"/>
          </a:xfrm>
          <a:prstGeom prst="roundRect">
            <a:avLst>
              <a:gd name="adj" fmla="val 8000"/>
            </a:avLst>
          </a:prstGeom>
          <a:solidFill>
            <a:srgbClr val="EEF2F6"/>
          </a:solidFill>
          <a:ln w="12700">
            <a:solidFill>
              <a:srgbClr val="EEF2F6"/>
            </a:solidFill>
            <a:prstDash val="solid"/>
          </a:ln>
        </p:spPr>
      </p:sp>
      <p:sp>
        <p:nvSpPr>
          <p:cNvPr id="17" name="Text 14"/>
          <p:cNvSpPr txBox="1"/>
          <p:nvPr/>
        </p:nvSpPr>
        <p:spPr>
          <a:xfrm>
            <a:off x="6172200" y="3017520"/>
            <a:ext cx="5440680" cy="914400"/>
          </a:xfrm>
          <a:prstGeom prst="rect">
            <a:avLst/>
          </a:prstGeom>
          <a:noFill/>
          <a:ln/>
        </p:spPr>
        <p:txBody>
          <a:bodyPr wrap="square" lIns="635" tIns="635" rIns="635" bIns="635" rtlCol="0" anchor="ctr"/>
          <a:lstStyle/>
          <a:p>
            <a:pPr algn="ctr" indent="0" marL="0">
              <a:buNone/>
            </a:pPr>
            <a:r>
              <a:rPr lang="en-US" sz="1300" b="1" dirty="0">
                <a:solidFill>
                  <a:srgbClr val="1B2430"/>
                </a:solidFill>
              </a:rPr>
              <a:t>root and TLD referrals</a:t>
            </a:r>
            <a:endParaRPr lang="en-US" sz="1300" dirty="0"/>
          </a:p>
          <a:p>
            <a:pPr algn="ctr" indent="0" marL="0">
              <a:buNone/>
            </a:pPr>
            <a:r>
              <a:rPr lang="en-US" sz="1300" dirty="0">
                <a:solidFill>
                  <a:srgbClr val="1B2430"/>
                </a:solidFill>
              </a:rPr>
              <a:t>cached for a day or two</a:t>
            </a:r>
            <a:endParaRPr lang="en-US" sz="1300" dirty="0"/>
          </a:p>
        </p:txBody>
      </p:sp>
      <p:sp>
        <p:nvSpPr>
          <p:cNvPr id="18" name="box"/>
          <p:cNvSpPr/>
          <p:nvPr/>
        </p:nvSpPr>
        <p:spPr>
          <a:xfrm>
            <a:off x="548640" y="4114800"/>
            <a:ext cx="5440680" cy="914400"/>
          </a:xfrm>
          <a:prstGeom prst="roundRect">
            <a:avLst>
              <a:gd name="adj" fmla="val 8000"/>
            </a:avLst>
          </a:prstGeom>
          <a:solidFill>
            <a:srgbClr val="EEF2F6"/>
          </a:solidFill>
          <a:ln w="12700">
            <a:solidFill>
              <a:srgbClr val="EEF2F6"/>
            </a:solidFill>
            <a:prstDash val="solid"/>
          </a:ln>
        </p:spPr>
      </p:sp>
      <p:sp>
        <p:nvSpPr>
          <p:cNvPr id="19" name="Text 16"/>
          <p:cNvSpPr txBox="1"/>
          <p:nvPr/>
        </p:nvSpPr>
        <p:spPr>
          <a:xfrm>
            <a:off x="548640" y="4114800"/>
            <a:ext cx="5440680" cy="914400"/>
          </a:xfrm>
          <a:prstGeom prst="rect">
            <a:avLst/>
          </a:prstGeom>
          <a:noFill/>
          <a:ln/>
        </p:spPr>
        <p:txBody>
          <a:bodyPr wrap="square" lIns="635" tIns="635" rIns="635" bIns="635" rtlCol="0" anchor="ctr"/>
          <a:lstStyle/>
          <a:p>
            <a:pPr algn="ctr" indent="0" marL="0">
              <a:buNone/>
            </a:pPr>
            <a:r>
              <a:rPr lang="en-US" sz="1300" b="1" dirty="0">
                <a:solidFill>
                  <a:srgbClr val="1B2430"/>
                </a:solidFill>
              </a:rPr>
              <a:t>negative answers (NXDOMAIN)</a:t>
            </a:r>
            <a:endParaRPr lang="en-US" sz="1300" dirty="0"/>
          </a:p>
          <a:p>
            <a:pPr algn="ctr" indent="0" marL="0">
              <a:buNone/>
            </a:pPr>
            <a:r>
              <a:rPr lang="en-US" sz="1300" dirty="0">
                <a:solidFill>
                  <a:srgbClr val="1B2430"/>
                </a:solidFill>
              </a:rPr>
              <a:t>cached too: SOA’s last number</a:t>
            </a:r>
            <a:endParaRPr lang="en-US" sz="1300" dirty="0"/>
          </a:p>
        </p:txBody>
      </p:sp>
      <p:sp>
        <p:nvSpPr>
          <p:cNvPr id="20" name="box"/>
          <p:cNvSpPr/>
          <p:nvPr/>
        </p:nvSpPr>
        <p:spPr>
          <a:xfrm>
            <a:off x="6172200" y="4114800"/>
            <a:ext cx="5440680" cy="914400"/>
          </a:xfrm>
          <a:prstGeom prst="roundRect">
            <a:avLst>
              <a:gd name="adj" fmla="val 8000"/>
            </a:avLst>
          </a:prstGeom>
          <a:solidFill>
            <a:srgbClr val="EEF2F6"/>
          </a:solidFill>
          <a:ln w="12700">
            <a:solidFill>
              <a:srgbClr val="EEF2F6"/>
            </a:solidFill>
            <a:prstDash val="solid"/>
          </a:ln>
        </p:spPr>
      </p:sp>
      <p:sp>
        <p:nvSpPr>
          <p:cNvPr id="21" name="Text 18"/>
          <p:cNvSpPr txBox="1"/>
          <p:nvPr/>
        </p:nvSpPr>
        <p:spPr>
          <a:xfrm>
            <a:off x="6172200" y="4114800"/>
            <a:ext cx="5440680" cy="914400"/>
          </a:xfrm>
          <a:prstGeom prst="rect">
            <a:avLst/>
          </a:prstGeom>
          <a:noFill/>
          <a:ln/>
        </p:spPr>
        <p:txBody>
          <a:bodyPr wrap="square" lIns="635" tIns="635" rIns="635" bIns="635" rtlCol="0" anchor="ctr"/>
          <a:lstStyle/>
          <a:p>
            <a:pPr algn="ctr" indent="0" marL="0">
              <a:buNone/>
            </a:pPr>
            <a:r>
              <a:rPr lang="en-US" sz="1300" b="1" dirty="0">
                <a:solidFill>
                  <a:srgbClr val="1B2430"/>
                </a:solidFill>
              </a:rPr>
              <a:t>moving a service?</a:t>
            </a:r>
            <a:endParaRPr lang="en-US" sz="1300" dirty="0"/>
          </a:p>
          <a:p>
            <a:pPr algn="ctr" indent="0" marL="0">
              <a:buNone/>
            </a:pPr>
            <a:r>
              <a:rPr lang="en-US" sz="1300" dirty="0">
                <a:solidFill>
                  <a:srgbClr val="1B2430"/>
                </a:solidFill>
              </a:rPr>
              <a:t>lower the TTL a day before</a:t>
            </a:r>
            <a:endParaRPr lang="en-US" sz="1300" dirty="0"/>
          </a:p>
        </p:txBody>
      </p:sp>
      <p:sp>
        <p:nvSpPr>
          <p:cNvPr id="2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3" name="Text 2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TTL trades speed for freshness: long TTLs mean fast, cheap lookups and slow changes.</a:t>
            </a:r>
            <a:endParaRPr lang="en-US" sz="1400" dirty="0"/>
          </a:p>
        </p:txBody>
      </p:sp>
      <p:sp>
        <p:nvSpPr>
          <p:cNvPr id="24" name="Text 21"/>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SOA (start of authority) · TLD (top-level domain) · TTL (time to live)</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Resource records and a zone file</a:t>
            </a:r>
            <a:endParaRPr lang="en-US" sz="3000" dirty="0"/>
          </a:p>
        </p:txBody>
      </p:sp>
      <p:sp>
        <p:nvSpPr>
          <p:cNvPr id="4" name="code"/>
          <p:cNvSpPr/>
          <p:nvPr/>
        </p:nvSpPr>
        <p:spPr>
          <a:xfrm>
            <a:off x="548640" y="1280160"/>
            <a:ext cx="6949440" cy="4343400"/>
          </a:xfrm>
          <a:prstGeom prst="rect">
            <a:avLst/>
          </a:prstGeom>
          <a:solidFill>
            <a:srgbClr val="1E2A38"/>
          </a:solidFill>
          <a:ln w="12700">
            <a:solidFill>
              <a:srgbClr val="1E2A38"/>
            </a:solidFill>
            <a:prstDash val="solid"/>
          </a:ln>
        </p:spPr>
      </p:sp>
      <p:sp>
        <p:nvSpPr>
          <p:cNvPr id="5" name="Text 2"/>
          <p:cNvSpPr txBox="1"/>
          <p:nvPr/>
        </p:nvSpPr>
        <p:spPr>
          <a:xfrm>
            <a:off x="548640" y="1280160"/>
            <a:ext cx="6949440" cy="4343400"/>
          </a:xfrm>
          <a:prstGeom prst="rect">
            <a:avLst/>
          </a:prstGeom>
          <a:noFill/>
          <a:ln/>
        </p:spPr>
        <p:txBody>
          <a:bodyPr wrap="square" lIns="101600" tIns="101600" rIns="101600" bIns="101600" rtlCol="0" anchor="t"/>
          <a:lstStyle/>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$ORIGIN example.ro.</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3600  IN SOA   ns1 admin ( 2026102601</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7200 900 1209600 300 )</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86400 IN NS    ns1.example.ro.</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86400 IN NS    ns2.provider.net.</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ns1  86400 IN A     192.0.2.53</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3600  IN MX    10 mail.example.ro.</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mail 3600  IN A     192.0.2.25</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www  300   IN A     192.0.2.80</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www  300   IN AAAA  2001:db8::80</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shop 3600  IN CNAME shops.cdn-provider.net.</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3600  IN TXT   "v=spf1 mx -all"</a:t>
            </a:r>
            <a:endParaRPr lang="en-US" sz="1200" dirty="0"/>
          </a:p>
        </p:txBody>
      </p:sp>
      <p:sp>
        <p:nvSpPr>
          <p:cNvPr id="6" name="box"/>
          <p:cNvSpPr/>
          <p:nvPr/>
        </p:nvSpPr>
        <p:spPr>
          <a:xfrm>
            <a:off x="7772400" y="1280160"/>
            <a:ext cx="1371600" cy="594360"/>
          </a:xfrm>
          <a:prstGeom prst="roundRect">
            <a:avLst>
              <a:gd name="adj" fmla="val 12308"/>
            </a:avLst>
          </a:prstGeom>
          <a:solidFill>
            <a:srgbClr val="5B6770"/>
          </a:solidFill>
          <a:ln w="12700">
            <a:solidFill>
              <a:srgbClr val="5B6770"/>
            </a:solidFill>
            <a:prstDash val="solid"/>
          </a:ln>
        </p:spPr>
      </p:sp>
      <p:sp>
        <p:nvSpPr>
          <p:cNvPr id="7" name="Text 4"/>
          <p:cNvSpPr txBox="1"/>
          <p:nvPr/>
        </p:nvSpPr>
        <p:spPr>
          <a:xfrm>
            <a:off x="7772400" y="1280160"/>
            <a:ext cx="1371600" cy="59436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SOA</a:t>
            </a:r>
            <a:endParaRPr lang="en-US" sz="1200" dirty="0"/>
          </a:p>
        </p:txBody>
      </p:sp>
      <p:sp>
        <p:nvSpPr>
          <p:cNvPr id="8" name="Text 5"/>
          <p:cNvSpPr txBox="1"/>
          <p:nvPr/>
        </p:nvSpPr>
        <p:spPr>
          <a:xfrm>
            <a:off x="9235440" y="1371600"/>
            <a:ext cx="2377440" cy="54864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primary, admin, serial, timers, negative TTL</a:t>
            </a:r>
            <a:endParaRPr lang="en-US" sz="1100" dirty="0"/>
          </a:p>
        </p:txBody>
      </p:sp>
      <p:sp>
        <p:nvSpPr>
          <p:cNvPr id="9" name="box"/>
          <p:cNvSpPr/>
          <p:nvPr/>
        </p:nvSpPr>
        <p:spPr>
          <a:xfrm>
            <a:off x="7772400" y="2011680"/>
            <a:ext cx="1371600" cy="594360"/>
          </a:xfrm>
          <a:prstGeom prst="roundRect">
            <a:avLst>
              <a:gd name="adj" fmla="val 12308"/>
            </a:avLst>
          </a:prstGeom>
          <a:solidFill>
            <a:srgbClr val="1F3A5F"/>
          </a:solidFill>
          <a:ln w="12700">
            <a:solidFill>
              <a:srgbClr val="1F3A5F"/>
            </a:solidFill>
            <a:prstDash val="solid"/>
          </a:ln>
        </p:spPr>
      </p:sp>
      <p:sp>
        <p:nvSpPr>
          <p:cNvPr id="10" name="Text 7"/>
          <p:cNvSpPr txBox="1"/>
          <p:nvPr/>
        </p:nvSpPr>
        <p:spPr>
          <a:xfrm>
            <a:off x="7772400" y="2011680"/>
            <a:ext cx="1371600" cy="59436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NS</a:t>
            </a:r>
            <a:endParaRPr lang="en-US" sz="1200" dirty="0"/>
          </a:p>
        </p:txBody>
      </p:sp>
      <p:sp>
        <p:nvSpPr>
          <p:cNvPr id="11" name="Text 8"/>
          <p:cNvSpPr txBox="1"/>
          <p:nvPr/>
        </p:nvSpPr>
        <p:spPr>
          <a:xfrm>
            <a:off x="9235440" y="2103120"/>
            <a:ext cx="2377440" cy="54864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the zone’s servers (delegation)</a:t>
            </a:r>
            <a:endParaRPr lang="en-US" sz="1100" dirty="0"/>
          </a:p>
        </p:txBody>
      </p:sp>
      <p:sp>
        <p:nvSpPr>
          <p:cNvPr id="12" name="box"/>
          <p:cNvSpPr/>
          <p:nvPr/>
        </p:nvSpPr>
        <p:spPr>
          <a:xfrm>
            <a:off x="7772400" y="2743200"/>
            <a:ext cx="1371600" cy="594360"/>
          </a:xfrm>
          <a:prstGeom prst="roundRect">
            <a:avLst>
              <a:gd name="adj" fmla="val 12308"/>
            </a:avLst>
          </a:prstGeom>
          <a:solidFill>
            <a:srgbClr val="2A7F8E"/>
          </a:solidFill>
          <a:ln w="12700">
            <a:solidFill>
              <a:srgbClr val="2A7F8E"/>
            </a:solidFill>
            <a:prstDash val="solid"/>
          </a:ln>
        </p:spPr>
      </p:sp>
      <p:sp>
        <p:nvSpPr>
          <p:cNvPr id="13" name="Text 10"/>
          <p:cNvSpPr txBox="1"/>
          <p:nvPr/>
        </p:nvSpPr>
        <p:spPr>
          <a:xfrm>
            <a:off x="7772400" y="2743200"/>
            <a:ext cx="1371600" cy="59436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A / AAAA</a:t>
            </a:r>
            <a:endParaRPr lang="en-US" sz="1200" dirty="0"/>
          </a:p>
        </p:txBody>
      </p:sp>
      <p:sp>
        <p:nvSpPr>
          <p:cNvPr id="14" name="Text 11"/>
          <p:cNvSpPr txBox="1"/>
          <p:nvPr/>
        </p:nvSpPr>
        <p:spPr>
          <a:xfrm>
            <a:off x="9235440" y="2834640"/>
            <a:ext cx="2377440" cy="54864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addresses</a:t>
            </a:r>
            <a:endParaRPr lang="en-US" sz="1100" dirty="0"/>
          </a:p>
        </p:txBody>
      </p:sp>
      <p:sp>
        <p:nvSpPr>
          <p:cNvPr id="15" name="box"/>
          <p:cNvSpPr/>
          <p:nvPr/>
        </p:nvSpPr>
        <p:spPr>
          <a:xfrm>
            <a:off x="7772400" y="3474720"/>
            <a:ext cx="1371600" cy="594360"/>
          </a:xfrm>
          <a:prstGeom prst="roundRect">
            <a:avLst>
              <a:gd name="adj" fmla="val 12308"/>
            </a:avLst>
          </a:prstGeom>
          <a:solidFill>
            <a:srgbClr val="B9772A"/>
          </a:solidFill>
          <a:ln w="12700">
            <a:solidFill>
              <a:srgbClr val="B9772A"/>
            </a:solidFill>
            <a:prstDash val="solid"/>
          </a:ln>
        </p:spPr>
      </p:sp>
      <p:sp>
        <p:nvSpPr>
          <p:cNvPr id="16" name="Text 13"/>
          <p:cNvSpPr txBox="1"/>
          <p:nvPr/>
        </p:nvSpPr>
        <p:spPr>
          <a:xfrm>
            <a:off x="7772400" y="3474720"/>
            <a:ext cx="1371600" cy="59436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MX</a:t>
            </a:r>
            <a:endParaRPr lang="en-US" sz="1200" dirty="0"/>
          </a:p>
        </p:txBody>
      </p:sp>
      <p:sp>
        <p:nvSpPr>
          <p:cNvPr id="17" name="Text 14"/>
          <p:cNvSpPr txBox="1"/>
          <p:nvPr/>
        </p:nvSpPr>
        <p:spPr>
          <a:xfrm>
            <a:off x="9235440" y="3566160"/>
            <a:ext cx="2377440" cy="54864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mail server + preference</a:t>
            </a:r>
            <a:endParaRPr lang="en-US" sz="1100" dirty="0"/>
          </a:p>
        </p:txBody>
      </p:sp>
      <p:sp>
        <p:nvSpPr>
          <p:cNvPr id="18" name="box"/>
          <p:cNvSpPr/>
          <p:nvPr/>
        </p:nvSpPr>
        <p:spPr>
          <a:xfrm>
            <a:off x="7772400" y="4206240"/>
            <a:ext cx="1371600" cy="594360"/>
          </a:xfrm>
          <a:prstGeom prst="roundRect">
            <a:avLst>
              <a:gd name="adj" fmla="val 12308"/>
            </a:avLst>
          </a:prstGeom>
          <a:solidFill>
            <a:srgbClr val="2E7D4F"/>
          </a:solidFill>
          <a:ln w="12700">
            <a:solidFill>
              <a:srgbClr val="2E7D4F"/>
            </a:solidFill>
            <a:prstDash val="solid"/>
          </a:ln>
        </p:spPr>
      </p:sp>
      <p:sp>
        <p:nvSpPr>
          <p:cNvPr id="19" name="Text 16"/>
          <p:cNvSpPr txBox="1"/>
          <p:nvPr/>
        </p:nvSpPr>
        <p:spPr>
          <a:xfrm>
            <a:off x="7772400" y="4206240"/>
            <a:ext cx="1371600" cy="59436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CNAME</a:t>
            </a:r>
            <a:endParaRPr lang="en-US" sz="1200" dirty="0"/>
          </a:p>
        </p:txBody>
      </p:sp>
      <p:sp>
        <p:nvSpPr>
          <p:cNvPr id="20" name="Text 17"/>
          <p:cNvSpPr txBox="1"/>
          <p:nvPr/>
        </p:nvSpPr>
        <p:spPr>
          <a:xfrm>
            <a:off x="9235440" y="4297680"/>
            <a:ext cx="2377440" cy="54864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alias</a:t>
            </a:r>
            <a:endParaRPr lang="en-US" sz="1100" dirty="0"/>
          </a:p>
        </p:txBody>
      </p:sp>
      <p:sp>
        <p:nvSpPr>
          <p:cNvPr id="21" name="box"/>
          <p:cNvSpPr/>
          <p:nvPr/>
        </p:nvSpPr>
        <p:spPr>
          <a:xfrm>
            <a:off x="7772400" y="4937760"/>
            <a:ext cx="1371600" cy="594360"/>
          </a:xfrm>
          <a:prstGeom prst="roundRect">
            <a:avLst>
              <a:gd name="adj" fmla="val 12308"/>
            </a:avLst>
          </a:prstGeom>
          <a:solidFill>
            <a:srgbClr val="A23B3B"/>
          </a:solidFill>
          <a:ln w="12700">
            <a:solidFill>
              <a:srgbClr val="A23B3B"/>
            </a:solidFill>
            <a:prstDash val="solid"/>
          </a:ln>
        </p:spPr>
      </p:sp>
      <p:sp>
        <p:nvSpPr>
          <p:cNvPr id="22" name="Text 19"/>
          <p:cNvSpPr txBox="1"/>
          <p:nvPr/>
        </p:nvSpPr>
        <p:spPr>
          <a:xfrm>
            <a:off x="7772400" y="4937760"/>
            <a:ext cx="1371600" cy="594360"/>
          </a:xfrm>
          <a:prstGeom prst="rect">
            <a:avLst/>
          </a:prstGeom>
          <a:noFill/>
          <a:ln/>
        </p:spPr>
        <p:txBody>
          <a:bodyPr wrap="square" lIns="635" tIns="635" rIns="635" bIns="635"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TXT</a:t>
            </a:r>
            <a:endParaRPr lang="en-US" sz="1200" dirty="0"/>
          </a:p>
        </p:txBody>
      </p:sp>
      <p:sp>
        <p:nvSpPr>
          <p:cNvPr id="23" name="Text 20"/>
          <p:cNvSpPr txBox="1"/>
          <p:nvPr/>
        </p:nvSpPr>
        <p:spPr>
          <a:xfrm>
            <a:off x="9235440" y="5029200"/>
            <a:ext cx="2377440" cy="548640"/>
          </a:xfrm>
          <a:prstGeom prst="rect">
            <a:avLst/>
          </a:prstGeom>
          <a:noFill/>
          <a:ln/>
        </p:spPr>
        <p:txBody>
          <a:bodyPr wrap="square" lIns="0" tIns="0" rIns="0" bIns="0" rtlCol="0" anchor="t"/>
          <a:lstStyle/>
          <a:p>
            <a:pPr algn="l" indent="0" marL="0">
              <a:spcAft>
                <a:spcPts val="400"/>
              </a:spcAft>
              <a:buNone/>
            </a:pPr>
            <a:r>
              <a:rPr lang="en-US" sz="1100" dirty="0">
                <a:solidFill>
                  <a:srgbClr val="1B2430"/>
                </a:solidFill>
              </a:rPr>
              <a:t>free text: SPF, DMARC</a:t>
            </a:r>
            <a:endParaRPr lang="en-US" sz="1100" dirty="0"/>
          </a:p>
        </p:txBody>
      </p:sp>
      <p:sp>
        <p:nvSpPr>
          <p:cNvPr id="2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5" name="Text 2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 is the zone’s own name; a name without a final dot is relative to $ORIGIN.</a:t>
            </a:r>
            <a:endParaRPr lang="en-US" sz="1400" dirty="0"/>
          </a:p>
        </p:txBody>
      </p:sp>
      <p:sp>
        <p:nvSpPr>
          <p:cNvPr id="26" name="Text 23"/>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DMARC (Domain-based Message Authentication, Reporting and Conformance) · CNAME (canonical name) · AAAA (IPv6 address record) · SPF (Sender Policy Framework) · SOA (start of authority) · TTL (time to live) · MX (mail exchanger) · NS (name server) · IN (Internet class)</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Registrar, registry and glue</a:t>
            </a:r>
            <a:endParaRPr lang="en-US" sz="3000" dirty="0"/>
          </a:p>
        </p:txBody>
      </p:sp>
      <p:sp>
        <p:nvSpPr>
          <p:cNvPr id="4" name="box"/>
          <p:cNvSpPr/>
          <p:nvPr/>
        </p:nvSpPr>
        <p:spPr>
          <a:xfrm>
            <a:off x="548640" y="1371600"/>
            <a:ext cx="2377440" cy="914400"/>
          </a:xfrm>
          <a:prstGeom prst="roundRect">
            <a:avLst>
              <a:gd name="adj" fmla="val 8000"/>
            </a:avLst>
          </a:prstGeom>
          <a:solidFill>
            <a:srgbClr val="EEF2F6"/>
          </a:solidFill>
          <a:ln w="12700">
            <a:solidFill>
              <a:srgbClr val="EEF2F6"/>
            </a:solidFill>
            <a:prstDash val="solid"/>
          </a:ln>
        </p:spPr>
      </p:sp>
      <p:sp>
        <p:nvSpPr>
          <p:cNvPr id="5" name="Text 2"/>
          <p:cNvSpPr txBox="1"/>
          <p:nvPr/>
        </p:nvSpPr>
        <p:spPr>
          <a:xfrm>
            <a:off x="548640" y="1371600"/>
            <a:ext cx="2377440" cy="914400"/>
          </a:xfrm>
          <a:prstGeom prst="rect">
            <a:avLst/>
          </a:prstGeom>
          <a:noFill/>
          <a:ln/>
        </p:spPr>
        <p:txBody>
          <a:bodyPr wrap="square" lIns="635" tIns="635" rIns="635" bIns="635" rtlCol="0" anchor="ctr"/>
          <a:lstStyle/>
          <a:p>
            <a:pPr algn="ctr" indent="0" marL="0">
              <a:buNone/>
            </a:pPr>
            <a:r>
              <a:rPr lang="en-US" sz="1300" b="1" dirty="0">
                <a:solidFill>
                  <a:srgbClr val="1B2430"/>
                </a:solidFill>
              </a:rPr>
              <a:t>you</a:t>
            </a:r>
            <a:endParaRPr lang="en-US" sz="1300" dirty="0"/>
          </a:p>
          <a:p>
            <a:pPr algn="ctr" indent="0" marL="0">
              <a:buNone/>
            </a:pPr>
            <a:r>
              <a:rPr lang="en-US" sz="1300" dirty="0">
                <a:solidFill>
                  <a:srgbClr val="1B2430"/>
                </a:solidFill>
              </a:rPr>
              <a:t>retele-lab.ro</a:t>
            </a:r>
            <a:endParaRPr lang="en-US" sz="1300" dirty="0"/>
          </a:p>
        </p:txBody>
      </p:sp>
      <p:sp>
        <p:nvSpPr>
          <p:cNvPr id="6" name="box"/>
          <p:cNvSpPr/>
          <p:nvPr/>
        </p:nvSpPr>
        <p:spPr>
          <a:xfrm>
            <a:off x="3657600" y="1371600"/>
            <a:ext cx="2377440" cy="914400"/>
          </a:xfrm>
          <a:prstGeom prst="roundRect">
            <a:avLst>
              <a:gd name="adj" fmla="val 8000"/>
            </a:avLst>
          </a:prstGeom>
          <a:solidFill>
            <a:srgbClr val="F3EAD7"/>
          </a:solidFill>
          <a:ln w="12700">
            <a:solidFill>
              <a:srgbClr val="F3EAD7"/>
            </a:solidFill>
            <a:prstDash val="solid"/>
          </a:ln>
        </p:spPr>
      </p:sp>
      <p:sp>
        <p:nvSpPr>
          <p:cNvPr id="7" name="Text 4"/>
          <p:cNvSpPr txBox="1"/>
          <p:nvPr/>
        </p:nvSpPr>
        <p:spPr>
          <a:xfrm>
            <a:off x="3657600" y="1371600"/>
            <a:ext cx="2377440" cy="914400"/>
          </a:xfrm>
          <a:prstGeom prst="rect">
            <a:avLst/>
          </a:prstGeom>
          <a:noFill/>
          <a:ln/>
        </p:spPr>
        <p:txBody>
          <a:bodyPr wrap="square" lIns="635" tIns="635" rIns="635" bIns="635" rtlCol="0" anchor="ctr"/>
          <a:lstStyle/>
          <a:p>
            <a:pPr algn="ctr" indent="0" marL="0">
              <a:buNone/>
            </a:pPr>
            <a:r>
              <a:rPr lang="en-US" sz="1300" b="1" dirty="0">
                <a:solidFill>
                  <a:srgbClr val="1B2430"/>
                </a:solidFill>
              </a:rPr>
              <a:t>registrar</a:t>
            </a:r>
            <a:endParaRPr lang="en-US" sz="1300" dirty="0"/>
          </a:p>
          <a:p>
            <a:pPr algn="ctr" indent="0" marL="0">
              <a:buNone/>
            </a:pPr>
            <a:r>
              <a:rPr lang="en-US" sz="1300" dirty="0">
                <a:solidFill>
                  <a:srgbClr val="1B2430"/>
                </a:solidFill>
              </a:rPr>
              <a:t>sells the name</a:t>
            </a:r>
            <a:endParaRPr lang="en-US" sz="1300" dirty="0"/>
          </a:p>
        </p:txBody>
      </p:sp>
      <p:sp>
        <p:nvSpPr>
          <p:cNvPr id="8" name="box"/>
          <p:cNvSpPr/>
          <p:nvPr/>
        </p:nvSpPr>
        <p:spPr>
          <a:xfrm>
            <a:off x="6766560" y="1371600"/>
            <a:ext cx="2377440" cy="914400"/>
          </a:xfrm>
          <a:prstGeom prst="roundRect">
            <a:avLst>
              <a:gd name="adj" fmla="val 8000"/>
            </a:avLst>
          </a:prstGeom>
          <a:solidFill>
            <a:srgbClr val="2A7F8E"/>
          </a:solidFill>
          <a:ln w="12700">
            <a:solidFill>
              <a:srgbClr val="2A7F8E"/>
            </a:solidFill>
            <a:prstDash val="solid"/>
          </a:ln>
        </p:spPr>
      </p:sp>
      <p:sp>
        <p:nvSpPr>
          <p:cNvPr id="9" name="Text 6"/>
          <p:cNvSpPr txBox="1"/>
          <p:nvPr/>
        </p:nvSpPr>
        <p:spPr>
          <a:xfrm>
            <a:off x="6766560" y="1371600"/>
            <a:ext cx="2377440" cy="914400"/>
          </a:xfrm>
          <a:prstGeom prst="rect">
            <a:avLst/>
          </a:prstGeom>
          <a:noFill/>
          <a:ln/>
        </p:spPr>
        <p:txBody>
          <a:bodyPr wrap="square" lIns="635" tIns="635" rIns="635" bIns="635" rtlCol="0" anchor="ctr"/>
          <a:lstStyle/>
          <a:p>
            <a:pPr algn="ctr" indent="0" marL="0">
              <a:buNone/>
            </a:pPr>
            <a:r>
              <a:rPr lang="en-US" sz="1300" b="1" dirty="0">
                <a:solidFill>
                  <a:srgbClr val="FFFFFF"/>
                </a:solidFill>
              </a:rPr>
              <a:t>registry</a:t>
            </a:r>
            <a:endParaRPr lang="en-US" sz="1300" dirty="0"/>
          </a:p>
          <a:p>
            <a:pPr algn="ctr" indent="0" marL="0">
              <a:buNone/>
            </a:pPr>
            <a:r>
              <a:rPr lang="en-US" sz="1300" dirty="0">
                <a:solidFill>
                  <a:srgbClr val="FFFFFF"/>
                </a:solidFill>
              </a:rPr>
              <a:t>.ro (RoTLD)</a:t>
            </a:r>
            <a:endParaRPr lang="en-US" sz="1300" dirty="0"/>
          </a:p>
        </p:txBody>
      </p:sp>
      <p:sp>
        <p:nvSpPr>
          <p:cNvPr id="10" name="box"/>
          <p:cNvSpPr/>
          <p:nvPr/>
        </p:nvSpPr>
        <p:spPr>
          <a:xfrm>
            <a:off x="9601200" y="1371600"/>
            <a:ext cx="2011680" cy="914400"/>
          </a:xfrm>
          <a:prstGeom prst="roundRect">
            <a:avLst>
              <a:gd name="adj" fmla="val 8000"/>
            </a:avLst>
          </a:prstGeom>
          <a:solidFill>
            <a:srgbClr val="1F3A5F"/>
          </a:solidFill>
          <a:ln w="12700">
            <a:solidFill>
              <a:srgbClr val="1F3A5F"/>
            </a:solidFill>
            <a:prstDash val="solid"/>
          </a:ln>
        </p:spPr>
      </p:sp>
      <p:sp>
        <p:nvSpPr>
          <p:cNvPr id="11" name="Text 8"/>
          <p:cNvSpPr txBox="1"/>
          <p:nvPr/>
        </p:nvSpPr>
        <p:spPr>
          <a:xfrm>
            <a:off x="9601200" y="1371600"/>
            <a:ext cx="2011680" cy="914400"/>
          </a:xfrm>
          <a:prstGeom prst="rect">
            <a:avLst/>
          </a:prstGeom>
          <a:noFill/>
          <a:ln/>
        </p:spPr>
        <p:txBody>
          <a:bodyPr wrap="square" lIns="635" tIns="635" rIns="635" bIns="635" rtlCol="0" anchor="ctr"/>
          <a:lstStyle/>
          <a:p>
            <a:pPr algn="ctr" indent="0" marL="0">
              <a:buNone/>
            </a:pPr>
            <a:r>
              <a:rPr lang="en-US" sz="1300" b="1" dirty="0">
                <a:solidFill>
                  <a:srgbClr val="FFFFFF"/>
                </a:solidFill>
              </a:rPr>
              <a:t>.ro zone</a:t>
            </a:r>
            <a:endParaRPr lang="en-US" sz="1300" dirty="0"/>
          </a:p>
        </p:txBody>
      </p:sp>
      <p:sp>
        <p:nvSpPr>
          <p:cNvPr id="12" name="Shape 9"/>
          <p:cNvSpPr/>
          <p:nvPr/>
        </p:nvSpPr>
        <p:spPr>
          <a:xfrm>
            <a:off x="2926080" y="1828800"/>
            <a:ext cx="731520" cy="914"/>
          </a:xfrm>
          <a:prstGeom prst="line">
            <a:avLst/>
          </a:prstGeom>
          <a:noFill/>
          <a:ln w="25400">
            <a:solidFill>
              <a:srgbClr val="5B6770"/>
            </a:solidFill>
            <a:prstDash val="solid"/>
            <a:tailEnd type="triangle"/>
          </a:ln>
        </p:spPr>
      </p:sp>
      <p:sp>
        <p:nvSpPr>
          <p:cNvPr id="13" name="Shape 10"/>
          <p:cNvSpPr/>
          <p:nvPr/>
        </p:nvSpPr>
        <p:spPr>
          <a:xfrm>
            <a:off x="6035040" y="1828800"/>
            <a:ext cx="731520" cy="914"/>
          </a:xfrm>
          <a:prstGeom prst="line">
            <a:avLst/>
          </a:prstGeom>
          <a:noFill/>
          <a:ln w="25400">
            <a:solidFill>
              <a:srgbClr val="5B6770"/>
            </a:solidFill>
            <a:prstDash val="solid"/>
            <a:tailEnd type="triangle"/>
          </a:ln>
        </p:spPr>
      </p:sp>
      <p:sp>
        <p:nvSpPr>
          <p:cNvPr id="14" name="Shape 11"/>
          <p:cNvSpPr/>
          <p:nvPr/>
        </p:nvSpPr>
        <p:spPr>
          <a:xfrm>
            <a:off x="9144000" y="1828800"/>
            <a:ext cx="457200" cy="914"/>
          </a:xfrm>
          <a:prstGeom prst="line">
            <a:avLst/>
          </a:prstGeom>
          <a:noFill/>
          <a:ln w="25400">
            <a:solidFill>
              <a:srgbClr val="5B6770"/>
            </a:solidFill>
            <a:prstDash val="solid"/>
            <a:tailEnd type="triangle"/>
          </a:ln>
        </p:spPr>
      </p:sp>
      <p:sp>
        <p:nvSpPr>
          <p:cNvPr id="15" name="code"/>
          <p:cNvSpPr/>
          <p:nvPr/>
        </p:nvSpPr>
        <p:spPr>
          <a:xfrm>
            <a:off x="548640" y="2743200"/>
            <a:ext cx="6400800" cy="1188720"/>
          </a:xfrm>
          <a:prstGeom prst="rect">
            <a:avLst/>
          </a:prstGeom>
          <a:solidFill>
            <a:srgbClr val="1E2A38"/>
          </a:solidFill>
          <a:ln w="12700">
            <a:solidFill>
              <a:srgbClr val="1E2A38"/>
            </a:solidFill>
            <a:prstDash val="solid"/>
          </a:ln>
        </p:spPr>
      </p:sp>
      <p:sp>
        <p:nvSpPr>
          <p:cNvPr id="16" name="Text 13"/>
          <p:cNvSpPr txBox="1"/>
          <p:nvPr/>
        </p:nvSpPr>
        <p:spPr>
          <a:xfrm>
            <a:off x="548640" y="2743200"/>
            <a:ext cx="6400800" cy="118872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retele-lab.ro.      NS  ns1.retele-lab.ro.</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retele-lab.ro.      NS  ns.host.net.</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ns1.retele-lab.ro.  A   193.0.2.1     ← glue</a:t>
            </a:r>
            <a:endParaRPr lang="en-US" sz="1200" dirty="0"/>
          </a:p>
        </p:txBody>
      </p:sp>
      <p:sp>
        <p:nvSpPr>
          <p:cNvPr id="17" name="Shape 14"/>
          <p:cNvSpPr/>
          <p:nvPr/>
        </p:nvSpPr>
        <p:spPr>
          <a:xfrm>
            <a:off x="7223760" y="2761488"/>
            <a:ext cx="384048" cy="384048"/>
          </a:xfrm>
          <a:prstGeom prst="ellipse">
            <a:avLst/>
          </a:prstGeom>
          <a:solidFill>
            <a:srgbClr val="B9772A"/>
          </a:solidFill>
          <a:ln w="12700">
            <a:solidFill>
              <a:srgbClr val="B9772A"/>
            </a:solidFill>
            <a:prstDash val="solid"/>
          </a:ln>
        </p:spPr>
      </p:sp>
      <p:sp>
        <p:nvSpPr>
          <p:cNvPr id="18" name="Text 15"/>
          <p:cNvSpPr txBox="1"/>
          <p:nvPr/>
        </p:nvSpPr>
        <p:spPr>
          <a:xfrm>
            <a:off x="7223760" y="2761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9" name="Text 16"/>
          <p:cNvSpPr txBox="1"/>
          <p:nvPr/>
        </p:nvSpPr>
        <p:spPr>
          <a:xfrm>
            <a:off x="7726680" y="2743200"/>
            <a:ext cx="3886200" cy="12344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Without glue, finding ns1 would need ns1 itself — a circle.</a:t>
            </a:r>
            <a:endParaRPr lang="en-US" sz="1200" dirty="0"/>
          </a:p>
        </p:txBody>
      </p:sp>
      <p:sp>
        <p:nvSpPr>
          <p:cNvPr id="20" name="Shape 17"/>
          <p:cNvSpPr/>
          <p:nvPr/>
        </p:nvSpPr>
        <p:spPr>
          <a:xfrm>
            <a:off x="548640" y="4224528"/>
            <a:ext cx="384048" cy="384048"/>
          </a:xfrm>
          <a:prstGeom prst="ellipse">
            <a:avLst/>
          </a:prstGeom>
          <a:solidFill>
            <a:srgbClr val="B9772A"/>
          </a:solidFill>
          <a:ln w="12700">
            <a:solidFill>
              <a:srgbClr val="B9772A"/>
            </a:solidFill>
            <a:prstDash val="solid"/>
          </a:ln>
        </p:spPr>
      </p:sp>
      <p:sp>
        <p:nvSpPr>
          <p:cNvPr id="21" name="Text 18"/>
          <p:cNvSpPr txBox="1"/>
          <p:nvPr/>
        </p:nvSpPr>
        <p:spPr>
          <a:xfrm>
            <a:off x="548640" y="4224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2" name="Text 19"/>
          <p:cNvSpPr txBox="1"/>
          <p:nvPr/>
        </p:nvSpPr>
        <p:spPr>
          <a:xfrm>
            <a:off x="1051560" y="4206240"/>
            <a:ext cx="10561320" cy="128016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ns.host.net needs no glue: it is found through .net. The apex (@) cannot be a CNAME — it already has NS and MX records.</a:t>
            </a:r>
            <a:endParaRPr lang="en-US" sz="1300" dirty="0"/>
          </a:p>
        </p:txBody>
      </p:sp>
      <p:sp>
        <p:nvSpPr>
          <p:cNvPr id="23"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4" name="Text 21"/>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Delegation = NS records in the parent zone, plus glue when the server lives inside the child zone.</a:t>
            </a:r>
            <a:endParaRPr lang="en-US" sz="1400" dirty="0"/>
          </a:p>
        </p:txBody>
      </p:sp>
      <p:sp>
        <p:nvSpPr>
          <p:cNvPr id="25" name="Text 22"/>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CNAME (canonical name) · RoTLD (the .ro registry) · MX (mail exchanger) · NS (name server)</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The DNS message: a 12-byte header and four sections</a:t>
            </a:r>
            <a:endParaRPr lang="en-US" sz="3000" dirty="0"/>
          </a:p>
        </p:txBody>
      </p:sp>
      <p:sp>
        <p:nvSpPr>
          <p:cNvPr id="4" name="box"/>
          <p:cNvSpPr/>
          <p:nvPr/>
        </p:nvSpPr>
        <p:spPr>
          <a:xfrm>
            <a:off x="548640" y="1325880"/>
            <a:ext cx="5504688" cy="566928"/>
          </a:xfrm>
          <a:prstGeom prst="rect">
            <a:avLst/>
          </a:prstGeom>
          <a:solidFill>
            <a:srgbClr val="1F3A5F"/>
          </a:solidFill>
          <a:ln w="12700">
            <a:solidFill>
              <a:srgbClr val="1F3A5F"/>
            </a:solidFill>
            <a:prstDash val="solid"/>
          </a:ln>
        </p:spPr>
      </p:sp>
      <p:sp>
        <p:nvSpPr>
          <p:cNvPr id="5" name="Text 2"/>
          <p:cNvSpPr txBox="1"/>
          <p:nvPr/>
        </p:nvSpPr>
        <p:spPr>
          <a:xfrm>
            <a:off x="548640" y="1325880"/>
            <a:ext cx="5504688" cy="566928"/>
          </a:xfrm>
          <a:prstGeom prst="rect">
            <a:avLst/>
          </a:prstGeom>
          <a:noFill/>
          <a:ln/>
        </p:spPr>
        <p:txBody>
          <a:bodyPr wrap="square" lIns="635" tIns="635" rIns="635" bIns="635" rtlCol="0" anchor="ctr"/>
          <a:lstStyle/>
          <a:p>
            <a:pPr algn="ctr" indent="0" marL="0">
              <a:buNone/>
            </a:pPr>
            <a:r>
              <a:rPr lang="en-US" sz="1200" dirty="0">
                <a:solidFill>
                  <a:srgbClr val="FFFFFF"/>
                </a:solidFill>
              </a:rPr>
              <a:t>ID</a:t>
            </a:r>
            <a:endParaRPr lang="en-US" sz="1200" dirty="0"/>
          </a:p>
        </p:txBody>
      </p:sp>
      <p:sp>
        <p:nvSpPr>
          <p:cNvPr id="6" name="box"/>
          <p:cNvSpPr/>
          <p:nvPr/>
        </p:nvSpPr>
        <p:spPr>
          <a:xfrm>
            <a:off x="6080760" y="1325880"/>
            <a:ext cx="318326" cy="566928"/>
          </a:xfrm>
          <a:prstGeom prst="rect">
            <a:avLst/>
          </a:prstGeom>
          <a:solidFill>
            <a:srgbClr val="2A7F8E"/>
          </a:solidFill>
          <a:ln w="12700">
            <a:solidFill>
              <a:srgbClr val="2A7F8E"/>
            </a:solidFill>
            <a:prstDash val="solid"/>
          </a:ln>
        </p:spPr>
      </p:sp>
      <p:sp>
        <p:nvSpPr>
          <p:cNvPr id="7" name="Text 4"/>
          <p:cNvSpPr txBox="1"/>
          <p:nvPr/>
        </p:nvSpPr>
        <p:spPr>
          <a:xfrm>
            <a:off x="6080760" y="1325880"/>
            <a:ext cx="318326" cy="566928"/>
          </a:xfrm>
          <a:prstGeom prst="rect">
            <a:avLst/>
          </a:prstGeom>
          <a:noFill/>
          <a:ln/>
        </p:spPr>
        <p:txBody>
          <a:bodyPr wrap="square" lIns="635" tIns="635" rIns="635" bIns="635" rtlCol="0" anchor="ctr"/>
          <a:lstStyle/>
          <a:p>
            <a:pPr algn="ctr" indent="0" marL="0">
              <a:buNone/>
            </a:pPr>
            <a:r>
              <a:rPr lang="en-US" sz="1000" dirty="0">
                <a:solidFill>
                  <a:srgbClr val="FFFFFF"/>
                </a:solidFill>
              </a:rPr>
              <a:t>QR</a:t>
            </a:r>
            <a:endParaRPr lang="en-US" sz="1000" dirty="0"/>
          </a:p>
        </p:txBody>
      </p:sp>
      <p:sp>
        <p:nvSpPr>
          <p:cNvPr id="8" name="box"/>
          <p:cNvSpPr/>
          <p:nvPr/>
        </p:nvSpPr>
        <p:spPr>
          <a:xfrm>
            <a:off x="6426517" y="1325880"/>
            <a:ext cx="1355598" cy="566928"/>
          </a:xfrm>
          <a:prstGeom prst="rect">
            <a:avLst/>
          </a:prstGeom>
          <a:solidFill>
            <a:srgbClr val="2A7F8E"/>
          </a:solidFill>
          <a:ln w="12700">
            <a:solidFill>
              <a:srgbClr val="2A7F8E"/>
            </a:solidFill>
            <a:prstDash val="solid"/>
          </a:ln>
        </p:spPr>
      </p:sp>
      <p:sp>
        <p:nvSpPr>
          <p:cNvPr id="9" name="Text 6"/>
          <p:cNvSpPr txBox="1"/>
          <p:nvPr/>
        </p:nvSpPr>
        <p:spPr>
          <a:xfrm>
            <a:off x="6426517" y="1325880"/>
            <a:ext cx="1355598" cy="566928"/>
          </a:xfrm>
          <a:prstGeom prst="rect">
            <a:avLst/>
          </a:prstGeom>
          <a:noFill/>
          <a:ln/>
        </p:spPr>
        <p:txBody>
          <a:bodyPr wrap="square" lIns="635" tIns="635" rIns="635" bIns="635" rtlCol="0" anchor="ctr"/>
          <a:lstStyle/>
          <a:p>
            <a:pPr algn="ctr" indent="0" marL="0">
              <a:buNone/>
            </a:pPr>
            <a:r>
              <a:rPr lang="en-US" sz="1200" dirty="0">
                <a:solidFill>
                  <a:srgbClr val="FFFFFF"/>
                </a:solidFill>
              </a:rPr>
              <a:t>opcode</a:t>
            </a:r>
            <a:endParaRPr lang="en-US" sz="1200" dirty="0"/>
          </a:p>
        </p:txBody>
      </p:sp>
      <p:sp>
        <p:nvSpPr>
          <p:cNvPr id="10" name="box"/>
          <p:cNvSpPr/>
          <p:nvPr/>
        </p:nvSpPr>
        <p:spPr>
          <a:xfrm>
            <a:off x="7809547" y="1325880"/>
            <a:ext cx="318326" cy="566928"/>
          </a:xfrm>
          <a:prstGeom prst="rect">
            <a:avLst/>
          </a:prstGeom>
          <a:solidFill>
            <a:srgbClr val="B9772A"/>
          </a:solidFill>
          <a:ln w="12700">
            <a:solidFill>
              <a:srgbClr val="B9772A"/>
            </a:solidFill>
            <a:prstDash val="solid"/>
          </a:ln>
        </p:spPr>
      </p:sp>
      <p:sp>
        <p:nvSpPr>
          <p:cNvPr id="11" name="Text 8"/>
          <p:cNvSpPr txBox="1"/>
          <p:nvPr/>
        </p:nvSpPr>
        <p:spPr>
          <a:xfrm>
            <a:off x="7809547" y="1325880"/>
            <a:ext cx="318326" cy="566928"/>
          </a:xfrm>
          <a:prstGeom prst="rect">
            <a:avLst/>
          </a:prstGeom>
          <a:noFill/>
          <a:ln/>
        </p:spPr>
        <p:txBody>
          <a:bodyPr wrap="square" lIns="635" tIns="635" rIns="635" bIns="635" rtlCol="0" anchor="ctr"/>
          <a:lstStyle/>
          <a:p>
            <a:pPr algn="ctr" indent="0" marL="0">
              <a:buNone/>
            </a:pPr>
            <a:r>
              <a:rPr lang="en-US" sz="1000" dirty="0">
                <a:solidFill>
                  <a:srgbClr val="FFFFFF"/>
                </a:solidFill>
              </a:rPr>
              <a:t>AA</a:t>
            </a:r>
            <a:endParaRPr lang="en-US" sz="1000" dirty="0"/>
          </a:p>
        </p:txBody>
      </p:sp>
      <p:sp>
        <p:nvSpPr>
          <p:cNvPr id="12" name="box"/>
          <p:cNvSpPr/>
          <p:nvPr/>
        </p:nvSpPr>
        <p:spPr>
          <a:xfrm>
            <a:off x="8155305" y="1325880"/>
            <a:ext cx="318326" cy="566928"/>
          </a:xfrm>
          <a:prstGeom prst="rect">
            <a:avLst/>
          </a:prstGeom>
          <a:solidFill>
            <a:srgbClr val="B9772A"/>
          </a:solidFill>
          <a:ln w="12700">
            <a:solidFill>
              <a:srgbClr val="B9772A"/>
            </a:solidFill>
            <a:prstDash val="solid"/>
          </a:ln>
        </p:spPr>
      </p:sp>
      <p:sp>
        <p:nvSpPr>
          <p:cNvPr id="13" name="Text 10"/>
          <p:cNvSpPr txBox="1"/>
          <p:nvPr/>
        </p:nvSpPr>
        <p:spPr>
          <a:xfrm>
            <a:off x="8155305" y="1325880"/>
            <a:ext cx="318326" cy="566928"/>
          </a:xfrm>
          <a:prstGeom prst="rect">
            <a:avLst/>
          </a:prstGeom>
          <a:noFill/>
          <a:ln/>
        </p:spPr>
        <p:txBody>
          <a:bodyPr wrap="square" lIns="635" tIns="635" rIns="635" bIns="635" rtlCol="0" anchor="ctr"/>
          <a:lstStyle/>
          <a:p>
            <a:pPr algn="ctr" indent="0" marL="0">
              <a:buNone/>
            </a:pPr>
            <a:r>
              <a:rPr lang="en-US" sz="1000" dirty="0">
                <a:solidFill>
                  <a:srgbClr val="FFFFFF"/>
                </a:solidFill>
              </a:rPr>
              <a:t>TC</a:t>
            </a:r>
            <a:endParaRPr lang="en-US" sz="1000" dirty="0"/>
          </a:p>
        </p:txBody>
      </p:sp>
      <p:sp>
        <p:nvSpPr>
          <p:cNvPr id="14" name="box"/>
          <p:cNvSpPr/>
          <p:nvPr/>
        </p:nvSpPr>
        <p:spPr>
          <a:xfrm>
            <a:off x="8501063" y="1325880"/>
            <a:ext cx="318326" cy="566928"/>
          </a:xfrm>
          <a:prstGeom prst="rect">
            <a:avLst/>
          </a:prstGeom>
          <a:solidFill>
            <a:srgbClr val="B9772A"/>
          </a:solidFill>
          <a:ln w="12700">
            <a:solidFill>
              <a:srgbClr val="B9772A"/>
            </a:solidFill>
            <a:prstDash val="solid"/>
          </a:ln>
        </p:spPr>
      </p:sp>
      <p:sp>
        <p:nvSpPr>
          <p:cNvPr id="15" name="Text 12"/>
          <p:cNvSpPr txBox="1"/>
          <p:nvPr/>
        </p:nvSpPr>
        <p:spPr>
          <a:xfrm>
            <a:off x="8501063" y="1325880"/>
            <a:ext cx="318326" cy="566928"/>
          </a:xfrm>
          <a:prstGeom prst="rect">
            <a:avLst/>
          </a:prstGeom>
          <a:noFill/>
          <a:ln/>
        </p:spPr>
        <p:txBody>
          <a:bodyPr wrap="square" lIns="635" tIns="635" rIns="635" bIns="635" rtlCol="0" anchor="ctr"/>
          <a:lstStyle/>
          <a:p>
            <a:pPr algn="ctr" indent="0" marL="0">
              <a:buNone/>
            </a:pPr>
            <a:r>
              <a:rPr lang="en-US" sz="1000" dirty="0">
                <a:solidFill>
                  <a:srgbClr val="FFFFFF"/>
                </a:solidFill>
              </a:rPr>
              <a:t>RD</a:t>
            </a:r>
            <a:endParaRPr lang="en-US" sz="1000" dirty="0"/>
          </a:p>
        </p:txBody>
      </p:sp>
      <p:sp>
        <p:nvSpPr>
          <p:cNvPr id="16" name="box"/>
          <p:cNvSpPr/>
          <p:nvPr/>
        </p:nvSpPr>
        <p:spPr>
          <a:xfrm>
            <a:off x="8846820" y="1325880"/>
            <a:ext cx="318326" cy="566928"/>
          </a:xfrm>
          <a:prstGeom prst="rect">
            <a:avLst/>
          </a:prstGeom>
          <a:solidFill>
            <a:srgbClr val="B9772A"/>
          </a:solidFill>
          <a:ln w="12700">
            <a:solidFill>
              <a:srgbClr val="B9772A"/>
            </a:solidFill>
            <a:prstDash val="solid"/>
          </a:ln>
        </p:spPr>
      </p:sp>
      <p:sp>
        <p:nvSpPr>
          <p:cNvPr id="17" name="Text 14"/>
          <p:cNvSpPr txBox="1"/>
          <p:nvPr/>
        </p:nvSpPr>
        <p:spPr>
          <a:xfrm>
            <a:off x="8846820" y="1325880"/>
            <a:ext cx="318326" cy="566928"/>
          </a:xfrm>
          <a:prstGeom prst="rect">
            <a:avLst/>
          </a:prstGeom>
          <a:noFill/>
          <a:ln/>
        </p:spPr>
        <p:txBody>
          <a:bodyPr wrap="square" lIns="635" tIns="635" rIns="635" bIns="635" rtlCol="0" anchor="ctr"/>
          <a:lstStyle/>
          <a:p>
            <a:pPr algn="ctr" indent="0" marL="0">
              <a:buNone/>
            </a:pPr>
            <a:r>
              <a:rPr lang="en-US" sz="1000" dirty="0">
                <a:solidFill>
                  <a:srgbClr val="FFFFFF"/>
                </a:solidFill>
              </a:rPr>
              <a:t>RA</a:t>
            </a:r>
            <a:endParaRPr lang="en-US" sz="1000" dirty="0"/>
          </a:p>
        </p:txBody>
      </p:sp>
      <p:sp>
        <p:nvSpPr>
          <p:cNvPr id="18" name="box"/>
          <p:cNvSpPr/>
          <p:nvPr/>
        </p:nvSpPr>
        <p:spPr>
          <a:xfrm>
            <a:off x="9192578" y="1325880"/>
            <a:ext cx="1009840" cy="566928"/>
          </a:xfrm>
          <a:prstGeom prst="rect">
            <a:avLst/>
          </a:prstGeom>
          <a:solidFill>
            <a:srgbClr val="5B6770"/>
          </a:solidFill>
          <a:ln w="12700">
            <a:solidFill>
              <a:srgbClr val="5B6770"/>
            </a:solidFill>
            <a:prstDash val="solid"/>
          </a:ln>
        </p:spPr>
      </p:sp>
      <p:sp>
        <p:nvSpPr>
          <p:cNvPr id="19" name="Text 16"/>
          <p:cNvSpPr txBox="1"/>
          <p:nvPr/>
        </p:nvSpPr>
        <p:spPr>
          <a:xfrm>
            <a:off x="9192578" y="1325880"/>
            <a:ext cx="1009840" cy="566928"/>
          </a:xfrm>
          <a:prstGeom prst="rect">
            <a:avLst/>
          </a:prstGeom>
          <a:noFill/>
          <a:ln/>
        </p:spPr>
        <p:txBody>
          <a:bodyPr wrap="square" lIns="635" tIns="635" rIns="635" bIns="635" rtlCol="0" anchor="ctr"/>
          <a:lstStyle/>
          <a:p>
            <a:pPr algn="ctr" indent="0" marL="0">
              <a:buNone/>
            </a:pPr>
            <a:r>
              <a:rPr lang="en-US" sz="1200" dirty="0">
                <a:solidFill>
                  <a:srgbClr val="FFFFFF"/>
                </a:solidFill>
              </a:rPr>
              <a:t>Z</a:t>
            </a:r>
            <a:endParaRPr lang="en-US" sz="1200" dirty="0"/>
          </a:p>
        </p:txBody>
      </p:sp>
      <p:sp>
        <p:nvSpPr>
          <p:cNvPr id="20" name="box"/>
          <p:cNvSpPr/>
          <p:nvPr/>
        </p:nvSpPr>
        <p:spPr>
          <a:xfrm>
            <a:off x="10229850" y="1325880"/>
            <a:ext cx="1355598" cy="566928"/>
          </a:xfrm>
          <a:prstGeom prst="rect">
            <a:avLst/>
          </a:prstGeom>
          <a:solidFill>
            <a:srgbClr val="A23B3B"/>
          </a:solidFill>
          <a:ln w="12700">
            <a:solidFill>
              <a:srgbClr val="A23B3B"/>
            </a:solidFill>
            <a:prstDash val="solid"/>
          </a:ln>
        </p:spPr>
      </p:sp>
      <p:sp>
        <p:nvSpPr>
          <p:cNvPr id="21" name="Text 18"/>
          <p:cNvSpPr txBox="1"/>
          <p:nvPr/>
        </p:nvSpPr>
        <p:spPr>
          <a:xfrm>
            <a:off x="10229850" y="1325880"/>
            <a:ext cx="1355598" cy="566928"/>
          </a:xfrm>
          <a:prstGeom prst="rect">
            <a:avLst/>
          </a:prstGeom>
          <a:noFill/>
          <a:ln/>
        </p:spPr>
        <p:txBody>
          <a:bodyPr wrap="square" lIns="635" tIns="635" rIns="635" bIns="635" rtlCol="0" anchor="ctr"/>
          <a:lstStyle/>
          <a:p>
            <a:pPr algn="ctr" indent="0" marL="0">
              <a:buNone/>
            </a:pPr>
            <a:r>
              <a:rPr lang="en-US" sz="1200" dirty="0">
                <a:solidFill>
                  <a:srgbClr val="FFFFFF"/>
                </a:solidFill>
              </a:rPr>
              <a:t>rcode</a:t>
            </a:r>
            <a:endParaRPr lang="en-US" sz="1200" dirty="0"/>
          </a:p>
        </p:txBody>
      </p:sp>
      <p:sp>
        <p:nvSpPr>
          <p:cNvPr id="22" name="box"/>
          <p:cNvSpPr/>
          <p:nvPr/>
        </p:nvSpPr>
        <p:spPr>
          <a:xfrm>
            <a:off x="548640" y="1965960"/>
            <a:ext cx="2724912" cy="502920"/>
          </a:xfrm>
          <a:prstGeom prst="rect">
            <a:avLst/>
          </a:prstGeom>
          <a:solidFill>
            <a:srgbClr val="EEF2F6"/>
          </a:solidFill>
          <a:ln w="12700">
            <a:solidFill>
              <a:srgbClr val="EEF2F6"/>
            </a:solidFill>
            <a:prstDash val="solid"/>
          </a:ln>
        </p:spPr>
      </p:sp>
      <p:sp>
        <p:nvSpPr>
          <p:cNvPr id="23" name="Text 20"/>
          <p:cNvSpPr txBox="1"/>
          <p:nvPr/>
        </p:nvSpPr>
        <p:spPr>
          <a:xfrm>
            <a:off x="548640" y="1965960"/>
            <a:ext cx="2724912" cy="502920"/>
          </a:xfrm>
          <a:prstGeom prst="rect">
            <a:avLst/>
          </a:prstGeom>
          <a:noFill/>
          <a:ln/>
        </p:spPr>
        <p:txBody>
          <a:bodyPr wrap="square" lIns="635" tIns="635" rIns="635" bIns="635" rtlCol="0" anchor="ctr"/>
          <a:lstStyle/>
          <a:p>
            <a:pPr algn="ctr" indent="0" marL="0">
              <a:buNone/>
            </a:pPr>
            <a:r>
              <a:rPr lang="en-US" sz="1200" dirty="0">
                <a:solidFill>
                  <a:srgbClr val="1B2430"/>
                </a:solidFill>
              </a:rPr>
              <a:t>QDCOUNT</a:t>
            </a:r>
            <a:endParaRPr lang="en-US" sz="1200" dirty="0"/>
          </a:p>
        </p:txBody>
      </p:sp>
      <p:sp>
        <p:nvSpPr>
          <p:cNvPr id="24" name="box"/>
          <p:cNvSpPr/>
          <p:nvPr/>
        </p:nvSpPr>
        <p:spPr>
          <a:xfrm>
            <a:off x="3314700" y="1965960"/>
            <a:ext cx="2724912" cy="502920"/>
          </a:xfrm>
          <a:prstGeom prst="rect">
            <a:avLst/>
          </a:prstGeom>
          <a:solidFill>
            <a:srgbClr val="EEF2F6"/>
          </a:solidFill>
          <a:ln w="12700">
            <a:solidFill>
              <a:srgbClr val="EEF2F6"/>
            </a:solidFill>
            <a:prstDash val="solid"/>
          </a:ln>
        </p:spPr>
      </p:sp>
      <p:sp>
        <p:nvSpPr>
          <p:cNvPr id="25" name="Text 22"/>
          <p:cNvSpPr txBox="1"/>
          <p:nvPr/>
        </p:nvSpPr>
        <p:spPr>
          <a:xfrm>
            <a:off x="3314700" y="1965960"/>
            <a:ext cx="2724912" cy="502920"/>
          </a:xfrm>
          <a:prstGeom prst="rect">
            <a:avLst/>
          </a:prstGeom>
          <a:noFill/>
          <a:ln/>
        </p:spPr>
        <p:txBody>
          <a:bodyPr wrap="square" lIns="635" tIns="635" rIns="635" bIns="635" rtlCol="0" anchor="ctr"/>
          <a:lstStyle/>
          <a:p>
            <a:pPr algn="ctr" indent="0" marL="0">
              <a:buNone/>
            </a:pPr>
            <a:r>
              <a:rPr lang="en-US" sz="1200" dirty="0">
                <a:solidFill>
                  <a:srgbClr val="1B2430"/>
                </a:solidFill>
              </a:rPr>
              <a:t>ANCOUNT</a:t>
            </a:r>
            <a:endParaRPr lang="en-US" sz="1200" dirty="0"/>
          </a:p>
        </p:txBody>
      </p:sp>
      <p:sp>
        <p:nvSpPr>
          <p:cNvPr id="26" name="box"/>
          <p:cNvSpPr/>
          <p:nvPr/>
        </p:nvSpPr>
        <p:spPr>
          <a:xfrm>
            <a:off x="6080760" y="1965960"/>
            <a:ext cx="2724912" cy="502920"/>
          </a:xfrm>
          <a:prstGeom prst="rect">
            <a:avLst/>
          </a:prstGeom>
          <a:solidFill>
            <a:srgbClr val="EEF2F6"/>
          </a:solidFill>
          <a:ln w="12700">
            <a:solidFill>
              <a:srgbClr val="EEF2F6"/>
            </a:solidFill>
            <a:prstDash val="solid"/>
          </a:ln>
        </p:spPr>
      </p:sp>
      <p:sp>
        <p:nvSpPr>
          <p:cNvPr id="27" name="Text 24"/>
          <p:cNvSpPr txBox="1"/>
          <p:nvPr/>
        </p:nvSpPr>
        <p:spPr>
          <a:xfrm>
            <a:off x="6080760" y="1965960"/>
            <a:ext cx="2724912" cy="502920"/>
          </a:xfrm>
          <a:prstGeom prst="rect">
            <a:avLst/>
          </a:prstGeom>
          <a:noFill/>
          <a:ln/>
        </p:spPr>
        <p:txBody>
          <a:bodyPr wrap="square" lIns="635" tIns="635" rIns="635" bIns="635" rtlCol="0" anchor="ctr"/>
          <a:lstStyle/>
          <a:p>
            <a:pPr algn="ctr" indent="0" marL="0">
              <a:buNone/>
            </a:pPr>
            <a:r>
              <a:rPr lang="en-US" sz="1200" dirty="0">
                <a:solidFill>
                  <a:srgbClr val="1B2430"/>
                </a:solidFill>
              </a:rPr>
              <a:t>NSCOUNT</a:t>
            </a:r>
            <a:endParaRPr lang="en-US" sz="1200" dirty="0"/>
          </a:p>
        </p:txBody>
      </p:sp>
      <p:sp>
        <p:nvSpPr>
          <p:cNvPr id="28" name="box"/>
          <p:cNvSpPr/>
          <p:nvPr/>
        </p:nvSpPr>
        <p:spPr>
          <a:xfrm>
            <a:off x="8846820" y="1965960"/>
            <a:ext cx="2724912" cy="502920"/>
          </a:xfrm>
          <a:prstGeom prst="rect">
            <a:avLst/>
          </a:prstGeom>
          <a:solidFill>
            <a:srgbClr val="EEF2F6"/>
          </a:solidFill>
          <a:ln w="12700">
            <a:solidFill>
              <a:srgbClr val="EEF2F6"/>
            </a:solidFill>
            <a:prstDash val="solid"/>
          </a:ln>
        </p:spPr>
      </p:sp>
      <p:sp>
        <p:nvSpPr>
          <p:cNvPr id="29" name="Text 26"/>
          <p:cNvSpPr txBox="1"/>
          <p:nvPr/>
        </p:nvSpPr>
        <p:spPr>
          <a:xfrm>
            <a:off x="8846820" y="1965960"/>
            <a:ext cx="2724912" cy="502920"/>
          </a:xfrm>
          <a:prstGeom prst="rect">
            <a:avLst/>
          </a:prstGeom>
          <a:noFill/>
          <a:ln/>
        </p:spPr>
        <p:txBody>
          <a:bodyPr wrap="square" lIns="635" tIns="635" rIns="635" bIns="635" rtlCol="0" anchor="ctr"/>
          <a:lstStyle/>
          <a:p>
            <a:pPr algn="ctr" indent="0" marL="0">
              <a:buNone/>
            </a:pPr>
            <a:r>
              <a:rPr lang="en-US" sz="1200" dirty="0">
                <a:solidFill>
                  <a:srgbClr val="1B2430"/>
                </a:solidFill>
              </a:rPr>
              <a:t>ARCOUNT</a:t>
            </a:r>
            <a:endParaRPr lang="en-US" sz="1200" dirty="0"/>
          </a:p>
        </p:txBody>
      </p:sp>
      <p:sp>
        <p:nvSpPr>
          <p:cNvPr id="30" name="box"/>
          <p:cNvSpPr/>
          <p:nvPr/>
        </p:nvSpPr>
        <p:spPr>
          <a:xfrm>
            <a:off x="548640" y="2926080"/>
            <a:ext cx="2377440" cy="457200"/>
          </a:xfrm>
          <a:prstGeom prst="roundRect">
            <a:avLst>
              <a:gd name="adj" fmla="val 16000"/>
            </a:avLst>
          </a:prstGeom>
          <a:solidFill>
            <a:srgbClr val="F3EAD7"/>
          </a:solidFill>
          <a:ln w="12700">
            <a:solidFill>
              <a:srgbClr val="F3EAD7"/>
            </a:solidFill>
            <a:prstDash val="solid"/>
          </a:ln>
        </p:spPr>
      </p:sp>
      <p:sp>
        <p:nvSpPr>
          <p:cNvPr id="31" name="Text 28"/>
          <p:cNvSpPr txBox="1"/>
          <p:nvPr/>
        </p:nvSpPr>
        <p:spPr>
          <a:xfrm>
            <a:off x="548640" y="2926080"/>
            <a:ext cx="2377440" cy="457200"/>
          </a:xfrm>
          <a:prstGeom prst="rect">
            <a:avLst/>
          </a:prstGeom>
          <a:noFill/>
          <a:ln/>
        </p:spPr>
        <p:txBody>
          <a:bodyPr wrap="square" lIns="635" tIns="635" rIns="635" bIns="635" rtlCol="0" anchor="ctr"/>
          <a:lstStyle/>
          <a:p>
            <a:pPr algn="ctr" indent="0" marL="0">
              <a:buNone/>
            </a:pPr>
            <a:r>
              <a:rPr lang="en-US" sz="1300" b="1" dirty="0">
                <a:solidFill>
                  <a:srgbClr val="1B2430"/>
                </a:solidFill>
              </a:rPr>
              <a:t>Question</a:t>
            </a:r>
            <a:endParaRPr lang="en-US" sz="1300" dirty="0"/>
          </a:p>
        </p:txBody>
      </p:sp>
      <p:sp>
        <p:nvSpPr>
          <p:cNvPr id="32" name="Text 29"/>
          <p:cNvSpPr txBox="1"/>
          <p:nvPr/>
        </p:nvSpPr>
        <p:spPr>
          <a:xfrm>
            <a:off x="3108960" y="2999232"/>
            <a:ext cx="457200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name as labels · QTYPE · QCLASS</a:t>
            </a:r>
            <a:endParaRPr lang="en-US" sz="1200" dirty="0"/>
          </a:p>
        </p:txBody>
      </p:sp>
      <p:sp>
        <p:nvSpPr>
          <p:cNvPr id="33" name="box"/>
          <p:cNvSpPr/>
          <p:nvPr/>
        </p:nvSpPr>
        <p:spPr>
          <a:xfrm>
            <a:off x="548640" y="3456432"/>
            <a:ext cx="2377440" cy="457200"/>
          </a:xfrm>
          <a:prstGeom prst="roundRect">
            <a:avLst>
              <a:gd name="adj" fmla="val 16000"/>
            </a:avLst>
          </a:prstGeom>
          <a:solidFill>
            <a:srgbClr val="F3EAD7"/>
          </a:solidFill>
          <a:ln w="12700">
            <a:solidFill>
              <a:srgbClr val="F3EAD7"/>
            </a:solidFill>
            <a:prstDash val="solid"/>
          </a:ln>
        </p:spPr>
      </p:sp>
      <p:sp>
        <p:nvSpPr>
          <p:cNvPr id="34" name="Text 31"/>
          <p:cNvSpPr txBox="1"/>
          <p:nvPr/>
        </p:nvSpPr>
        <p:spPr>
          <a:xfrm>
            <a:off x="548640" y="3456432"/>
            <a:ext cx="2377440" cy="457200"/>
          </a:xfrm>
          <a:prstGeom prst="rect">
            <a:avLst/>
          </a:prstGeom>
          <a:noFill/>
          <a:ln/>
        </p:spPr>
        <p:txBody>
          <a:bodyPr wrap="square" lIns="635" tIns="635" rIns="635" bIns="635" rtlCol="0" anchor="ctr"/>
          <a:lstStyle/>
          <a:p>
            <a:pPr algn="ctr" indent="0" marL="0">
              <a:buNone/>
            </a:pPr>
            <a:r>
              <a:rPr lang="en-US" sz="1300" b="1" dirty="0">
                <a:solidFill>
                  <a:srgbClr val="1B2430"/>
                </a:solidFill>
              </a:rPr>
              <a:t>Answer</a:t>
            </a:r>
            <a:endParaRPr lang="en-US" sz="1300" dirty="0"/>
          </a:p>
        </p:txBody>
      </p:sp>
      <p:sp>
        <p:nvSpPr>
          <p:cNvPr id="35" name="Text 32"/>
          <p:cNvSpPr txBox="1"/>
          <p:nvPr/>
        </p:nvSpPr>
        <p:spPr>
          <a:xfrm>
            <a:off x="3108960" y="3529584"/>
            <a:ext cx="457200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the records asked for</a:t>
            </a:r>
            <a:endParaRPr lang="en-US" sz="1200" dirty="0"/>
          </a:p>
        </p:txBody>
      </p:sp>
      <p:sp>
        <p:nvSpPr>
          <p:cNvPr id="36" name="box"/>
          <p:cNvSpPr/>
          <p:nvPr/>
        </p:nvSpPr>
        <p:spPr>
          <a:xfrm>
            <a:off x="548640" y="3986784"/>
            <a:ext cx="2377440" cy="457200"/>
          </a:xfrm>
          <a:prstGeom prst="roundRect">
            <a:avLst>
              <a:gd name="adj" fmla="val 16000"/>
            </a:avLst>
          </a:prstGeom>
          <a:solidFill>
            <a:srgbClr val="F3EAD7"/>
          </a:solidFill>
          <a:ln w="12700">
            <a:solidFill>
              <a:srgbClr val="F3EAD7"/>
            </a:solidFill>
            <a:prstDash val="solid"/>
          </a:ln>
        </p:spPr>
      </p:sp>
      <p:sp>
        <p:nvSpPr>
          <p:cNvPr id="37" name="Text 34"/>
          <p:cNvSpPr txBox="1"/>
          <p:nvPr/>
        </p:nvSpPr>
        <p:spPr>
          <a:xfrm>
            <a:off x="548640" y="3986784"/>
            <a:ext cx="2377440" cy="457200"/>
          </a:xfrm>
          <a:prstGeom prst="rect">
            <a:avLst/>
          </a:prstGeom>
          <a:noFill/>
          <a:ln/>
        </p:spPr>
        <p:txBody>
          <a:bodyPr wrap="square" lIns="635" tIns="635" rIns="635" bIns="635" rtlCol="0" anchor="ctr"/>
          <a:lstStyle/>
          <a:p>
            <a:pPr algn="ctr" indent="0" marL="0">
              <a:buNone/>
            </a:pPr>
            <a:r>
              <a:rPr lang="en-US" sz="1300" b="1" dirty="0">
                <a:solidFill>
                  <a:srgbClr val="1B2430"/>
                </a:solidFill>
              </a:rPr>
              <a:t>Authority</a:t>
            </a:r>
            <a:endParaRPr lang="en-US" sz="1300" dirty="0"/>
          </a:p>
        </p:txBody>
      </p:sp>
      <p:sp>
        <p:nvSpPr>
          <p:cNvPr id="38" name="Text 35"/>
          <p:cNvSpPr txBox="1"/>
          <p:nvPr/>
        </p:nvSpPr>
        <p:spPr>
          <a:xfrm>
            <a:off x="3108960" y="4059936"/>
            <a:ext cx="457200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NS records of a referral</a:t>
            </a:r>
            <a:endParaRPr lang="en-US" sz="1200" dirty="0"/>
          </a:p>
        </p:txBody>
      </p:sp>
      <p:sp>
        <p:nvSpPr>
          <p:cNvPr id="39" name="box"/>
          <p:cNvSpPr/>
          <p:nvPr/>
        </p:nvSpPr>
        <p:spPr>
          <a:xfrm>
            <a:off x="548640" y="4517136"/>
            <a:ext cx="2377440" cy="457200"/>
          </a:xfrm>
          <a:prstGeom prst="roundRect">
            <a:avLst>
              <a:gd name="adj" fmla="val 16000"/>
            </a:avLst>
          </a:prstGeom>
          <a:solidFill>
            <a:srgbClr val="F3EAD7"/>
          </a:solidFill>
          <a:ln w="12700">
            <a:solidFill>
              <a:srgbClr val="F3EAD7"/>
            </a:solidFill>
            <a:prstDash val="solid"/>
          </a:ln>
        </p:spPr>
      </p:sp>
      <p:sp>
        <p:nvSpPr>
          <p:cNvPr id="40" name="Text 37"/>
          <p:cNvSpPr txBox="1"/>
          <p:nvPr/>
        </p:nvSpPr>
        <p:spPr>
          <a:xfrm>
            <a:off x="548640" y="4517136"/>
            <a:ext cx="2377440" cy="457200"/>
          </a:xfrm>
          <a:prstGeom prst="rect">
            <a:avLst/>
          </a:prstGeom>
          <a:noFill/>
          <a:ln/>
        </p:spPr>
        <p:txBody>
          <a:bodyPr wrap="square" lIns="635" tIns="635" rIns="635" bIns="635" rtlCol="0" anchor="ctr"/>
          <a:lstStyle/>
          <a:p>
            <a:pPr algn="ctr" indent="0" marL="0">
              <a:buNone/>
            </a:pPr>
            <a:r>
              <a:rPr lang="en-US" sz="1300" b="1" dirty="0">
                <a:solidFill>
                  <a:srgbClr val="1B2430"/>
                </a:solidFill>
              </a:rPr>
              <a:t>Additional</a:t>
            </a:r>
            <a:endParaRPr lang="en-US" sz="1300" dirty="0"/>
          </a:p>
        </p:txBody>
      </p:sp>
      <p:sp>
        <p:nvSpPr>
          <p:cNvPr id="41" name="Text 38"/>
          <p:cNvSpPr txBox="1"/>
          <p:nvPr/>
        </p:nvSpPr>
        <p:spPr>
          <a:xfrm>
            <a:off x="3108960" y="4590288"/>
            <a:ext cx="457200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extra records: glue addresses</a:t>
            </a:r>
            <a:endParaRPr lang="en-US" sz="1200" dirty="0"/>
          </a:p>
        </p:txBody>
      </p:sp>
      <p:sp>
        <p:nvSpPr>
          <p:cNvPr id="42" name="box"/>
          <p:cNvSpPr/>
          <p:nvPr/>
        </p:nvSpPr>
        <p:spPr>
          <a:xfrm>
            <a:off x="7863840" y="2926080"/>
            <a:ext cx="3749040" cy="2011680"/>
          </a:xfrm>
          <a:prstGeom prst="roundRect">
            <a:avLst>
              <a:gd name="adj" fmla="val 3636"/>
            </a:avLst>
          </a:prstGeom>
          <a:solidFill>
            <a:srgbClr val="EEF2F6"/>
          </a:solidFill>
          <a:ln w="12700">
            <a:solidFill>
              <a:srgbClr val="EEF2F6"/>
            </a:solidFill>
            <a:prstDash val="solid"/>
          </a:ln>
        </p:spPr>
      </p:sp>
      <p:sp>
        <p:nvSpPr>
          <p:cNvPr id="43" name="Text 40"/>
          <p:cNvSpPr txBox="1"/>
          <p:nvPr/>
        </p:nvSpPr>
        <p:spPr>
          <a:xfrm>
            <a:off x="7863840" y="2926080"/>
            <a:ext cx="3749040" cy="2011680"/>
          </a:xfrm>
          <a:prstGeom prst="rect">
            <a:avLst/>
          </a:prstGeom>
          <a:noFill/>
          <a:ln/>
        </p:spPr>
        <p:txBody>
          <a:bodyPr wrap="square" lIns="635" tIns="635" rIns="635" bIns="635" rtlCol="0" anchor="ctr"/>
          <a:lstStyle/>
          <a:p>
            <a:pPr algn="ctr" indent="0" marL="0">
              <a:spcAft>
                <a:spcPts val="200"/>
              </a:spcAft>
              <a:buNone/>
            </a:pPr>
            <a:r>
              <a:rPr lang="en-US" sz="1200" b="1" dirty="0">
                <a:solidFill>
                  <a:srgbClr val="1B2430"/>
                </a:solidFill>
              </a:rPr>
              <a:t>rcode</a:t>
            </a:r>
            <a:endParaRPr lang="en-US" sz="1200" dirty="0"/>
          </a:p>
          <a:p>
            <a:pPr algn="ctr" indent="0" marL="0">
              <a:spcAft>
                <a:spcPts val="200"/>
              </a:spcAft>
              <a:buNone/>
            </a:pPr>
            <a:r>
              <a:rPr lang="en-US" sz="1200" dirty="0">
                <a:solidFill>
                  <a:srgbClr val="1B2430"/>
                </a:solidFill>
              </a:rPr>
              <a:t>0 no error</a:t>
            </a:r>
            <a:endParaRPr lang="en-US" sz="1200" dirty="0"/>
          </a:p>
          <a:p>
            <a:pPr algn="ctr" indent="0" marL="0">
              <a:spcAft>
                <a:spcPts val="200"/>
              </a:spcAft>
              <a:buNone/>
            </a:pPr>
            <a:r>
              <a:rPr lang="en-US" sz="1200" dirty="0">
                <a:solidFill>
                  <a:srgbClr val="1B2430"/>
                </a:solidFill>
              </a:rPr>
              <a:t>2 server failure</a:t>
            </a:r>
            <a:endParaRPr lang="en-US" sz="1200" dirty="0"/>
          </a:p>
          <a:p>
            <a:pPr algn="ctr" indent="0" marL="0">
              <a:spcAft>
                <a:spcPts val="200"/>
              </a:spcAft>
              <a:buNone/>
            </a:pPr>
            <a:r>
              <a:rPr lang="en-US" sz="1200" dirty="0">
                <a:solidFill>
                  <a:srgbClr val="1B2430"/>
                </a:solidFill>
              </a:rPr>
              <a:t>3 no such name (NXDOMAIN)</a:t>
            </a:r>
            <a:endParaRPr lang="en-US" sz="1200" dirty="0"/>
          </a:p>
          <a:p>
            <a:pPr algn="ctr" indent="0" marL="0">
              <a:spcAft>
                <a:spcPts val="200"/>
              </a:spcAft>
              <a:buNone/>
            </a:pPr>
            <a:r>
              <a:rPr lang="en-US" sz="1200" dirty="0">
                <a:solidFill>
                  <a:srgbClr val="1B2430"/>
                </a:solidFill>
              </a:rPr>
              <a:t>5 refused</a:t>
            </a:r>
            <a:endParaRPr lang="en-US" sz="1200" dirty="0"/>
          </a:p>
        </p:txBody>
      </p:sp>
      <p:sp>
        <p:nvSpPr>
          <p:cNvPr id="4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45" name="Text 4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QR says query or reply; AA authoritative; TC truncated; RD asks for recursion; RA offers it.</a:t>
            </a:r>
            <a:endParaRPr lang="en-US" sz="1400" dirty="0"/>
          </a:p>
        </p:txBody>
      </p:sp>
      <p:sp>
        <p:nvSpPr>
          <p:cNvPr id="46" name="Text 43"/>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DNS (Domain Name System) · NS (name server) · QR (query/response) · AA (authoritative answer) · RD (recursion desired) · RA (recursion available)</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Names as labels, and compression pointers</a:t>
            </a:r>
            <a:endParaRPr lang="en-US" sz="3000" dirty="0"/>
          </a:p>
        </p:txBody>
      </p:sp>
      <p:sp>
        <p:nvSpPr>
          <p:cNvPr id="4" name="box"/>
          <p:cNvSpPr/>
          <p:nvPr/>
        </p:nvSpPr>
        <p:spPr>
          <a:xfrm>
            <a:off x="548640" y="1371600"/>
            <a:ext cx="640080" cy="548640"/>
          </a:xfrm>
          <a:prstGeom prst="rect">
            <a:avLst/>
          </a:prstGeom>
          <a:solidFill>
            <a:srgbClr val="B9772A"/>
          </a:solidFill>
          <a:ln w="12700">
            <a:solidFill>
              <a:srgbClr val="B9772A"/>
            </a:solidFill>
            <a:prstDash val="solid"/>
          </a:ln>
        </p:spPr>
      </p:sp>
      <p:sp>
        <p:nvSpPr>
          <p:cNvPr id="5" name="Text 2"/>
          <p:cNvSpPr txBox="1"/>
          <p:nvPr/>
        </p:nvSpPr>
        <p:spPr>
          <a:xfrm>
            <a:off x="548640" y="1371600"/>
            <a:ext cx="640080" cy="548640"/>
          </a:xfrm>
          <a:prstGeom prst="rect">
            <a:avLst/>
          </a:prstGeom>
          <a:noFill/>
          <a:ln/>
        </p:spPr>
        <p:txBody>
          <a:bodyPr wrap="square" lIns="635" tIns="635" rIns="635" bIns="635"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03</a:t>
            </a:r>
            <a:endParaRPr lang="en-US" sz="1400" dirty="0"/>
          </a:p>
        </p:txBody>
      </p:sp>
      <p:sp>
        <p:nvSpPr>
          <p:cNvPr id="6" name="Text 3"/>
          <p:cNvSpPr txBox="1"/>
          <p:nvPr/>
        </p:nvSpPr>
        <p:spPr>
          <a:xfrm>
            <a:off x="5486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0c</a:t>
            </a:r>
            <a:endParaRPr lang="en-US" sz="900" dirty="0"/>
          </a:p>
        </p:txBody>
      </p:sp>
      <p:sp>
        <p:nvSpPr>
          <p:cNvPr id="7" name="box"/>
          <p:cNvSpPr/>
          <p:nvPr/>
        </p:nvSpPr>
        <p:spPr>
          <a:xfrm>
            <a:off x="1234440" y="1371600"/>
            <a:ext cx="640080" cy="548640"/>
          </a:xfrm>
          <a:prstGeom prst="rect">
            <a:avLst/>
          </a:prstGeom>
          <a:solidFill>
            <a:srgbClr val="EEF2F6"/>
          </a:solidFill>
          <a:ln w="12700">
            <a:solidFill>
              <a:srgbClr val="EEF2F6"/>
            </a:solidFill>
            <a:prstDash val="solid"/>
          </a:ln>
        </p:spPr>
      </p:sp>
      <p:sp>
        <p:nvSpPr>
          <p:cNvPr id="8" name="Text 5"/>
          <p:cNvSpPr txBox="1"/>
          <p:nvPr/>
        </p:nvSpPr>
        <p:spPr>
          <a:xfrm>
            <a:off x="1234440" y="1371600"/>
            <a:ext cx="640080" cy="54864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w</a:t>
            </a:r>
            <a:endParaRPr lang="en-US" sz="1400" dirty="0"/>
          </a:p>
        </p:txBody>
      </p:sp>
      <p:sp>
        <p:nvSpPr>
          <p:cNvPr id="9" name="Text 6"/>
          <p:cNvSpPr txBox="1"/>
          <p:nvPr/>
        </p:nvSpPr>
        <p:spPr>
          <a:xfrm>
            <a:off x="12344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0d</a:t>
            </a:r>
            <a:endParaRPr lang="en-US" sz="900" dirty="0"/>
          </a:p>
        </p:txBody>
      </p:sp>
      <p:sp>
        <p:nvSpPr>
          <p:cNvPr id="10" name="box"/>
          <p:cNvSpPr/>
          <p:nvPr/>
        </p:nvSpPr>
        <p:spPr>
          <a:xfrm>
            <a:off x="1920240" y="1371600"/>
            <a:ext cx="640080" cy="548640"/>
          </a:xfrm>
          <a:prstGeom prst="rect">
            <a:avLst/>
          </a:prstGeom>
          <a:solidFill>
            <a:srgbClr val="EEF2F6"/>
          </a:solidFill>
          <a:ln w="12700">
            <a:solidFill>
              <a:srgbClr val="EEF2F6"/>
            </a:solidFill>
            <a:prstDash val="solid"/>
          </a:ln>
        </p:spPr>
      </p:sp>
      <p:sp>
        <p:nvSpPr>
          <p:cNvPr id="11" name="Text 8"/>
          <p:cNvSpPr txBox="1"/>
          <p:nvPr/>
        </p:nvSpPr>
        <p:spPr>
          <a:xfrm>
            <a:off x="1920240" y="1371600"/>
            <a:ext cx="640080" cy="54864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w</a:t>
            </a:r>
            <a:endParaRPr lang="en-US" sz="1400" dirty="0"/>
          </a:p>
        </p:txBody>
      </p:sp>
      <p:sp>
        <p:nvSpPr>
          <p:cNvPr id="12" name="Text 9"/>
          <p:cNvSpPr txBox="1"/>
          <p:nvPr/>
        </p:nvSpPr>
        <p:spPr>
          <a:xfrm>
            <a:off x="19202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0e</a:t>
            </a:r>
            <a:endParaRPr lang="en-US" sz="900" dirty="0"/>
          </a:p>
        </p:txBody>
      </p:sp>
      <p:sp>
        <p:nvSpPr>
          <p:cNvPr id="13" name="box"/>
          <p:cNvSpPr/>
          <p:nvPr/>
        </p:nvSpPr>
        <p:spPr>
          <a:xfrm>
            <a:off x="2606040" y="1371600"/>
            <a:ext cx="640080" cy="548640"/>
          </a:xfrm>
          <a:prstGeom prst="rect">
            <a:avLst/>
          </a:prstGeom>
          <a:solidFill>
            <a:srgbClr val="EEF2F6"/>
          </a:solidFill>
          <a:ln w="12700">
            <a:solidFill>
              <a:srgbClr val="EEF2F6"/>
            </a:solidFill>
            <a:prstDash val="solid"/>
          </a:ln>
        </p:spPr>
      </p:sp>
      <p:sp>
        <p:nvSpPr>
          <p:cNvPr id="14" name="Text 11"/>
          <p:cNvSpPr txBox="1"/>
          <p:nvPr/>
        </p:nvSpPr>
        <p:spPr>
          <a:xfrm>
            <a:off x="2606040" y="1371600"/>
            <a:ext cx="640080" cy="54864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w</a:t>
            </a:r>
            <a:endParaRPr lang="en-US" sz="1400" dirty="0"/>
          </a:p>
        </p:txBody>
      </p:sp>
      <p:sp>
        <p:nvSpPr>
          <p:cNvPr id="15" name="Text 12"/>
          <p:cNvSpPr txBox="1"/>
          <p:nvPr/>
        </p:nvSpPr>
        <p:spPr>
          <a:xfrm>
            <a:off x="26060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0f</a:t>
            </a:r>
            <a:endParaRPr lang="en-US" sz="900" dirty="0"/>
          </a:p>
        </p:txBody>
      </p:sp>
      <p:sp>
        <p:nvSpPr>
          <p:cNvPr id="16" name="box"/>
          <p:cNvSpPr/>
          <p:nvPr/>
        </p:nvSpPr>
        <p:spPr>
          <a:xfrm>
            <a:off x="3291840" y="1371600"/>
            <a:ext cx="640080" cy="548640"/>
          </a:xfrm>
          <a:prstGeom prst="rect">
            <a:avLst/>
          </a:prstGeom>
          <a:solidFill>
            <a:srgbClr val="B9772A"/>
          </a:solidFill>
          <a:ln w="12700">
            <a:solidFill>
              <a:srgbClr val="B9772A"/>
            </a:solidFill>
            <a:prstDash val="solid"/>
          </a:ln>
        </p:spPr>
      </p:sp>
      <p:sp>
        <p:nvSpPr>
          <p:cNvPr id="17" name="Text 14"/>
          <p:cNvSpPr txBox="1"/>
          <p:nvPr/>
        </p:nvSpPr>
        <p:spPr>
          <a:xfrm>
            <a:off x="3291840" y="1371600"/>
            <a:ext cx="640080" cy="548640"/>
          </a:xfrm>
          <a:prstGeom prst="rect">
            <a:avLst/>
          </a:prstGeom>
          <a:noFill/>
          <a:ln/>
        </p:spPr>
        <p:txBody>
          <a:bodyPr wrap="square" lIns="635" tIns="635" rIns="635" bIns="635"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07</a:t>
            </a:r>
            <a:endParaRPr lang="en-US" sz="1400" dirty="0"/>
          </a:p>
        </p:txBody>
      </p:sp>
      <p:sp>
        <p:nvSpPr>
          <p:cNvPr id="18" name="Text 15"/>
          <p:cNvSpPr txBox="1"/>
          <p:nvPr/>
        </p:nvSpPr>
        <p:spPr>
          <a:xfrm>
            <a:off x="32918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10</a:t>
            </a:r>
            <a:endParaRPr lang="en-US" sz="900" dirty="0"/>
          </a:p>
        </p:txBody>
      </p:sp>
      <p:sp>
        <p:nvSpPr>
          <p:cNvPr id="19" name="box"/>
          <p:cNvSpPr/>
          <p:nvPr/>
        </p:nvSpPr>
        <p:spPr>
          <a:xfrm>
            <a:off x="3977640" y="1371600"/>
            <a:ext cx="640080" cy="548640"/>
          </a:xfrm>
          <a:prstGeom prst="rect">
            <a:avLst/>
          </a:prstGeom>
          <a:solidFill>
            <a:srgbClr val="EEF2F6"/>
          </a:solidFill>
          <a:ln w="12700">
            <a:solidFill>
              <a:srgbClr val="EEF2F6"/>
            </a:solidFill>
            <a:prstDash val="solid"/>
          </a:ln>
        </p:spPr>
      </p:sp>
      <p:sp>
        <p:nvSpPr>
          <p:cNvPr id="20" name="Text 17"/>
          <p:cNvSpPr txBox="1"/>
          <p:nvPr/>
        </p:nvSpPr>
        <p:spPr>
          <a:xfrm>
            <a:off x="3977640" y="1371600"/>
            <a:ext cx="640080" cy="54864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e</a:t>
            </a:r>
            <a:endParaRPr lang="en-US" sz="1400" dirty="0"/>
          </a:p>
        </p:txBody>
      </p:sp>
      <p:sp>
        <p:nvSpPr>
          <p:cNvPr id="21" name="Text 18"/>
          <p:cNvSpPr txBox="1"/>
          <p:nvPr/>
        </p:nvSpPr>
        <p:spPr>
          <a:xfrm>
            <a:off x="39776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11</a:t>
            </a:r>
            <a:endParaRPr lang="en-US" sz="900" dirty="0"/>
          </a:p>
        </p:txBody>
      </p:sp>
      <p:sp>
        <p:nvSpPr>
          <p:cNvPr id="22" name="box"/>
          <p:cNvSpPr/>
          <p:nvPr/>
        </p:nvSpPr>
        <p:spPr>
          <a:xfrm>
            <a:off x="4663440" y="1371600"/>
            <a:ext cx="640080" cy="548640"/>
          </a:xfrm>
          <a:prstGeom prst="rect">
            <a:avLst/>
          </a:prstGeom>
          <a:solidFill>
            <a:srgbClr val="EEF2F6"/>
          </a:solidFill>
          <a:ln w="12700">
            <a:solidFill>
              <a:srgbClr val="EEF2F6"/>
            </a:solidFill>
            <a:prstDash val="solid"/>
          </a:ln>
        </p:spPr>
      </p:sp>
      <p:sp>
        <p:nvSpPr>
          <p:cNvPr id="23" name="Text 20"/>
          <p:cNvSpPr txBox="1"/>
          <p:nvPr/>
        </p:nvSpPr>
        <p:spPr>
          <a:xfrm>
            <a:off x="4663440" y="1371600"/>
            <a:ext cx="640080" cy="54864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x</a:t>
            </a:r>
            <a:endParaRPr lang="en-US" sz="1400" dirty="0"/>
          </a:p>
        </p:txBody>
      </p:sp>
      <p:sp>
        <p:nvSpPr>
          <p:cNvPr id="24" name="Text 21"/>
          <p:cNvSpPr txBox="1"/>
          <p:nvPr/>
        </p:nvSpPr>
        <p:spPr>
          <a:xfrm>
            <a:off x="46634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12</a:t>
            </a:r>
            <a:endParaRPr lang="en-US" sz="900" dirty="0"/>
          </a:p>
        </p:txBody>
      </p:sp>
      <p:sp>
        <p:nvSpPr>
          <p:cNvPr id="25" name="box"/>
          <p:cNvSpPr/>
          <p:nvPr/>
        </p:nvSpPr>
        <p:spPr>
          <a:xfrm>
            <a:off x="5349240" y="1371600"/>
            <a:ext cx="640080" cy="548640"/>
          </a:xfrm>
          <a:prstGeom prst="rect">
            <a:avLst/>
          </a:prstGeom>
          <a:solidFill>
            <a:srgbClr val="EEF2F6"/>
          </a:solidFill>
          <a:ln w="12700">
            <a:solidFill>
              <a:srgbClr val="EEF2F6"/>
            </a:solidFill>
            <a:prstDash val="solid"/>
          </a:ln>
        </p:spPr>
      </p:sp>
      <p:sp>
        <p:nvSpPr>
          <p:cNvPr id="26" name="Text 23"/>
          <p:cNvSpPr txBox="1"/>
          <p:nvPr/>
        </p:nvSpPr>
        <p:spPr>
          <a:xfrm>
            <a:off x="5349240" y="1371600"/>
            <a:ext cx="640080" cy="54864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a</a:t>
            </a:r>
            <a:endParaRPr lang="en-US" sz="1400" dirty="0"/>
          </a:p>
        </p:txBody>
      </p:sp>
      <p:sp>
        <p:nvSpPr>
          <p:cNvPr id="27" name="Text 24"/>
          <p:cNvSpPr txBox="1"/>
          <p:nvPr/>
        </p:nvSpPr>
        <p:spPr>
          <a:xfrm>
            <a:off x="53492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13</a:t>
            </a:r>
            <a:endParaRPr lang="en-US" sz="900" dirty="0"/>
          </a:p>
        </p:txBody>
      </p:sp>
      <p:sp>
        <p:nvSpPr>
          <p:cNvPr id="28" name="box"/>
          <p:cNvSpPr/>
          <p:nvPr/>
        </p:nvSpPr>
        <p:spPr>
          <a:xfrm>
            <a:off x="6035040" y="1371600"/>
            <a:ext cx="640080" cy="548640"/>
          </a:xfrm>
          <a:prstGeom prst="rect">
            <a:avLst/>
          </a:prstGeom>
          <a:solidFill>
            <a:srgbClr val="EEF2F6"/>
          </a:solidFill>
          <a:ln w="12700">
            <a:solidFill>
              <a:srgbClr val="EEF2F6"/>
            </a:solidFill>
            <a:prstDash val="solid"/>
          </a:ln>
        </p:spPr>
      </p:sp>
      <p:sp>
        <p:nvSpPr>
          <p:cNvPr id="29" name="Text 26"/>
          <p:cNvSpPr txBox="1"/>
          <p:nvPr/>
        </p:nvSpPr>
        <p:spPr>
          <a:xfrm>
            <a:off x="6035040" y="1371600"/>
            <a:ext cx="640080" cy="54864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m</a:t>
            </a:r>
            <a:endParaRPr lang="en-US" sz="1400" dirty="0"/>
          </a:p>
        </p:txBody>
      </p:sp>
      <p:sp>
        <p:nvSpPr>
          <p:cNvPr id="30" name="Text 27"/>
          <p:cNvSpPr txBox="1"/>
          <p:nvPr/>
        </p:nvSpPr>
        <p:spPr>
          <a:xfrm>
            <a:off x="60350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14</a:t>
            </a:r>
            <a:endParaRPr lang="en-US" sz="900" dirty="0"/>
          </a:p>
        </p:txBody>
      </p:sp>
      <p:sp>
        <p:nvSpPr>
          <p:cNvPr id="31" name="box"/>
          <p:cNvSpPr/>
          <p:nvPr/>
        </p:nvSpPr>
        <p:spPr>
          <a:xfrm>
            <a:off x="6720840" y="1371600"/>
            <a:ext cx="640080" cy="548640"/>
          </a:xfrm>
          <a:prstGeom prst="rect">
            <a:avLst/>
          </a:prstGeom>
          <a:solidFill>
            <a:srgbClr val="EEF2F6"/>
          </a:solidFill>
          <a:ln w="12700">
            <a:solidFill>
              <a:srgbClr val="EEF2F6"/>
            </a:solidFill>
            <a:prstDash val="solid"/>
          </a:ln>
        </p:spPr>
      </p:sp>
      <p:sp>
        <p:nvSpPr>
          <p:cNvPr id="32" name="Text 29"/>
          <p:cNvSpPr txBox="1"/>
          <p:nvPr/>
        </p:nvSpPr>
        <p:spPr>
          <a:xfrm>
            <a:off x="6720840" y="1371600"/>
            <a:ext cx="640080" cy="54864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p</a:t>
            </a:r>
            <a:endParaRPr lang="en-US" sz="1400" dirty="0"/>
          </a:p>
        </p:txBody>
      </p:sp>
      <p:sp>
        <p:nvSpPr>
          <p:cNvPr id="33" name="Text 30"/>
          <p:cNvSpPr txBox="1"/>
          <p:nvPr/>
        </p:nvSpPr>
        <p:spPr>
          <a:xfrm>
            <a:off x="67208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15</a:t>
            </a:r>
            <a:endParaRPr lang="en-US" sz="900" dirty="0"/>
          </a:p>
        </p:txBody>
      </p:sp>
      <p:sp>
        <p:nvSpPr>
          <p:cNvPr id="34" name="box"/>
          <p:cNvSpPr/>
          <p:nvPr/>
        </p:nvSpPr>
        <p:spPr>
          <a:xfrm>
            <a:off x="7406640" y="1371600"/>
            <a:ext cx="640080" cy="548640"/>
          </a:xfrm>
          <a:prstGeom prst="rect">
            <a:avLst/>
          </a:prstGeom>
          <a:solidFill>
            <a:srgbClr val="EEF2F6"/>
          </a:solidFill>
          <a:ln w="12700">
            <a:solidFill>
              <a:srgbClr val="EEF2F6"/>
            </a:solidFill>
            <a:prstDash val="solid"/>
          </a:ln>
        </p:spPr>
      </p:sp>
      <p:sp>
        <p:nvSpPr>
          <p:cNvPr id="35" name="Text 32"/>
          <p:cNvSpPr txBox="1"/>
          <p:nvPr/>
        </p:nvSpPr>
        <p:spPr>
          <a:xfrm>
            <a:off x="7406640" y="1371600"/>
            <a:ext cx="640080" cy="54864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l</a:t>
            </a:r>
            <a:endParaRPr lang="en-US" sz="1400" dirty="0"/>
          </a:p>
        </p:txBody>
      </p:sp>
      <p:sp>
        <p:nvSpPr>
          <p:cNvPr id="36" name="Text 33"/>
          <p:cNvSpPr txBox="1"/>
          <p:nvPr/>
        </p:nvSpPr>
        <p:spPr>
          <a:xfrm>
            <a:off x="74066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16</a:t>
            </a:r>
            <a:endParaRPr lang="en-US" sz="900" dirty="0"/>
          </a:p>
        </p:txBody>
      </p:sp>
      <p:sp>
        <p:nvSpPr>
          <p:cNvPr id="37" name="box"/>
          <p:cNvSpPr/>
          <p:nvPr/>
        </p:nvSpPr>
        <p:spPr>
          <a:xfrm>
            <a:off x="8092440" y="1371600"/>
            <a:ext cx="640080" cy="548640"/>
          </a:xfrm>
          <a:prstGeom prst="rect">
            <a:avLst/>
          </a:prstGeom>
          <a:solidFill>
            <a:srgbClr val="EEF2F6"/>
          </a:solidFill>
          <a:ln w="12700">
            <a:solidFill>
              <a:srgbClr val="EEF2F6"/>
            </a:solidFill>
            <a:prstDash val="solid"/>
          </a:ln>
        </p:spPr>
      </p:sp>
      <p:sp>
        <p:nvSpPr>
          <p:cNvPr id="38" name="Text 35"/>
          <p:cNvSpPr txBox="1"/>
          <p:nvPr/>
        </p:nvSpPr>
        <p:spPr>
          <a:xfrm>
            <a:off x="8092440" y="1371600"/>
            <a:ext cx="640080" cy="54864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e</a:t>
            </a:r>
            <a:endParaRPr lang="en-US" sz="1400" dirty="0"/>
          </a:p>
        </p:txBody>
      </p:sp>
      <p:sp>
        <p:nvSpPr>
          <p:cNvPr id="39" name="Text 36"/>
          <p:cNvSpPr txBox="1"/>
          <p:nvPr/>
        </p:nvSpPr>
        <p:spPr>
          <a:xfrm>
            <a:off x="80924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17</a:t>
            </a:r>
            <a:endParaRPr lang="en-US" sz="900" dirty="0"/>
          </a:p>
        </p:txBody>
      </p:sp>
      <p:sp>
        <p:nvSpPr>
          <p:cNvPr id="40" name="box"/>
          <p:cNvSpPr/>
          <p:nvPr/>
        </p:nvSpPr>
        <p:spPr>
          <a:xfrm>
            <a:off x="8778240" y="1371600"/>
            <a:ext cx="640080" cy="548640"/>
          </a:xfrm>
          <a:prstGeom prst="rect">
            <a:avLst/>
          </a:prstGeom>
          <a:solidFill>
            <a:srgbClr val="B9772A"/>
          </a:solidFill>
          <a:ln w="12700">
            <a:solidFill>
              <a:srgbClr val="B9772A"/>
            </a:solidFill>
            <a:prstDash val="solid"/>
          </a:ln>
        </p:spPr>
      </p:sp>
      <p:sp>
        <p:nvSpPr>
          <p:cNvPr id="41" name="Text 38"/>
          <p:cNvSpPr txBox="1"/>
          <p:nvPr/>
        </p:nvSpPr>
        <p:spPr>
          <a:xfrm>
            <a:off x="8778240" y="1371600"/>
            <a:ext cx="640080" cy="548640"/>
          </a:xfrm>
          <a:prstGeom prst="rect">
            <a:avLst/>
          </a:prstGeom>
          <a:noFill/>
          <a:ln/>
        </p:spPr>
        <p:txBody>
          <a:bodyPr wrap="square" lIns="635" tIns="635" rIns="635" bIns="635"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02</a:t>
            </a:r>
            <a:endParaRPr lang="en-US" sz="1400" dirty="0"/>
          </a:p>
        </p:txBody>
      </p:sp>
      <p:sp>
        <p:nvSpPr>
          <p:cNvPr id="42" name="Text 39"/>
          <p:cNvSpPr txBox="1"/>
          <p:nvPr/>
        </p:nvSpPr>
        <p:spPr>
          <a:xfrm>
            <a:off x="87782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18</a:t>
            </a:r>
            <a:endParaRPr lang="en-US" sz="900" dirty="0"/>
          </a:p>
        </p:txBody>
      </p:sp>
      <p:sp>
        <p:nvSpPr>
          <p:cNvPr id="43" name="box"/>
          <p:cNvSpPr/>
          <p:nvPr/>
        </p:nvSpPr>
        <p:spPr>
          <a:xfrm>
            <a:off x="9464040" y="1371600"/>
            <a:ext cx="640080" cy="548640"/>
          </a:xfrm>
          <a:prstGeom prst="rect">
            <a:avLst/>
          </a:prstGeom>
          <a:solidFill>
            <a:srgbClr val="EEF2F6"/>
          </a:solidFill>
          <a:ln w="12700">
            <a:solidFill>
              <a:srgbClr val="EEF2F6"/>
            </a:solidFill>
            <a:prstDash val="solid"/>
          </a:ln>
        </p:spPr>
      </p:sp>
      <p:sp>
        <p:nvSpPr>
          <p:cNvPr id="44" name="Text 41"/>
          <p:cNvSpPr txBox="1"/>
          <p:nvPr/>
        </p:nvSpPr>
        <p:spPr>
          <a:xfrm>
            <a:off x="9464040" y="1371600"/>
            <a:ext cx="640080" cy="54864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r</a:t>
            </a:r>
            <a:endParaRPr lang="en-US" sz="1400" dirty="0"/>
          </a:p>
        </p:txBody>
      </p:sp>
      <p:sp>
        <p:nvSpPr>
          <p:cNvPr id="45" name="Text 42"/>
          <p:cNvSpPr txBox="1"/>
          <p:nvPr/>
        </p:nvSpPr>
        <p:spPr>
          <a:xfrm>
            <a:off x="94640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19</a:t>
            </a:r>
            <a:endParaRPr lang="en-US" sz="900" dirty="0"/>
          </a:p>
        </p:txBody>
      </p:sp>
      <p:sp>
        <p:nvSpPr>
          <p:cNvPr id="46" name="box"/>
          <p:cNvSpPr/>
          <p:nvPr/>
        </p:nvSpPr>
        <p:spPr>
          <a:xfrm>
            <a:off x="10149840" y="1371600"/>
            <a:ext cx="640080" cy="548640"/>
          </a:xfrm>
          <a:prstGeom prst="rect">
            <a:avLst/>
          </a:prstGeom>
          <a:solidFill>
            <a:srgbClr val="EEF2F6"/>
          </a:solidFill>
          <a:ln w="12700">
            <a:solidFill>
              <a:srgbClr val="EEF2F6"/>
            </a:solidFill>
            <a:prstDash val="solid"/>
          </a:ln>
        </p:spPr>
      </p:sp>
      <p:sp>
        <p:nvSpPr>
          <p:cNvPr id="47" name="Text 44"/>
          <p:cNvSpPr txBox="1"/>
          <p:nvPr/>
        </p:nvSpPr>
        <p:spPr>
          <a:xfrm>
            <a:off x="10149840" y="1371600"/>
            <a:ext cx="640080" cy="54864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o</a:t>
            </a:r>
            <a:endParaRPr lang="en-US" sz="1400" dirty="0"/>
          </a:p>
        </p:txBody>
      </p:sp>
      <p:sp>
        <p:nvSpPr>
          <p:cNvPr id="48" name="Text 45"/>
          <p:cNvSpPr txBox="1"/>
          <p:nvPr/>
        </p:nvSpPr>
        <p:spPr>
          <a:xfrm>
            <a:off x="101498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1a</a:t>
            </a:r>
            <a:endParaRPr lang="en-US" sz="900" dirty="0"/>
          </a:p>
        </p:txBody>
      </p:sp>
      <p:sp>
        <p:nvSpPr>
          <p:cNvPr id="49" name="box"/>
          <p:cNvSpPr/>
          <p:nvPr/>
        </p:nvSpPr>
        <p:spPr>
          <a:xfrm>
            <a:off x="10835640" y="1371600"/>
            <a:ext cx="640080" cy="548640"/>
          </a:xfrm>
          <a:prstGeom prst="rect">
            <a:avLst/>
          </a:prstGeom>
          <a:solidFill>
            <a:srgbClr val="1F3A5F"/>
          </a:solidFill>
          <a:ln w="12700">
            <a:solidFill>
              <a:srgbClr val="1F3A5F"/>
            </a:solidFill>
            <a:prstDash val="solid"/>
          </a:ln>
        </p:spPr>
      </p:sp>
      <p:sp>
        <p:nvSpPr>
          <p:cNvPr id="50" name="Text 47"/>
          <p:cNvSpPr txBox="1"/>
          <p:nvPr/>
        </p:nvSpPr>
        <p:spPr>
          <a:xfrm>
            <a:off x="10835640" y="1371600"/>
            <a:ext cx="640080" cy="548640"/>
          </a:xfrm>
          <a:prstGeom prst="rect">
            <a:avLst/>
          </a:prstGeom>
          <a:noFill/>
          <a:ln/>
        </p:spPr>
        <p:txBody>
          <a:bodyPr wrap="square" lIns="635" tIns="635" rIns="635" bIns="635"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00</a:t>
            </a:r>
            <a:endParaRPr lang="en-US" sz="1400" dirty="0"/>
          </a:p>
        </p:txBody>
      </p:sp>
      <p:sp>
        <p:nvSpPr>
          <p:cNvPr id="51" name="Text 48"/>
          <p:cNvSpPr txBox="1"/>
          <p:nvPr/>
        </p:nvSpPr>
        <p:spPr>
          <a:xfrm>
            <a:off x="10835640" y="1938528"/>
            <a:ext cx="640080" cy="274320"/>
          </a:xfrm>
          <a:prstGeom prst="rect">
            <a:avLst/>
          </a:prstGeom>
          <a:noFill/>
          <a:ln/>
        </p:spPr>
        <p:txBody>
          <a:bodyPr wrap="square" lIns="0" tIns="0" rIns="0" bIns="0" rtlCol="0" anchor="t"/>
          <a:lstStyle/>
          <a:p>
            <a:pPr algn="ctr" indent="0" marL="0">
              <a:spcAft>
                <a:spcPts val="400"/>
              </a:spcAft>
              <a:buNone/>
            </a:pPr>
            <a:r>
              <a:rPr lang="en-US" sz="900" dirty="0">
                <a:solidFill>
                  <a:srgbClr val="5B6770"/>
                </a:solidFill>
              </a:rPr>
              <a:t>1b</a:t>
            </a:r>
            <a:endParaRPr lang="en-US" sz="900" dirty="0"/>
          </a:p>
        </p:txBody>
      </p:sp>
      <p:sp>
        <p:nvSpPr>
          <p:cNvPr id="52" name="Text 49"/>
          <p:cNvSpPr txBox="1"/>
          <p:nvPr/>
        </p:nvSpPr>
        <p:spPr>
          <a:xfrm>
            <a:off x="548640" y="2240280"/>
            <a:ext cx="10972800" cy="320040"/>
          </a:xfrm>
          <a:prstGeom prst="rect">
            <a:avLst/>
          </a:prstGeom>
          <a:noFill/>
          <a:ln/>
        </p:spPr>
        <p:txBody>
          <a:bodyPr wrap="square" lIns="0" tIns="0" rIns="0" bIns="0" rtlCol="0" anchor="t"/>
          <a:lstStyle/>
          <a:p>
            <a:pPr algn="l" indent="0" marL="0">
              <a:spcAft>
                <a:spcPts val="400"/>
              </a:spcAft>
              <a:buNone/>
            </a:pPr>
            <a:r>
              <a:rPr lang="en-US" sz="1200" dirty="0">
                <a:solidFill>
                  <a:srgbClr val="5B6770"/>
                </a:solidFill>
              </a:rPr>
              <a:t>the question name at offset 0x0c — www.example.ro</a:t>
            </a:r>
            <a:endParaRPr lang="en-US" sz="1200" dirty="0"/>
          </a:p>
        </p:txBody>
      </p:sp>
      <p:sp>
        <p:nvSpPr>
          <p:cNvPr id="53" name="box"/>
          <p:cNvSpPr/>
          <p:nvPr/>
        </p:nvSpPr>
        <p:spPr>
          <a:xfrm>
            <a:off x="548640" y="2926080"/>
            <a:ext cx="1371600" cy="640080"/>
          </a:xfrm>
          <a:prstGeom prst="roundRect">
            <a:avLst>
              <a:gd name="adj" fmla="val 11429"/>
            </a:avLst>
          </a:prstGeom>
          <a:solidFill>
            <a:srgbClr val="2E7D4F"/>
          </a:solidFill>
          <a:ln w="12700">
            <a:solidFill>
              <a:srgbClr val="2E7D4F"/>
            </a:solidFill>
            <a:prstDash val="solid"/>
          </a:ln>
        </p:spPr>
      </p:sp>
      <p:sp>
        <p:nvSpPr>
          <p:cNvPr id="54" name="Text 51"/>
          <p:cNvSpPr txBox="1"/>
          <p:nvPr/>
        </p:nvSpPr>
        <p:spPr>
          <a:xfrm>
            <a:off x="548640" y="2926080"/>
            <a:ext cx="1371600" cy="640080"/>
          </a:xfrm>
          <a:prstGeom prst="rect">
            <a:avLst/>
          </a:prstGeom>
          <a:noFill/>
          <a:ln/>
        </p:spPr>
        <p:txBody>
          <a:bodyPr wrap="square" lIns="635" tIns="635" rIns="635" bIns="635" rtlCol="0" anchor="ctr"/>
          <a:lstStyle/>
          <a:p>
            <a:pPr algn="ctr" indent="0" marL="0">
              <a:buNone/>
            </a:pPr>
            <a:r>
              <a:rPr lang="en-US" sz="1600" dirty="0">
                <a:solidFill>
                  <a:srgbClr val="FFFFFF"/>
                </a:solidFill>
                <a:latin typeface="Consolas" pitchFamily="34" charset="0"/>
                <a:ea typeface="Consolas" pitchFamily="34" charset="-122"/>
                <a:cs typeface="Consolas" pitchFamily="34" charset="-120"/>
              </a:rPr>
              <a:t>c0 0c</a:t>
            </a:r>
            <a:endParaRPr lang="en-US" sz="1600" dirty="0"/>
          </a:p>
        </p:txBody>
      </p:sp>
      <p:sp>
        <p:nvSpPr>
          <p:cNvPr id="55" name="Text 52"/>
          <p:cNvSpPr txBox="1"/>
          <p:nvPr/>
        </p:nvSpPr>
        <p:spPr>
          <a:xfrm>
            <a:off x="2103120" y="3017520"/>
            <a:ext cx="4572000" cy="548640"/>
          </a:xfrm>
          <a:prstGeom prst="rect">
            <a:avLst/>
          </a:prstGeom>
          <a:noFill/>
          <a:ln/>
        </p:spPr>
        <p:txBody>
          <a:bodyPr wrap="square" lIns="0" tIns="0" rIns="0" bIns="0" rtlCol="0" anchor="t"/>
          <a:lstStyle/>
          <a:p>
            <a:pPr algn="l" indent="0" marL="0">
              <a:spcAft>
                <a:spcPts val="400"/>
              </a:spcAft>
              <a:buNone/>
            </a:pPr>
            <a:r>
              <a:rPr lang="en-US" sz="1400" dirty="0">
                <a:solidFill>
                  <a:srgbClr val="1B2430"/>
                </a:solidFill>
              </a:rPr>
              <a:t>→ offset 12: “www.example.ro”</a:t>
            </a:r>
            <a:endParaRPr lang="en-US" sz="1400" dirty="0"/>
          </a:p>
        </p:txBody>
      </p:sp>
      <p:sp>
        <p:nvSpPr>
          <p:cNvPr id="56" name="box"/>
          <p:cNvSpPr/>
          <p:nvPr/>
        </p:nvSpPr>
        <p:spPr>
          <a:xfrm>
            <a:off x="548640" y="3749040"/>
            <a:ext cx="2743200" cy="640080"/>
          </a:xfrm>
          <a:prstGeom prst="roundRect">
            <a:avLst>
              <a:gd name="adj" fmla="val 11429"/>
            </a:avLst>
          </a:prstGeom>
          <a:solidFill>
            <a:srgbClr val="2E7D4F"/>
          </a:solidFill>
          <a:ln w="12700">
            <a:solidFill>
              <a:srgbClr val="2E7D4F"/>
            </a:solidFill>
            <a:prstDash val="solid"/>
          </a:ln>
        </p:spPr>
      </p:sp>
      <p:sp>
        <p:nvSpPr>
          <p:cNvPr id="57" name="Text 54"/>
          <p:cNvSpPr txBox="1"/>
          <p:nvPr/>
        </p:nvSpPr>
        <p:spPr>
          <a:xfrm>
            <a:off x="548640" y="3749040"/>
            <a:ext cx="2743200" cy="640080"/>
          </a:xfrm>
          <a:prstGeom prst="rect">
            <a:avLst/>
          </a:prstGeom>
          <a:noFill/>
          <a:ln/>
        </p:spPr>
        <p:txBody>
          <a:bodyPr wrap="square" lIns="635" tIns="635" rIns="635" bIns="635" rtlCol="0" anchor="ctr"/>
          <a:lstStyle/>
          <a:p>
            <a:pPr algn="ctr" indent="0" marL="0">
              <a:buNone/>
            </a:pPr>
            <a:r>
              <a:rPr lang="en-US" sz="1600" dirty="0">
                <a:solidFill>
                  <a:srgbClr val="FFFFFF"/>
                </a:solidFill>
                <a:latin typeface="Consolas" pitchFamily="34" charset="0"/>
                <a:ea typeface="Consolas" pitchFamily="34" charset="-122"/>
                <a:cs typeface="Consolas" pitchFamily="34" charset="-120"/>
              </a:rPr>
              <a:t>03 w e b c0 10</a:t>
            </a:r>
            <a:endParaRPr lang="en-US" sz="1600" dirty="0"/>
          </a:p>
        </p:txBody>
      </p:sp>
      <p:sp>
        <p:nvSpPr>
          <p:cNvPr id="58" name="Text 55"/>
          <p:cNvSpPr txBox="1"/>
          <p:nvPr/>
        </p:nvSpPr>
        <p:spPr>
          <a:xfrm>
            <a:off x="3474720" y="3840480"/>
            <a:ext cx="4572000" cy="548640"/>
          </a:xfrm>
          <a:prstGeom prst="rect">
            <a:avLst/>
          </a:prstGeom>
          <a:noFill/>
          <a:ln/>
        </p:spPr>
        <p:txBody>
          <a:bodyPr wrap="square" lIns="0" tIns="0" rIns="0" bIns="0" rtlCol="0" anchor="t"/>
          <a:lstStyle/>
          <a:p>
            <a:pPr algn="l" indent="0" marL="0">
              <a:spcAft>
                <a:spcPts val="400"/>
              </a:spcAft>
              <a:buNone/>
            </a:pPr>
            <a:r>
              <a:rPr lang="en-US" sz="1400" dirty="0">
                <a:solidFill>
                  <a:srgbClr val="1B2430"/>
                </a:solidFill>
              </a:rPr>
              <a:t>→ “web” + offset 16: “web.example.ro”</a:t>
            </a:r>
            <a:endParaRPr lang="en-US" sz="1400" dirty="0"/>
          </a:p>
        </p:txBody>
      </p:sp>
      <p:sp>
        <p:nvSpPr>
          <p:cNvPr id="59" name="box"/>
          <p:cNvSpPr/>
          <p:nvPr/>
        </p:nvSpPr>
        <p:spPr>
          <a:xfrm>
            <a:off x="7863840" y="2926080"/>
            <a:ext cx="3749040" cy="1463040"/>
          </a:xfrm>
          <a:prstGeom prst="roundRect">
            <a:avLst>
              <a:gd name="adj" fmla="val 5000"/>
            </a:avLst>
          </a:prstGeom>
          <a:solidFill>
            <a:srgbClr val="F3EAD7"/>
          </a:solidFill>
          <a:ln w="12700">
            <a:solidFill>
              <a:srgbClr val="F3EAD7"/>
            </a:solidFill>
            <a:prstDash val="solid"/>
          </a:ln>
        </p:spPr>
      </p:sp>
      <p:sp>
        <p:nvSpPr>
          <p:cNvPr id="60" name="Text 57"/>
          <p:cNvSpPr txBox="1"/>
          <p:nvPr/>
        </p:nvSpPr>
        <p:spPr>
          <a:xfrm>
            <a:off x="7863840" y="2926080"/>
            <a:ext cx="3749040" cy="1463040"/>
          </a:xfrm>
          <a:prstGeom prst="rect">
            <a:avLst/>
          </a:prstGeom>
          <a:noFill/>
          <a:ln/>
        </p:spPr>
        <p:txBody>
          <a:bodyPr wrap="square" lIns="635" tIns="635" rIns="635" bIns="635" rtlCol="0" anchor="ctr"/>
          <a:lstStyle/>
          <a:p>
            <a:pPr algn="ctr" indent="0" marL="0">
              <a:buNone/>
            </a:pPr>
            <a:r>
              <a:rPr lang="en-US" sz="1300" b="1" dirty="0">
                <a:solidFill>
                  <a:srgbClr val="1B2430"/>
                </a:solidFill>
              </a:rPr>
              <a:t>1100 0000 0000 1100</a:t>
            </a:r>
            <a:endParaRPr lang="en-US" sz="1300" dirty="0"/>
          </a:p>
          <a:p>
            <a:pPr algn="ctr" indent="0" marL="0">
              <a:buNone/>
            </a:pPr>
            <a:r>
              <a:rPr lang="en-US" sz="1300" dirty="0">
                <a:solidFill>
                  <a:srgbClr val="1B2430"/>
                </a:solidFill>
              </a:rPr>
              <a:t>11 = pointer</a:t>
            </a:r>
            <a:endParaRPr lang="en-US" sz="1300" dirty="0"/>
          </a:p>
          <a:p>
            <a:pPr algn="ctr" indent="0" marL="0">
              <a:buNone/>
            </a:pPr>
            <a:r>
              <a:rPr lang="en-US" sz="1300" dirty="0">
                <a:solidFill>
                  <a:srgbClr val="1B2430"/>
                </a:solidFill>
              </a:rPr>
              <a:t>00 0000 0000 1100 = 12</a:t>
            </a:r>
            <a:endParaRPr lang="en-US" sz="1300" dirty="0"/>
          </a:p>
        </p:txBody>
      </p:sp>
      <p:sp>
        <p:nvSpPr>
          <p:cNvPr id="61" name="Shape 58"/>
          <p:cNvSpPr/>
          <p:nvPr/>
        </p:nvSpPr>
        <p:spPr>
          <a:xfrm>
            <a:off x="548640" y="4681728"/>
            <a:ext cx="384048" cy="384048"/>
          </a:xfrm>
          <a:prstGeom prst="ellipse">
            <a:avLst/>
          </a:prstGeom>
          <a:solidFill>
            <a:srgbClr val="B9772A"/>
          </a:solidFill>
          <a:ln w="12700">
            <a:solidFill>
              <a:srgbClr val="B9772A"/>
            </a:solidFill>
            <a:prstDash val="solid"/>
          </a:ln>
        </p:spPr>
      </p:sp>
      <p:sp>
        <p:nvSpPr>
          <p:cNvPr id="62" name="Text 59"/>
          <p:cNvSpPr txBox="1"/>
          <p:nvPr/>
        </p:nvSpPr>
        <p:spPr>
          <a:xfrm>
            <a:off x="548640" y="46817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3" name="Text 60"/>
          <p:cNvSpPr txBox="1"/>
          <p:nvPr/>
        </p:nvSpPr>
        <p:spPr>
          <a:xfrm>
            <a:off x="1051560" y="4663440"/>
            <a:ext cx="10561320" cy="8686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 careful decoder limits the number of jumps: a malicious pointer loop must not hang it (Lab 5, read_name).</a:t>
            </a:r>
            <a:endParaRPr lang="en-US" sz="1300" dirty="0"/>
          </a:p>
        </p:txBody>
      </p:sp>
      <p:sp>
        <p:nvSpPr>
          <p:cNvPr id="6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65" name="Text 6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Labels make names parseable; pointers make replies small.</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UDP first, TCP when needed</a:t>
            </a:r>
            <a:endParaRPr lang="en-US" sz="3000" dirty="0"/>
          </a:p>
        </p:txBody>
      </p:sp>
      <p:sp>
        <p:nvSpPr>
          <p:cNvPr id="4" name="box"/>
          <p:cNvSpPr/>
          <p:nvPr/>
        </p:nvSpPr>
        <p:spPr>
          <a:xfrm>
            <a:off x="1371600" y="1325880"/>
            <a:ext cx="1645920" cy="384048"/>
          </a:xfrm>
          <a:prstGeom prst="roundRect">
            <a:avLst>
              <a:gd name="adj" fmla="val 19048"/>
            </a:avLst>
          </a:prstGeom>
          <a:solidFill>
            <a:srgbClr val="1F3A5F"/>
          </a:solidFill>
          <a:ln w="12700">
            <a:solidFill>
              <a:srgbClr val="1F3A5F"/>
            </a:solidFill>
            <a:prstDash val="solid"/>
          </a:ln>
        </p:spPr>
      </p:sp>
      <p:sp>
        <p:nvSpPr>
          <p:cNvPr id="5" name="Text 2"/>
          <p:cNvSpPr txBox="1"/>
          <p:nvPr/>
        </p:nvSpPr>
        <p:spPr>
          <a:xfrm>
            <a:off x="137160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client</a:t>
            </a:r>
            <a:endParaRPr lang="en-US" sz="1300" dirty="0"/>
          </a:p>
        </p:txBody>
      </p:sp>
      <p:sp>
        <p:nvSpPr>
          <p:cNvPr id="6" name="Shape 3"/>
          <p:cNvSpPr/>
          <p:nvPr/>
        </p:nvSpPr>
        <p:spPr>
          <a:xfrm>
            <a:off x="2194560" y="1783080"/>
            <a:ext cx="914" cy="2606040"/>
          </a:xfrm>
          <a:prstGeom prst="line">
            <a:avLst/>
          </a:prstGeom>
          <a:noFill/>
          <a:ln w="25400">
            <a:solidFill>
              <a:srgbClr val="1F3A5F"/>
            </a:solidFill>
            <a:prstDash val="solid"/>
          </a:ln>
        </p:spPr>
      </p:sp>
      <p:sp>
        <p:nvSpPr>
          <p:cNvPr id="7" name="box"/>
          <p:cNvSpPr/>
          <p:nvPr/>
        </p:nvSpPr>
        <p:spPr>
          <a:xfrm>
            <a:off x="8778240" y="1325880"/>
            <a:ext cx="1645920" cy="384048"/>
          </a:xfrm>
          <a:prstGeom prst="roundRect">
            <a:avLst>
              <a:gd name="adj" fmla="val 19048"/>
            </a:avLst>
          </a:prstGeom>
          <a:solidFill>
            <a:srgbClr val="2A7F8E"/>
          </a:solidFill>
          <a:ln w="12700">
            <a:solidFill>
              <a:srgbClr val="2A7F8E"/>
            </a:solidFill>
            <a:prstDash val="solid"/>
          </a:ln>
        </p:spPr>
      </p:sp>
      <p:sp>
        <p:nvSpPr>
          <p:cNvPr id="8" name="Text 5"/>
          <p:cNvSpPr txBox="1"/>
          <p:nvPr/>
        </p:nvSpPr>
        <p:spPr>
          <a:xfrm>
            <a:off x="8778240" y="1325880"/>
            <a:ext cx="1645920" cy="384048"/>
          </a:xfrm>
          <a:prstGeom prst="rect">
            <a:avLst/>
          </a:prstGeom>
          <a:noFill/>
          <a:ln/>
        </p:spPr>
        <p:txBody>
          <a:bodyPr wrap="square" lIns="635" tIns="635" rIns="635" bIns="635" rtlCol="0" anchor="ctr"/>
          <a:lstStyle/>
          <a:p>
            <a:pPr algn="ctr" indent="0" marL="0">
              <a:buNone/>
            </a:pPr>
            <a:r>
              <a:rPr lang="en-US" sz="1300" b="1" dirty="0">
                <a:solidFill>
                  <a:srgbClr val="FFFFFF"/>
                </a:solidFill>
              </a:rPr>
              <a:t>server</a:t>
            </a:r>
            <a:endParaRPr lang="en-US" sz="1300" dirty="0"/>
          </a:p>
        </p:txBody>
      </p:sp>
      <p:sp>
        <p:nvSpPr>
          <p:cNvPr id="9" name="Shape 6"/>
          <p:cNvSpPr/>
          <p:nvPr/>
        </p:nvSpPr>
        <p:spPr>
          <a:xfrm>
            <a:off x="9601200" y="1783080"/>
            <a:ext cx="914" cy="2606040"/>
          </a:xfrm>
          <a:prstGeom prst="line">
            <a:avLst/>
          </a:prstGeom>
          <a:noFill/>
          <a:ln w="25400">
            <a:solidFill>
              <a:srgbClr val="1F3A5F"/>
            </a:solidFill>
            <a:prstDash val="solid"/>
          </a:ln>
        </p:spPr>
      </p:sp>
      <p:sp>
        <p:nvSpPr>
          <p:cNvPr id="10" name="Shape 7"/>
          <p:cNvSpPr/>
          <p:nvPr/>
        </p:nvSpPr>
        <p:spPr>
          <a:xfrm>
            <a:off x="2194560" y="1920240"/>
            <a:ext cx="7406640" cy="274320"/>
          </a:xfrm>
          <a:prstGeom prst="line">
            <a:avLst/>
          </a:prstGeom>
          <a:noFill/>
          <a:ln w="25400">
            <a:solidFill>
              <a:srgbClr val="1F3A5F"/>
            </a:solidFill>
            <a:prstDash val="solid"/>
            <a:tailEnd type="triangle"/>
          </a:ln>
        </p:spPr>
      </p:sp>
      <p:sp>
        <p:nvSpPr>
          <p:cNvPr id="11" name="Text 8"/>
          <p:cNvSpPr txBox="1"/>
          <p:nvPr/>
        </p:nvSpPr>
        <p:spPr>
          <a:xfrm>
            <a:off x="2926080" y="1609344"/>
            <a:ext cx="59436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UDP :53 · query (EDNS0: I accept 1232 bytes)</a:t>
            </a:r>
            <a:endParaRPr lang="en-US" sz="1200" dirty="0"/>
          </a:p>
        </p:txBody>
      </p:sp>
      <p:sp>
        <p:nvSpPr>
          <p:cNvPr id="12" name="Shape 9"/>
          <p:cNvSpPr/>
          <p:nvPr/>
        </p:nvSpPr>
        <p:spPr>
          <a:xfrm flipH="1">
            <a:off x="2194560" y="2514600"/>
            <a:ext cx="7406640" cy="274320"/>
          </a:xfrm>
          <a:prstGeom prst="line">
            <a:avLst/>
          </a:prstGeom>
          <a:noFill/>
          <a:ln w="25400">
            <a:solidFill>
              <a:srgbClr val="B9772A"/>
            </a:solidFill>
            <a:prstDash val="solid"/>
            <a:tailEnd type="triangle"/>
          </a:ln>
        </p:spPr>
      </p:sp>
      <p:sp>
        <p:nvSpPr>
          <p:cNvPr id="13" name="Text 10"/>
          <p:cNvSpPr txBox="1"/>
          <p:nvPr/>
        </p:nvSpPr>
        <p:spPr>
          <a:xfrm>
            <a:off x="3840480" y="2203704"/>
            <a:ext cx="41148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B9772A"/>
                </a:solidFill>
              </a:rPr>
              <a:t>UDP reply · TC = 1 (did not fit)</a:t>
            </a:r>
            <a:endParaRPr lang="en-US" sz="1200" dirty="0"/>
          </a:p>
        </p:txBody>
      </p:sp>
      <p:sp>
        <p:nvSpPr>
          <p:cNvPr id="14" name="Shape 11"/>
          <p:cNvSpPr/>
          <p:nvPr/>
        </p:nvSpPr>
        <p:spPr>
          <a:xfrm>
            <a:off x="2194560" y="3200400"/>
            <a:ext cx="7406640" cy="274320"/>
          </a:xfrm>
          <a:prstGeom prst="line">
            <a:avLst/>
          </a:prstGeom>
          <a:noFill/>
          <a:ln w="25400">
            <a:solidFill>
              <a:srgbClr val="1F3A5F"/>
            </a:solidFill>
            <a:prstDash val="solid"/>
            <a:tailEnd type="triangle"/>
          </a:ln>
        </p:spPr>
      </p:sp>
      <p:sp>
        <p:nvSpPr>
          <p:cNvPr id="15" name="Text 12"/>
          <p:cNvSpPr txBox="1"/>
          <p:nvPr/>
        </p:nvSpPr>
        <p:spPr>
          <a:xfrm>
            <a:off x="3154680" y="2889504"/>
            <a:ext cx="548640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TCP :53 · same query (2-byte length prefix)</a:t>
            </a:r>
            <a:endParaRPr lang="en-US" sz="1200" dirty="0"/>
          </a:p>
        </p:txBody>
      </p:sp>
      <p:sp>
        <p:nvSpPr>
          <p:cNvPr id="16" name="Shape 13"/>
          <p:cNvSpPr/>
          <p:nvPr/>
        </p:nvSpPr>
        <p:spPr>
          <a:xfrm flipH="1">
            <a:off x="2194560" y="3840480"/>
            <a:ext cx="7406640" cy="274320"/>
          </a:xfrm>
          <a:prstGeom prst="line">
            <a:avLst/>
          </a:prstGeom>
          <a:noFill/>
          <a:ln w="25400">
            <a:solidFill>
              <a:srgbClr val="2E7D4F"/>
            </a:solidFill>
            <a:prstDash val="solid"/>
            <a:tailEnd type="triangle"/>
          </a:ln>
        </p:spPr>
      </p:sp>
      <p:sp>
        <p:nvSpPr>
          <p:cNvPr id="17" name="Text 14"/>
          <p:cNvSpPr txBox="1"/>
          <p:nvPr/>
        </p:nvSpPr>
        <p:spPr>
          <a:xfrm>
            <a:off x="2377440" y="3529584"/>
            <a:ext cx="704088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2E7D4F"/>
                </a:solidFill>
              </a:rPr>
              <a:t>TCP · full reply</a:t>
            </a:r>
            <a:endParaRPr lang="en-US" sz="1200" dirty="0"/>
          </a:p>
        </p:txBody>
      </p:sp>
      <p:sp>
        <p:nvSpPr>
          <p:cNvPr id="18" name="Shape 15"/>
          <p:cNvSpPr/>
          <p:nvPr/>
        </p:nvSpPr>
        <p:spPr>
          <a:xfrm>
            <a:off x="548640" y="5138928"/>
            <a:ext cx="384048" cy="384048"/>
          </a:xfrm>
          <a:prstGeom prst="ellipse">
            <a:avLst/>
          </a:prstGeom>
          <a:solidFill>
            <a:srgbClr val="B9772A"/>
          </a:solidFill>
          <a:ln w="12700">
            <a:solidFill>
              <a:srgbClr val="B9772A"/>
            </a:solidFill>
            <a:prstDash val="solid"/>
          </a:ln>
        </p:spPr>
      </p:sp>
      <p:sp>
        <p:nvSpPr>
          <p:cNvPr id="19" name="Text 16"/>
          <p:cNvSpPr txBox="1"/>
          <p:nvPr/>
        </p:nvSpPr>
        <p:spPr>
          <a:xfrm>
            <a:off x="548640" y="5138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0" name="Text 17"/>
          <p:cNvSpPr txBox="1"/>
          <p:nvPr/>
        </p:nvSpPr>
        <p:spPr>
          <a:xfrm>
            <a:off x="1051560" y="5120640"/>
            <a:ext cx="4983480" cy="5486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Originally UDP replies ≤ 512 bytes.</a:t>
            </a:r>
            <a:endParaRPr lang="en-US" sz="1200" dirty="0"/>
          </a:p>
        </p:txBody>
      </p:sp>
      <p:sp>
        <p:nvSpPr>
          <p:cNvPr id="21" name="Shape 18"/>
          <p:cNvSpPr/>
          <p:nvPr/>
        </p:nvSpPr>
        <p:spPr>
          <a:xfrm>
            <a:off x="6217920" y="5138928"/>
            <a:ext cx="384048" cy="384048"/>
          </a:xfrm>
          <a:prstGeom prst="ellipse">
            <a:avLst/>
          </a:prstGeom>
          <a:solidFill>
            <a:srgbClr val="B9772A"/>
          </a:solidFill>
          <a:ln w="12700">
            <a:solidFill>
              <a:srgbClr val="B9772A"/>
            </a:solidFill>
            <a:prstDash val="solid"/>
          </a:ln>
        </p:spPr>
      </p:sp>
      <p:sp>
        <p:nvSpPr>
          <p:cNvPr id="22" name="Text 19"/>
          <p:cNvSpPr txBox="1"/>
          <p:nvPr/>
        </p:nvSpPr>
        <p:spPr>
          <a:xfrm>
            <a:off x="6217920" y="51389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3" name="Text 20"/>
          <p:cNvSpPr txBox="1"/>
          <p:nvPr/>
        </p:nvSpPr>
        <p:spPr>
          <a:xfrm>
            <a:off x="6720840" y="5120640"/>
            <a:ext cx="4892040" cy="5486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TCP also for zone transfers.</a:t>
            </a:r>
            <a:endParaRPr lang="en-US" sz="1200" dirty="0"/>
          </a:p>
        </p:txBody>
      </p:sp>
      <p:sp>
        <p:nvSpPr>
          <p:cNvPr id="2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5" name="Text 2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UDP for speed, TCP for size: the TC bit tells the client to switch.</a:t>
            </a:r>
            <a:endParaRPr lang="en-US" sz="1400" dirty="0"/>
          </a:p>
        </p:txBody>
      </p:sp>
      <p:sp>
        <p:nvSpPr>
          <p:cNvPr id="26" name="Text 23"/>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TCP (Transmission Control Protocol) · UDP (User Datagram Protocol) · TC (truncated)</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8 · Attacks and defences: poisoning, DNSSEC, DoT, DoH</a:t>
            </a:r>
            <a:endParaRPr lang="en-US" sz="3000" dirty="0"/>
          </a:p>
        </p:txBody>
      </p:sp>
      <p:sp>
        <p:nvSpPr>
          <p:cNvPr id="4" name="box"/>
          <p:cNvSpPr/>
          <p:nvPr/>
        </p:nvSpPr>
        <p:spPr>
          <a:xfrm>
            <a:off x="548640" y="1325880"/>
            <a:ext cx="5394960" cy="1828800"/>
          </a:xfrm>
          <a:prstGeom prst="roundRect">
            <a:avLst>
              <a:gd name="adj" fmla="val 4000"/>
            </a:avLst>
          </a:prstGeom>
          <a:solidFill>
            <a:srgbClr val="F2D6D6"/>
          </a:solidFill>
          <a:ln w="12700">
            <a:solidFill>
              <a:srgbClr val="F2D6D6"/>
            </a:solidFill>
            <a:prstDash val="solid"/>
          </a:ln>
        </p:spPr>
      </p:sp>
      <p:sp>
        <p:nvSpPr>
          <p:cNvPr id="5" name="Text 2"/>
          <p:cNvSpPr txBox="1"/>
          <p:nvPr/>
        </p:nvSpPr>
        <p:spPr>
          <a:xfrm>
            <a:off x="548640" y="1325880"/>
            <a:ext cx="5394960" cy="1828800"/>
          </a:xfrm>
          <a:prstGeom prst="rect">
            <a:avLst/>
          </a:prstGeom>
          <a:noFill/>
          <a:ln/>
        </p:spPr>
        <p:txBody>
          <a:bodyPr wrap="square" lIns="635" tIns="635" rIns="635" bIns="635" rtlCol="0" anchor="ctr"/>
          <a:lstStyle/>
          <a:p>
            <a:pPr algn="ctr" indent="0" marL="0">
              <a:spcAft>
                <a:spcPts val="300"/>
              </a:spcAft>
              <a:buNone/>
            </a:pPr>
            <a:r>
              <a:rPr lang="en-US" sz="1200" b="1" dirty="0">
                <a:solidFill>
                  <a:srgbClr val="1B2430"/>
                </a:solidFill>
              </a:rPr>
              <a:t>cache poisoning</a:t>
            </a:r>
            <a:endParaRPr lang="en-US" sz="1200" dirty="0"/>
          </a:p>
          <a:p>
            <a:pPr algn="ctr" indent="0" marL="0">
              <a:spcAft>
                <a:spcPts val="300"/>
              </a:spcAft>
              <a:buNone/>
            </a:pPr>
            <a:r>
              <a:rPr lang="en-US" sz="1200" dirty="0">
                <a:solidFill>
                  <a:srgbClr val="1B2430"/>
                </a:solidFill>
              </a:rPr>
              <a:t>a forged reply with the right ID and port arrives first →</a:t>
            </a:r>
            <a:endParaRPr lang="en-US" sz="1200" dirty="0"/>
          </a:p>
          <a:p>
            <a:pPr algn="ctr" indent="0" marL="0">
              <a:spcAft>
                <a:spcPts val="300"/>
              </a:spcAft>
              <a:buNone/>
            </a:pPr>
            <a:r>
              <a:rPr lang="en-US" sz="1200" dirty="0">
                <a:solidFill>
                  <a:srgbClr val="1B2430"/>
                </a:solidFill>
              </a:rPr>
              <a:t>all the resolver’s users go to a false address</a:t>
            </a:r>
            <a:endParaRPr lang="en-US" sz="1200" dirty="0"/>
          </a:p>
          <a:p>
            <a:pPr algn="ctr" indent="0" marL="0">
              <a:spcAft>
                <a:spcPts val="300"/>
              </a:spcAft>
              <a:buNone/>
            </a:pPr>
            <a:r>
              <a:rPr lang="en-US" sz="1200" dirty="0">
                <a:solidFill>
                  <a:srgbClr val="1B2430"/>
                </a:solidFill>
              </a:rPr>
              <a:t>(Kaminsky, 2008; defence: random source ports)</a:t>
            </a:r>
            <a:endParaRPr lang="en-US" sz="1200" dirty="0"/>
          </a:p>
        </p:txBody>
      </p:sp>
      <p:sp>
        <p:nvSpPr>
          <p:cNvPr id="6" name="box"/>
          <p:cNvSpPr/>
          <p:nvPr/>
        </p:nvSpPr>
        <p:spPr>
          <a:xfrm>
            <a:off x="6217920" y="1325880"/>
            <a:ext cx="5394960" cy="1828800"/>
          </a:xfrm>
          <a:prstGeom prst="roundRect">
            <a:avLst>
              <a:gd name="adj" fmla="val 4000"/>
            </a:avLst>
          </a:prstGeom>
          <a:solidFill>
            <a:srgbClr val="D7EBDD"/>
          </a:solidFill>
          <a:ln w="12700">
            <a:solidFill>
              <a:srgbClr val="D7EBDD"/>
            </a:solidFill>
            <a:prstDash val="solid"/>
          </a:ln>
        </p:spPr>
      </p:sp>
      <p:sp>
        <p:nvSpPr>
          <p:cNvPr id="7" name="Text 4"/>
          <p:cNvSpPr txBox="1"/>
          <p:nvPr/>
        </p:nvSpPr>
        <p:spPr>
          <a:xfrm>
            <a:off x="6217920" y="1325880"/>
            <a:ext cx="5394960" cy="1828800"/>
          </a:xfrm>
          <a:prstGeom prst="rect">
            <a:avLst/>
          </a:prstGeom>
          <a:noFill/>
          <a:ln/>
        </p:spPr>
        <p:txBody>
          <a:bodyPr wrap="square" lIns="635" tIns="635" rIns="635" bIns="635" rtlCol="0" anchor="ctr"/>
          <a:lstStyle/>
          <a:p>
            <a:pPr algn="ctr" indent="0" marL="0">
              <a:spcAft>
                <a:spcPts val="300"/>
              </a:spcAft>
              <a:buNone/>
            </a:pPr>
            <a:r>
              <a:rPr lang="en-US" sz="1200" b="1" dirty="0">
                <a:solidFill>
                  <a:srgbClr val="1B2430"/>
                </a:solidFill>
              </a:rPr>
              <a:t>DNSSEC</a:t>
            </a:r>
            <a:endParaRPr lang="en-US" sz="1200" dirty="0"/>
          </a:p>
          <a:p>
            <a:pPr algn="ctr" indent="0" marL="0">
              <a:spcAft>
                <a:spcPts val="300"/>
              </a:spcAft>
              <a:buNone/>
            </a:pPr>
            <a:r>
              <a:rPr lang="en-US" sz="1200" dirty="0">
                <a:solidFill>
                  <a:srgbClr val="1B2430"/>
                </a:solidFill>
              </a:rPr>
              <a:t>signatures (RRSIG), keys (DNSKEY), a chain of DS records up to the root</a:t>
            </a:r>
            <a:endParaRPr lang="en-US" sz="1200" dirty="0"/>
          </a:p>
          <a:p>
            <a:pPr algn="ctr" indent="0" marL="0">
              <a:spcAft>
                <a:spcPts val="300"/>
              </a:spcAft>
              <a:buNone/>
            </a:pPr>
            <a:r>
              <a:rPr lang="en-US" sz="1200" dirty="0">
                <a:solidFill>
                  <a:srgbClr val="1B2430"/>
                </a:solidFill>
              </a:rPr>
              <a:t>→ </a:t>
            </a:r>
            <a:r>
              <a:rPr lang="en-US" sz="1200" b="1" dirty="0">
                <a:solidFill>
                  <a:srgbClr val="1B2430"/>
                </a:solidFill>
              </a:rPr>
              <a:t>authenticity</a:t>
            </a:r>
            <a:r>
              <a:rPr lang="en-US" sz="1200" dirty="0">
                <a:solidFill>
                  <a:srgbClr val="1B2430"/>
                </a:solidFill>
              </a:rPr>
              <a:t>, not secrecy</a:t>
            </a:r>
            <a:endParaRPr lang="en-US" sz="1200" dirty="0"/>
          </a:p>
        </p:txBody>
      </p:sp>
      <p:sp>
        <p:nvSpPr>
          <p:cNvPr id="8" name="box"/>
          <p:cNvSpPr/>
          <p:nvPr/>
        </p:nvSpPr>
        <p:spPr>
          <a:xfrm>
            <a:off x="548640" y="3383280"/>
            <a:ext cx="5394960" cy="1463040"/>
          </a:xfrm>
          <a:prstGeom prst="roundRect">
            <a:avLst>
              <a:gd name="adj" fmla="val 5000"/>
            </a:avLst>
          </a:prstGeom>
          <a:solidFill>
            <a:srgbClr val="DDF0F2"/>
          </a:solidFill>
          <a:ln w="12700">
            <a:solidFill>
              <a:srgbClr val="DDF0F2"/>
            </a:solidFill>
            <a:prstDash val="solid"/>
          </a:ln>
        </p:spPr>
      </p:sp>
      <p:sp>
        <p:nvSpPr>
          <p:cNvPr id="9" name="Text 6"/>
          <p:cNvSpPr txBox="1"/>
          <p:nvPr/>
        </p:nvSpPr>
        <p:spPr>
          <a:xfrm>
            <a:off x="548640" y="3383280"/>
            <a:ext cx="5394960" cy="1463040"/>
          </a:xfrm>
          <a:prstGeom prst="rect">
            <a:avLst/>
          </a:prstGeom>
          <a:noFill/>
          <a:ln/>
        </p:spPr>
        <p:txBody>
          <a:bodyPr wrap="square" lIns="635" tIns="635" rIns="635" bIns="635" rtlCol="0" anchor="ctr"/>
          <a:lstStyle/>
          <a:p>
            <a:pPr algn="ctr" indent="0" marL="0">
              <a:spcAft>
                <a:spcPts val="300"/>
              </a:spcAft>
              <a:buNone/>
            </a:pPr>
            <a:r>
              <a:rPr lang="en-US" sz="1200" b="1" dirty="0">
                <a:solidFill>
                  <a:srgbClr val="1B2430"/>
                </a:solidFill>
              </a:rPr>
              <a:t>DoT</a:t>
            </a:r>
            <a:r>
              <a:rPr lang="en-US" sz="1200" dirty="0">
                <a:solidFill>
                  <a:srgbClr val="1B2430"/>
                </a:solidFill>
              </a:rPr>
              <a:t> (port 853) · </a:t>
            </a:r>
            <a:r>
              <a:rPr lang="en-US" sz="1200" b="1" dirty="0">
                <a:solidFill>
                  <a:srgbClr val="1B2430"/>
                </a:solidFill>
              </a:rPr>
              <a:t>DoH</a:t>
            </a:r>
            <a:r>
              <a:rPr lang="en-US" sz="1200" dirty="0">
                <a:solidFill>
                  <a:srgbClr val="1B2430"/>
                </a:solidFill>
              </a:rPr>
              <a:t> (RFC 8484, HTTPS)</a:t>
            </a:r>
            <a:endParaRPr lang="en-US" sz="1200" dirty="0"/>
          </a:p>
          <a:p>
            <a:pPr algn="ctr" indent="0" marL="0">
              <a:spcAft>
                <a:spcPts val="300"/>
              </a:spcAft>
              <a:buNone/>
            </a:pPr>
            <a:r>
              <a:rPr lang="en-US" sz="1200" dirty="0">
                <a:solidFill>
                  <a:srgbClr val="1B2430"/>
                </a:solidFill>
              </a:rPr>
              <a:t>encrypt host ↔ resolver: the café Wi-Fi no longer sees your lookups</a:t>
            </a:r>
            <a:endParaRPr lang="en-US" sz="1200" dirty="0"/>
          </a:p>
        </p:txBody>
      </p:sp>
      <p:sp>
        <p:nvSpPr>
          <p:cNvPr id="10" name="box"/>
          <p:cNvSpPr/>
          <p:nvPr/>
        </p:nvSpPr>
        <p:spPr>
          <a:xfrm>
            <a:off x="6217920" y="3383280"/>
            <a:ext cx="5394960" cy="1463040"/>
          </a:xfrm>
          <a:prstGeom prst="roundRect">
            <a:avLst>
              <a:gd name="adj" fmla="val 5000"/>
            </a:avLst>
          </a:prstGeom>
          <a:solidFill>
            <a:srgbClr val="F3EAD7"/>
          </a:solidFill>
          <a:ln w="12700">
            <a:solidFill>
              <a:srgbClr val="F3EAD7"/>
            </a:solidFill>
            <a:prstDash val="solid"/>
          </a:ln>
        </p:spPr>
      </p:sp>
      <p:sp>
        <p:nvSpPr>
          <p:cNvPr id="11" name="Text 8"/>
          <p:cNvSpPr txBox="1"/>
          <p:nvPr/>
        </p:nvSpPr>
        <p:spPr>
          <a:xfrm>
            <a:off x="6217920" y="3383280"/>
            <a:ext cx="5394960" cy="1463040"/>
          </a:xfrm>
          <a:prstGeom prst="rect">
            <a:avLst/>
          </a:prstGeom>
          <a:noFill/>
          <a:ln/>
        </p:spPr>
        <p:txBody>
          <a:bodyPr wrap="square" lIns="635" tIns="635" rIns="635" bIns="635" rtlCol="0" anchor="ctr"/>
          <a:lstStyle/>
          <a:p>
            <a:pPr algn="ctr" indent="0" marL="0">
              <a:spcAft>
                <a:spcPts val="300"/>
              </a:spcAft>
              <a:buNone/>
            </a:pPr>
            <a:r>
              <a:rPr lang="en-US" sz="1200" b="1" dirty="0">
                <a:solidFill>
                  <a:srgbClr val="1B2430"/>
                </a:solidFill>
              </a:rPr>
              <a:t>DNS is a target too</a:t>
            </a:r>
            <a:endParaRPr lang="en-US" sz="1200" dirty="0"/>
          </a:p>
          <a:p>
            <a:pPr algn="ctr" indent="0" marL="0">
              <a:spcAft>
                <a:spcPts val="300"/>
              </a:spcAft>
              <a:buNone/>
            </a:pPr>
            <a:r>
              <a:rPr lang="en-US" sz="1200" dirty="0">
                <a:solidFill>
                  <a:srgbClr val="1B2430"/>
                </a:solidFill>
              </a:rPr>
              <a:t>2016: the Mirai botnet against the DNS provider Dyn — major sites unreachable for hours</a:t>
            </a:r>
            <a:endParaRPr lang="en-US" sz="1200" dirty="0"/>
          </a:p>
        </p:txBody>
      </p:sp>
      <p:sp>
        <p:nvSpPr>
          <p:cNvPr id="1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3" name="Text 1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DNSSEC proves an answer is genuine; DoT and DoH hide the question — different guarantees.</a:t>
            </a:r>
            <a:endParaRPr lang="en-US" sz="1400" dirty="0"/>
          </a:p>
        </p:txBody>
      </p:sp>
      <p:sp>
        <p:nvSpPr>
          <p:cNvPr id="14" name="Text 11"/>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DNSSEC (DNS Security Extensions) · DNSKEY (DNS public key) · HTTPS (HyperText Transfer Protocol Secure) · RRSIG (resource record signature) · DNS (Domain Name System) · RFC (Request for Comments) · DoH (DNS over HTTPS) · DoT (DNS over TLS)</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9 · IPv4 ran out: private addresses</a:t>
            </a:r>
            <a:endParaRPr lang="en-US" sz="3000" dirty="0"/>
          </a:p>
        </p:txBody>
      </p:sp>
      <p:sp>
        <p:nvSpPr>
          <p:cNvPr id="4" name="box"/>
          <p:cNvSpPr/>
          <p:nvPr/>
        </p:nvSpPr>
        <p:spPr>
          <a:xfrm>
            <a:off x="548640" y="1417320"/>
            <a:ext cx="3291840" cy="731520"/>
          </a:xfrm>
          <a:prstGeom prst="roundRect">
            <a:avLst>
              <a:gd name="adj" fmla="val 10000"/>
            </a:avLst>
          </a:prstGeom>
          <a:solidFill>
            <a:srgbClr val="1F3A5F"/>
          </a:solidFill>
          <a:ln w="12700">
            <a:solidFill>
              <a:srgbClr val="1F3A5F"/>
            </a:solidFill>
            <a:prstDash val="solid"/>
          </a:ln>
        </p:spPr>
      </p:sp>
      <p:sp>
        <p:nvSpPr>
          <p:cNvPr id="5" name="Text 2"/>
          <p:cNvSpPr txBox="1"/>
          <p:nvPr/>
        </p:nvSpPr>
        <p:spPr>
          <a:xfrm>
            <a:off x="548640" y="1417320"/>
            <a:ext cx="3291840" cy="73152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10.0.0.0/8</a:t>
            </a:r>
            <a:endParaRPr lang="en-US" sz="1800" dirty="0"/>
          </a:p>
        </p:txBody>
      </p:sp>
      <p:sp>
        <p:nvSpPr>
          <p:cNvPr id="6" name="Text 3"/>
          <p:cNvSpPr txBox="1"/>
          <p:nvPr/>
        </p:nvSpPr>
        <p:spPr>
          <a:xfrm>
            <a:off x="4023360" y="1600200"/>
            <a:ext cx="7589520" cy="457200"/>
          </a:xfrm>
          <a:prstGeom prst="rect">
            <a:avLst/>
          </a:prstGeom>
          <a:noFill/>
          <a:ln/>
        </p:spPr>
        <p:txBody>
          <a:bodyPr wrap="square" lIns="0" tIns="0" rIns="0" bIns="0" rtlCol="0" anchor="t"/>
          <a:lstStyle/>
          <a:p>
            <a:pPr algn="l" indent="0" marL="0">
              <a:spcAft>
                <a:spcPts val="400"/>
              </a:spcAft>
              <a:buNone/>
            </a:pPr>
            <a:r>
              <a:rPr lang="en-US" sz="1500" dirty="0">
                <a:solidFill>
                  <a:srgbClr val="1B2430"/>
                </a:solidFill>
              </a:rPr>
              <a:t>16.7 million addresses</a:t>
            </a:r>
            <a:endParaRPr lang="en-US" sz="1500" dirty="0"/>
          </a:p>
        </p:txBody>
      </p:sp>
      <p:sp>
        <p:nvSpPr>
          <p:cNvPr id="7" name="box"/>
          <p:cNvSpPr/>
          <p:nvPr/>
        </p:nvSpPr>
        <p:spPr>
          <a:xfrm>
            <a:off x="548640" y="2286000"/>
            <a:ext cx="3291840" cy="731520"/>
          </a:xfrm>
          <a:prstGeom prst="roundRect">
            <a:avLst>
              <a:gd name="adj" fmla="val 10000"/>
            </a:avLst>
          </a:prstGeom>
          <a:solidFill>
            <a:srgbClr val="2A7F8E"/>
          </a:solidFill>
          <a:ln w="12700">
            <a:solidFill>
              <a:srgbClr val="2A7F8E"/>
            </a:solidFill>
            <a:prstDash val="solid"/>
          </a:ln>
        </p:spPr>
      </p:sp>
      <p:sp>
        <p:nvSpPr>
          <p:cNvPr id="8" name="Text 5"/>
          <p:cNvSpPr txBox="1"/>
          <p:nvPr/>
        </p:nvSpPr>
        <p:spPr>
          <a:xfrm>
            <a:off x="548640" y="2286000"/>
            <a:ext cx="3291840" cy="73152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172.16.0.0/12</a:t>
            </a:r>
            <a:endParaRPr lang="en-US" sz="1800" dirty="0"/>
          </a:p>
        </p:txBody>
      </p:sp>
      <p:sp>
        <p:nvSpPr>
          <p:cNvPr id="9" name="Text 6"/>
          <p:cNvSpPr txBox="1"/>
          <p:nvPr/>
        </p:nvSpPr>
        <p:spPr>
          <a:xfrm>
            <a:off x="4023360" y="2468880"/>
            <a:ext cx="7589520" cy="457200"/>
          </a:xfrm>
          <a:prstGeom prst="rect">
            <a:avLst/>
          </a:prstGeom>
          <a:noFill/>
          <a:ln/>
        </p:spPr>
        <p:txBody>
          <a:bodyPr wrap="square" lIns="0" tIns="0" rIns="0" bIns="0" rtlCol="0" anchor="t"/>
          <a:lstStyle/>
          <a:p>
            <a:pPr algn="l" indent="0" marL="0">
              <a:spcAft>
                <a:spcPts val="400"/>
              </a:spcAft>
              <a:buNone/>
            </a:pPr>
            <a:r>
              <a:rPr lang="en-US" sz="1500" dirty="0">
                <a:solidFill>
                  <a:srgbClr val="1B2430"/>
                </a:solidFill>
              </a:rPr>
              <a:t>1 million addresses</a:t>
            </a:r>
            <a:endParaRPr lang="en-US" sz="1500" dirty="0"/>
          </a:p>
        </p:txBody>
      </p:sp>
      <p:sp>
        <p:nvSpPr>
          <p:cNvPr id="10" name="box"/>
          <p:cNvSpPr/>
          <p:nvPr/>
        </p:nvSpPr>
        <p:spPr>
          <a:xfrm>
            <a:off x="548640" y="3154680"/>
            <a:ext cx="3291840" cy="731520"/>
          </a:xfrm>
          <a:prstGeom prst="roundRect">
            <a:avLst>
              <a:gd name="adj" fmla="val 10000"/>
            </a:avLst>
          </a:prstGeom>
          <a:solidFill>
            <a:srgbClr val="B9772A"/>
          </a:solidFill>
          <a:ln w="12700">
            <a:solidFill>
              <a:srgbClr val="B9772A"/>
            </a:solidFill>
            <a:prstDash val="solid"/>
          </a:ln>
        </p:spPr>
      </p:sp>
      <p:sp>
        <p:nvSpPr>
          <p:cNvPr id="11" name="Text 8"/>
          <p:cNvSpPr txBox="1"/>
          <p:nvPr/>
        </p:nvSpPr>
        <p:spPr>
          <a:xfrm>
            <a:off x="548640" y="3154680"/>
            <a:ext cx="3291840" cy="73152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192.168.0.0/16</a:t>
            </a:r>
            <a:endParaRPr lang="en-US" sz="1800" dirty="0"/>
          </a:p>
        </p:txBody>
      </p:sp>
      <p:sp>
        <p:nvSpPr>
          <p:cNvPr id="12" name="Text 9"/>
          <p:cNvSpPr txBox="1"/>
          <p:nvPr/>
        </p:nvSpPr>
        <p:spPr>
          <a:xfrm>
            <a:off x="4023360" y="3337560"/>
            <a:ext cx="7589520" cy="457200"/>
          </a:xfrm>
          <a:prstGeom prst="rect">
            <a:avLst/>
          </a:prstGeom>
          <a:noFill/>
          <a:ln/>
        </p:spPr>
        <p:txBody>
          <a:bodyPr wrap="square" lIns="0" tIns="0" rIns="0" bIns="0" rtlCol="0" anchor="t"/>
          <a:lstStyle/>
          <a:p>
            <a:pPr algn="l" indent="0" marL="0">
              <a:spcAft>
                <a:spcPts val="400"/>
              </a:spcAft>
              <a:buNone/>
            </a:pPr>
            <a:r>
              <a:rPr lang="en-US" sz="1500" dirty="0">
                <a:solidFill>
                  <a:srgbClr val="1B2430"/>
                </a:solidFill>
              </a:rPr>
              <a:t>65 536 addresses — most homes</a:t>
            </a:r>
            <a:endParaRPr lang="en-US" sz="1500" dirty="0"/>
          </a:p>
        </p:txBody>
      </p:sp>
      <p:sp>
        <p:nvSpPr>
          <p:cNvPr id="13" name="box"/>
          <p:cNvSpPr/>
          <p:nvPr/>
        </p:nvSpPr>
        <p:spPr>
          <a:xfrm>
            <a:off x="548640" y="4023360"/>
            <a:ext cx="3291840" cy="731520"/>
          </a:xfrm>
          <a:prstGeom prst="roundRect">
            <a:avLst>
              <a:gd name="adj" fmla="val 10000"/>
            </a:avLst>
          </a:prstGeom>
          <a:solidFill>
            <a:srgbClr val="5B6770"/>
          </a:solidFill>
          <a:ln w="12700">
            <a:solidFill>
              <a:srgbClr val="5B6770"/>
            </a:solidFill>
            <a:prstDash val="solid"/>
          </a:ln>
        </p:spPr>
      </p:sp>
      <p:sp>
        <p:nvSpPr>
          <p:cNvPr id="14" name="Text 11"/>
          <p:cNvSpPr txBox="1"/>
          <p:nvPr/>
        </p:nvSpPr>
        <p:spPr>
          <a:xfrm>
            <a:off x="548640" y="4023360"/>
            <a:ext cx="3291840" cy="73152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100.64.0.0/10</a:t>
            </a:r>
            <a:endParaRPr lang="en-US" sz="1800" dirty="0"/>
          </a:p>
        </p:txBody>
      </p:sp>
      <p:sp>
        <p:nvSpPr>
          <p:cNvPr id="15" name="Text 12"/>
          <p:cNvSpPr txBox="1"/>
          <p:nvPr/>
        </p:nvSpPr>
        <p:spPr>
          <a:xfrm>
            <a:off x="4023360" y="4206240"/>
            <a:ext cx="7589520" cy="457200"/>
          </a:xfrm>
          <a:prstGeom prst="rect">
            <a:avLst/>
          </a:prstGeom>
          <a:noFill/>
          <a:ln/>
        </p:spPr>
        <p:txBody>
          <a:bodyPr wrap="square" lIns="0" tIns="0" rIns="0" bIns="0" rtlCol="0" anchor="t"/>
          <a:lstStyle/>
          <a:p>
            <a:pPr algn="l" indent="0" marL="0">
              <a:spcAft>
                <a:spcPts val="400"/>
              </a:spcAft>
              <a:buNone/>
            </a:pPr>
            <a:r>
              <a:rPr lang="en-US" sz="1500" dirty="0">
                <a:solidFill>
                  <a:srgbClr val="1B2430"/>
                </a:solidFill>
              </a:rPr>
              <a:t>shared space for carrier-grade NAT (RFC 6598)</a:t>
            </a:r>
            <a:endParaRPr lang="en-US" sz="1500" dirty="0"/>
          </a:p>
        </p:txBody>
      </p:sp>
      <p:sp>
        <p:nvSpPr>
          <p:cNvPr id="1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7" name="Text 1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Millions of networks reuse the same private addresses — so they need translation at the edge.</a:t>
            </a:r>
            <a:endParaRPr lang="en-US" sz="1400" dirty="0"/>
          </a:p>
        </p:txBody>
      </p:sp>
      <p:sp>
        <p:nvSpPr>
          <p:cNvPr id="18" name="Text 1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IPv4 (Internet Protocol version 4) · RFC (Request for Comments) · NAT (network address translation)</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9 · NAT: the router rewrites addresses and ports</a:t>
            </a:r>
            <a:endParaRPr lang="en-US" sz="3000" dirty="0"/>
          </a:p>
        </p:txBody>
      </p:sp>
      <p:sp>
        <p:nvSpPr>
          <p:cNvPr id="4" name="box"/>
          <p:cNvSpPr/>
          <p:nvPr/>
        </p:nvSpPr>
        <p:spPr>
          <a:xfrm>
            <a:off x="548640" y="1371600"/>
            <a:ext cx="2377440" cy="731520"/>
          </a:xfrm>
          <a:prstGeom prst="roundRect">
            <a:avLst>
              <a:gd name="adj" fmla="val 10000"/>
            </a:avLst>
          </a:prstGeom>
          <a:solidFill>
            <a:srgbClr val="EEF2F6"/>
          </a:solidFill>
          <a:ln w="12700">
            <a:solidFill>
              <a:srgbClr val="EEF2F6"/>
            </a:solidFill>
            <a:prstDash val="solid"/>
          </a:ln>
        </p:spPr>
      </p:sp>
      <p:sp>
        <p:nvSpPr>
          <p:cNvPr id="5" name="Text 2"/>
          <p:cNvSpPr txBox="1"/>
          <p:nvPr/>
        </p:nvSpPr>
        <p:spPr>
          <a:xfrm>
            <a:off x="548640" y="1371600"/>
            <a:ext cx="2377440" cy="731520"/>
          </a:xfrm>
          <a:prstGeom prst="rect">
            <a:avLst/>
          </a:prstGeom>
          <a:noFill/>
          <a:ln/>
        </p:spPr>
        <p:txBody>
          <a:bodyPr wrap="square" lIns="635" tIns="635" rIns="635" bIns="635" rtlCol="0" anchor="ctr"/>
          <a:lstStyle/>
          <a:p>
            <a:pPr algn="ctr" indent="0" marL="0">
              <a:buNone/>
            </a:pPr>
            <a:r>
              <a:rPr lang="en-US" sz="1200" dirty="0">
                <a:solidFill>
                  <a:srgbClr val="1B2430"/>
                </a:solidFill>
              </a:rPr>
              <a:t>host A</a:t>
            </a:r>
            <a:endParaRPr lang="en-US" sz="1200" dirty="0"/>
          </a:p>
          <a:p>
            <a:pPr algn="ctr" indent="0" marL="0">
              <a:buNone/>
            </a:pPr>
            <a:r>
              <a:rPr lang="en-US" sz="1200" dirty="0">
                <a:solidFill>
                  <a:srgbClr val="1B2430"/>
                </a:solidFill>
              </a:rPr>
              <a:t>192.168.1.20</a:t>
            </a:r>
            <a:endParaRPr lang="en-US" sz="1200" dirty="0"/>
          </a:p>
        </p:txBody>
      </p:sp>
      <p:sp>
        <p:nvSpPr>
          <p:cNvPr id="6" name="box"/>
          <p:cNvSpPr/>
          <p:nvPr/>
        </p:nvSpPr>
        <p:spPr>
          <a:xfrm>
            <a:off x="548640" y="2834640"/>
            <a:ext cx="2377440" cy="731520"/>
          </a:xfrm>
          <a:prstGeom prst="roundRect">
            <a:avLst>
              <a:gd name="adj" fmla="val 10000"/>
            </a:avLst>
          </a:prstGeom>
          <a:solidFill>
            <a:srgbClr val="EEF2F6"/>
          </a:solidFill>
          <a:ln w="12700">
            <a:solidFill>
              <a:srgbClr val="EEF2F6"/>
            </a:solidFill>
            <a:prstDash val="solid"/>
          </a:ln>
        </p:spPr>
      </p:sp>
      <p:sp>
        <p:nvSpPr>
          <p:cNvPr id="7" name="Text 4"/>
          <p:cNvSpPr txBox="1"/>
          <p:nvPr/>
        </p:nvSpPr>
        <p:spPr>
          <a:xfrm>
            <a:off x="548640" y="2834640"/>
            <a:ext cx="2377440" cy="731520"/>
          </a:xfrm>
          <a:prstGeom prst="rect">
            <a:avLst/>
          </a:prstGeom>
          <a:noFill/>
          <a:ln/>
        </p:spPr>
        <p:txBody>
          <a:bodyPr wrap="square" lIns="635" tIns="635" rIns="635" bIns="635" rtlCol="0" anchor="ctr"/>
          <a:lstStyle/>
          <a:p>
            <a:pPr algn="ctr" indent="0" marL="0">
              <a:buNone/>
            </a:pPr>
            <a:r>
              <a:rPr lang="en-US" sz="1200" dirty="0">
                <a:solidFill>
                  <a:srgbClr val="1B2430"/>
                </a:solidFill>
              </a:rPr>
              <a:t>host B</a:t>
            </a:r>
            <a:endParaRPr lang="en-US" sz="1200" dirty="0"/>
          </a:p>
          <a:p>
            <a:pPr algn="ctr" indent="0" marL="0">
              <a:buNone/>
            </a:pPr>
            <a:r>
              <a:rPr lang="en-US" sz="1200" dirty="0">
                <a:solidFill>
                  <a:srgbClr val="1B2430"/>
                </a:solidFill>
              </a:rPr>
              <a:t>192.168.1.21</a:t>
            </a:r>
            <a:endParaRPr lang="en-US" sz="1200" dirty="0"/>
          </a:p>
        </p:txBody>
      </p:sp>
      <p:sp>
        <p:nvSpPr>
          <p:cNvPr id="8" name="box"/>
          <p:cNvSpPr/>
          <p:nvPr/>
        </p:nvSpPr>
        <p:spPr>
          <a:xfrm>
            <a:off x="4023360" y="1737360"/>
            <a:ext cx="2560320" cy="1463040"/>
          </a:xfrm>
          <a:prstGeom prst="roundRect">
            <a:avLst>
              <a:gd name="adj" fmla="val 5000"/>
            </a:avLst>
          </a:prstGeom>
          <a:solidFill>
            <a:srgbClr val="B9772A"/>
          </a:solidFill>
          <a:ln w="12700">
            <a:solidFill>
              <a:srgbClr val="B9772A"/>
            </a:solidFill>
            <a:prstDash val="solid"/>
          </a:ln>
        </p:spPr>
      </p:sp>
      <p:sp>
        <p:nvSpPr>
          <p:cNvPr id="9" name="Text 6"/>
          <p:cNvSpPr txBox="1"/>
          <p:nvPr/>
        </p:nvSpPr>
        <p:spPr>
          <a:xfrm>
            <a:off x="4023360" y="1737360"/>
            <a:ext cx="2560320" cy="1463040"/>
          </a:xfrm>
          <a:prstGeom prst="rect">
            <a:avLst/>
          </a:prstGeom>
          <a:noFill/>
          <a:ln/>
        </p:spPr>
        <p:txBody>
          <a:bodyPr wrap="square" lIns="635" tIns="635" rIns="635" bIns="635" rtlCol="0" anchor="ctr"/>
          <a:lstStyle/>
          <a:p>
            <a:pPr algn="ctr" indent="0" marL="0">
              <a:buNone/>
            </a:pPr>
            <a:r>
              <a:rPr lang="en-US" sz="1300" b="1" dirty="0">
                <a:solidFill>
                  <a:srgbClr val="FFFFFF"/>
                </a:solidFill>
              </a:rPr>
              <a:t>NAT router</a:t>
            </a:r>
            <a:endParaRPr lang="en-US" sz="1300" dirty="0"/>
          </a:p>
          <a:p>
            <a:pPr algn="ctr" indent="0" marL="0">
              <a:buNone/>
            </a:pPr>
            <a:r>
              <a:rPr lang="en-US" sz="1300" dirty="0">
                <a:solidFill>
                  <a:srgbClr val="FFFFFF"/>
                </a:solidFill>
              </a:rPr>
              <a:t>LAN 192.168.1.1</a:t>
            </a:r>
            <a:endParaRPr lang="en-US" sz="1300" dirty="0"/>
          </a:p>
          <a:p>
            <a:pPr algn="ctr" indent="0" marL="0">
              <a:buNone/>
            </a:pPr>
            <a:r>
              <a:rPr lang="en-US" sz="1300" dirty="0">
                <a:solidFill>
                  <a:srgbClr val="FFFFFF"/>
                </a:solidFill>
              </a:rPr>
              <a:t>WAN 86.120.4.7</a:t>
            </a:r>
            <a:endParaRPr lang="en-US" sz="1300" dirty="0"/>
          </a:p>
        </p:txBody>
      </p:sp>
      <p:sp>
        <p:nvSpPr>
          <p:cNvPr id="10" name="box"/>
          <p:cNvSpPr/>
          <p:nvPr/>
        </p:nvSpPr>
        <p:spPr>
          <a:xfrm>
            <a:off x="9144000" y="2103120"/>
            <a:ext cx="2468880" cy="731520"/>
          </a:xfrm>
          <a:prstGeom prst="roundRect">
            <a:avLst>
              <a:gd name="adj" fmla="val 10000"/>
            </a:avLst>
          </a:prstGeom>
          <a:solidFill>
            <a:srgbClr val="2A7F8E"/>
          </a:solidFill>
          <a:ln w="12700">
            <a:solidFill>
              <a:srgbClr val="2A7F8E"/>
            </a:solidFill>
            <a:prstDash val="solid"/>
          </a:ln>
        </p:spPr>
      </p:sp>
      <p:sp>
        <p:nvSpPr>
          <p:cNvPr id="11" name="Text 8"/>
          <p:cNvSpPr txBox="1"/>
          <p:nvPr/>
        </p:nvSpPr>
        <p:spPr>
          <a:xfrm>
            <a:off x="9144000" y="2103120"/>
            <a:ext cx="2468880" cy="731520"/>
          </a:xfrm>
          <a:prstGeom prst="rect">
            <a:avLst/>
          </a:prstGeom>
          <a:noFill/>
          <a:ln/>
        </p:spPr>
        <p:txBody>
          <a:bodyPr wrap="square" lIns="635" tIns="635" rIns="635" bIns="635" rtlCol="0" anchor="ctr"/>
          <a:lstStyle/>
          <a:p>
            <a:pPr algn="ctr" indent="0" marL="0">
              <a:buNone/>
            </a:pPr>
            <a:r>
              <a:rPr lang="en-US" sz="1200" dirty="0">
                <a:solidFill>
                  <a:srgbClr val="FFFFFF"/>
                </a:solidFill>
              </a:rPr>
              <a:t>server</a:t>
            </a:r>
            <a:endParaRPr lang="en-US" sz="1200" dirty="0"/>
          </a:p>
          <a:p>
            <a:pPr algn="ctr" indent="0" marL="0">
              <a:buNone/>
            </a:pPr>
            <a:r>
              <a:rPr lang="en-US" sz="1200" dirty="0">
                <a:solidFill>
                  <a:srgbClr val="FFFFFF"/>
                </a:solidFill>
              </a:rPr>
              <a:t>1.1.1.1:53</a:t>
            </a:r>
            <a:endParaRPr lang="en-US" sz="1200" dirty="0"/>
          </a:p>
        </p:txBody>
      </p:sp>
      <p:sp>
        <p:nvSpPr>
          <p:cNvPr id="12" name="Shape 9"/>
          <p:cNvSpPr/>
          <p:nvPr/>
        </p:nvSpPr>
        <p:spPr>
          <a:xfrm>
            <a:off x="2926080" y="1737360"/>
            <a:ext cx="1097280" cy="457200"/>
          </a:xfrm>
          <a:prstGeom prst="line">
            <a:avLst/>
          </a:prstGeom>
          <a:noFill/>
          <a:ln w="22225">
            <a:solidFill>
              <a:srgbClr val="1F3A5F"/>
            </a:solidFill>
            <a:prstDash val="solid"/>
            <a:tailEnd type="triangle"/>
          </a:ln>
        </p:spPr>
      </p:sp>
      <p:sp>
        <p:nvSpPr>
          <p:cNvPr id="13" name="Text 10"/>
          <p:cNvSpPr txBox="1"/>
          <p:nvPr/>
        </p:nvSpPr>
        <p:spPr>
          <a:xfrm>
            <a:off x="2834640" y="1517904"/>
            <a:ext cx="1280160" cy="310896"/>
          </a:xfrm>
          <a:prstGeom prst="rect">
            <a:avLst/>
          </a:prstGeom>
          <a:noFill/>
          <a:ln/>
        </p:spPr>
        <p:txBody>
          <a:bodyPr wrap="square" lIns="0" tIns="0" rIns="0" bIns="0" rtlCol="0" anchor="ctr"/>
          <a:lstStyle/>
          <a:p>
            <a:pPr algn="ctr" indent="0" marL="0">
              <a:buNone/>
            </a:pPr>
            <a:r>
              <a:rPr lang="en-US" sz="1000" dirty="0">
                <a:solidFill>
                  <a:srgbClr val="1F3A5F"/>
                </a:solidFill>
              </a:rPr>
              <a:t>src :50000</a:t>
            </a:r>
            <a:endParaRPr lang="en-US" sz="1000" dirty="0"/>
          </a:p>
        </p:txBody>
      </p:sp>
      <p:sp>
        <p:nvSpPr>
          <p:cNvPr id="14" name="Shape 11"/>
          <p:cNvSpPr/>
          <p:nvPr/>
        </p:nvSpPr>
        <p:spPr>
          <a:xfrm flipV="1">
            <a:off x="2926080" y="2743200"/>
            <a:ext cx="1097280" cy="457200"/>
          </a:xfrm>
          <a:prstGeom prst="line">
            <a:avLst/>
          </a:prstGeom>
          <a:noFill/>
          <a:ln w="22225">
            <a:solidFill>
              <a:srgbClr val="1F3A5F"/>
            </a:solidFill>
            <a:prstDash val="solid"/>
            <a:tailEnd type="triangle"/>
          </a:ln>
        </p:spPr>
      </p:sp>
      <p:sp>
        <p:nvSpPr>
          <p:cNvPr id="15" name="Text 12"/>
          <p:cNvSpPr txBox="1"/>
          <p:nvPr/>
        </p:nvSpPr>
        <p:spPr>
          <a:xfrm>
            <a:off x="2834640" y="2999232"/>
            <a:ext cx="1280160" cy="310896"/>
          </a:xfrm>
          <a:prstGeom prst="rect">
            <a:avLst/>
          </a:prstGeom>
          <a:noFill/>
          <a:ln/>
        </p:spPr>
        <p:txBody>
          <a:bodyPr wrap="square" lIns="0" tIns="0" rIns="0" bIns="0" rtlCol="0" anchor="ctr"/>
          <a:lstStyle/>
          <a:p>
            <a:pPr algn="ctr" indent="0" marL="0">
              <a:buNone/>
            </a:pPr>
            <a:r>
              <a:rPr lang="en-US" sz="1000" dirty="0">
                <a:solidFill>
                  <a:srgbClr val="1F3A5F"/>
                </a:solidFill>
              </a:rPr>
              <a:t>src :50000</a:t>
            </a:r>
            <a:endParaRPr lang="en-US" sz="1000" dirty="0"/>
          </a:p>
        </p:txBody>
      </p:sp>
      <p:sp>
        <p:nvSpPr>
          <p:cNvPr id="16" name="Shape 13"/>
          <p:cNvSpPr/>
          <p:nvPr/>
        </p:nvSpPr>
        <p:spPr>
          <a:xfrm>
            <a:off x="6583680" y="2240280"/>
            <a:ext cx="2560320" cy="914"/>
          </a:xfrm>
          <a:prstGeom prst="line">
            <a:avLst/>
          </a:prstGeom>
          <a:noFill/>
          <a:ln w="22225">
            <a:solidFill>
              <a:srgbClr val="1F3A5F"/>
            </a:solidFill>
            <a:prstDash val="solid"/>
            <a:tailEnd type="triangle"/>
          </a:ln>
        </p:spPr>
      </p:sp>
      <p:sp>
        <p:nvSpPr>
          <p:cNvPr id="17" name="Text 14"/>
          <p:cNvSpPr txBox="1"/>
          <p:nvPr/>
        </p:nvSpPr>
        <p:spPr>
          <a:xfrm>
            <a:off x="6766560" y="1920240"/>
            <a:ext cx="2194560" cy="310896"/>
          </a:xfrm>
          <a:prstGeom prst="rect">
            <a:avLst/>
          </a:prstGeom>
          <a:solidFill>
            <a:srgbClr val="FFFFFF"/>
          </a:solidFill>
          <a:ln/>
        </p:spPr>
        <p:txBody>
          <a:bodyPr wrap="square" lIns="0" tIns="0" rIns="0" bIns="0" rtlCol="0" anchor="ctr"/>
          <a:lstStyle/>
          <a:p>
            <a:pPr algn="ctr" indent="0" marL="0">
              <a:buNone/>
            </a:pPr>
            <a:r>
              <a:rPr lang="en-US" sz="1100" dirty="0">
                <a:solidFill>
                  <a:srgbClr val="1F3A5F"/>
                </a:solidFill>
              </a:rPr>
              <a:t>86.120.4.7:61000</a:t>
            </a:r>
            <a:endParaRPr lang="en-US" sz="1100" dirty="0"/>
          </a:p>
        </p:txBody>
      </p:sp>
      <p:sp>
        <p:nvSpPr>
          <p:cNvPr id="18" name="Shape 15"/>
          <p:cNvSpPr/>
          <p:nvPr/>
        </p:nvSpPr>
        <p:spPr>
          <a:xfrm>
            <a:off x="6583680" y="2697480"/>
            <a:ext cx="2560320" cy="914"/>
          </a:xfrm>
          <a:prstGeom prst="line">
            <a:avLst/>
          </a:prstGeom>
          <a:noFill/>
          <a:ln w="22225">
            <a:solidFill>
              <a:srgbClr val="1F3A5F"/>
            </a:solidFill>
            <a:prstDash val="solid"/>
            <a:tailEnd type="triangle"/>
          </a:ln>
        </p:spPr>
      </p:sp>
      <p:sp>
        <p:nvSpPr>
          <p:cNvPr id="19" name="Text 16"/>
          <p:cNvSpPr txBox="1"/>
          <p:nvPr/>
        </p:nvSpPr>
        <p:spPr>
          <a:xfrm>
            <a:off x="6766560" y="2724912"/>
            <a:ext cx="2194560" cy="310896"/>
          </a:xfrm>
          <a:prstGeom prst="rect">
            <a:avLst/>
          </a:prstGeom>
          <a:solidFill>
            <a:srgbClr val="FFFFFF"/>
          </a:solidFill>
          <a:ln/>
        </p:spPr>
        <p:txBody>
          <a:bodyPr wrap="square" lIns="0" tIns="0" rIns="0" bIns="0" rtlCol="0" anchor="ctr"/>
          <a:lstStyle/>
          <a:p>
            <a:pPr algn="ctr" indent="0" marL="0">
              <a:buNone/>
            </a:pPr>
            <a:r>
              <a:rPr lang="en-US" sz="1100" dirty="0">
                <a:solidFill>
                  <a:srgbClr val="1F3A5F"/>
                </a:solidFill>
              </a:rPr>
              <a:t>86.120.4.7:61001</a:t>
            </a:r>
            <a:endParaRPr lang="en-US" sz="1100" dirty="0"/>
          </a:p>
        </p:txBody>
      </p:sp>
      <p:sp>
        <p:nvSpPr>
          <p:cNvPr id="20" name="box"/>
          <p:cNvSpPr/>
          <p:nvPr/>
        </p:nvSpPr>
        <p:spPr>
          <a:xfrm>
            <a:off x="548640" y="3794760"/>
            <a:ext cx="3246120" cy="411480"/>
          </a:xfrm>
          <a:prstGeom prst="rect">
            <a:avLst/>
          </a:prstGeom>
          <a:solidFill>
            <a:srgbClr val="1F3A5F"/>
          </a:solidFill>
          <a:ln w="12700">
            <a:solidFill>
              <a:srgbClr val="1F3A5F"/>
            </a:solidFill>
            <a:prstDash val="solid"/>
          </a:ln>
        </p:spPr>
      </p:sp>
      <p:sp>
        <p:nvSpPr>
          <p:cNvPr id="21" name="Text 18"/>
          <p:cNvSpPr txBox="1"/>
          <p:nvPr/>
        </p:nvSpPr>
        <p:spPr>
          <a:xfrm>
            <a:off x="548640" y="3794760"/>
            <a:ext cx="324612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inside</a:t>
            </a:r>
            <a:endParaRPr lang="en-US" sz="1300" dirty="0"/>
          </a:p>
        </p:txBody>
      </p:sp>
      <p:sp>
        <p:nvSpPr>
          <p:cNvPr id="22" name="box"/>
          <p:cNvSpPr/>
          <p:nvPr/>
        </p:nvSpPr>
        <p:spPr>
          <a:xfrm>
            <a:off x="3840480" y="3794760"/>
            <a:ext cx="3246120" cy="411480"/>
          </a:xfrm>
          <a:prstGeom prst="rect">
            <a:avLst/>
          </a:prstGeom>
          <a:solidFill>
            <a:srgbClr val="1F3A5F"/>
          </a:solidFill>
          <a:ln w="12700">
            <a:solidFill>
              <a:srgbClr val="1F3A5F"/>
            </a:solidFill>
            <a:prstDash val="solid"/>
          </a:ln>
        </p:spPr>
      </p:sp>
      <p:sp>
        <p:nvSpPr>
          <p:cNvPr id="23" name="Text 20"/>
          <p:cNvSpPr txBox="1"/>
          <p:nvPr/>
        </p:nvSpPr>
        <p:spPr>
          <a:xfrm>
            <a:off x="3840480" y="3794760"/>
            <a:ext cx="324612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outside</a:t>
            </a:r>
            <a:endParaRPr lang="en-US" sz="1300" dirty="0"/>
          </a:p>
        </p:txBody>
      </p:sp>
      <p:sp>
        <p:nvSpPr>
          <p:cNvPr id="24" name="box"/>
          <p:cNvSpPr/>
          <p:nvPr/>
        </p:nvSpPr>
        <p:spPr>
          <a:xfrm>
            <a:off x="7132320" y="3794760"/>
            <a:ext cx="4434840" cy="411480"/>
          </a:xfrm>
          <a:prstGeom prst="rect">
            <a:avLst/>
          </a:prstGeom>
          <a:solidFill>
            <a:srgbClr val="1F3A5F"/>
          </a:solidFill>
          <a:ln w="12700">
            <a:solidFill>
              <a:srgbClr val="1F3A5F"/>
            </a:solidFill>
            <a:prstDash val="solid"/>
          </a:ln>
        </p:spPr>
      </p:sp>
      <p:sp>
        <p:nvSpPr>
          <p:cNvPr id="25" name="Text 22"/>
          <p:cNvSpPr txBox="1"/>
          <p:nvPr/>
        </p:nvSpPr>
        <p:spPr>
          <a:xfrm>
            <a:off x="7132320" y="3794760"/>
            <a:ext cx="44348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remote</a:t>
            </a:r>
            <a:endParaRPr lang="en-US" sz="1300" dirty="0"/>
          </a:p>
        </p:txBody>
      </p:sp>
      <p:sp>
        <p:nvSpPr>
          <p:cNvPr id="26" name="box"/>
          <p:cNvSpPr/>
          <p:nvPr/>
        </p:nvSpPr>
        <p:spPr>
          <a:xfrm>
            <a:off x="548640" y="4251960"/>
            <a:ext cx="3246120" cy="438912"/>
          </a:xfrm>
          <a:prstGeom prst="rect">
            <a:avLst/>
          </a:prstGeom>
          <a:solidFill>
            <a:srgbClr val="EEF2F6"/>
          </a:solidFill>
          <a:ln w="12700">
            <a:solidFill>
              <a:srgbClr val="EEF2F6"/>
            </a:solidFill>
            <a:prstDash val="solid"/>
          </a:ln>
        </p:spPr>
      </p:sp>
      <p:sp>
        <p:nvSpPr>
          <p:cNvPr id="27" name="Text 24"/>
          <p:cNvSpPr txBox="1"/>
          <p:nvPr/>
        </p:nvSpPr>
        <p:spPr>
          <a:xfrm>
            <a:off x="548640" y="4251960"/>
            <a:ext cx="3246120" cy="438912"/>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192.168.1.20:50000</a:t>
            </a:r>
            <a:endParaRPr lang="en-US" sz="1300" dirty="0"/>
          </a:p>
        </p:txBody>
      </p:sp>
      <p:sp>
        <p:nvSpPr>
          <p:cNvPr id="28" name="box"/>
          <p:cNvSpPr/>
          <p:nvPr/>
        </p:nvSpPr>
        <p:spPr>
          <a:xfrm>
            <a:off x="3840480" y="4251960"/>
            <a:ext cx="3246120" cy="438912"/>
          </a:xfrm>
          <a:prstGeom prst="rect">
            <a:avLst/>
          </a:prstGeom>
          <a:solidFill>
            <a:srgbClr val="F7F9FB"/>
          </a:solidFill>
          <a:ln w="12700">
            <a:solidFill>
              <a:srgbClr val="F7F9FB"/>
            </a:solidFill>
            <a:prstDash val="solid"/>
          </a:ln>
        </p:spPr>
      </p:sp>
      <p:sp>
        <p:nvSpPr>
          <p:cNvPr id="29" name="Text 26"/>
          <p:cNvSpPr txBox="1"/>
          <p:nvPr/>
        </p:nvSpPr>
        <p:spPr>
          <a:xfrm>
            <a:off x="3840480" y="4251960"/>
            <a:ext cx="3246120" cy="438912"/>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86.120.4.7:61000</a:t>
            </a:r>
            <a:endParaRPr lang="en-US" sz="1300" dirty="0"/>
          </a:p>
        </p:txBody>
      </p:sp>
      <p:sp>
        <p:nvSpPr>
          <p:cNvPr id="30" name="box"/>
          <p:cNvSpPr/>
          <p:nvPr/>
        </p:nvSpPr>
        <p:spPr>
          <a:xfrm>
            <a:off x="7132320" y="4251960"/>
            <a:ext cx="4434840" cy="438912"/>
          </a:xfrm>
          <a:prstGeom prst="rect">
            <a:avLst/>
          </a:prstGeom>
          <a:solidFill>
            <a:srgbClr val="F7F9FB"/>
          </a:solidFill>
          <a:ln w="12700">
            <a:solidFill>
              <a:srgbClr val="F7F9FB"/>
            </a:solidFill>
            <a:prstDash val="solid"/>
          </a:ln>
        </p:spPr>
      </p:sp>
      <p:sp>
        <p:nvSpPr>
          <p:cNvPr id="31" name="Text 28"/>
          <p:cNvSpPr txBox="1"/>
          <p:nvPr/>
        </p:nvSpPr>
        <p:spPr>
          <a:xfrm>
            <a:off x="7132320" y="4251960"/>
            <a:ext cx="4434840" cy="438912"/>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1.1.1.1:53 UDP</a:t>
            </a:r>
            <a:endParaRPr lang="en-US" sz="1300" dirty="0"/>
          </a:p>
        </p:txBody>
      </p:sp>
      <p:sp>
        <p:nvSpPr>
          <p:cNvPr id="32" name="box"/>
          <p:cNvSpPr/>
          <p:nvPr/>
        </p:nvSpPr>
        <p:spPr>
          <a:xfrm>
            <a:off x="548640" y="4736592"/>
            <a:ext cx="3246120" cy="438912"/>
          </a:xfrm>
          <a:prstGeom prst="rect">
            <a:avLst/>
          </a:prstGeom>
          <a:solidFill>
            <a:srgbClr val="EEF2F6"/>
          </a:solidFill>
          <a:ln w="12700">
            <a:solidFill>
              <a:srgbClr val="EEF2F6"/>
            </a:solidFill>
            <a:prstDash val="solid"/>
          </a:ln>
        </p:spPr>
      </p:sp>
      <p:sp>
        <p:nvSpPr>
          <p:cNvPr id="33" name="Text 30"/>
          <p:cNvSpPr txBox="1"/>
          <p:nvPr/>
        </p:nvSpPr>
        <p:spPr>
          <a:xfrm>
            <a:off x="548640" y="4736592"/>
            <a:ext cx="3246120" cy="438912"/>
          </a:xfrm>
          <a:prstGeom prst="rect">
            <a:avLst/>
          </a:prstGeom>
          <a:noFill/>
          <a:ln/>
        </p:spPr>
        <p:txBody>
          <a:bodyPr wrap="square" lIns="1270" tIns="1270" rIns="1270" bIns="1270"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192.168.1.21:50000</a:t>
            </a:r>
            <a:endParaRPr lang="en-US" sz="1300" dirty="0"/>
          </a:p>
        </p:txBody>
      </p:sp>
      <p:sp>
        <p:nvSpPr>
          <p:cNvPr id="34" name="box"/>
          <p:cNvSpPr/>
          <p:nvPr/>
        </p:nvSpPr>
        <p:spPr>
          <a:xfrm>
            <a:off x="3840480" y="4736592"/>
            <a:ext cx="3246120" cy="438912"/>
          </a:xfrm>
          <a:prstGeom prst="rect">
            <a:avLst/>
          </a:prstGeom>
          <a:solidFill>
            <a:srgbClr val="F7F9FB"/>
          </a:solidFill>
          <a:ln w="12700">
            <a:solidFill>
              <a:srgbClr val="F7F9FB"/>
            </a:solidFill>
            <a:prstDash val="solid"/>
          </a:ln>
        </p:spPr>
      </p:sp>
      <p:sp>
        <p:nvSpPr>
          <p:cNvPr id="35" name="Text 32"/>
          <p:cNvSpPr txBox="1"/>
          <p:nvPr/>
        </p:nvSpPr>
        <p:spPr>
          <a:xfrm>
            <a:off x="3840480" y="4736592"/>
            <a:ext cx="3246120" cy="438912"/>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86.120.4.7:61001</a:t>
            </a:r>
            <a:endParaRPr lang="en-US" sz="1300" dirty="0"/>
          </a:p>
        </p:txBody>
      </p:sp>
      <p:sp>
        <p:nvSpPr>
          <p:cNvPr id="36" name="box"/>
          <p:cNvSpPr/>
          <p:nvPr/>
        </p:nvSpPr>
        <p:spPr>
          <a:xfrm>
            <a:off x="7132320" y="4736592"/>
            <a:ext cx="4434840" cy="438912"/>
          </a:xfrm>
          <a:prstGeom prst="rect">
            <a:avLst/>
          </a:prstGeom>
          <a:solidFill>
            <a:srgbClr val="F7F9FB"/>
          </a:solidFill>
          <a:ln w="12700">
            <a:solidFill>
              <a:srgbClr val="F7F9FB"/>
            </a:solidFill>
            <a:prstDash val="solid"/>
          </a:ln>
        </p:spPr>
      </p:sp>
      <p:sp>
        <p:nvSpPr>
          <p:cNvPr id="37" name="Text 34"/>
          <p:cNvSpPr txBox="1"/>
          <p:nvPr/>
        </p:nvSpPr>
        <p:spPr>
          <a:xfrm>
            <a:off x="7132320" y="4736592"/>
            <a:ext cx="4434840" cy="438912"/>
          </a:xfrm>
          <a:prstGeom prst="rect">
            <a:avLst/>
          </a:prstGeom>
          <a:noFill/>
          <a:ln/>
        </p:spPr>
        <p:txBody>
          <a:bodyPr wrap="square" lIns="1270" tIns="1270" rIns="1270" bIns="1270" rtlCol="0" anchor="ctr"/>
          <a:lstStyle/>
          <a:p>
            <a:pPr algn="l" indent="0" marL="0">
              <a:buNone/>
            </a:pPr>
            <a:r>
              <a:rPr lang="en-US" sz="1300" dirty="0">
                <a:solidFill>
                  <a:srgbClr val="1B2430"/>
                </a:solidFill>
                <a:latin typeface="Consolas" pitchFamily="34" charset="0"/>
                <a:ea typeface="Consolas" pitchFamily="34" charset="-122"/>
                <a:cs typeface="Consolas" pitchFamily="34" charset="-120"/>
              </a:rPr>
              <a:t>1.1.1.1:53 UDP</a:t>
            </a:r>
            <a:endParaRPr lang="en-US" sz="1300" dirty="0"/>
          </a:p>
        </p:txBody>
      </p:sp>
      <p:sp>
        <p:nvSpPr>
          <p:cNvPr id="3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9" name="Text 3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Outgoing: rewrite the source and remember; incoming: look up the port and rewrite the destination back.</a:t>
            </a:r>
            <a:endParaRPr lang="en-US" sz="1400" dirty="0"/>
          </a:p>
        </p:txBody>
      </p:sp>
      <p:sp>
        <p:nvSpPr>
          <p:cNvPr id="40" name="Text 3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UDP (User Datagram Protocol) · NAT (network address translation) · LAN (local area network) · WAN (wide area network)</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9 · One packet out, one reply back</a:t>
            </a:r>
            <a:endParaRPr lang="en-US" sz="3000" dirty="0"/>
          </a:p>
        </p:txBody>
      </p:sp>
      <p:sp>
        <p:nvSpPr>
          <p:cNvPr id="4" name="box"/>
          <p:cNvSpPr/>
          <p:nvPr/>
        </p:nvSpPr>
        <p:spPr>
          <a:xfrm>
            <a:off x="548640" y="1325880"/>
            <a:ext cx="2926080" cy="685800"/>
          </a:xfrm>
          <a:prstGeom prst="roundRect">
            <a:avLst>
              <a:gd name="adj" fmla="val 10667"/>
            </a:avLst>
          </a:prstGeom>
          <a:solidFill>
            <a:srgbClr val="1F3A5F"/>
          </a:solidFill>
          <a:ln w="12700">
            <a:solidFill>
              <a:srgbClr val="1F3A5F"/>
            </a:solidFill>
            <a:prstDash val="solid"/>
          </a:ln>
        </p:spPr>
      </p:sp>
      <p:sp>
        <p:nvSpPr>
          <p:cNvPr id="5" name="Text 2"/>
          <p:cNvSpPr txBox="1"/>
          <p:nvPr/>
        </p:nvSpPr>
        <p:spPr>
          <a:xfrm>
            <a:off x="548640" y="1325880"/>
            <a:ext cx="2926080" cy="685800"/>
          </a:xfrm>
          <a:prstGeom prst="rect">
            <a:avLst/>
          </a:prstGeom>
          <a:noFill/>
          <a:ln/>
        </p:spPr>
        <p:txBody>
          <a:bodyPr wrap="square" lIns="635" tIns="635" rIns="635" bIns="635" rtlCol="0" anchor="ctr"/>
          <a:lstStyle/>
          <a:p>
            <a:pPr algn="ctr" indent="0" marL="0">
              <a:buNone/>
            </a:pPr>
            <a:r>
              <a:rPr lang="en-US" sz="1300" b="1" dirty="0">
                <a:solidFill>
                  <a:srgbClr val="FFFFFF"/>
                </a:solidFill>
              </a:rPr>
              <a:t>inside → router</a:t>
            </a:r>
            <a:endParaRPr lang="en-US" sz="1300" dirty="0"/>
          </a:p>
        </p:txBody>
      </p:sp>
      <p:sp>
        <p:nvSpPr>
          <p:cNvPr id="6" name="box"/>
          <p:cNvSpPr/>
          <p:nvPr/>
        </p:nvSpPr>
        <p:spPr>
          <a:xfrm>
            <a:off x="3657600" y="1325880"/>
            <a:ext cx="5486400" cy="685800"/>
          </a:xfrm>
          <a:prstGeom prst="roundRect">
            <a:avLst>
              <a:gd name="adj" fmla="val 10667"/>
            </a:avLst>
          </a:prstGeom>
          <a:solidFill>
            <a:srgbClr val="EEF2F6"/>
          </a:solidFill>
          <a:ln w="12700">
            <a:solidFill>
              <a:srgbClr val="EEF2F6"/>
            </a:solidFill>
            <a:prstDash val="solid"/>
          </a:ln>
        </p:spPr>
      </p:sp>
      <p:sp>
        <p:nvSpPr>
          <p:cNvPr id="7" name="Text 4"/>
          <p:cNvSpPr txBox="1"/>
          <p:nvPr/>
        </p:nvSpPr>
        <p:spPr>
          <a:xfrm>
            <a:off x="3657600" y="1325880"/>
            <a:ext cx="5486400" cy="68580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192.168.1.20:50000 → 1.1.1.1:53</a:t>
            </a:r>
            <a:endParaRPr lang="en-US" sz="1400" dirty="0"/>
          </a:p>
        </p:txBody>
      </p:sp>
      <p:sp>
        <p:nvSpPr>
          <p:cNvPr id="8" name="box"/>
          <p:cNvSpPr/>
          <p:nvPr/>
        </p:nvSpPr>
        <p:spPr>
          <a:xfrm>
            <a:off x="548640" y="2194560"/>
            <a:ext cx="2926080" cy="685800"/>
          </a:xfrm>
          <a:prstGeom prst="roundRect">
            <a:avLst>
              <a:gd name="adj" fmla="val 10667"/>
            </a:avLst>
          </a:prstGeom>
          <a:solidFill>
            <a:srgbClr val="1F3A5F"/>
          </a:solidFill>
          <a:ln w="12700">
            <a:solidFill>
              <a:srgbClr val="1F3A5F"/>
            </a:solidFill>
            <a:prstDash val="solid"/>
          </a:ln>
        </p:spPr>
      </p:sp>
      <p:sp>
        <p:nvSpPr>
          <p:cNvPr id="9" name="Text 6"/>
          <p:cNvSpPr txBox="1"/>
          <p:nvPr/>
        </p:nvSpPr>
        <p:spPr>
          <a:xfrm>
            <a:off x="548640" y="2194560"/>
            <a:ext cx="2926080" cy="685800"/>
          </a:xfrm>
          <a:prstGeom prst="rect">
            <a:avLst/>
          </a:prstGeom>
          <a:noFill/>
          <a:ln/>
        </p:spPr>
        <p:txBody>
          <a:bodyPr wrap="square" lIns="635" tIns="635" rIns="635" bIns="635" rtlCol="0" anchor="ctr"/>
          <a:lstStyle/>
          <a:p>
            <a:pPr algn="ctr" indent="0" marL="0">
              <a:buNone/>
            </a:pPr>
            <a:r>
              <a:rPr lang="en-US" sz="1300" b="1" dirty="0">
                <a:solidFill>
                  <a:srgbClr val="FFFFFF"/>
                </a:solidFill>
              </a:rPr>
              <a:t>router → Internet</a:t>
            </a:r>
            <a:endParaRPr lang="en-US" sz="1300" dirty="0"/>
          </a:p>
        </p:txBody>
      </p:sp>
      <p:sp>
        <p:nvSpPr>
          <p:cNvPr id="10" name="box"/>
          <p:cNvSpPr/>
          <p:nvPr/>
        </p:nvSpPr>
        <p:spPr>
          <a:xfrm>
            <a:off x="3657600" y="2194560"/>
            <a:ext cx="5486400" cy="685800"/>
          </a:xfrm>
          <a:prstGeom prst="roundRect">
            <a:avLst>
              <a:gd name="adj" fmla="val 10667"/>
            </a:avLst>
          </a:prstGeom>
          <a:solidFill>
            <a:srgbClr val="F3EAD7"/>
          </a:solidFill>
          <a:ln w="12700">
            <a:solidFill>
              <a:srgbClr val="F3EAD7"/>
            </a:solidFill>
            <a:prstDash val="solid"/>
          </a:ln>
        </p:spPr>
      </p:sp>
      <p:sp>
        <p:nvSpPr>
          <p:cNvPr id="11" name="Text 8"/>
          <p:cNvSpPr txBox="1"/>
          <p:nvPr/>
        </p:nvSpPr>
        <p:spPr>
          <a:xfrm>
            <a:off x="3657600" y="2194560"/>
            <a:ext cx="5486400" cy="68580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86.120.4.7:61000 → 1.1.1.1:53</a:t>
            </a:r>
            <a:endParaRPr lang="en-US" sz="1400" dirty="0"/>
          </a:p>
        </p:txBody>
      </p:sp>
      <p:sp>
        <p:nvSpPr>
          <p:cNvPr id="12" name="box"/>
          <p:cNvSpPr/>
          <p:nvPr/>
        </p:nvSpPr>
        <p:spPr>
          <a:xfrm>
            <a:off x="548640" y="3063240"/>
            <a:ext cx="2926080" cy="685800"/>
          </a:xfrm>
          <a:prstGeom prst="roundRect">
            <a:avLst>
              <a:gd name="adj" fmla="val 10667"/>
            </a:avLst>
          </a:prstGeom>
          <a:solidFill>
            <a:srgbClr val="1F3A5F"/>
          </a:solidFill>
          <a:ln w="12700">
            <a:solidFill>
              <a:srgbClr val="1F3A5F"/>
            </a:solidFill>
            <a:prstDash val="solid"/>
          </a:ln>
        </p:spPr>
      </p:sp>
      <p:sp>
        <p:nvSpPr>
          <p:cNvPr id="13" name="Text 10"/>
          <p:cNvSpPr txBox="1"/>
          <p:nvPr/>
        </p:nvSpPr>
        <p:spPr>
          <a:xfrm>
            <a:off x="548640" y="3063240"/>
            <a:ext cx="2926080" cy="685800"/>
          </a:xfrm>
          <a:prstGeom prst="rect">
            <a:avLst/>
          </a:prstGeom>
          <a:noFill/>
          <a:ln/>
        </p:spPr>
        <p:txBody>
          <a:bodyPr wrap="square" lIns="635" tIns="635" rIns="635" bIns="635" rtlCol="0" anchor="ctr"/>
          <a:lstStyle/>
          <a:p>
            <a:pPr algn="ctr" indent="0" marL="0">
              <a:buNone/>
            </a:pPr>
            <a:r>
              <a:rPr lang="en-US" sz="1300" b="1" dirty="0">
                <a:solidFill>
                  <a:srgbClr val="FFFFFF"/>
                </a:solidFill>
              </a:rPr>
              <a:t>Internet → router</a:t>
            </a:r>
            <a:endParaRPr lang="en-US" sz="1300" dirty="0"/>
          </a:p>
        </p:txBody>
      </p:sp>
      <p:sp>
        <p:nvSpPr>
          <p:cNvPr id="14" name="box"/>
          <p:cNvSpPr/>
          <p:nvPr/>
        </p:nvSpPr>
        <p:spPr>
          <a:xfrm>
            <a:off x="3657600" y="3063240"/>
            <a:ext cx="5486400" cy="685800"/>
          </a:xfrm>
          <a:prstGeom prst="roundRect">
            <a:avLst>
              <a:gd name="adj" fmla="val 10667"/>
            </a:avLst>
          </a:prstGeom>
          <a:solidFill>
            <a:srgbClr val="F3EAD7"/>
          </a:solidFill>
          <a:ln w="12700">
            <a:solidFill>
              <a:srgbClr val="F3EAD7"/>
            </a:solidFill>
            <a:prstDash val="solid"/>
          </a:ln>
        </p:spPr>
      </p:sp>
      <p:sp>
        <p:nvSpPr>
          <p:cNvPr id="15" name="Text 12"/>
          <p:cNvSpPr txBox="1"/>
          <p:nvPr/>
        </p:nvSpPr>
        <p:spPr>
          <a:xfrm>
            <a:off x="3657600" y="3063240"/>
            <a:ext cx="5486400" cy="68580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1.1.1.1:53 → 86.120.4.7:61000</a:t>
            </a:r>
            <a:endParaRPr lang="en-US" sz="1400" dirty="0"/>
          </a:p>
        </p:txBody>
      </p:sp>
      <p:sp>
        <p:nvSpPr>
          <p:cNvPr id="16" name="box"/>
          <p:cNvSpPr/>
          <p:nvPr/>
        </p:nvSpPr>
        <p:spPr>
          <a:xfrm>
            <a:off x="548640" y="3931920"/>
            <a:ext cx="2926080" cy="685800"/>
          </a:xfrm>
          <a:prstGeom prst="roundRect">
            <a:avLst>
              <a:gd name="adj" fmla="val 10667"/>
            </a:avLst>
          </a:prstGeom>
          <a:solidFill>
            <a:srgbClr val="1F3A5F"/>
          </a:solidFill>
          <a:ln w="12700">
            <a:solidFill>
              <a:srgbClr val="1F3A5F"/>
            </a:solidFill>
            <a:prstDash val="solid"/>
          </a:ln>
        </p:spPr>
      </p:sp>
      <p:sp>
        <p:nvSpPr>
          <p:cNvPr id="17" name="Text 14"/>
          <p:cNvSpPr txBox="1"/>
          <p:nvPr/>
        </p:nvSpPr>
        <p:spPr>
          <a:xfrm>
            <a:off x="548640" y="3931920"/>
            <a:ext cx="2926080" cy="685800"/>
          </a:xfrm>
          <a:prstGeom prst="rect">
            <a:avLst/>
          </a:prstGeom>
          <a:noFill/>
          <a:ln/>
        </p:spPr>
        <p:txBody>
          <a:bodyPr wrap="square" lIns="635" tIns="635" rIns="635" bIns="635" rtlCol="0" anchor="ctr"/>
          <a:lstStyle/>
          <a:p>
            <a:pPr algn="ctr" indent="0" marL="0">
              <a:buNone/>
            </a:pPr>
            <a:r>
              <a:rPr lang="en-US" sz="1300" b="1" dirty="0">
                <a:solidFill>
                  <a:srgbClr val="FFFFFF"/>
                </a:solidFill>
              </a:rPr>
              <a:t>router → inside</a:t>
            </a:r>
            <a:endParaRPr lang="en-US" sz="1300" dirty="0"/>
          </a:p>
        </p:txBody>
      </p:sp>
      <p:sp>
        <p:nvSpPr>
          <p:cNvPr id="18" name="box"/>
          <p:cNvSpPr/>
          <p:nvPr/>
        </p:nvSpPr>
        <p:spPr>
          <a:xfrm>
            <a:off x="3657600" y="3931920"/>
            <a:ext cx="5486400" cy="685800"/>
          </a:xfrm>
          <a:prstGeom prst="roundRect">
            <a:avLst>
              <a:gd name="adj" fmla="val 10667"/>
            </a:avLst>
          </a:prstGeom>
          <a:solidFill>
            <a:srgbClr val="EEF2F6"/>
          </a:solidFill>
          <a:ln w="12700">
            <a:solidFill>
              <a:srgbClr val="EEF2F6"/>
            </a:solidFill>
            <a:prstDash val="solid"/>
          </a:ln>
        </p:spPr>
      </p:sp>
      <p:sp>
        <p:nvSpPr>
          <p:cNvPr id="19" name="Text 16"/>
          <p:cNvSpPr txBox="1"/>
          <p:nvPr/>
        </p:nvSpPr>
        <p:spPr>
          <a:xfrm>
            <a:off x="3657600" y="3931920"/>
            <a:ext cx="5486400" cy="685800"/>
          </a:xfrm>
          <a:prstGeom prst="rect">
            <a:avLst/>
          </a:prstGeom>
          <a:noFill/>
          <a:ln/>
        </p:spPr>
        <p:txBody>
          <a:bodyPr wrap="square" lIns="635" tIns="635" rIns="635" bIns="635" rtlCol="0" anchor="ctr"/>
          <a:lstStyle/>
          <a:p>
            <a:pPr algn="ctr" indent="0" marL="0">
              <a:buNone/>
            </a:pPr>
            <a:r>
              <a:rPr lang="en-US" sz="1400" dirty="0">
                <a:solidFill>
                  <a:srgbClr val="1B2430"/>
                </a:solidFill>
                <a:latin typeface="Consolas" pitchFamily="34" charset="0"/>
                <a:ea typeface="Consolas" pitchFamily="34" charset="-122"/>
                <a:cs typeface="Consolas" pitchFamily="34" charset="-120"/>
              </a:rPr>
              <a:t>1.1.1.1:53 → 192.168.1.20:50000</a:t>
            </a:r>
            <a:endParaRPr lang="en-US" sz="1400" dirty="0"/>
          </a:p>
        </p:txBody>
      </p:sp>
      <p:sp>
        <p:nvSpPr>
          <p:cNvPr id="20" name="box"/>
          <p:cNvSpPr/>
          <p:nvPr/>
        </p:nvSpPr>
        <p:spPr>
          <a:xfrm>
            <a:off x="9418320" y="1691640"/>
            <a:ext cx="2194560" cy="1051560"/>
          </a:xfrm>
          <a:prstGeom prst="roundRect">
            <a:avLst>
              <a:gd name="adj" fmla="val 6957"/>
            </a:avLst>
          </a:prstGeom>
          <a:solidFill>
            <a:srgbClr val="B9772A"/>
          </a:solidFill>
          <a:ln w="12700">
            <a:solidFill>
              <a:srgbClr val="B9772A"/>
            </a:solidFill>
            <a:prstDash val="solid"/>
          </a:ln>
        </p:spPr>
      </p:sp>
      <p:sp>
        <p:nvSpPr>
          <p:cNvPr id="21" name="Text 18"/>
          <p:cNvSpPr txBox="1"/>
          <p:nvPr/>
        </p:nvSpPr>
        <p:spPr>
          <a:xfrm>
            <a:off x="9418320" y="1691640"/>
            <a:ext cx="2194560" cy="1051560"/>
          </a:xfrm>
          <a:prstGeom prst="rect">
            <a:avLst/>
          </a:prstGeom>
          <a:noFill/>
          <a:ln/>
        </p:spPr>
        <p:txBody>
          <a:bodyPr wrap="square" lIns="635" tIns="635" rIns="635" bIns="635" rtlCol="0" anchor="ctr"/>
          <a:lstStyle/>
          <a:p>
            <a:pPr algn="ctr" indent="0" marL="0">
              <a:buNone/>
            </a:pPr>
            <a:r>
              <a:rPr lang="en-US" sz="1200" dirty="0">
                <a:solidFill>
                  <a:srgbClr val="FFFFFF"/>
                </a:solidFill>
              </a:rPr>
              <a:t>rewrite source,</a:t>
            </a:r>
            <a:endParaRPr lang="en-US" sz="1200" dirty="0"/>
          </a:p>
          <a:p>
            <a:pPr algn="ctr" indent="0" marL="0">
              <a:buNone/>
            </a:pPr>
            <a:r>
              <a:rPr lang="en-US" sz="1200" dirty="0">
                <a:solidFill>
                  <a:srgbClr val="FFFFFF"/>
                </a:solidFill>
              </a:rPr>
              <a:t>create mapping</a:t>
            </a:r>
            <a:endParaRPr lang="en-US" sz="1200" dirty="0"/>
          </a:p>
        </p:txBody>
      </p:sp>
      <p:sp>
        <p:nvSpPr>
          <p:cNvPr id="22" name="box"/>
          <p:cNvSpPr/>
          <p:nvPr/>
        </p:nvSpPr>
        <p:spPr>
          <a:xfrm>
            <a:off x="9418320" y="3429000"/>
            <a:ext cx="2194560" cy="1051560"/>
          </a:xfrm>
          <a:prstGeom prst="roundRect">
            <a:avLst>
              <a:gd name="adj" fmla="val 6957"/>
            </a:avLst>
          </a:prstGeom>
          <a:solidFill>
            <a:srgbClr val="B9772A"/>
          </a:solidFill>
          <a:ln w="12700">
            <a:solidFill>
              <a:srgbClr val="B9772A"/>
            </a:solidFill>
            <a:prstDash val="solid"/>
          </a:ln>
        </p:spPr>
      </p:sp>
      <p:sp>
        <p:nvSpPr>
          <p:cNvPr id="23" name="Text 20"/>
          <p:cNvSpPr txBox="1"/>
          <p:nvPr/>
        </p:nvSpPr>
        <p:spPr>
          <a:xfrm>
            <a:off x="9418320" y="3429000"/>
            <a:ext cx="2194560" cy="1051560"/>
          </a:xfrm>
          <a:prstGeom prst="rect">
            <a:avLst/>
          </a:prstGeom>
          <a:noFill/>
          <a:ln/>
        </p:spPr>
        <p:txBody>
          <a:bodyPr wrap="square" lIns="635" tIns="635" rIns="635" bIns="635" rtlCol="0" anchor="ctr"/>
          <a:lstStyle/>
          <a:p>
            <a:pPr algn="ctr" indent="0" marL="0">
              <a:buNone/>
            </a:pPr>
            <a:r>
              <a:rPr lang="en-US" sz="1200" dirty="0">
                <a:solidFill>
                  <a:srgbClr val="FFFFFF"/>
                </a:solidFill>
              </a:rPr>
              <a:t>look up 61000,</a:t>
            </a:r>
            <a:endParaRPr lang="en-US" sz="1200" dirty="0"/>
          </a:p>
          <a:p>
            <a:pPr algn="ctr" indent="0" marL="0">
              <a:buNone/>
            </a:pPr>
            <a:r>
              <a:rPr lang="en-US" sz="1200" dirty="0">
                <a:solidFill>
                  <a:srgbClr val="FFFFFF"/>
                </a:solidFill>
              </a:rPr>
              <a:t>rewrite destination</a:t>
            </a:r>
            <a:endParaRPr lang="en-US" sz="1200" dirty="0"/>
          </a:p>
        </p:txBody>
      </p:sp>
      <p:sp>
        <p:nvSpPr>
          <p:cNvPr id="24" name="Shape 21"/>
          <p:cNvSpPr/>
          <p:nvPr/>
        </p:nvSpPr>
        <p:spPr>
          <a:xfrm>
            <a:off x="548640" y="4910328"/>
            <a:ext cx="384048" cy="384048"/>
          </a:xfrm>
          <a:prstGeom prst="ellipse">
            <a:avLst/>
          </a:prstGeom>
          <a:solidFill>
            <a:srgbClr val="B9772A"/>
          </a:solidFill>
          <a:ln w="12700">
            <a:solidFill>
              <a:srgbClr val="B9772A"/>
            </a:solidFill>
            <a:prstDash val="solid"/>
          </a:ln>
        </p:spPr>
      </p:sp>
      <p:sp>
        <p:nvSpPr>
          <p:cNvPr id="25" name="Text 22"/>
          <p:cNvSpPr txBox="1"/>
          <p:nvPr/>
        </p:nvSpPr>
        <p:spPr>
          <a:xfrm>
            <a:off x="548640" y="4910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6" name="Text 23"/>
          <p:cNvSpPr txBox="1"/>
          <p:nvPr/>
        </p:nvSpPr>
        <p:spPr>
          <a:xfrm>
            <a:off x="1051560" y="4892040"/>
            <a:ext cx="10561320" cy="6858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Ports are translated too: properly NAPT — network address and port translation (RFC 3022).</a:t>
            </a:r>
            <a:endParaRPr lang="en-US" sz="1300" dirty="0"/>
          </a:p>
        </p:txBody>
      </p:sp>
      <p:sp>
        <p:nvSpPr>
          <p:cNvPr id="2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8" name="Text 2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 reply finds its way home only because the outgoing packet created a mapping first.</a:t>
            </a:r>
            <a:endParaRPr lang="en-US" sz="1400" dirty="0"/>
          </a:p>
        </p:txBody>
      </p:sp>
      <p:sp>
        <p:nvSpPr>
          <p:cNvPr id="29" name="Text 26"/>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RFC (Request for Comments)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9 · How many hosts fit behind one address? CGNAT</a:t>
            </a:r>
            <a:endParaRPr lang="en-US" sz="3000" dirty="0"/>
          </a:p>
        </p:txBody>
      </p:sp>
      <p:sp>
        <p:nvSpPr>
          <p:cNvPr id="4" name="box"/>
          <p:cNvSpPr/>
          <p:nvPr/>
        </p:nvSpPr>
        <p:spPr>
          <a:xfrm>
            <a:off x="548640" y="1463040"/>
            <a:ext cx="2194560" cy="914400"/>
          </a:xfrm>
          <a:prstGeom prst="roundRect">
            <a:avLst>
              <a:gd name="adj" fmla="val 8000"/>
            </a:avLst>
          </a:prstGeom>
          <a:solidFill>
            <a:srgbClr val="EEF2F6"/>
          </a:solidFill>
          <a:ln w="12700">
            <a:solidFill>
              <a:srgbClr val="EEF2F6"/>
            </a:solidFill>
            <a:prstDash val="solid"/>
          </a:ln>
        </p:spPr>
      </p:sp>
      <p:sp>
        <p:nvSpPr>
          <p:cNvPr id="5" name="Text 2"/>
          <p:cNvSpPr txBox="1"/>
          <p:nvPr/>
        </p:nvSpPr>
        <p:spPr>
          <a:xfrm>
            <a:off x="548640" y="1463040"/>
            <a:ext cx="2194560" cy="914400"/>
          </a:xfrm>
          <a:prstGeom prst="rect">
            <a:avLst/>
          </a:prstGeom>
          <a:noFill/>
          <a:ln/>
        </p:spPr>
        <p:txBody>
          <a:bodyPr wrap="square" lIns="635" tIns="635" rIns="635" bIns="635" rtlCol="0" anchor="ctr"/>
          <a:lstStyle/>
          <a:p>
            <a:pPr algn="ctr" indent="0" marL="0">
              <a:buNone/>
            </a:pPr>
            <a:r>
              <a:rPr lang="en-US" sz="1200" dirty="0">
                <a:solidFill>
                  <a:srgbClr val="1B2430"/>
                </a:solidFill>
              </a:rPr>
              <a:t>home PC</a:t>
            </a:r>
            <a:endParaRPr lang="en-US" sz="1200" dirty="0"/>
          </a:p>
          <a:p>
            <a:pPr algn="ctr" indent="0" marL="0">
              <a:buNone/>
            </a:pPr>
            <a:r>
              <a:rPr lang="en-US" sz="1200" dirty="0">
                <a:solidFill>
                  <a:srgbClr val="1B2430"/>
                </a:solidFill>
              </a:rPr>
              <a:t>192.168.1.20</a:t>
            </a:r>
            <a:endParaRPr lang="en-US" sz="1200" dirty="0"/>
          </a:p>
        </p:txBody>
      </p:sp>
      <p:sp>
        <p:nvSpPr>
          <p:cNvPr id="6" name="box"/>
          <p:cNvSpPr/>
          <p:nvPr/>
        </p:nvSpPr>
        <p:spPr>
          <a:xfrm>
            <a:off x="3200400" y="1463040"/>
            <a:ext cx="2377440" cy="914400"/>
          </a:xfrm>
          <a:prstGeom prst="roundRect">
            <a:avLst>
              <a:gd name="adj" fmla="val 8000"/>
            </a:avLst>
          </a:prstGeom>
          <a:solidFill>
            <a:srgbClr val="B9772A"/>
          </a:solidFill>
          <a:ln w="12700">
            <a:solidFill>
              <a:srgbClr val="B9772A"/>
            </a:solidFill>
            <a:prstDash val="solid"/>
          </a:ln>
        </p:spPr>
      </p:sp>
      <p:sp>
        <p:nvSpPr>
          <p:cNvPr id="7" name="Text 4"/>
          <p:cNvSpPr txBox="1"/>
          <p:nvPr/>
        </p:nvSpPr>
        <p:spPr>
          <a:xfrm>
            <a:off x="3200400" y="1463040"/>
            <a:ext cx="2377440" cy="914400"/>
          </a:xfrm>
          <a:prstGeom prst="rect">
            <a:avLst/>
          </a:prstGeom>
          <a:noFill/>
          <a:ln/>
        </p:spPr>
        <p:txBody>
          <a:bodyPr wrap="square" lIns="635" tIns="635" rIns="635" bIns="635" rtlCol="0" anchor="ctr"/>
          <a:lstStyle/>
          <a:p>
            <a:pPr algn="ctr" indent="0" marL="0">
              <a:buNone/>
            </a:pPr>
            <a:r>
              <a:rPr lang="en-US" sz="1200" dirty="0">
                <a:solidFill>
                  <a:srgbClr val="FFFFFF"/>
                </a:solidFill>
              </a:rPr>
              <a:t>home router</a:t>
            </a:r>
            <a:endParaRPr lang="en-US" sz="1200" dirty="0"/>
          </a:p>
          <a:p>
            <a:pPr algn="ctr" indent="0" marL="0">
              <a:buNone/>
            </a:pPr>
            <a:r>
              <a:rPr lang="en-US" sz="1200" dirty="0">
                <a:solidFill>
                  <a:srgbClr val="FFFFFF"/>
                </a:solidFill>
              </a:rPr>
              <a:t>WAN 100.64.7.9</a:t>
            </a:r>
            <a:endParaRPr lang="en-US" sz="1200" dirty="0"/>
          </a:p>
        </p:txBody>
      </p:sp>
      <p:sp>
        <p:nvSpPr>
          <p:cNvPr id="8" name="box"/>
          <p:cNvSpPr/>
          <p:nvPr/>
        </p:nvSpPr>
        <p:spPr>
          <a:xfrm>
            <a:off x="6035040" y="1463040"/>
            <a:ext cx="2377440" cy="914400"/>
          </a:xfrm>
          <a:prstGeom prst="roundRect">
            <a:avLst>
              <a:gd name="adj" fmla="val 8000"/>
            </a:avLst>
          </a:prstGeom>
          <a:solidFill>
            <a:srgbClr val="A23B3B"/>
          </a:solidFill>
          <a:ln w="12700">
            <a:solidFill>
              <a:srgbClr val="A23B3B"/>
            </a:solidFill>
            <a:prstDash val="solid"/>
          </a:ln>
        </p:spPr>
      </p:sp>
      <p:sp>
        <p:nvSpPr>
          <p:cNvPr id="9" name="Text 6"/>
          <p:cNvSpPr txBox="1"/>
          <p:nvPr/>
        </p:nvSpPr>
        <p:spPr>
          <a:xfrm>
            <a:off x="6035040" y="1463040"/>
            <a:ext cx="2377440" cy="914400"/>
          </a:xfrm>
          <a:prstGeom prst="rect">
            <a:avLst/>
          </a:prstGeom>
          <a:noFill/>
          <a:ln/>
        </p:spPr>
        <p:txBody>
          <a:bodyPr wrap="square" lIns="635" tIns="635" rIns="635" bIns="635" rtlCol="0" anchor="ctr"/>
          <a:lstStyle/>
          <a:p>
            <a:pPr algn="ctr" indent="0" marL="0">
              <a:buNone/>
            </a:pPr>
            <a:r>
              <a:rPr lang="en-US" sz="1200" dirty="0">
                <a:solidFill>
                  <a:srgbClr val="FFFFFF"/>
                </a:solidFill>
              </a:rPr>
              <a:t>ISP’s CGNAT</a:t>
            </a:r>
            <a:endParaRPr lang="en-US" sz="1200" dirty="0"/>
          </a:p>
          <a:p>
            <a:pPr algn="ctr" indent="0" marL="0">
              <a:buNone/>
            </a:pPr>
            <a:r>
              <a:rPr lang="en-US" sz="1200" dirty="0">
                <a:solidFill>
                  <a:srgbClr val="FFFFFF"/>
                </a:solidFill>
              </a:rPr>
              <a:t>203.0.113.5</a:t>
            </a:r>
            <a:endParaRPr lang="en-US" sz="1200" dirty="0"/>
          </a:p>
        </p:txBody>
      </p:sp>
      <p:sp>
        <p:nvSpPr>
          <p:cNvPr id="10" name="box"/>
          <p:cNvSpPr/>
          <p:nvPr/>
        </p:nvSpPr>
        <p:spPr>
          <a:xfrm>
            <a:off x="8869680" y="1463040"/>
            <a:ext cx="2743200" cy="914400"/>
          </a:xfrm>
          <a:prstGeom prst="roundRect">
            <a:avLst>
              <a:gd name="adj" fmla="val 8000"/>
            </a:avLst>
          </a:prstGeom>
          <a:solidFill>
            <a:srgbClr val="DDF0F2"/>
          </a:solidFill>
          <a:ln w="12700">
            <a:solidFill>
              <a:srgbClr val="DDF0F2"/>
            </a:solidFill>
            <a:prstDash val="solid"/>
          </a:ln>
        </p:spPr>
      </p:sp>
      <p:sp>
        <p:nvSpPr>
          <p:cNvPr id="11" name="Text 8"/>
          <p:cNvSpPr txBox="1"/>
          <p:nvPr/>
        </p:nvSpPr>
        <p:spPr>
          <a:xfrm>
            <a:off x="8869680" y="1463040"/>
            <a:ext cx="2743200" cy="914400"/>
          </a:xfrm>
          <a:prstGeom prst="rect">
            <a:avLst/>
          </a:prstGeom>
          <a:noFill/>
          <a:ln/>
        </p:spPr>
        <p:txBody>
          <a:bodyPr wrap="square" lIns="635" tIns="635" rIns="635" bIns="635" rtlCol="0" anchor="ctr"/>
          <a:lstStyle/>
          <a:p>
            <a:pPr algn="ctr" indent="0" marL="0">
              <a:buNone/>
            </a:pPr>
            <a:r>
              <a:rPr lang="en-US" sz="1400" dirty="0">
                <a:solidFill>
                  <a:srgbClr val="1B2430"/>
                </a:solidFill>
              </a:rPr>
              <a:t>Internet</a:t>
            </a:r>
            <a:endParaRPr lang="en-US" sz="1400" dirty="0"/>
          </a:p>
        </p:txBody>
      </p:sp>
      <p:sp>
        <p:nvSpPr>
          <p:cNvPr id="12" name="Shape 9"/>
          <p:cNvSpPr/>
          <p:nvPr/>
        </p:nvSpPr>
        <p:spPr>
          <a:xfrm>
            <a:off x="2743200" y="1920240"/>
            <a:ext cx="457200" cy="914"/>
          </a:xfrm>
          <a:prstGeom prst="line">
            <a:avLst/>
          </a:prstGeom>
          <a:noFill/>
          <a:ln w="31750">
            <a:solidFill>
              <a:srgbClr val="1F3A5F"/>
            </a:solidFill>
            <a:prstDash val="solid"/>
            <a:tailEnd type="triangle"/>
          </a:ln>
        </p:spPr>
      </p:sp>
      <p:sp>
        <p:nvSpPr>
          <p:cNvPr id="13" name="Shape 10"/>
          <p:cNvSpPr/>
          <p:nvPr/>
        </p:nvSpPr>
        <p:spPr>
          <a:xfrm>
            <a:off x="5577840" y="1920240"/>
            <a:ext cx="457200" cy="914"/>
          </a:xfrm>
          <a:prstGeom prst="line">
            <a:avLst/>
          </a:prstGeom>
          <a:noFill/>
          <a:ln w="31750">
            <a:solidFill>
              <a:srgbClr val="1F3A5F"/>
            </a:solidFill>
            <a:prstDash val="solid"/>
            <a:tailEnd type="triangle"/>
          </a:ln>
        </p:spPr>
      </p:sp>
      <p:sp>
        <p:nvSpPr>
          <p:cNvPr id="14" name="Shape 11"/>
          <p:cNvSpPr/>
          <p:nvPr/>
        </p:nvSpPr>
        <p:spPr>
          <a:xfrm>
            <a:off x="8412480" y="1920240"/>
            <a:ext cx="457200" cy="914"/>
          </a:xfrm>
          <a:prstGeom prst="line">
            <a:avLst/>
          </a:prstGeom>
          <a:noFill/>
          <a:ln w="31750">
            <a:solidFill>
              <a:srgbClr val="1F3A5F"/>
            </a:solidFill>
            <a:prstDash val="solid"/>
            <a:tailEnd type="triangle"/>
          </a:ln>
        </p:spPr>
      </p:sp>
      <p:sp>
        <p:nvSpPr>
          <p:cNvPr id="15" name="Text 12"/>
          <p:cNvSpPr txBox="1"/>
          <p:nvPr/>
        </p:nvSpPr>
        <p:spPr>
          <a:xfrm>
            <a:off x="3200400" y="2468880"/>
            <a:ext cx="5212080" cy="320040"/>
          </a:xfrm>
          <a:prstGeom prst="rect">
            <a:avLst/>
          </a:prstGeom>
          <a:noFill/>
          <a:ln/>
        </p:spPr>
        <p:txBody>
          <a:bodyPr wrap="square" lIns="0" tIns="0" rIns="0" bIns="0" rtlCol="0" anchor="t"/>
          <a:lstStyle/>
          <a:p>
            <a:pPr algn="ctr" indent="0" marL="0">
              <a:spcAft>
                <a:spcPts val="400"/>
              </a:spcAft>
              <a:buNone/>
            </a:pPr>
            <a:r>
              <a:rPr lang="en-US" sz="1200" dirty="0">
                <a:solidFill>
                  <a:srgbClr val="A23B3B"/>
                </a:solidFill>
              </a:rPr>
              <a:t>two translations on the path</a:t>
            </a:r>
            <a:endParaRPr lang="en-US" sz="1200" dirty="0"/>
          </a:p>
        </p:txBody>
      </p:sp>
      <p:sp>
        <p:nvSpPr>
          <p:cNvPr id="16" name="box"/>
          <p:cNvSpPr/>
          <p:nvPr/>
        </p:nvSpPr>
        <p:spPr>
          <a:xfrm>
            <a:off x="548640" y="3108960"/>
            <a:ext cx="5394960" cy="1280160"/>
          </a:xfrm>
          <a:prstGeom prst="roundRect">
            <a:avLst>
              <a:gd name="adj" fmla="val 5714"/>
            </a:avLst>
          </a:prstGeom>
          <a:solidFill>
            <a:srgbClr val="F3EAD7"/>
          </a:solidFill>
          <a:ln w="12700">
            <a:solidFill>
              <a:srgbClr val="F3EAD7"/>
            </a:solidFill>
            <a:prstDash val="solid"/>
          </a:ln>
        </p:spPr>
      </p:sp>
      <p:sp>
        <p:nvSpPr>
          <p:cNvPr id="17" name="Text 14"/>
          <p:cNvSpPr txBox="1"/>
          <p:nvPr/>
        </p:nvSpPr>
        <p:spPr>
          <a:xfrm>
            <a:off x="548640" y="3108960"/>
            <a:ext cx="5394960" cy="1280160"/>
          </a:xfrm>
          <a:prstGeom prst="rect">
            <a:avLst/>
          </a:prstGeom>
          <a:noFill/>
          <a:ln/>
        </p:spPr>
        <p:txBody>
          <a:bodyPr wrap="square" lIns="635" tIns="635" rIns="635" bIns="635" rtlCol="0" anchor="ctr"/>
          <a:lstStyle/>
          <a:p>
            <a:pPr algn="ctr" indent="0" marL="0">
              <a:spcAft>
                <a:spcPts val="300"/>
              </a:spcAft>
              <a:buNone/>
            </a:pPr>
            <a:r>
              <a:rPr lang="en-US" sz="1200" b="1" dirty="0">
                <a:solidFill>
                  <a:srgbClr val="1B2430"/>
                </a:solidFill>
              </a:rPr>
              <a:t>capacity</a:t>
            </a:r>
            <a:endParaRPr lang="en-US" sz="1200" dirty="0"/>
          </a:p>
          <a:p>
            <a:pPr algn="ctr" indent="0" marL="0">
              <a:spcAft>
                <a:spcPts val="300"/>
              </a:spcAft>
              <a:buNone/>
            </a:pPr>
            <a:r>
              <a:rPr lang="en-US" sz="1200" dirty="0">
                <a:solidFill>
                  <a:srgbClr val="1B2430"/>
                </a:solidFill>
              </a:rPr>
              <a:t>64 000 ports / 2 000 per customer = 32 customers per address</a:t>
            </a:r>
            <a:endParaRPr lang="en-US" sz="1200" dirty="0"/>
          </a:p>
          <a:p>
            <a:pPr algn="ctr" indent="0" marL="0">
              <a:spcAft>
                <a:spcPts val="300"/>
              </a:spcAft>
              <a:buNone/>
            </a:pPr>
            <a:r>
              <a:rPr lang="en-US" sz="1200" dirty="0">
                <a:solidFill>
                  <a:srgbClr val="1B2430"/>
                </a:solidFill>
              </a:rPr>
              <a:t>40 000 customers → 1 250 public addresses</a:t>
            </a:r>
            <a:endParaRPr lang="en-US" sz="1200" dirty="0"/>
          </a:p>
        </p:txBody>
      </p:sp>
      <p:sp>
        <p:nvSpPr>
          <p:cNvPr id="18" name="box"/>
          <p:cNvSpPr/>
          <p:nvPr/>
        </p:nvSpPr>
        <p:spPr>
          <a:xfrm>
            <a:off x="6217920" y="3108960"/>
            <a:ext cx="5394960" cy="1280160"/>
          </a:xfrm>
          <a:prstGeom prst="roundRect">
            <a:avLst>
              <a:gd name="adj" fmla="val 5714"/>
            </a:avLst>
          </a:prstGeom>
          <a:solidFill>
            <a:srgbClr val="F2D6D6"/>
          </a:solidFill>
          <a:ln w="12700">
            <a:solidFill>
              <a:srgbClr val="F2D6D6"/>
            </a:solidFill>
            <a:prstDash val="solid"/>
          </a:ln>
        </p:spPr>
      </p:sp>
      <p:sp>
        <p:nvSpPr>
          <p:cNvPr id="19" name="Text 16"/>
          <p:cNvSpPr txBox="1"/>
          <p:nvPr/>
        </p:nvSpPr>
        <p:spPr>
          <a:xfrm>
            <a:off x="6217920" y="3108960"/>
            <a:ext cx="5394960" cy="1280160"/>
          </a:xfrm>
          <a:prstGeom prst="rect">
            <a:avLst/>
          </a:prstGeom>
          <a:noFill/>
          <a:ln/>
        </p:spPr>
        <p:txBody>
          <a:bodyPr wrap="square" lIns="635" tIns="635" rIns="635" bIns="635" rtlCol="0" anchor="ctr"/>
          <a:lstStyle/>
          <a:p>
            <a:pPr algn="ctr" indent="0" marL="0">
              <a:spcAft>
                <a:spcPts val="300"/>
              </a:spcAft>
              <a:buNone/>
            </a:pPr>
            <a:r>
              <a:rPr lang="en-US" sz="1200" b="1" dirty="0">
                <a:solidFill>
                  <a:srgbClr val="1B2430"/>
                </a:solidFill>
              </a:rPr>
              <a:t>consequences</a:t>
            </a:r>
            <a:endParaRPr lang="en-US" sz="1200" dirty="0"/>
          </a:p>
          <a:p>
            <a:pPr algn="ctr" indent="0" marL="0">
              <a:spcAft>
                <a:spcPts val="300"/>
              </a:spcAft>
              <a:buNone/>
            </a:pPr>
            <a:r>
              <a:rPr lang="en-US" sz="1200" dirty="0">
                <a:solidFill>
                  <a:srgbClr val="1B2430"/>
                </a:solidFill>
              </a:rPr>
              <a:t>no port forwarding possible for the customer</a:t>
            </a:r>
            <a:endParaRPr lang="en-US" sz="1200" dirty="0"/>
          </a:p>
          <a:p>
            <a:pPr algn="ctr" indent="0" marL="0">
              <a:spcAft>
                <a:spcPts val="300"/>
              </a:spcAft>
              <a:buNone/>
            </a:pPr>
            <a:r>
              <a:rPr lang="en-US" sz="1200" dirty="0">
                <a:solidFill>
                  <a:srgbClr val="1B2430"/>
                </a:solidFill>
              </a:rPr>
              <a:t>shared address: blocking one abuser blocks many</a:t>
            </a:r>
            <a:endParaRPr lang="en-US" sz="1200" dirty="0"/>
          </a:p>
        </p:txBody>
      </p:sp>
      <p:sp>
        <p:nvSpPr>
          <p:cNvPr id="2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1" name="Text 1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Carrier-grade NAT stretches IPv4 further — and takes control of incoming connections away from the user.</a:t>
            </a:r>
            <a:endParaRPr lang="en-US" sz="1400" dirty="0"/>
          </a:p>
        </p:txBody>
      </p:sp>
      <p:sp>
        <p:nvSpPr>
          <p:cNvPr id="22" name="Text 19"/>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IPv4 (Internet Protocol version 4) · NAT (network address translation) · ISP (Internet service provider) · WAN (wide area network)</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9 · Inbound connections: port forwarding</a:t>
            </a:r>
            <a:endParaRPr lang="en-US" sz="3000" dirty="0"/>
          </a:p>
        </p:txBody>
      </p:sp>
      <p:sp>
        <p:nvSpPr>
          <p:cNvPr id="4" name="box"/>
          <p:cNvSpPr/>
          <p:nvPr/>
        </p:nvSpPr>
        <p:spPr>
          <a:xfrm>
            <a:off x="548640" y="1463040"/>
            <a:ext cx="2560320" cy="1005840"/>
          </a:xfrm>
          <a:prstGeom prst="roundRect">
            <a:avLst>
              <a:gd name="adj" fmla="val 7273"/>
            </a:avLst>
          </a:prstGeom>
          <a:solidFill>
            <a:srgbClr val="EEF2F6"/>
          </a:solidFill>
          <a:ln w="12700">
            <a:solidFill>
              <a:srgbClr val="EEF2F6"/>
            </a:solidFill>
            <a:prstDash val="solid"/>
          </a:ln>
        </p:spPr>
      </p:sp>
      <p:sp>
        <p:nvSpPr>
          <p:cNvPr id="5" name="Text 2"/>
          <p:cNvSpPr txBox="1"/>
          <p:nvPr/>
        </p:nvSpPr>
        <p:spPr>
          <a:xfrm>
            <a:off x="548640" y="1463040"/>
            <a:ext cx="2560320" cy="1005840"/>
          </a:xfrm>
          <a:prstGeom prst="rect">
            <a:avLst/>
          </a:prstGeom>
          <a:noFill/>
          <a:ln/>
        </p:spPr>
        <p:txBody>
          <a:bodyPr wrap="square" lIns="635" tIns="635" rIns="635" bIns="635" rtlCol="0" anchor="ctr"/>
          <a:lstStyle/>
          <a:p>
            <a:pPr algn="ctr" indent="0" marL="0">
              <a:buNone/>
            </a:pPr>
            <a:r>
              <a:rPr lang="en-US" sz="1200" dirty="0">
                <a:solidFill>
                  <a:srgbClr val="1B2430"/>
                </a:solidFill>
              </a:rPr>
              <a:t>client</a:t>
            </a:r>
            <a:endParaRPr lang="en-US" sz="1200" dirty="0"/>
          </a:p>
          <a:p>
            <a:pPr algn="ctr" indent="0" marL="0">
              <a:buNone/>
            </a:pPr>
            <a:r>
              <a:rPr lang="en-US" sz="1200" dirty="0">
                <a:solidFill>
                  <a:srgbClr val="1B2430"/>
                </a:solidFill>
              </a:rPr>
              <a:t>203.0.113.9:60000</a:t>
            </a:r>
            <a:endParaRPr lang="en-US" sz="1200" dirty="0"/>
          </a:p>
        </p:txBody>
      </p:sp>
      <p:sp>
        <p:nvSpPr>
          <p:cNvPr id="6" name="box"/>
          <p:cNvSpPr/>
          <p:nvPr/>
        </p:nvSpPr>
        <p:spPr>
          <a:xfrm>
            <a:off x="4206240" y="1463040"/>
            <a:ext cx="3291840" cy="1005840"/>
          </a:xfrm>
          <a:prstGeom prst="roundRect">
            <a:avLst>
              <a:gd name="adj" fmla="val 7273"/>
            </a:avLst>
          </a:prstGeom>
          <a:solidFill>
            <a:srgbClr val="B9772A"/>
          </a:solidFill>
          <a:ln w="12700">
            <a:solidFill>
              <a:srgbClr val="B9772A"/>
            </a:solidFill>
            <a:prstDash val="solid"/>
          </a:ln>
        </p:spPr>
      </p:sp>
      <p:sp>
        <p:nvSpPr>
          <p:cNvPr id="7" name="Text 4"/>
          <p:cNvSpPr txBox="1"/>
          <p:nvPr/>
        </p:nvSpPr>
        <p:spPr>
          <a:xfrm>
            <a:off x="4206240" y="1463040"/>
            <a:ext cx="3291840" cy="1005840"/>
          </a:xfrm>
          <a:prstGeom prst="rect">
            <a:avLst/>
          </a:prstGeom>
          <a:noFill/>
          <a:ln/>
        </p:spPr>
        <p:txBody>
          <a:bodyPr wrap="square" lIns="635" tIns="635" rIns="635" bIns="635" rtlCol="0" anchor="ctr"/>
          <a:lstStyle/>
          <a:p>
            <a:pPr algn="ctr" indent="0" marL="0">
              <a:buNone/>
            </a:pPr>
            <a:r>
              <a:rPr lang="en-US" sz="1200" b="1" dirty="0">
                <a:solidFill>
                  <a:srgbClr val="FFFFFF"/>
                </a:solidFill>
              </a:rPr>
              <a:t>router 86.120.4.7</a:t>
            </a:r>
            <a:endParaRPr lang="en-US" sz="1200" dirty="0"/>
          </a:p>
          <a:p>
            <a:pPr algn="ctr" indent="0" marL="0">
              <a:buNone/>
            </a:pPr>
            <a:r>
              <a:rPr lang="en-US" sz="1200" dirty="0">
                <a:solidFill>
                  <a:srgbClr val="FFFFFF"/>
                </a:solidFill>
              </a:rPr>
              <a:t>TCP 2222 → 192.168.1.10:22</a:t>
            </a:r>
            <a:endParaRPr lang="en-US" sz="1200" dirty="0"/>
          </a:p>
        </p:txBody>
      </p:sp>
      <p:sp>
        <p:nvSpPr>
          <p:cNvPr id="8" name="box"/>
          <p:cNvSpPr/>
          <p:nvPr/>
        </p:nvSpPr>
        <p:spPr>
          <a:xfrm>
            <a:off x="8778240" y="1463040"/>
            <a:ext cx="2834640" cy="1005840"/>
          </a:xfrm>
          <a:prstGeom prst="roundRect">
            <a:avLst>
              <a:gd name="adj" fmla="val 7273"/>
            </a:avLst>
          </a:prstGeom>
          <a:solidFill>
            <a:srgbClr val="1F3A5F"/>
          </a:solidFill>
          <a:ln w="12700">
            <a:solidFill>
              <a:srgbClr val="1F3A5F"/>
            </a:solidFill>
            <a:prstDash val="solid"/>
          </a:ln>
        </p:spPr>
      </p:sp>
      <p:sp>
        <p:nvSpPr>
          <p:cNvPr id="9" name="Text 6"/>
          <p:cNvSpPr txBox="1"/>
          <p:nvPr/>
        </p:nvSpPr>
        <p:spPr>
          <a:xfrm>
            <a:off x="8778240" y="1463040"/>
            <a:ext cx="2834640" cy="1005840"/>
          </a:xfrm>
          <a:prstGeom prst="rect">
            <a:avLst/>
          </a:prstGeom>
          <a:noFill/>
          <a:ln/>
        </p:spPr>
        <p:txBody>
          <a:bodyPr wrap="square" lIns="635" tIns="635" rIns="635" bIns="635" rtlCol="0" anchor="ctr"/>
          <a:lstStyle/>
          <a:p>
            <a:pPr algn="ctr" indent="0" marL="0">
              <a:buNone/>
            </a:pPr>
            <a:r>
              <a:rPr lang="en-US" sz="1200" dirty="0">
                <a:solidFill>
                  <a:srgbClr val="FFFFFF"/>
                </a:solidFill>
              </a:rPr>
              <a:t>SSH server</a:t>
            </a:r>
            <a:endParaRPr lang="en-US" sz="1200" dirty="0"/>
          </a:p>
          <a:p>
            <a:pPr algn="ctr" indent="0" marL="0">
              <a:buNone/>
            </a:pPr>
            <a:r>
              <a:rPr lang="en-US" sz="1200" dirty="0">
                <a:solidFill>
                  <a:srgbClr val="FFFFFF"/>
                </a:solidFill>
              </a:rPr>
              <a:t>192.168.1.10:22</a:t>
            </a:r>
            <a:endParaRPr lang="en-US" sz="1200" dirty="0"/>
          </a:p>
        </p:txBody>
      </p:sp>
      <p:sp>
        <p:nvSpPr>
          <p:cNvPr id="10" name="Shape 7"/>
          <p:cNvSpPr/>
          <p:nvPr/>
        </p:nvSpPr>
        <p:spPr>
          <a:xfrm>
            <a:off x="3108960" y="1965960"/>
            <a:ext cx="1097280" cy="914"/>
          </a:xfrm>
          <a:prstGeom prst="line">
            <a:avLst/>
          </a:prstGeom>
          <a:noFill/>
          <a:ln w="31750">
            <a:solidFill>
              <a:srgbClr val="1F3A5F"/>
            </a:solidFill>
            <a:prstDash val="solid"/>
            <a:tailEnd type="triangle"/>
          </a:ln>
        </p:spPr>
      </p:sp>
      <p:sp>
        <p:nvSpPr>
          <p:cNvPr id="11" name="Text 8"/>
          <p:cNvSpPr txBox="1"/>
          <p:nvPr/>
        </p:nvSpPr>
        <p:spPr>
          <a:xfrm>
            <a:off x="3154680" y="1645920"/>
            <a:ext cx="1005840" cy="310896"/>
          </a:xfrm>
          <a:prstGeom prst="rect">
            <a:avLst/>
          </a:prstGeom>
          <a:solidFill>
            <a:srgbClr val="FFFFFF"/>
          </a:solidFill>
          <a:ln/>
        </p:spPr>
        <p:txBody>
          <a:bodyPr wrap="square" lIns="0" tIns="0" rIns="0" bIns="0" rtlCol="0" anchor="ctr"/>
          <a:lstStyle/>
          <a:p>
            <a:pPr algn="ctr" indent="0" marL="0">
              <a:buNone/>
            </a:pPr>
            <a:r>
              <a:rPr lang="en-US" sz="1100" dirty="0">
                <a:solidFill>
                  <a:srgbClr val="1F3A5F"/>
                </a:solidFill>
              </a:rPr>
              <a:t>→ :2222</a:t>
            </a:r>
            <a:endParaRPr lang="en-US" sz="1100" dirty="0"/>
          </a:p>
        </p:txBody>
      </p:sp>
      <p:sp>
        <p:nvSpPr>
          <p:cNvPr id="12" name="Shape 9"/>
          <p:cNvSpPr/>
          <p:nvPr/>
        </p:nvSpPr>
        <p:spPr>
          <a:xfrm>
            <a:off x="7498080" y="1965960"/>
            <a:ext cx="1280160" cy="914"/>
          </a:xfrm>
          <a:prstGeom prst="line">
            <a:avLst/>
          </a:prstGeom>
          <a:noFill/>
          <a:ln w="31750">
            <a:solidFill>
              <a:srgbClr val="1F3A5F"/>
            </a:solidFill>
            <a:prstDash val="solid"/>
            <a:tailEnd type="triangle"/>
          </a:ln>
        </p:spPr>
      </p:sp>
      <p:sp>
        <p:nvSpPr>
          <p:cNvPr id="13" name="Text 10"/>
          <p:cNvSpPr txBox="1"/>
          <p:nvPr/>
        </p:nvSpPr>
        <p:spPr>
          <a:xfrm>
            <a:off x="7680960" y="1645920"/>
            <a:ext cx="914400" cy="310896"/>
          </a:xfrm>
          <a:prstGeom prst="rect">
            <a:avLst/>
          </a:prstGeom>
          <a:solidFill>
            <a:srgbClr val="FFFFFF"/>
          </a:solidFill>
          <a:ln/>
        </p:spPr>
        <p:txBody>
          <a:bodyPr wrap="square" lIns="0" tIns="0" rIns="0" bIns="0" rtlCol="0" anchor="ctr"/>
          <a:lstStyle/>
          <a:p>
            <a:pPr algn="ctr" indent="0" marL="0">
              <a:buNone/>
            </a:pPr>
            <a:r>
              <a:rPr lang="en-US" sz="1100" dirty="0">
                <a:solidFill>
                  <a:srgbClr val="1F3A5F"/>
                </a:solidFill>
              </a:rPr>
              <a:t>→ :22</a:t>
            </a:r>
            <a:endParaRPr lang="en-US" sz="1100" dirty="0"/>
          </a:p>
        </p:txBody>
      </p:sp>
      <p:sp>
        <p:nvSpPr>
          <p:cNvPr id="14" name="Shape 11"/>
          <p:cNvSpPr/>
          <p:nvPr/>
        </p:nvSpPr>
        <p:spPr>
          <a:xfrm>
            <a:off x="548640" y="2898648"/>
            <a:ext cx="384048" cy="384048"/>
          </a:xfrm>
          <a:prstGeom prst="ellipse">
            <a:avLst/>
          </a:prstGeom>
          <a:solidFill>
            <a:srgbClr val="B9772A"/>
          </a:solidFill>
          <a:ln w="12700">
            <a:solidFill>
              <a:srgbClr val="B9772A"/>
            </a:solidFill>
            <a:prstDash val="solid"/>
          </a:ln>
        </p:spPr>
      </p:sp>
      <p:sp>
        <p:nvSpPr>
          <p:cNvPr id="15" name="Text 12"/>
          <p:cNvSpPr txBox="1"/>
          <p:nvPr/>
        </p:nvSpPr>
        <p:spPr>
          <a:xfrm>
            <a:off x="548640"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6" name="Text 13"/>
          <p:cNvSpPr txBox="1"/>
          <p:nvPr/>
        </p:nvSpPr>
        <p:spPr>
          <a:xfrm>
            <a:off x="1051560" y="2880360"/>
            <a:ext cx="10561320" cy="77724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static</a:t>
            </a:r>
            <a:r>
              <a:rPr lang="en-US" sz="1300" dirty="0">
                <a:solidFill>
                  <a:srgbClr val="1B2430"/>
                </a:solidFill>
              </a:rPr>
              <a:t>: configured by hand on the router (DNAT)</a:t>
            </a:r>
            <a:endParaRPr lang="en-US" sz="1300" dirty="0"/>
          </a:p>
        </p:txBody>
      </p:sp>
      <p:sp>
        <p:nvSpPr>
          <p:cNvPr id="17" name="Shape 14"/>
          <p:cNvSpPr/>
          <p:nvPr/>
        </p:nvSpPr>
        <p:spPr>
          <a:xfrm>
            <a:off x="548640" y="3767328"/>
            <a:ext cx="384048" cy="384048"/>
          </a:xfrm>
          <a:prstGeom prst="ellipse">
            <a:avLst/>
          </a:prstGeom>
          <a:solidFill>
            <a:srgbClr val="B9772A"/>
          </a:solidFill>
          <a:ln w="12700">
            <a:solidFill>
              <a:srgbClr val="B9772A"/>
            </a:solidFill>
            <a:prstDash val="solid"/>
          </a:ln>
        </p:spPr>
      </p:sp>
      <p:sp>
        <p:nvSpPr>
          <p:cNvPr id="18" name="Text 15"/>
          <p:cNvSpPr txBox="1"/>
          <p:nvPr/>
        </p:nvSpPr>
        <p:spPr>
          <a:xfrm>
            <a:off x="548640" y="3767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9" name="Text 16"/>
          <p:cNvSpPr txBox="1"/>
          <p:nvPr/>
        </p:nvSpPr>
        <p:spPr>
          <a:xfrm>
            <a:off x="1051560" y="3749040"/>
            <a:ext cx="10561320" cy="77724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UPnP IGD · PCP (RFC 6887)</a:t>
            </a:r>
            <a:r>
              <a:rPr lang="en-US" sz="1300" dirty="0">
                <a:solidFill>
                  <a:srgbClr val="1B2430"/>
                </a:solidFill>
              </a:rPr>
              <a:t>: the application asks the router for a mapping</a:t>
            </a:r>
            <a:endParaRPr lang="en-US" sz="1300" dirty="0"/>
          </a:p>
        </p:txBody>
      </p:sp>
      <p:sp>
        <p:nvSpPr>
          <p:cNvPr id="20" name="Shape 17"/>
          <p:cNvSpPr/>
          <p:nvPr/>
        </p:nvSpPr>
        <p:spPr>
          <a:xfrm>
            <a:off x="548640" y="4636008"/>
            <a:ext cx="384048" cy="384048"/>
          </a:xfrm>
          <a:prstGeom prst="ellipse">
            <a:avLst/>
          </a:prstGeom>
          <a:solidFill>
            <a:srgbClr val="B9772A"/>
          </a:solidFill>
          <a:ln w="12700">
            <a:solidFill>
              <a:srgbClr val="B9772A"/>
            </a:solidFill>
            <a:prstDash val="solid"/>
          </a:ln>
        </p:spPr>
      </p:sp>
      <p:sp>
        <p:nvSpPr>
          <p:cNvPr id="21" name="Text 18"/>
          <p:cNvSpPr txBox="1"/>
          <p:nvPr/>
        </p:nvSpPr>
        <p:spPr>
          <a:xfrm>
            <a:off x="548640" y="4636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2" name="Text 19"/>
          <p:cNvSpPr txBox="1"/>
          <p:nvPr/>
        </p:nvSpPr>
        <p:spPr>
          <a:xfrm>
            <a:off x="1051560" y="4617720"/>
            <a:ext cx="10561320" cy="777240"/>
          </a:xfrm>
          <a:prstGeom prst="rect">
            <a:avLst/>
          </a:prstGeom>
          <a:noFill/>
          <a:ln/>
        </p:spPr>
        <p:txBody>
          <a:bodyPr wrap="square" lIns="0" tIns="0" rIns="0" bIns="0" rtlCol="0" anchor="t"/>
          <a:lstStyle/>
          <a:p>
            <a:pPr algn="l" indent="0" marL="0">
              <a:spcAft>
                <a:spcPts val="400"/>
              </a:spcAft>
              <a:buNone/>
            </a:pPr>
            <a:r>
              <a:rPr lang="en-US" sz="1300" b="1" dirty="0">
                <a:solidFill>
                  <a:srgbClr val="1B2430"/>
                </a:solidFill>
              </a:rPr>
              <a:t>no mapping</a:t>
            </a:r>
            <a:r>
              <a:rPr lang="en-US" sz="1300" dirty="0">
                <a:solidFill>
                  <a:srgbClr val="1B2430"/>
                </a:solidFill>
              </a:rPr>
              <a:t>: packet dropped (or RST): NAT blocks unsolicited traffic — but is no firewall</a:t>
            </a:r>
            <a:endParaRPr lang="en-US" sz="1300" dirty="0"/>
          </a:p>
        </p:txBody>
      </p:sp>
      <p:sp>
        <p:nvSpPr>
          <p:cNvPr id="23"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4" name="Text 21"/>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Outgoing connections create mappings automatically; incoming ones need someone to create them first.</a:t>
            </a:r>
            <a:endParaRPr lang="en-US" sz="1400" dirty="0"/>
          </a:p>
        </p:txBody>
      </p:sp>
      <p:sp>
        <p:nvSpPr>
          <p:cNvPr id="25" name="Text 22"/>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UPnP (Universal Plug and Play) · TCP (Transmission Control Protocol) · SSH (Secure Shell) · RFC (Request for Comments) · RST (reset) · NAT (network address translation) · PCP (Port Control Protocol) · IGD (Internet Gateway Device)</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9 · What NAT breaks</a:t>
            </a:r>
            <a:endParaRPr lang="en-US" sz="3000" dirty="0"/>
          </a:p>
        </p:txBody>
      </p:sp>
      <p:sp>
        <p:nvSpPr>
          <p:cNvPr id="4" name="box"/>
          <p:cNvSpPr/>
          <p:nvPr/>
        </p:nvSpPr>
        <p:spPr>
          <a:xfrm>
            <a:off x="548640" y="1325880"/>
            <a:ext cx="5440680" cy="1828800"/>
          </a:xfrm>
          <a:prstGeom prst="roundRect">
            <a:avLst>
              <a:gd name="adj" fmla="val 4000"/>
            </a:avLst>
          </a:prstGeom>
          <a:solidFill>
            <a:srgbClr val="EEF2F6"/>
          </a:solidFill>
          <a:ln w="12700">
            <a:solidFill>
              <a:srgbClr val="EEF2F6"/>
            </a:solidFill>
            <a:prstDash val="solid"/>
          </a:ln>
        </p:spPr>
      </p:sp>
      <p:sp>
        <p:nvSpPr>
          <p:cNvPr id="5" name="box"/>
          <p:cNvSpPr/>
          <p:nvPr/>
        </p:nvSpPr>
        <p:spPr>
          <a:xfrm>
            <a:off x="548640" y="1325880"/>
            <a:ext cx="5440680" cy="548640"/>
          </a:xfrm>
          <a:prstGeom prst="rect">
            <a:avLst/>
          </a:prstGeom>
          <a:solidFill>
            <a:srgbClr val="B9772A"/>
          </a:solidFill>
          <a:ln w="12700">
            <a:solidFill>
              <a:srgbClr val="B9772A"/>
            </a:solidFill>
            <a:prstDash val="solid"/>
          </a:ln>
        </p:spPr>
      </p:sp>
      <p:sp>
        <p:nvSpPr>
          <p:cNvPr id="6" name="Text 3"/>
          <p:cNvSpPr txBox="1"/>
          <p:nvPr/>
        </p:nvSpPr>
        <p:spPr>
          <a:xfrm>
            <a:off x="548640" y="1325880"/>
            <a:ext cx="5440680" cy="548640"/>
          </a:xfrm>
          <a:prstGeom prst="rect">
            <a:avLst/>
          </a:prstGeom>
          <a:noFill/>
          <a:ln/>
        </p:spPr>
        <p:txBody>
          <a:bodyPr wrap="square" lIns="635" tIns="635" rIns="635" bIns="635" rtlCol="0" anchor="ctr"/>
          <a:lstStyle/>
          <a:p>
            <a:pPr algn="ctr" indent="0" marL="0">
              <a:buNone/>
            </a:pPr>
            <a:r>
              <a:rPr lang="en-US" sz="1400" b="1" dirty="0">
                <a:solidFill>
                  <a:srgbClr val="FFFFFF"/>
                </a:solidFill>
              </a:rPr>
              <a:t>mappings expire</a:t>
            </a:r>
            <a:endParaRPr lang="en-US" sz="1400" dirty="0"/>
          </a:p>
        </p:txBody>
      </p:sp>
      <p:sp>
        <p:nvSpPr>
          <p:cNvPr id="7" name="Text 4"/>
          <p:cNvSpPr txBox="1"/>
          <p:nvPr/>
        </p:nvSpPr>
        <p:spPr>
          <a:xfrm>
            <a:off x="731520" y="2057400"/>
            <a:ext cx="5074920" cy="10058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idle UDP after tens of seconds, TCP after minutes or hours → keepalives</a:t>
            </a:r>
            <a:endParaRPr lang="en-US" sz="1300" dirty="0"/>
          </a:p>
        </p:txBody>
      </p:sp>
      <p:sp>
        <p:nvSpPr>
          <p:cNvPr id="8" name="box"/>
          <p:cNvSpPr/>
          <p:nvPr/>
        </p:nvSpPr>
        <p:spPr>
          <a:xfrm>
            <a:off x="6172200" y="1325880"/>
            <a:ext cx="5440680" cy="1828800"/>
          </a:xfrm>
          <a:prstGeom prst="roundRect">
            <a:avLst>
              <a:gd name="adj" fmla="val 4000"/>
            </a:avLst>
          </a:prstGeom>
          <a:solidFill>
            <a:srgbClr val="EEF2F6"/>
          </a:solidFill>
          <a:ln w="12700">
            <a:solidFill>
              <a:srgbClr val="EEF2F6"/>
            </a:solidFill>
            <a:prstDash val="solid"/>
          </a:ln>
        </p:spPr>
      </p:sp>
      <p:sp>
        <p:nvSpPr>
          <p:cNvPr id="9" name="box"/>
          <p:cNvSpPr/>
          <p:nvPr/>
        </p:nvSpPr>
        <p:spPr>
          <a:xfrm>
            <a:off x="6172200" y="1325880"/>
            <a:ext cx="5440680" cy="548640"/>
          </a:xfrm>
          <a:prstGeom prst="rect">
            <a:avLst/>
          </a:prstGeom>
          <a:solidFill>
            <a:srgbClr val="A23B3B"/>
          </a:solidFill>
          <a:ln w="12700">
            <a:solidFill>
              <a:srgbClr val="A23B3B"/>
            </a:solidFill>
            <a:prstDash val="solid"/>
          </a:ln>
        </p:spPr>
      </p:sp>
      <p:sp>
        <p:nvSpPr>
          <p:cNvPr id="10" name="Text 7"/>
          <p:cNvSpPr txBox="1"/>
          <p:nvPr/>
        </p:nvSpPr>
        <p:spPr>
          <a:xfrm>
            <a:off x="6172200" y="1325880"/>
            <a:ext cx="5440680" cy="548640"/>
          </a:xfrm>
          <a:prstGeom prst="rect">
            <a:avLst/>
          </a:prstGeom>
          <a:noFill/>
          <a:ln/>
        </p:spPr>
        <p:txBody>
          <a:bodyPr wrap="square" lIns="635" tIns="635" rIns="635" bIns="635" rtlCol="0" anchor="ctr"/>
          <a:lstStyle/>
          <a:p>
            <a:pPr algn="ctr" indent="0" marL="0">
              <a:buNone/>
            </a:pPr>
            <a:r>
              <a:rPr lang="en-US" sz="1400" b="1" dirty="0">
                <a:solidFill>
                  <a:srgbClr val="FFFFFF"/>
                </a:solidFill>
              </a:rPr>
              <a:t>addresses inside messages</a:t>
            </a:r>
            <a:endParaRPr lang="en-US" sz="1400" dirty="0"/>
          </a:p>
        </p:txBody>
      </p:sp>
      <p:sp>
        <p:nvSpPr>
          <p:cNvPr id="11" name="Text 8"/>
          <p:cNvSpPr txBox="1"/>
          <p:nvPr/>
        </p:nvSpPr>
        <p:spPr>
          <a:xfrm>
            <a:off x="6355080" y="2057400"/>
            <a:ext cx="5074920" cy="10058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active FTP’s PORT, SIP telephony → an ALG rewrites them — impossible if encrypted</a:t>
            </a:r>
            <a:endParaRPr lang="en-US" sz="1300" dirty="0"/>
          </a:p>
        </p:txBody>
      </p:sp>
      <p:sp>
        <p:nvSpPr>
          <p:cNvPr id="12" name="box"/>
          <p:cNvSpPr/>
          <p:nvPr/>
        </p:nvSpPr>
        <p:spPr>
          <a:xfrm>
            <a:off x="548640" y="3337560"/>
            <a:ext cx="5440680" cy="1828800"/>
          </a:xfrm>
          <a:prstGeom prst="roundRect">
            <a:avLst>
              <a:gd name="adj" fmla="val 4000"/>
            </a:avLst>
          </a:prstGeom>
          <a:solidFill>
            <a:srgbClr val="EEF2F6"/>
          </a:solidFill>
          <a:ln w="12700">
            <a:solidFill>
              <a:srgbClr val="EEF2F6"/>
            </a:solidFill>
            <a:prstDash val="solid"/>
          </a:ln>
        </p:spPr>
      </p:sp>
      <p:sp>
        <p:nvSpPr>
          <p:cNvPr id="13" name="box"/>
          <p:cNvSpPr/>
          <p:nvPr/>
        </p:nvSpPr>
        <p:spPr>
          <a:xfrm>
            <a:off x="548640" y="3337560"/>
            <a:ext cx="5440680" cy="548640"/>
          </a:xfrm>
          <a:prstGeom prst="rect">
            <a:avLst/>
          </a:prstGeom>
          <a:solidFill>
            <a:srgbClr val="1F3A5F"/>
          </a:solidFill>
          <a:ln w="12700">
            <a:solidFill>
              <a:srgbClr val="1F3A5F"/>
            </a:solidFill>
            <a:prstDash val="solid"/>
          </a:ln>
        </p:spPr>
      </p:sp>
      <p:sp>
        <p:nvSpPr>
          <p:cNvPr id="14" name="Text 11"/>
          <p:cNvSpPr txBox="1"/>
          <p:nvPr/>
        </p:nvSpPr>
        <p:spPr>
          <a:xfrm>
            <a:off x="548640" y="3337560"/>
            <a:ext cx="5440680" cy="548640"/>
          </a:xfrm>
          <a:prstGeom prst="rect">
            <a:avLst/>
          </a:prstGeom>
          <a:noFill/>
          <a:ln/>
        </p:spPr>
        <p:txBody>
          <a:bodyPr wrap="square" lIns="635" tIns="635" rIns="635" bIns="635" rtlCol="0" anchor="ctr"/>
          <a:lstStyle/>
          <a:p>
            <a:pPr algn="ctr" indent="0" marL="0">
              <a:buNone/>
            </a:pPr>
            <a:r>
              <a:rPr lang="en-US" sz="1400" b="1" dirty="0">
                <a:solidFill>
                  <a:srgbClr val="FFFFFF"/>
                </a:solidFill>
              </a:rPr>
              <a:t>peer-to-peer</a:t>
            </a:r>
            <a:endParaRPr lang="en-US" sz="1400" dirty="0"/>
          </a:p>
        </p:txBody>
      </p:sp>
      <p:sp>
        <p:nvSpPr>
          <p:cNvPr id="15" name="Text 12"/>
          <p:cNvSpPr txBox="1"/>
          <p:nvPr/>
        </p:nvSpPr>
        <p:spPr>
          <a:xfrm>
            <a:off x="731520" y="4069080"/>
            <a:ext cx="5074920" cy="10058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two hosts both behind NAT cannot simply connect</a:t>
            </a:r>
            <a:endParaRPr lang="en-US" sz="1300" dirty="0"/>
          </a:p>
        </p:txBody>
      </p:sp>
      <p:sp>
        <p:nvSpPr>
          <p:cNvPr id="16" name="box"/>
          <p:cNvSpPr/>
          <p:nvPr/>
        </p:nvSpPr>
        <p:spPr>
          <a:xfrm>
            <a:off x="6172200" y="3337560"/>
            <a:ext cx="5440680" cy="1828800"/>
          </a:xfrm>
          <a:prstGeom prst="roundRect">
            <a:avLst>
              <a:gd name="adj" fmla="val 4000"/>
            </a:avLst>
          </a:prstGeom>
          <a:solidFill>
            <a:srgbClr val="EEF2F6"/>
          </a:solidFill>
          <a:ln w="12700">
            <a:solidFill>
              <a:srgbClr val="EEF2F6"/>
            </a:solidFill>
            <a:prstDash val="solid"/>
          </a:ln>
        </p:spPr>
      </p:sp>
      <p:sp>
        <p:nvSpPr>
          <p:cNvPr id="17" name="box"/>
          <p:cNvSpPr/>
          <p:nvPr/>
        </p:nvSpPr>
        <p:spPr>
          <a:xfrm>
            <a:off x="6172200" y="3337560"/>
            <a:ext cx="5440680" cy="548640"/>
          </a:xfrm>
          <a:prstGeom prst="rect">
            <a:avLst/>
          </a:prstGeom>
          <a:solidFill>
            <a:srgbClr val="5B6770"/>
          </a:solidFill>
          <a:ln w="12700">
            <a:solidFill>
              <a:srgbClr val="5B6770"/>
            </a:solidFill>
            <a:prstDash val="solid"/>
          </a:ln>
        </p:spPr>
      </p:sp>
      <p:sp>
        <p:nvSpPr>
          <p:cNvPr id="18" name="Text 15"/>
          <p:cNvSpPr txBox="1"/>
          <p:nvPr/>
        </p:nvSpPr>
        <p:spPr>
          <a:xfrm>
            <a:off x="6172200" y="3337560"/>
            <a:ext cx="5440680" cy="548640"/>
          </a:xfrm>
          <a:prstGeom prst="rect">
            <a:avLst/>
          </a:prstGeom>
          <a:noFill/>
          <a:ln/>
        </p:spPr>
        <p:txBody>
          <a:bodyPr wrap="square" lIns="635" tIns="635" rIns="635" bIns="635" rtlCol="0" anchor="ctr"/>
          <a:lstStyle/>
          <a:p>
            <a:pPr algn="ctr" indent="0" marL="0">
              <a:buNone/>
            </a:pPr>
            <a:r>
              <a:rPr lang="en-US" sz="1400" b="1" dirty="0">
                <a:solidFill>
                  <a:srgbClr val="FFFFFF"/>
                </a:solidFill>
              </a:rPr>
              <a:t>end-to-end principle</a:t>
            </a:r>
            <a:endParaRPr lang="en-US" sz="1400" dirty="0"/>
          </a:p>
        </p:txBody>
      </p:sp>
      <p:sp>
        <p:nvSpPr>
          <p:cNvPr id="19" name="Text 16"/>
          <p:cNvSpPr txBox="1"/>
          <p:nvPr/>
        </p:nvSpPr>
        <p:spPr>
          <a:xfrm>
            <a:off x="6355080" y="4069080"/>
            <a:ext cx="5074920" cy="10058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 router edits transport headers; a host’s address is not what peers see</a:t>
            </a:r>
            <a:endParaRPr lang="en-US" sz="1300" dirty="0"/>
          </a:p>
        </p:txBody>
      </p:sp>
      <p:sp>
        <p:nvSpPr>
          <p:cNvPr id="2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1" name="Text 1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NAT kept IPv4 alive for thirty years at the price of the Internet’s original end-to-end design.</a:t>
            </a:r>
            <a:endParaRPr lang="en-US" sz="1400" dirty="0"/>
          </a:p>
        </p:txBody>
      </p:sp>
      <p:sp>
        <p:nvSpPr>
          <p:cNvPr id="22" name="Text 19"/>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IPv4 (Internet Protocol version 4) · TCP (Transmission Control Protocol) · UDP (User Datagram Protocol) · NAT (network address translation) · SIP (Session Initiation Protocol) · FTP (File Transfer Protocol) · ALG (application-level gateway)</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9 · NAT traversal: STUN, hole punching, TURN, ICE</a:t>
            </a:r>
            <a:endParaRPr lang="en-US" sz="3000" dirty="0"/>
          </a:p>
        </p:txBody>
      </p:sp>
      <p:sp>
        <p:nvSpPr>
          <p:cNvPr id="4" name="box"/>
          <p:cNvSpPr/>
          <p:nvPr/>
        </p:nvSpPr>
        <p:spPr>
          <a:xfrm>
            <a:off x="548640" y="3017520"/>
            <a:ext cx="2011680" cy="822960"/>
          </a:xfrm>
          <a:prstGeom prst="roundRect">
            <a:avLst>
              <a:gd name="adj" fmla="val 8889"/>
            </a:avLst>
          </a:prstGeom>
          <a:solidFill>
            <a:srgbClr val="EEF2F6"/>
          </a:solidFill>
          <a:ln w="12700">
            <a:solidFill>
              <a:srgbClr val="EEF2F6"/>
            </a:solidFill>
            <a:prstDash val="solid"/>
          </a:ln>
        </p:spPr>
      </p:sp>
      <p:sp>
        <p:nvSpPr>
          <p:cNvPr id="5" name="Text 2"/>
          <p:cNvSpPr txBox="1"/>
          <p:nvPr/>
        </p:nvSpPr>
        <p:spPr>
          <a:xfrm>
            <a:off x="548640" y="3017520"/>
            <a:ext cx="2011680" cy="822960"/>
          </a:xfrm>
          <a:prstGeom prst="rect">
            <a:avLst/>
          </a:prstGeom>
          <a:noFill/>
          <a:ln/>
        </p:spPr>
        <p:txBody>
          <a:bodyPr wrap="square" lIns="635" tIns="635" rIns="635" bIns="635" rtlCol="0" anchor="ctr"/>
          <a:lstStyle/>
          <a:p>
            <a:pPr algn="ctr" indent="0" marL="0">
              <a:buNone/>
            </a:pPr>
            <a:r>
              <a:rPr lang="en-US" sz="1200" dirty="0">
                <a:solidFill>
                  <a:srgbClr val="1B2430"/>
                </a:solidFill>
              </a:rPr>
              <a:t>Alice</a:t>
            </a:r>
            <a:endParaRPr lang="en-US" sz="1200" dirty="0"/>
          </a:p>
          <a:p>
            <a:pPr algn="ctr" indent="0" marL="0">
              <a:buNone/>
            </a:pPr>
            <a:r>
              <a:rPr lang="en-US" sz="1200" dirty="0">
                <a:solidFill>
                  <a:srgbClr val="1B2430"/>
                </a:solidFill>
              </a:rPr>
              <a:t>behind NAT A</a:t>
            </a:r>
            <a:endParaRPr lang="en-US" sz="1200" dirty="0"/>
          </a:p>
        </p:txBody>
      </p:sp>
      <p:sp>
        <p:nvSpPr>
          <p:cNvPr id="6" name="box"/>
          <p:cNvSpPr/>
          <p:nvPr/>
        </p:nvSpPr>
        <p:spPr>
          <a:xfrm>
            <a:off x="9601200" y="3017520"/>
            <a:ext cx="2011680" cy="822960"/>
          </a:xfrm>
          <a:prstGeom prst="roundRect">
            <a:avLst>
              <a:gd name="adj" fmla="val 8889"/>
            </a:avLst>
          </a:prstGeom>
          <a:solidFill>
            <a:srgbClr val="EEF2F6"/>
          </a:solidFill>
          <a:ln w="12700">
            <a:solidFill>
              <a:srgbClr val="EEF2F6"/>
            </a:solidFill>
            <a:prstDash val="solid"/>
          </a:ln>
        </p:spPr>
      </p:sp>
      <p:sp>
        <p:nvSpPr>
          <p:cNvPr id="7" name="Text 4"/>
          <p:cNvSpPr txBox="1"/>
          <p:nvPr/>
        </p:nvSpPr>
        <p:spPr>
          <a:xfrm>
            <a:off x="9601200" y="3017520"/>
            <a:ext cx="2011680" cy="822960"/>
          </a:xfrm>
          <a:prstGeom prst="rect">
            <a:avLst/>
          </a:prstGeom>
          <a:noFill/>
          <a:ln/>
        </p:spPr>
        <p:txBody>
          <a:bodyPr wrap="square" lIns="635" tIns="635" rIns="635" bIns="635" rtlCol="0" anchor="ctr"/>
          <a:lstStyle/>
          <a:p>
            <a:pPr algn="ctr" indent="0" marL="0">
              <a:buNone/>
            </a:pPr>
            <a:r>
              <a:rPr lang="en-US" sz="1200" dirty="0">
                <a:solidFill>
                  <a:srgbClr val="1B2430"/>
                </a:solidFill>
              </a:rPr>
              <a:t>Bob</a:t>
            </a:r>
            <a:endParaRPr lang="en-US" sz="1200" dirty="0"/>
          </a:p>
          <a:p>
            <a:pPr algn="ctr" indent="0" marL="0">
              <a:buNone/>
            </a:pPr>
            <a:r>
              <a:rPr lang="en-US" sz="1200" dirty="0">
                <a:solidFill>
                  <a:srgbClr val="1B2430"/>
                </a:solidFill>
              </a:rPr>
              <a:t>behind NAT B</a:t>
            </a:r>
            <a:endParaRPr lang="en-US" sz="1200" dirty="0"/>
          </a:p>
        </p:txBody>
      </p:sp>
      <p:sp>
        <p:nvSpPr>
          <p:cNvPr id="8" name="box"/>
          <p:cNvSpPr/>
          <p:nvPr/>
        </p:nvSpPr>
        <p:spPr>
          <a:xfrm>
            <a:off x="2926080" y="3017520"/>
            <a:ext cx="1463040" cy="822960"/>
          </a:xfrm>
          <a:prstGeom prst="roundRect">
            <a:avLst>
              <a:gd name="adj" fmla="val 8889"/>
            </a:avLst>
          </a:prstGeom>
          <a:solidFill>
            <a:srgbClr val="B9772A"/>
          </a:solidFill>
          <a:ln w="12700">
            <a:solidFill>
              <a:srgbClr val="B9772A"/>
            </a:solidFill>
            <a:prstDash val="solid"/>
          </a:ln>
        </p:spPr>
      </p:sp>
      <p:sp>
        <p:nvSpPr>
          <p:cNvPr id="9" name="Text 6"/>
          <p:cNvSpPr txBox="1"/>
          <p:nvPr/>
        </p:nvSpPr>
        <p:spPr>
          <a:xfrm>
            <a:off x="2926080" y="3017520"/>
            <a:ext cx="1463040" cy="822960"/>
          </a:xfrm>
          <a:prstGeom prst="rect">
            <a:avLst/>
          </a:prstGeom>
          <a:noFill/>
          <a:ln/>
        </p:spPr>
        <p:txBody>
          <a:bodyPr wrap="square" lIns="635" tIns="635" rIns="635" bIns="635" rtlCol="0" anchor="ctr"/>
          <a:lstStyle/>
          <a:p>
            <a:pPr algn="ctr" indent="0" marL="0">
              <a:buNone/>
            </a:pPr>
            <a:r>
              <a:rPr lang="en-US" sz="1200" dirty="0">
                <a:solidFill>
                  <a:srgbClr val="FFFFFF"/>
                </a:solidFill>
              </a:rPr>
              <a:t>NAT A</a:t>
            </a:r>
            <a:endParaRPr lang="en-US" sz="1200" dirty="0"/>
          </a:p>
        </p:txBody>
      </p:sp>
      <p:sp>
        <p:nvSpPr>
          <p:cNvPr id="10" name="box"/>
          <p:cNvSpPr/>
          <p:nvPr/>
        </p:nvSpPr>
        <p:spPr>
          <a:xfrm>
            <a:off x="7772400" y="3017520"/>
            <a:ext cx="1463040" cy="822960"/>
          </a:xfrm>
          <a:prstGeom prst="roundRect">
            <a:avLst>
              <a:gd name="adj" fmla="val 8889"/>
            </a:avLst>
          </a:prstGeom>
          <a:solidFill>
            <a:srgbClr val="B9772A"/>
          </a:solidFill>
          <a:ln w="12700">
            <a:solidFill>
              <a:srgbClr val="B9772A"/>
            </a:solidFill>
            <a:prstDash val="solid"/>
          </a:ln>
        </p:spPr>
      </p:sp>
      <p:sp>
        <p:nvSpPr>
          <p:cNvPr id="11" name="Text 8"/>
          <p:cNvSpPr txBox="1"/>
          <p:nvPr/>
        </p:nvSpPr>
        <p:spPr>
          <a:xfrm>
            <a:off x="7772400" y="3017520"/>
            <a:ext cx="1463040" cy="822960"/>
          </a:xfrm>
          <a:prstGeom prst="rect">
            <a:avLst/>
          </a:prstGeom>
          <a:noFill/>
          <a:ln/>
        </p:spPr>
        <p:txBody>
          <a:bodyPr wrap="square" lIns="635" tIns="635" rIns="635" bIns="635" rtlCol="0" anchor="ctr"/>
          <a:lstStyle/>
          <a:p>
            <a:pPr algn="ctr" indent="0" marL="0">
              <a:buNone/>
            </a:pPr>
            <a:r>
              <a:rPr lang="en-US" sz="1200" dirty="0">
                <a:solidFill>
                  <a:srgbClr val="FFFFFF"/>
                </a:solidFill>
              </a:rPr>
              <a:t>NAT B</a:t>
            </a:r>
            <a:endParaRPr lang="en-US" sz="1200" dirty="0"/>
          </a:p>
        </p:txBody>
      </p:sp>
      <p:sp>
        <p:nvSpPr>
          <p:cNvPr id="12" name="box"/>
          <p:cNvSpPr/>
          <p:nvPr/>
        </p:nvSpPr>
        <p:spPr>
          <a:xfrm>
            <a:off x="5120640" y="1280160"/>
            <a:ext cx="2011680" cy="731520"/>
          </a:xfrm>
          <a:prstGeom prst="roundRect">
            <a:avLst>
              <a:gd name="adj" fmla="val 10000"/>
            </a:avLst>
          </a:prstGeom>
          <a:solidFill>
            <a:srgbClr val="2A7F8E"/>
          </a:solidFill>
          <a:ln w="12700">
            <a:solidFill>
              <a:srgbClr val="2A7F8E"/>
            </a:solidFill>
            <a:prstDash val="solid"/>
          </a:ln>
        </p:spPr>
      </p:sp>
      <p:sp>
        <p:nvSpPr>
          <p:cNvPr id="13" name="Text 10"/>
          <p:cNvSpPr txBox="1"/>
          <p:nvPr/>
        </p:nvSpPr>
        <p:spPr>
          <a:xfrm>
            <a:off x="5120640" y="1280160"/>
            <a:ext cx="2011680" cy="731520"/>
          </a:xfrm>
          <a:prstGeom prst="rect">
            <a:avLst/>
          </a:prstGeom>
          <a:noFill/>
          <a:ln/>
        </p:spPr>
        <p:txBody>
          <a:bodyPr wrap="square" lIns="635" tIns="635" rIns="635" bIns="635" rtlCol="0" anchor="ctr"/>
          <a:lstStyle/>
          <a:p>
            <a:pPr algn="ctr" indent="0" marL="0">
              <a:buNone/>
            </a:pPr>
            <a:r>
              <a:rPr lang="en-US" sz="1200" dirty="0">
                <a:solidFill>
                  <a:srgbClr val="FFFFFF"/>
                </a:solidFill>
              </a:rPr>
              <a:t>STUN server</a:t>
            </a:r>
            <a:endParaRPr lang="en-US" sz="1200" dirty="0"/>
          </a:p>
        </p:txBody>
      </p:sp>
      <p:sp>
        <p:nvSpPr>
          <p:cNvPr id="14" name="box"/>
          <p:cNvSpPr/>
          <p:nvPr/>
        </p:nvSpPr>
        <p:spPr>
          <a:xfrm>
            <a:off x="5120640" y="4572000"/>
            <a:ext cx="2011680" cy="731520"/>
          </a:xfrm>
          <a:prstGeom prst="roundRect">
            <a:avLst>
              <a:gd name="adj" fmla="val 10000"/>
            </a:avLst>
          </a:prstGeom>
          <a:solidFill>
            <a:srgbClr val="5B6770"/>
          </a:solidFill>
          <a:ln w="12700">
            <a:solidFill>
              <a:srgbClr val="5B6770"/>
            </a:solidFill>
            <a:prstDash val="solid"/>
          </a:ln>
        </p:spPr>
      </p:sp>
      <p:sp>
        <p:nvSpPr>
          <p:cNvPr id="15" name="Text 12"/>
          <p:cNvSpPr txBox="1"/>
          <p:nvPr/>
        </p:nvSpPr>
        <p:spPr>
          <a:xfrm>
            <a:off x="5120640" y="4572000"/>
            <a:ext cx="2011680" cy="731520"/>
          </a:xfrm>
          <a:prstGeom prst="rect">
            <a:avLst/>
          </a:prstGeom>
          <a:noFill/>
          <a:ln/>
        </p:spPr>
        <p:txBody>
          <a:bodyPr wrap="square" lIns="635" tIns="635" rIns="635" bIns="635" rtlCol="0" anchor="ctr"/>
          <a:lstStyle/>
          <a:p>
            <a:pPr algn="ctr" indent="0" marL="0">
              <a:buNone/>
            </a:pPr>
            <a:r>
              <a:rPr lang="en-US" sz="1200" dirty="0">
                <a:solidFill>
                  <a:srgbClr val="FFFFFF"/>
                </a:solidFill>
              </a:rPr>
              <a:t>TURN relay</a:t>
            </a:r>
            <a:endParaRPr lang="en-US" sz="1200" dirty="0"/>
          </a:p>
        </p:txBody>
      </p:sp>
      <p:sp>
        <p:nvSpPr>
          <p:cNvPr id="16" name="Shape 13"/>
          <p:cNvSpPr/>
          <p:nvPr/>
        </p:nvSpPr>
        <p:spPr>
          <a:xfrm flipV="1">
            <a:off x="4023360" y="2011680"/>
            <a:ext cx="1280160" cy="1005840"/>
          </a:xfrm>
          <a:prstGeom prst="line">
            <a:avLst/>
          </a:prstGeom>
          <a:noFill/>
          <a:ln w="22225">
            <a:solidFill>
              <a:srgbClr val="2A7F8E"/>
            </a:solidFill>
            <a:prstDash val="solid"/>
            <a:headEnd type="triangle"/>
            <a:tailEnd type="triangle"/>
          </a:ln>
        </p:spPr>
      </p:sp>
      <p:sp>
        <p:nvSpPr>
          <p:cNvPr id="17" name="Text 14"/>
          <p:cNvSpPr txBox="1"/>
          <p:nvPr/>
        </p:nvSpPr>
        <p:spPr>
          <a:xfrm>
            <a:off x="3794760" y="2066544"/>
            <a:ext cx="1737360" cy="310896"/>
          </a:xfrm>
          <a:prstGeom prst="rect">
            <a:avLst/>
          </a:prstGeom>
          <a:noFill/>
          <a:ln/>
        </p:spPr>
        <p:txBody>
          <a:bodyPr wrap="square" lIns="0" tIns="0" rIns="0" bIns="0" rtlCol="0" anchor="ctr"/>
          <a:lstStyle/>
          <a:p>
            <a:pPr algn="ctr" indent="0" marL="0">
              <a:buNone/>
            </a:pPr>
            <a:r>
              <a:rPr lang="en-US" sz="1000" dirty="0">
                <a:solidFill>
                  <a:srgbClr val="2A7F8E"/>
                </a:solidFill>
              </a:rPr>
              <a:t>1 my public addr?</a:t>
            </a:r>
            <a:endParaRPr lang="en-US" sz="1000" dirty="0"/>
          </a:p>
        </p:txBody>
      </p:sp>
      <p:sp>
        <p:nvSpPr>
          <p:cNvPr id="18" name="Shape 15"/>
          <p:cNvSpPr/>
          <p:nvPr/>
        </p:nvSpPr>
        <p:spPr>
          <a:xfrm flipH="1" flipV="1">
            <a:off x="6949440" y="2011680"/>
            <a:ext cx="1280160" cy="1005840"/>
          </a:xfrm>
          <a:prstGeom prst="line">
            <a:avLst/>
          </a:prstGeom>
          <a:noFill/>
          <a:ln w="22225">
            <a:solidFill>
              <a:srgbClr val="2A7F8E"/>
            </a:solidFill>
            <a:prstDash val="solid"/>
            <a:headEnd type="triangle"/>
            <a:tailEnd type="triangle"/>
          </a:ln>
        </p:spPr>
      </p:sp>
      <p:sp>
        <p:nvSpPr>
          <p:cNvPr id="19" name="Shape 16"/>
          <p:cNvSpPr/>
          <p:nvPr/>
        </p:nvSpPr>
        <p:spPr>
          <a:xfrm>
            <a:off x="4389120" y="3429000"/>
            <a:ext cx="3383280" cy="914"/>
          </a:xfrm>
          <a:prstGeom prst="line">
            <a:avLst/>
          </a:prstGeom>
          <a:noFill/>
          <a:ln w="38100">
            <a:solidFill>
              <a:srgbClr val="2E7D4F"/>
            </a:solidFill>
            <a:prstDash val="solid"/>
            <a:headEnd type="triangle"/>
            <a:tailEnd type="triangle"/>
          </a:ln>
        </p:spPr>
      </p:sp>
      <p:sp>
        <p:nvSpPr>
          <p:cNvPr id="20" name="Text 17"/>
          <p:cNvSpPr txBox="1"/>
          <p:nvPr/>
        </p:nvSpPr>
        <p:spPr>
          <a:xfrm>
            <a:off x="4434840" y="3108960"/>
            <a:ext cx="3291840" cy="310896"/>
          </a:xfrm>
          <a:prstGeom prst="rect">
            <a:avLst/>
          </a:prstGeom>
          <a:solidFill>
            <a:srgbClr val="FFFFFF"/>
          </a:solidFill>
          <a:ln/>
        </p:spPr>
        <p:txBody>
          <a:bodyPr wrap="square" lIns="0" tIns="0" rIns="0" bIns="0" rtlCol="0" anchor="ctr"/>
          <a:lstStyle/>
          <a:p>
            <a:pPr algn="ctr" indent="0" marL="0">
              <a:buNone/>
            </a:pPr>
            <a:r>
              <a:rPr lang="en-US" sz="1100" dirty="0">
                <a:solidFill>
                  <a:srgbClr val="2E7D4F"/>
                </a:solidFill>
              </a:rPr>
              <a:t>2 hole punching: both send at once</a:t>
            </a:r>
            <a:endParaRPr lang="en-US" sz="1100" dirty="0"/>
          </a:p>
        </p:txBody>
      </p:sp>
      <p:sp>
        <p:nvSpPr>
          <p:cNvPr id="21" name="Shape 18"/>
          <p:cNvSpPr/>
          <p:nvPr/>
        </p:nvSpPr>
        <p:spPr>
          <a:xfrm>
            <a:off x="4023360" y="3840480"/>
            <a:ext cx="1280160" cy="731520"/>
          </a:xfrm>
          <a:prstGeom prst="line">
            <a:avLst/>
          </a:prstGeom>
          <a:noFill/>
          <a:ln w="22225">
            <a:solidFill>
              <a:srgbClr val="5B6770"/>
            </a:solidFill>
            <a:prstDash val="dash"/>
            <a:headEnd type="triangle"/>
            <a:tailEnd type="triangle"/>
          </a:ln>
        </p:spPr>
      </p:sp>
      <p:sp>
        <p:nvSpPr>
          <p:cNvPr id="22" name="Shape 19"/>
          <p:cNvSpPr/>
          <p:nvPr/>
        </p:nvSpPr>
        <p:spPr>
          <a:xfrm flipH="1">
            <a:off x="6949440" y="3840480"/>
            <a:ext cx="1280160" cy="731520"/>
          </a:xfrm>
          <a:prstGeom prst="line">
            <a:avLst/>
          </a:prstGeom>
          <a:noFill/>
          <a:ln w="22225">
            <a:solidFill>
              <a:srgbClr val="5B6770"/>
            </a:solidFill>
            <a:prstDash val="dash"/>
            <a:headEnd type="triangle"/>
            <a:tailEnd type="triangle"/>
          </a:ln>
        </p:spPr>
      </p:sp>
      <p:sp>
        <p:nvSpPr>
          <p:cNvPr id="23" name="Text 20"/>
          <p:cNvSpPr txBox="1"/>
          <p:nvPr/>
        </p:nvSpPr>
        <p:spPr>
          <a:xfrm>
            <a:off x="7315200" y="4663440"/>
            <a:ext cx="4297680" cy="54864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3 fallback: relay all media (cost, delay)</a:t>
            </a:r>
            <a:endParaRPr lang="en-US" sz="1100" dirty="0"/>
          </a:p>
        </p:txBody>
      </p:sp>
      <p:sp>
        <p:nvSpPr>
          <p:cNvPr id="24" name="Text 21"/>
          <p:cNvSpPr txBox="1"/>
          <p:nvPr/>
        </p:nvSpPr>
        <p:spPr>
          <a:xfrm>
            <a:off x="548640" y="1325880"/>
            <a:ext cx="4297680" cy="1188720"/>
          </a:xfrm>
          <a:prstGeom prst="rect">
            <a:avLst/>
          </a:prstGeom>
          <a:noFill/>
          <a:ln/>
        </p:spPr>
        <p:txBody>
          <a:bodyPr wrap="square" lIns="0" tIns="0" rIns="0" bIns="0" rtlCol="0" anchor="t"/>
          <a:lstStyle/>
          <a:p>
            <a:pPr algn="l" indent="0" marL="0">
              <a:spcAft>
                <a:spcPts val="400"/>
              </a:spcAft>
              <a:buNone/>
            </a:pPr>
            <a:r>
              <a:rPr lang="en-US" sz="1200" b="1" dirty="0">
                <a:solidFill>
                  <a:srgbClr val="1B2430"/>
                </a:solidFill>
              </a:rPr>
              <a:t>ICE</a:t>
            </a:r>
            <a:r>
              <a:rPr lang="en-US" sz="1200" dirty="0">
                <a:solidFill>
                  <a:srgbClr val="1B2430"/>
                </a:solidFill>
              </a:rPr>
              <a:t> (RFC 8445) tries all candidates in order — the machinery inside every WebRTC video call.</a:t>
            </a:r>
            <a:endParaRPr lang="en-US" sz="1200" dirty="0"/>
          </a:p>
        </p:txBody>
      </p:sp>
      <p:sp>
        <p:nvSpPr>
          <p:cNvPr id="25"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6" name="Text 23"/>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Each outgoing packet opens a door in its own NAT; STUN tells each peer which door the other must knock on.</a:t>
            </a:r>
            <a:endParaRPr lang="en-US" sz="1400" dirty="0"/>
          </a:p>
        </p:txBody>
      </p:sp>
      <p:sp>
        <p:nvSpPr>
          <p:cNvPr id="27" name="Text 24"/>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WebRTC (Web Real-Time Communication) · STUN (Session Traversal Utilities for NAT) · TURN (Traversal Using Relays around NAT) · RFC (Request for Comments) · NAT (network address translation) · ICE (Interactive Connectivity Establishment)</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9 · IPv6 makes NAT unnecessary</a:t>
            </a:r>
            <a:endParaRPr lang="en-US" sz="3000" dirty="0"/>
          </a:p>
        </p:txBody>
      </p:sp>
      <p:sp>
        <p:nvSpPr>
          <p:cNvPr id="4" name="box"/>
          <p:cNvSpPr/>
          <p:nvPr/>
        </p:nvSpPr>
        <p:spPr>
          <a:xfrm>
            <a:off x="548640" y="1325880"/>
            <a:ext cx="5440680" cy="640080"/>
          </a:xfrm>
          <a:prstGeom prst="roundRect">
            <a:avLst>
              <a:gd name="adj" fmla="val 11429"/>
            </a:avLst>
          </a:prstGeom>
          <a:solidFill>
            <a:srgbClr val="A23B3B"/>
          </a:solidFill>
          <a:ln w="12700">
            <a:solidFill>
              <a:srgbClr val="A23B3B"/>
            </a:solidFill>
            <a:prstDash val="solid"/>
          </a:ln>
        </p:spPr>
      </p:sp>
      <p:sp>
        <p:nvSpPr>
          <p:cNvPr id="5" name="Text 2"/>
          <p:cNvSpPr txBox="1"/>
          <p:nvPr/>
        </p:nvSpPr>
        <p:spPr>
          <a:xfrm>
            <a:off x="548640" y="1325880"/>
            <a:ext cx="5440680" cy="640080"/>
          </a:xfrm>
          <a:prstGeom prst="rect">
            <a:avLst/>
          </a:prstGeom>
          <a:noFill/>
          <a:ln/>
        </p:spPr>
        <p:txBody>
          <a:bodyPr wrap="square" lIns="635" tIns="635" rIns="635" bIns="635" rtlCol="0" anchor="ctr"/>
          <a:lstStyle/>
          <a:p>
            <a:pPr algn="ctr" indent="0" marL="0">
              <a:buNone/>
            </a:pPr>
            <a:r>
              <a:rPr lang="en-US" sz="1600" b="1" dirty="0">
                <a:solidFill>
                  <a:srgbClr val="FFFFFF"/>
                </a:solidFill>
              </a:rPr>
              <a:t>IPv4 + NAT</a:t>
            </a:r>
            <a:endParaRPr lang="en-US" sz="1600" dirty="0"/>
          </a:p>
        </p:txBody>
      </p:sp>
      <p:sp>
        <p:nvSpPr>
          <p:cNvPr id="6" name="box"/>
          <p:cNvSpPr/>
          <p:nvPr/>
        </p:nvSpPr>
        <p:spPr>
          <a:xfrm>
            <a:off x="548640" y="2103120"/>
            <a:ext cx="5440680" cy="594360"/>
          </a:xfrm>
          <a:prstGeom prst="roundRect">
            <a:avLst>
              <a:gd name="adj" fmla="val 12308"/>
            </a:avLst>
          </a:prstGeom>
          <a:solidFill>
            <a:srgbClr val="F2D6D6"/>
          </a:solidFill>
          <a:ln w="12700">
            <a:solidFill>
              <a:srgbClr val="F2D6D6"/>
            </a:solidFill>
            <a:prstDash val="solid"/>
          </a:ln>
        </p:spPr>
      </p:sp>
      <p:sp>
        <p:nvSpPr>
          <p:cNvPr id="7" name="Text 4"/>
          <p:cNvSpPr txBox="1"/>
          <p:nvPr/>
        </p:nvSpPr>
        <p:spPr>
          <a:xfrm>
            <a:off x="548640" y="2103120"/>
            <a:ext cx="5440680" cy="594360"/>
          </a:xfrm>
          <a:prstGeom prst="rect">
            <a:avLst/>
          </a:prstGeom>
          <a:noFill/>
          <a:ln/>
        </p:spPr>
        <p:txBody>
          <a:bodyPr wrap="square" lIns="635" tIns="635" rIns="635" bIns="635" rtlCol="0" anchor="ctr"/>
          <a:lstStyle/>
          <a:p>
            <a:pPr algn="ctr" indent="0" marL="0">
              <a:buNone/>
            </a:pPr>
            <a:r>
              <a:rPr lang="en-US" sz="1400" dirty="0">
                <a:solidFill>
                  <a:srgbClr val="1B2430"/>
                </a:solidFill>
              </a:rPr>
              <a:t>private addresses inside</a:t>
            </a:r>
            <a:endParaRPr lang="en-US" sz="1400" dirty="0"/>
          </a:p>
        </p:txBody>
      </p:sp>
      <p:sp>
        <p:nvSpPr>
          <p:cNvPr id="8" name="box"/>
          <p:cNvSpPr/>
          <p:nvPr/>
        </p:nvSpPr>
        <p:spPr>
          <a:xfrm>
            <a:off x="548640" y="2816352"/>
            <a:ext cx="5440680" cy="594360"/>
          </a:xfrm>
          <a:prstGeom prst="roundRect">
            <a:avLst>
              <a:gd name="adj" fmla="val 12308"/>
            </a:avLst>
          </a:prstGeom>
          <a:solidFill>
            <a:srgbClr val="F2D6D6"/>
          </a:solidFill>
          <a:ln w="12700">
            <a:solidFill>
              <a:srgbClr val="F2D6D6"/>
            </a:solidFill>
            <a:prstDash val="solid"/>
          </a:ln>
        </p:spPr>
      </p:sp>
      <p:sp>
        <p:nvSpPr>
          <p:cNvPr id="9" name="Text 6"/>
          <p:cNvSpPr txBox="1"/>
          <p:nvPr/>
        </p:nvSpPr>
        <p:spPr>
          <a:xfrm>
            <a:off x="548640" y="2816352"/>
            <a:ext cx="5440680" cy="594360"/>
          </a:xfrm>
          <a:prstGeom prst="rect">
            <a:avLst/>
          </a:prstGeom>
          <a:noFill/>
          <a:ln/>
        </p:spPr>
        <p:txBody>
          <a:bodyPr wrap="square" lIns="635" tIns="635" rIns="635" bIns="635" rtlCol="0" anchor="ctr"/>
          <a:lstStyle/>
          <a:p>
            <a:pPr algn="ctr" indent="0" marL="0">
              <a:buNone/>
            </a:pPr>
            <a:r>
              <a:rPr lang="en-US" sz="1400" dirty="0">
                <a:solidFill>
                  <a:srgbClr val="1B2430"/>
                </a:solidFill>
              </a:rPr>
              <a:t>one shared public address</a:t>
            </a:r>
            <a:endParaRPr lang="en-US" sz="1400" dirty="0"/>
          </a:p>
        </p:txBody>
      </p:sp>
      <p:sp>
        <p:nvSpPr>
          <p:cNvPr id="10" name="box"/>
          <p:cNvSpPr/>
          <p:nvPr/>
        </p:nvSpPr>
        <p:spPr>
          <a:xfrm>
            <a:off x="548640" y="3529584"/>
            <a:ext cx="5440680" cy="594360"/>
          </a:xfrm>
          <a:prstGeom prst="roundRect">
            <a:avLst>
              <a:gd name="adj" fmla="val 12308"/>
            </a:avLst>
          </a:prstGeom>
          <a:solidFill>
            <a:srgbClr val="F2D6D6"/>
          </a:solidFill>
          <a:ln w="12700">
            <a:solidFill>
              <a:srgbClr val="F2D6D6"/>
            </a:solidFill>
            <a:prstDash val="solid"/>
          </a:ln>
        </p:spPr>
      </p:sp>
      <p:sp>
        <p:nvSpPr>
          <p:cNvPr id="11" name="Text 8"/>
          <p:cNvSpPr txBox="1"/>
          <p:nvPr/>
        </p:nvSpPr>
        <p:spPr>
          <a:xfrm>
            <a:off x="548640" y="3529584"/>
            <a:ext cx="5440680" cy="594360"/>
          </a:xfrm>
          <a:prstGeom prst="rect">
            <a:avLst/>
          </a:prstGeom>
          <a:noFill/>
          <a:ln/>
        </p:spPr>
        <p:txBody>
          <a:bodyPr wrap="square" lIns="635" tIns="635" rIns="635" bIns="635" rtlCol="0" anchor="ctr"/>
          <a:lstStyle/>
          <a:p>
            <a:pPr algn="ctr" indent="0" marL="0">
              <a:buNone/>
            </a:pPr>
            <a:r>
              <a:rPr lang="en-US" sz="1400" dirty="0">
                <a:solidFill>
                  <a:srgbClr val="1B2430"/>
                </a:solidFill>
              </a:rPr>
              <a:t>translation tables, ALGs, STUN/TURN</a:t>
            </a:r>
            <a:endParaRPr lang="en-US" sz="1400" dirty="0"/>
          </a:p>
        </p:txBody>
      </p:sp>
      <p:sp>
        <p:nvSpPr>
          <p:cNvPr id="12" name="box"/>
          <p:cNvSpPr/>
          <p:nvPr/>
        </p:nvSpPr>
        <p:spPr>
          <a:xfrm>
            <a:off x="548640" y="4242816"/>
            <a:ext cx="5440680" cy="594360"/>
          </a:xfrm>
          <a:prstGeom prst="roundRect">
            <a:avLst>
              <a:gd name="adj" fmla="val 12308"/>
            </a:avLst>
          </a:prstGeom>
          <a:solidFill>
            <a:srgbClr val="F2D6D6"/>
          </a:solidFill>
          <a:ln w="12700">
            <a:solidFill>
              <a:srgbClr val="F2D6D6"/>
            </a:solidFill>
            <a:prstDash val="solid"/>
          </a:ln>
        </p:spPr>
      </p:sp>
      <p:sp>
        <p:nvSpPr>
          <p:cNvPr id="13" name="Text 10"/>
          <p:cNvSpPr txBox="1"/>
          <p:nvPr/>
        </p:nvSpPr>
        <p:spPr>
          <a:xfrm>
            <a:off x="548640" y="4242816"/>
            <a:ext cx="5440680" cy="594360"/>
          </a:xfrm>
          <a:prstGeom prst="rect">
            <a:avLst/>
          </a:prstGeom>
          <a:noFill/>
          <a:ln/>
        </p:spPr>
        <p:txBody>
          <a:bodyPr wrap="square" lIns="635" tIns="635" rIns="635" bIns="635" rtlCol="0" anchor="ctr"/>
          <a:lstStyle/>
          <a:p>
            <a:pPr algn="ctr" indent="0" marL="0">
              <a:buNone/>
            </a:pPr>
            <a:r>
              <a:rPr lang="en-US" sz="1400" dirty="0">
                <a:solidFill>
                  <a:srgbClr val="1B2430"/>
                </a:solidFill>
              </a:rPr>
              <a:t>inbound needs forwarding</a:t>
            </a:r>
            <a:endParaRPr lang="en-US" sz="1400" dirty="0"/>
          </a:p>
        </p:txBody>
      </p:sp>
      <p:sp>
        <p:nvSpPr>
          <p:cNvPr id="14" name="box"/>
          <p:cNvSpPr/>
          <p:nvPr/>
        </p:nvSpPr>
        <p:spPr>
          <a:xfrm>
            <a:off x="6172200" y="1325880"/>
            <a:ext cx="5440680" cy="640080"/>
          </a:xfrm>
          <a:prstGeom prst="roundRect">
            <a:avLst>
              <a:gd name="adj" fmla="val 11429"/>
            </a:avLst>
          </a:prstGeom>
          <a:solidFill>
            <a:srgbClr val="2E7D4F"/>
          </a:solidFill>
          <a:ln w="12700">
            <a:solidFill>
              <a:srgbClr val="2E7D4F"/>
            </a:solidFill>
            <a:prstDash val="solid"/>
          </a:ln>
        </p:spPr>
      </p:sp>
      <p:sp>
        <p:nvSpPr>
          <p:cNvPr id="15" name="Text 12"/>
          <p:cNvSpPr txBox="1"/>
          <p:nvPr/>
        </p:nvSpPr>
        <p:spPr>
          <a:xfrm>
            <a:off x="6172200" y="1325880"/>
            <a:ext cx="5440680" cy="640080"/>
          </a:xfrm>
          <a:prstGeom prst="rect">
            <a:avLst/>
          </a:prstGeom>
          <a:noFill/>
          <a:ln/>
        </p:spPr>
        <p:txBody>
          <a:bodyPr wrap="square" lIns="635" tIns="635" rIns="635" bIns="635" rtlCol="0" anchor="ctr"/>
          <a:lstStyle/>
          <a:p>
            <a:pPr algn="ctr" indent="0" marL="0">
              <a:buNone/>
            </a:pPr>
            <a:r>
              <a:rPr lang="en-US" sz="1600" b="1" dirty="0">
                <a:solidFill>
                  <a:srgbClr val="FFFFFF"/>
                </a:solidFill>
              </a:rPr>
              <a:t>IPv6</a:t>
            </a:r>
            <a:endParaRPr lang="en-US" sz="1600" dirty="0"/>
          </a:p>
        </p:txBody>
      </p:sp>
      <p:sp>
        <p:nvSpPr>
          <p:cNvPr id="16" name="box"/>
          <p:cNvSpPr/>
          <p:nvPr/>
        </p:nvSpPr>
        <p:spPr>
          <a:xfrm>
            <a:off x="6172200" y="2103120"/>
            <a:ext cx="5440680" cy="594360"/>
          </a:xfrm>
          <a:prstGeom prst="roundRect">
            <a:avLst>
              <a:gd name="adj" fmla="val 12308"/>
            </a:avLst>
          </a:prstGeom>
          <a:solidFill>
            <a:srgbClr val="D7EBDD"/>
          </a:solidFill>
          <a:ln w="12700">
            <a:solidFill>
              <a:srgbClr val="D7EBDD"/>
            </a:solidFill>
            <a:prstDash val="solid"/>
          </a:ln>
        </p:spPr>
      </p:sp>
      <p:sp>
        <p:nvSpPr>
          <p:cNvPr id="17" name="Text 14"/>
          <p:cNvSpPr txBox="1"/>
          <p:nvPr/>
        </p:nvSpPr>
        <p:spPr>
          <a:xfrm>
            <a:off x="6172200" y="2103120"/>
            <a:ext cx="5440680" cy="594360"/>
          </a:xfrm>
          <a:prstGeom prst="rect">
            <a:avLst/>
          </a:prstGeom>
          <a:noFill/>
          <a:ln/>
        </p:spPr>
        <p:txBody>
          <a:bodyPr wrap="square" lIns="635" tIns="635" rIns="635" bIns="635" rtlCol="0" anchor="ctr"/>
          <a:lstStyle/>
          <a:p>
            <a:pPr algn="ctr" indent="0" marL="0">
              <a:buNone/>
            </a:pPr>
            <a:r>
              <a:rPr lang="en-US" sz="1400" dirty="0">
                <a:solidFill>
                  <a:srgbClr val="1B2430"/>
                </a:solidFill>
              </a:rPr>
              <a:t>a global address per device</a:t>
            </a:r>
            <a:endParaRPr lang="en-US" sz="1400" dirty="0"/>
          </a:p>
        </p:txBody>
      </p:sp>
      <p:sp>
        <p:nvSpPr>
          <p:cNvPr id="18" name="box"/>
          <p:cNvSpPr/>
          <p:nvPr/>
        </p:nvSpPr>
        <p:spPr>
          <a:xfrm>
            <a:off x="6172200" y="2816352"/>
            <a:ext cx="5440680" cy="594360"/>
          </a:xfrm>
          <a:prstGeom prst="roundRect">
            <a:avLst>
              <a:gd name="adj" fmla="val 12308"/>
            </a:avLst>
          </a:prstGeom>
          <a:solidFill>
            <a:srgbClr val="D7EBDD"/>
          </a:solidFill>
          <a:ln w="12700">
            <a:solidFill>
              <a:srgbClr val="D7EBDD"/>
            </a:solidFill>
            <a:prstDash val="solid"/>
          </a:ln>
        </p:spPr>
      </p:sp>
      <p:sp>
        <p:nvSpPr>
          <p:cNvPr id="19" name="Text 16"/>
          <p:cNvSpPr txBox="1"/>
          <p:nvPr/>
        </p:nvSpPr>
        <p:spPr>
          <a:xfrm>
            <a:off x="6172200" y="2816352"/>
            <a:ext cx="5440680" cy="594360"/>
          </a:xfrm>
          <a:prstGeom prst="rect">
            <a:avLst/>
          </a:prstGeom>
          <a:noFill/>
          <a:ln/>
        </p:spPr>
        <p:txBody>
          <a:bodyPr wrap="square" lIns="635" tIns="635" rIns="635" bIns="635" rtlCol="0" anchor="ctr"/>
          <a:lstStyle/>
          <a:p>
            <a:pPr algn="ctr" indent="0" marL="0">
              <a:buNone/>
            </a:pPr>
            <a:r>
              <a:rPr lang="en-US" sz="1400" dirty="0">
                <a:solidFill>
                  <a:srgbClr val="1B2430"/>
                </a:solidFill>
              </a:rPr>
              <a:t>no translation</a:t>
            </a:r>
            <a:endParaRPr lang="en-US" sz="1400" dirty="0"/>
          </a:p>
        </p:txBody>
      </p:sp>
      <p:sp>
        <p:nvSpPr>
          <p:cNvPr id="20" name="box"/>
          <p:cNvSpPr/>
          <p:nvPr/>
        </p:nvSpPr>
        <p:spPr>
          <a:xfrm>
            <a:off x="6172200" y="3529584"/>
            <a:ext cx="5440680" cy="594360"/>
          </a:xfrm>
          <a:prstGeom prst="roundRect">
            <a:avLst>
              <a:gd name="adj" fmla="val 12308"/>
            </a:avLst>
          </a:prstGeom>
          <a:solidFill>
            <a:srgbClr val="D7EBDD"/>
          </a:solidFill>
          <a:ln w="12700">
            <a:solidFill>
              <a:srgbClr val="D7EBDD"/>
            </a:solidFill>
            <a:prstDash val="solid"/>
          </a:ln>
        </p:spPr>
      </p:sp>
      <p:sp>
        <p:nvSpPr>
          <p:cNvPr id="21" name="Text 18"/>
          <p:cNvSpPr txBox="1"/>
          <p:nvPr/>
        </p:nvSpPr>
        <p:spPr>
          <a:xfrm>
            <a:off x="6172200" y="3529584"/>
            <a:ext cx="5440680" cy="594360"/>
          </a:xfrm>
          <a:prstGeom prst="rect">
            <a:avLst/>
          </a:prstGeom>
          <a:noFill/>
          <a:ln/>
        </p:spPr>
        <p:txBody>
          <a:bodyPr wrap="square" lIns="635" tIns="635" rIns="635" bIns="635" rtlCol="0" anchor="ctr"/>
          <a:lstStyle/>
          <a:p>
            <a:pPr algn="ctr" indent="0" marL="0">
              <a:buNone/>
            </a:pPr>
            <a:r>
              <a:rPr lang="en-US" sz="1400" dirty="0">
                <a:solidFill>
                  <a:srgbClr val="1B2430"/>
                </a:solidFill>
              </a:rPr>
              <a:t>end-to-end restored</a:t>
            </a:r>
            <a:endParaRPr lang="en-US" sz="1400" dirty="0"/>
          </a:p>
        </p:txBody>
      </p:sp>
      <p:sp>
        <p:nvSpPr>
          <p:cNvPr id="22" name="box"/>
          <p:cNvSpPr/>
          <p:nvPr/>
        </p:nvSpPr>
        <p:spPr>
          <a:xfrm>
            <a:off x="6172200" y="4242816"/>
            <a:ext cx="5440680" cy="594360"/>
          </a:xfrm>
          <a:prstGeom prst="roundRect">
            <a:avLst>
              <a:gd name="adj" fmla="val 12308"/>
            </a:avLst>
          </a:prstGeom>
          <a:solidFill>
            <a:srgbClr val="D7EBDD"/>
          </a:solidFill>
          <a:ln w="12700">
            <a:solidFill>
              <a:srgbClr val="D7EBDD"/>
            </a:solidFill>
            <a:prstDash val="solid"/>
          </a:ln>
        </p:spPr>
      </p:sp>
      <p:sp>
        <p:nvSpPr>
          <p:cNvPr id="23" name="Text 20"/>
          <p:cNvSpPr txBox="1"/>
          <p:nvPr/>
        </p:nvSpPr>
        <p:spPr>
          <a:xfrm>
            <a:off x="6172200" y="4242816"/>
            <a:ext cx="5440680" cy="594360"/>
          </a:xfrm>
          <a:prstGeom prst="rect">
            <a:avLst/>
          </a:prstGeom>
          <a:noFill/>
          <a:ln/>
        </p:spPr>
        <p:txBody>
          <a:bodyPr wrap="square" lIns="635" tIns="635" rIns="635" bIns="635" rtlCol="0" anchor="ctr"/>
          <a:lstStyle/>
          <a:p>
            <a:pPr algn="ctr" indent="0" marL="0">
              <a:buNone/>
            </a:pPr>
            <a:r>
              <a:rPr lang="en-US" sz="1400" dirty="0">
                <a:solidFill>
                  <a:srgbClr val="1B2430"/>
                </a:solidFill>
              </a:rPr>
              <a:t>a stateful firewall decides what comes in</a:t>
            </a:r>
            <a:endParaRPr lang="en-US" sz="1400" dirty="0"/>
          </a:p>
        </p:txBody>
      </p:sp>
      <p:sp>
        <p:nvSpPr>
          <p:cNvPr id="2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5" name="Text 2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NAT is a workaround for too few addresses; we return to it, and to IPv6, with the network layer.</a:t>
            </a:r>
            <a:endParaRPr lang="en-US" sz="1400" dirty="0"/>
          </a:p>
        </p:txBody>
      </p:sp>
      <p:sp>
        <p:nvSpPr>
          <p:cNvPr id="26" name="Text 23"/>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IPv4 (Internet Protocol version 4) · IPv6 (Internet Protocol version 6) · STUN (Session Traversal Utilities for NAT) · TURN (Traversal Using Relays around NAT) · NAT (network address translation)</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Lecture 5 summary</a:t>
            </a:r>
            <a:endParaRPr lang="en-US" sz="3000" dirty="0"/>
          </a:p>
        </p:txBody>
      </p:sp>
      <p:sp>
        <p:nvSpPr>
          <p:cNvPr id="4" name="box"/>
          <p:cNvSpPr/>
          <p:nvPr/>
        </p:nvSpPr>
        <p:spPr>
          <a:xfrm>
            <a:off x="4709160" y="2606040"/>
            <a:ext cx="2743200" cy="1097280"/>
          </a:xfrm>
          <a:prstGeom prst="roundRect">
            <a:avLst>
              <a:gd name="adj" fmla="val 6667"/>
            </a:avLst>
          </a:prstGeom>
          <a:solidFill>
            <a:srgbClr val="1F3A5F"/>
          </a:solidFill>
          <a:ln w="12700">
            <a:solidFill>
              <a:srgbClr val="1F3A5F"/>
            </a:solidFill>
            <a:prstDash val="solid"/>
          </a:ln>
        </p:spPr>
      </p:sp>
      <p:sp>
        <p:nvSpPr>
          <p:cNvPr id="5" name="Text 2"/>
          <p:cNvSpPr txBox="1"/>
          <p:nvPr/>
        </p:nvSpPr>
        <p:spPr>
          <a:xfrm>
            <a:off x="4709160" y="2606040"/>
            <a:ext cx="2743200" cy="1097280"/>
          </a:xfrm>
          <a:prstGeom prst="rect">
            <a:avLst/>
          </a:prstGeom>
          <a:noFill/>
          <a:ln/>
        </p:spPr>
        <p:txBody>
          <a:bodyPr wrap="square" lIns="635" tIns="635" rIns="635" bIns="635" rtlCol="0" anchor="ctr"/>
          <a:lstStyle/>
          <a:p>
            <a:pPr algn="ctr" indent="0" marL="0">
              <a:buNone/>
            </a:pPr>
            <a:r>
              <a:rPr lang="en-US" sz="1800" b="1" dirty="0">
                <a:solidFill>
                  <a:srgbClr val="FFFFFF"/>
                </a:solidFill>
              </a:rPr>
              <a:t>Week 5</a:t>
            </a:r>
            <a:endParaRPr lang="en-US" sz="1800" dirty="0"/>
          </a:p>
        </p:txBody>
      </p:sp>
      <p:sp>
        <p:nvSpPr>
          <p:cNvPr id="6" name="box"/>
          <p:cNvSpPr/>
          <p:nvPr/>
        </p:nvSpPr>
        <p:spPr>
          <a:xfrm>
            <a:off x="4617720" y="1005840"/>
            <a:ext cx="2926080" cy="914400"/>
          </a:xfrm>
          <a:prstGeom prst="roundRect">
            <a:avLst>
              <a:gd name="adj" fmla="val 8000"/>
            </a:avLst>
          </a:prstGeom>
          <a:solidFill>
            <a:srgbClr val="EEF2F6"/>
          </a:solidFill>
          <a:ln w="12700">
            <a:solidFill>
              <a:srgbClr val="EEF2F6"/>
            </a:solidFill>
            <a:prstDash val="solid"/>
          </a:ln>
        </p:spPr>
      </p:sp>
      <p:sp>
        <p:nvSpPr>
          <p:cNvPr id="7" name="Text 4"/>
          <p:cNvSpPr txBox="1"/>
          <p:nvPr/>
        </p:nvSpPr>
        <p:spPr>
          <a:xfrm>
            <a:off x="4617720" y="100584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E-mail system</a:t>
            </a:r>
            <a:endParaRPr lang="en-US" sz="1100" dirty="0"/>
          </a:p>
          <a:p>
            <a:pPr algn="ctr" indent="0" marL="0">
              <a:buNone/>
            </a:pPr>
            <a:r>
              <a:rPr lang="en-US" sz="1100" dirty="0">
                <a:solidFill>
                  <a:srgbClr val="1B2430"/>
                </a:solidFill>
              </a:rPr>
              <a:t>user agents, servers, queues; push and pull</a:t>
            </a:r>
            <a:endParaRPr lang="en-US" sz="1100" dirty="0"/>
          </a:p>
        </p:txBody>
      </p:sp>
      <p:sp>
        <p:nvSpPr>
          <p:cNvPr id="8" name="box"/>
          <p:cNvSpPr/>
          <p:nvPr/>
        </p:nvSpPr>
        <p:spPr>
          <a:xfrm>
            <a:off x="7688968" y="1501310"/>
            <a:ext cx="2926080" cy="914400"/>
          </a:xfrm>
          <a:prstGeom prst="roundRect">
            <a:avLst>
              <a:gd name="adj" fmla="val 8000"/>
            </a:avLst>
          </a:prstGeom>
          <a:solidFill>
            <a:srgbClr val="EEF2F6"/>
          </a:solidFill>
          <a:ln w="12700">
            <a:solidFill>
              <a:srgbClr val="EEF2F6"/>
            </a:solidFill>
            <a:prstDash val="solid"/>
          </a:ln>
        </p:spPr>
      </p:sp>
      <p:sp>
        <p:nvSpPr>
          <p:cNvPr id="9" name="Text 6"/>
          <p:cNvSpPr txBox="1"/>
          <p:nvPr/>
        </p:nvSpPr>
        <p:spPr>
          <a:xfrm>
            <a:off x="7688968" y="150131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SMTP</a:t>
            </a:r>
            <a:endParaRPr lang="en-US" sz="1100" dirty="0"/>
          </a:p>
          <a:p>
            <a:pPr algn="ctr" indent="0" marL="0">
              <a:buNone/>
            </a:pPr>
            <a:r>
              <a:rPr lang="en-US" sz="1100" dirty="0">
                <a:solidFill>
                  <a:srgbClr val="1B2430"/>
                </a:solidFill>
              </a:rPr>
              <a:t>envelope vs header; dot-stuffing; 25/587/465</a:t>
            </a:r>
            <a:endParaRPr lang="en-US" sz="1100" dirty="0"/>
          </a:p>
        </p:txBody>
      </p:sp>
      <p:sp>
        <p:nvSpPr>
          <p:cNvPr id="10" name="box"/>
          <p:cNvSpPr/>
          <p:nvPr/>
        </p:nvSpPr>
        <p:spPr>
          <a:xfrm>
            <a:off x="8961120" y="2697480"/>
            <a:ext cx="2926080" cy="914400"/>
          </a:xfrm>
          <a:prstGeom prst="roundRect">
            <a:avLst>
              <a:gd name="adj" fmla="val 8000"/>
            </a:avLst>
          </a:prstGeom>
          <a:solidFill>
            <a:srgbClr val="EEF2F6"/>
          </a:solidFill>
          <a:ln w="12700">
            <a:solidFill>
              <a:srgbClr val="EEF2F6"/>
            </a:solidFill>
            <a:prstDash val="solid"/>
          </a:ln>
        </p:spPr>
      </p:sp>
      <p:sp>
        <p:nvSpPr>
          <p:cNvPr id="11" name="Text 8"/>
          <p:cNvSpPr txBox="1"/>
          <p:nvPr/>
        </p:nvSpPr>
        <p:spPr>
          <a:xfrm>
            <a:off x="8961120" y="269748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MIME</a:t>
            </a:r>
            <a:endParaRPr lang="en-US" sz="1100" dirty="0"/>
          </a:p>
          <a:p>
            <a:pPr algn="ctr" indent="0" marL="0">
              <a:buNone/>
            </a:pPr>
            <a:r>
              <a:rPr lang="en-US" sz="1100" dirty="0">
                <a:solidFill>
                  <a:srgbClr val="1B2430"/>
                </a:solidFill>
              </a:rPr>
              <a:t>types, multipart, base64 (+37 %)</a:t>
            </a:r>
            <a:endParaRPr lang="en-US" sz="1100" dirty="0"/>
          </a:p>
        </p:txBody>
      </p:sp>
      <p:sp>
        <p:nvSpPr>
          <p:cNvPr id="12" name="box"/>
          <p:cNvSpPr/>
          <p:nvPr/>
        </p:nvSpPr>
        <p:spPr>
          <a:xfrm>
            <a:off x="7688968" y="3893650"/>
            <a:ext cx="2926080" cy="914400"/>
          </a:xfrm>
          <a:prstGeom prst="roundRect">
            <a:avLst>
              <a:gd name="adj" fmla="val 8000"/>
            </a:avLst>
          </a:prstGeom>
          <a:solidFill>
            <a:srgbClr val="EEF2F6"/>
          </a:solidFill>
          <a:ln w="12700">
            <a:solidFill>
              <a:srgbClr val="EEF2F6"/>
            </a:solidFill>
            <a:prstDash val="solid"/>
          </a:ln>
        </p:spPr>
      </p:sp>
      <p:sp>
        <p:nvSpPr>
          <p:cNvPr id="13" name="Text 10"/>
          <p:cNvSpPr txBox="1"/>
          <p:nvPr/>
        </p:nvSpPr>
        <p:spPr>
          <a:xfrm>
            <a:off x="7688968" y="389365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POP3 · IMAP</a:t>
            </a:r>
            <a:endParaRPr lang="en-US" sz="1100" dirty="0"/>
          </a:p>
          <a:p>
            <a:pPr algn="ctr" indent="0" marL="0">
              <a:buNone/>
            </a:pPr>
            <a:r>
              <a:rPr lang="en-US" sz="1100" dirty="0">
                <a:solidFill>
                  <a:srgbClr val="1B2430"/>
                </a:solidFill>
              </a:rPr>
              <a:t>download vs remote mailbox; tags</a:t>
            </a:r>
            <a:endParaRPr lang="en-US" sz="1100" dirty="0"/>
          </a:p>
        </p:txBody>
      </p:sp>
      <p:sp>
        <p:nvSpPr>
          <p:cNvPr id="14" name="box"/>
          <p:cNvSpPr/>
          <p:nvPr/>
        </p:nvSpPr>
        <p:spPr>
          <a:xfrm>
            <a:off x="4617720" y="4389120"/>
            <a:ext cx="2926080" cy="914400"/>
          </a:xfrm>
          <a:prstGeom prst="roundRect">
            <a:avLst>
              <a:gd name="adj" fmla="val 8000"/>
            </a:avLst>
          </a:prstGeom>
          <a:solidFill>
            <a:srgbClr val="EEF2F6"/>
          </a:solidFill>
          <a:ln w="12700">
            <a:solidFill>
              <a:srgbClr val="EEF2F6"/>
            </a:solidFill>
            <a:prstDash val="solid"/>
          </a:ln>
        </p:spPr>
      </p:sp>
      <p:sp>
        <p:nvSpPr>
          <p:cNvPr id="15" name="Text 12"/>
          <p:cNvSpPr txBox="1"/>
          <p:nvPr/>
        </p:nvSpPr>
        <p:spPr>
          <a:xfrm>
            <a:off x="4617720" y="438912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Protecting mail</a:t>
            </a:r>
            <a:endParaRPr lang="en-US" sz="1100" dirty="0"/>
          </a:p>
          <a:p>
            <a:pPr algn="ctr" indent="0" marL="0">
              <a:buNone/>
            </a:pPr>
            <a:r>
              <a:rPr lang="en-US" sz="1100" dirty="0">
                <a:solidFill>
                  <a:srgbClr val="1B2430"/>
                </a:solidFill>
              </a:rPr>
              <a:t>TLS per hop, S/MIME, SPF, DKIM, DMARC</a:t>
            </a:r>
            <a:endParaRPr lang="en-US" sz="1100" dirty="0"/>
          </a:p>
        </p:txBody>
      </p:sp>
      <p:sp>
        <p:nvSpPr>
          <p:cNvPr id="16" name="box"/>
          <p:cNvSpPr/>
          <p:nvPr/>
        </p:nvSpPr>
        <p:spPr>
          <a:xfrm>
            <a:off x="1546472" y="3893650"/>
            <a:ext cx="2926080" cy="914400"/>
          </a:xfrm>
          <a:prstGeom prst="roundRect">
            <a:avLst>
              <a:gd name="adj" fmla="val 8000"/>
            </a:avLst>
          </a:prstGeom>
          <a:solidFill>
            <a:srgbClr val="EEF2F6"/>
          </a:solidFill>
          <a:ln w="12700">
            <a:solidFill>
              <a:srgbClr val="EEF2F6"/>
            </a:solidFill>
            <a:prstDash val="solid"/>
          </a:ln>
        </p:spPr>
      </p:sp>
      <p:sp>
        <p:nvSpPr>
          <p:cNvPr id="17" name="Text 14"/>
          <p:cNvSpPr txBox="1"/>
          <p:nvPr/>
        </p:nvSpPr>
        <p:spPr>
          <a:xfrm>
            <a:off x="1546472" y="389365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Usenet</a:t>
            </a:r>
            <a:endParaRPr lang="en-US" sz="1100" dirty="0"/>
          </a:p>
          <a:p>
            <a:pPr algn="ctr" indent="0" marL="0">
              <a:buNone/>
            </a:pPr>
            <a:r>
              <a:rPr lang="en-US" sz="1100" dirty="0">
                <a:solidFill>
                  <a:srgbClr val="1B2430"/>
                </a:solidFill>
              </a:rPr>
              <a:t>newsgroups, flooding, Message-ID, NNTP</a:t>
            </a:r>
            <a:endParaRPr lang="en-US" sz="1100" dirty="0"/>
          </a:p>
        </p:txBody>
      </p:sp>
      <p:sp>
        <p:nvSpPr>
          <p:cNvPr id="18" name="box"/>
          <p:cNvSpPr/>
          <p:nvPr/>
        </p:nvSpPr>
        <p:spPr>
          <a:xfrm>
            <a:off x="274320" y="2697480"/>
            <a:ext cx="2926080" cy="914400"/>
          </a:xfrm>
          <a:prstGeom prst="roundRect">
            <a:avLst>
              <a:gd name="adj" fmla="val 8000"/>
            </a:avLst>
          </a:prstGeom>
          <a:solidFill>
            <a:srgbClr val="EEF2F6"/>
          </a:solidFill>
          <a:ln w="12700">
            <a:solidFill>
              <a:srgbClr val="EEF2F6"/>
            </a:solidFill>
            <a:prstDash val="solid"/>
          </a:ln>
        </p:spPr>
      </p:sp>
      <p:sp>
        <p:nvSpPr>
          <p:cNvPr id="19" name="Text 16"/>
          <p:cNvSpPr txBox="1"/>
          <p:nvPr/>
        </p:nvSpPr>
        <p:spPr>
          <a:xfrm>
            <a:off x="274320" y="269748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DNS</a:t>
            </a:r>
            <a:endParaRPr lang="en-US" sz="1100" dirty="0"/>
          </a:p>
          <a:p>
            <a:pPr algn="ctr" indent="0" marL="0">
              <a:buNone/>
            </a:pPr>
            <a:r>
              <a:rPr lang="en-US" sz="1100" dirty="0">
                <a:solidFill>
                  <a:srgbClr val="1B2430"/>
                </a:solidFill>
              </a:rPr>
              <a:t>hierarchy, resolution, TTL, records, messages</a:t>
            </a:r>
            <a:endParaRPr lang="en-US" sz="1100" dirty="0"/>
          </a:p>
        </p:txBody>
      </p:sp>
      <p:sp>
        <p:nvSpPr>
          <p:cNvPr id="20" name="box"/>
          <p:cNvSpPr/>
          <p:nvPr/>
        </p:nvSpPr>
        <p:spPr>
          <a:xfrm>
            <a:off x="1546472" y="1501310"/>
            <a:ext cx="2926080" cy="914400"/>
          </a:xfrm>
          <a:prstGeom prst="roundRect">
            <a:avLst>
              <a:gd name="adj" fmla="val 8000"/>
            </a:avLst>
          </a:prstGeom>
          <a:solidFill>
            <a:srgbClr val="EEF2F6"/>
          </a:solidFill>
          <a:ln w="12700">
            <a:solidFill>
              <a:srgbClr val="EEF2F6"/>
            </a:solidFill>
            <a:prstDash val="solid"/>
          </a:ln>
        </p:spPr>
      </p:sp>
      <p:sp>
        <p:nvSpPr>
          <p:cNvPr id="21" name="Text 18"/>
          <p:cNvSpPr txBox="1"/>
          <p:nvPr/>
        </p:nvSpPr>
        <p:spPr>
          <a:xfrm>
            <a:off x="1546472" y="1501310"/>
            <a:ext cx="2926080" cy="914400"/>
          </a:xfrm>
          <a:prstGeom prst="rect">
            <a:avLst/>
          </a:prstGeom>
          <a:noFill/>
          <a:ln/>
        </p:spPr>
        <p:txBody>
          <a:bodyPr wrap="square" lIns="635" tIns="635" rIns="635" bIns="635" rtlCol="0" anchor="ctr"/>
          <a:lstStyle/>
          <a:p>
            <a:pPr algn="ctr" indent="0" marL="0">
              <a:buNone/>
            </a:pPr>
            <a:r>
              <a:rPr lang="en-US" sz="1100" b="1" dirty="0">
                <a:solidFill>
                  <a:srgbClr val="1B2430"/>
                </a:solidFill>
              </a:rPr>
              <a:t>NAT</a:t>
            </a:r>
            <a:endParaRPr lang="en-US" sz="1100" dirty="0"/>
          </a:p>
          <a:p>
            <a:pPr algn="ctr" indent="0" marL="0">
              <a:buNone/>
            </a:pPr>
            <a:r>
              <a:rPr lang="en-US" sz="1100" dirty="0">
                <a:solidFill>
                  <a:srgbClr val="1B2430"/>
                </a:solidFill>
              </a:rPr>
              <a:t>mappings, CGNAT, forwarding, traversal</a:t>
            </a:r>
            <a:endParaRPr lang="en-US" sz="1100" dirty="0"/>
          </a:p>
        </p:txBody>
      </p:sp>
      <p:sp>
        <p:nvSpPr>
          <p:cNvPr id="2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3" name="Text 2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With mail, news, names and translation, the application layer is complete: next, the transport layer.</a:t>
            </a:r>
            <a:endParaRPr lang="en-US" sz="1400" dirty="0"/>
          </a:p>
        </p:txBody>
      </p:sp>
      <p:sp>
        <p:nvSpPr>
          <p:cNvPr id="24" name="Text 21"/>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DMARC (Domain-based Message Authentication, Reporting and Conformance) · CGNAT (carrier-grade NAT) · SMTP (Simple Mail Transfer Protocol) · MIME (Multipurpose Internet Mail Extensions) · POP3 (Post Office Protocol version 3) · IMAP (Internet Message Access Protocol) · NNTP (Network News Transfer Protocol) · DKIM (DomainKeys Identified Mail) · TLS (Transport Layer Security) · DNS (Domain Name System) · NAT (network address translation) · SPF (Sender Policy Framework) · TTL (time to live)</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Part B · Seminar 5: problems with solutions</a:t>
            </a:r>
            <a:endParaRPr lang="en-US" sz="3600" dirty="0"/>
          </a:p>
        </p:txBody>
      </p:sp>
      <p:sp>
        <p:nvSpPr>
          <p:cNvPr id="3" name="box"/>
          <p:cNvSpPr/>
          <p:nvPr/>
        </p:nvSpPr>
        <p:spPr>
          <a:xfrm>
            <a:off x="731520" y="1645920"/>
            <a:ext cx="2514600" cy="1371600"/>
          </a:xfrm>
          <a:prstGeom prst="roundRect">
            <a:avLst>
              <a:gd name="adj" fmla="val 5333"/>
            </a:avLst>
          </a:prstGeom>
          <a:solidFill>
            <a:srgbClr val="2B4A70"/>
          </a:solidFill>
          <a:ln w="12700">
            <a:solidFill>
              <a:srgbClr val="2B4A70"/>
            </a:solidFill>
            <a:prstDash val="solid"/>
          </a:ln>
        </p:spPr>
      </p:sp>
      <p:sp>
        <p:nvSpPr>
          <p:cNvPr id="4" name="Text 2"/>
          <p:cNvSpPr txBox="1"/>
          <p:nvPr/>
        </p:nvSpPr>
        <p:spPr>
          <a:xfrm>
            <a:off x="73152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A · Lecture 5</a:t>
            </a:r>
            <a:endParaRPr lang="en-US" sz="1500" dirty="0"/>
          </a:p>
          <a:p>
            <a:pPr algn="ctr" indent="0" marL="0">
              <a:spcAft>
                <a:spcPts val="400"/>
              </a:spcAft>
              <a:buNone/>
            </a:pPr>
            <a:r>
              <a:rPr lang="en-US" sz="1500" dirty="0">
                <a:solidFill>
                  <a:srgbClr val="FFFFFF"/>
                </a:solidFill>
              </a:rPr>
              <a:t>Mail, news, names, NAT</a:t>
            </a:r>
            <a:endParaRPr lang="en-US" sz="1500" dirty="0"/>
          </a:p>
        </p:txBody>
      </p:sp>
      <p:sp>
        <p:nvSpPr>
          <p:cNvPr id="5" name="Shape 3"/>
          <p:cNvSpPr/>
          <p:nvPr/>
        </p:nvSpPr>
        <p:spPr>
          <a:xfrm>
            <a:off x="3273552" y="2331720"/>
            <a:ext cx="219456" cy="914"/>
          </a:xfrm>
          <a:prstGeom prst="line">
            <a:avLst/>
          </a:prstGeom>
          <a:noFill/>
          <a:ln w="25400">
            <a:solidFill>
              <a:srgbClr val="9FB3C8"/>
            </a:solidFill>
            <a:prstDash val="solid"/>
            <a:tailEnd type="triangle"/>
          </a:ln>
        </p:spPr>
      </p:sp>
      <p:sp>
        <p:nvSpPr>
          <p:cNvPr id="6" name="box"/>
          <p:cNvSpPr/>
          <p:nvPr/>
        </p:nvSpPr>
        <p:spPr>
          <a:xfrm>
            <a:off x="3520440" y="1645920"/>
            <a:ext cx="2514600" cy="1371600"/>
          </a:xfrm>
          <a:prstGeom prst="roundRect">
            <a:avLst>
              <a:gd name="adj" fmla="val 5333"/>
            </a:avLst>
          </a:prstGeom>
          <a:solidFill>
            <a:srgbClr val="2A7F8E"/>
          </a:solidFill>
          <a:ln w="12700">
            <a:solidFill>
              <a:srgbClr val="2A7F8E"/>
            </a:solidFill>
            <a:prstDash val="solid"/>
          </a:ln>
        </p:spPr>
      </p:sp>
      <p:sp>
        <p:nvSpPr>
          <p:cNvPr id="7" name="Text 5"/>
          <p:cNvSpPr txBox="1"/>
          <p:nvPr/>
        </p:nvSpPr>
        <p:spPr>
          <a:xfrm>
            <a:off x="352044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B · Seminar 5</a:t>
            </a:r>
            <a:endParaRPr lang="en-US" sz="1500" dirty="0"/>
          </a:p>
          <a:p>
            <a:pPr algn="ctr" indent="0" marL="0">
              <a:spcAft>
                <a:spcPts val="400"/>
              </a:spcAft>
              <a:buNone/>
            </a:pPr>
            <a:r>
              <a:rPr lang="en-US" sz="1500" dirty="0">
                <a:solidFill>
                  <a:srgbClr val="FFFFFF"/>
                </a:solidFill>
              </a:rPr>
              <a:t>Problems with solutions</a:t>
            </a:r>
            <a:endParaRPr lang="en-US" sz="1500" dirty="0"/>
          </a:p>
        </p:txBody>
      </p:sp>
      <p:sp>
        <p:nvSpPr>
          <p:cNvPr id="8" name="Shape 6"/>
          <p:cNvSpPr/>
          <p:nvPr/>
        </p:nvSpPr>
        <p:spPr>
          <a:xfrm>
            <a:off x="6062472" y="2331720"/>
            <a:ext cx="219456" cy="914"/>
          </a:xfrm>
          <a:prstGeom prst="line">
            <a:avLst/>
          </a:prstGeom>
          <a:noFill/>
          <a:ln w="25400">
            <a:solidFill>
              <a:srgbClr val="9FB3C8"/>
            </a:solidFill>
            <a:prstDash val="solid"/>
            <a:tailEnd type="triangle"/>
          </a:ln>
        </p:spPr>
      </p:sp>
      <p:sp>
        <p:nvSpPr>
          <p:cNvPr id="9" name="box"/>
          <p:cNvSpPr/>
          <p:nvPr/>
        </p:nvSpPr>
        <p:spPr>
          <a:xfrm>
            <a:off x="6309360" y="1645920"/>
            <a:ext cx="2514600" cy="1371600"/>
          </a:xfrm>
          <a:prstGeom prst="roundRect">
            <a:avLst>
              <a:gd name="adj" fmla="val 5333"/>
            </a:avLst>
          </a:prstGeom>
          <a:solidFill>
            <a:srgbClr val="2B4A70"/>
          </a:solidFill>
          <a:ln w="12700">
            <a:solidFill>
              <a:srgbClr val="2B4A70"/>
            </a:solidFill>
            <a:prstDash val="solid"/>
          </a:ln>
        </p:spPr>
      </p:sp>
      <p:sp>
        <p:nvSpPr>
          <p:cNvPr id="10" name="Text 8"/>
          <p:cNvSpPr txBox="1"/>
          <p:nvPr/>
        </p:nvSpPr>
        <p:spPr>
          <a:xfrm>
            <a:off x="630936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C · Laboratory 5 · Linux</a:t>
            </a:r>
            <a:endParaRPr lang="en-US" sz="1500" dirty="0"/>
          </a:p>
          <a:p>
            <a:pPr algn="ctr" indent="0" marL="0">
              <a:spcAft>
                <a:spcPts val="400"/>
              </a:spcAft>
              <a:buNone/>
            </a:pPr>
            <a:r>
              <a:rPr lang="en-US" sz="1500" dirty="0">
                <a:solidFill>
                  <a:srgbClr val="FFFFFF"/>
                </a:solidFill>
              </a:rPr>
              <a:t>SMTP, POP3, dig, DNS in C, NAT</a:t>
            </a:r>
            <a:endParaRPr lang="en-US" sz="1500" dirty="0"/>
          </a:p>
        </p:txBody>
      </p:sp>
      <p:sp>
        <p:nvSpPr>
          <p:cNvPr id="11" name="Shape 9"/>
          <p:cNvSpPr/>
          <p:nvPr/>
        </p:nvSpPr>
        <p:spPr>
          <a:xfrm>
            <a:off x="8851392" y="2331720"/>
            <a:ext cx="219456" cy="914"/>
          </a:xfrm>
          <a:prstGeom prst="line">
            <a:avLst/>
          </a:prstGeom>
          <a:noFill/>
          <a:ln w="25400">
            <a:solidFill>
              <a:srgbClr val="9FB3C8"/>
            </a:solidFill>
            <a:prstDash val="solid"/>
            <a:tailEnd type="triangle"/>
          </a:ln>
        </p:spPr>
      </p:sp>
      <p:sp>
        <p:nvSpPr>
          <p:cNvPr id="12" name="box"/>
          <p:cNvSpPr/>
          <p:nvPr/>
        </p:nvSpPr>
        <p:spPr>
          <a:xfrm>
            <a:off x="9098280" y="1645920"/>
            <a:ext cx="2514600" cy="1371600"/>
          </a:xfrm>
          <a:prstGeom prst="roundRect">
            <a:avLst>
              <a:gd name="adj" fmla="val 5333"/>
            </a:avLst>
          </a:prstGeom>
          <a:solidFill>
            <a:srgbClr val="2B4A70"/>
          </a:solidFill>
          <a:ln w="12700">
            <a:solidFill>
              <a:srgbClr val="2B4A70"/>
            </a:solidFill>
            <a:prstDash val="solid"/>
          </a:ln>
        </p:spPr>
      </p:sp>
      <p:sp>
        <p:nvSpPr>
          <p:cNvPr id="13" name="Text 11"/>
          <p:cNvSpPr txBox="1"/>
          <p:nvPr/>
        </p:nvSpPr>
        <p:spPr>
          <a:xfrm>
            <a:off x="909828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D · Laboratory 5 · Windows</a:t>
            </a:r>
            <a:endParaRPr lang="en-US" sz="1500" dirty="0"/>
          </a:p>
          <a:p>
            <a:pPr algn="ctr" indent="0" marL="0">
              <a:spcAft>
                <a:spcPts val="400"/>
              </a:spcAft>
              <a:buNone/>
            </a:pPr>
            <a:r>
              <a:rPr lang="en-US" sz="1500" dirty="0">
                <a:solidFill>
                  <a:srgbClr val="FFFFFF"/>
                </a:solidFill>
              </a:rPr>
              <a:t>PowerShell, Winsock, your NAT</a:t>
            </a:r>
            <a:endParaRPr lang="en-US" sz="1500" dirty="0"/>
          </a:p>
        </p:txBody>
      </p:sp>
      <p:sp>
        <p:nvSpPr>
          <p:cNvPr id="14" name="Text 12"/>
          <p:cNvSpPr txBox="1"/>
          <p:nvPr/>
        </p:nvSpPr>
        <p:spPr>
          <a:xfrm>
            <a:off x="731520" y="3429000"/>
            <a:ext cx="10698480" cy="365760"/>
          </a:xfrm>
          <a:prstGeom prst="rect">
            <a:avLst/>
          </a:prstGeom>
          <a:noFill/>
          <a:ln/>
        </p:spPr>
        <p:txBody>
          <a:bodyPr wrap="square" lIns="0" tIns="0" rIns="0" bIns="0" rtlCol="0" anchor="ctr"/>
          <a:lstStyle/>
          <a:p>
            <a:pPr indent="0" marL="0">
              <a:buNone/>
            </a:pPr>
            <a:r>
              <a:rPr lang="en-US" sz="1600" b="1" dirty="0">
                <a:solidFill>
                  <a:srgbClr val="DDF0F2"/>
                </a:solidFill>
              </a:rPr>
              <a:t>In this part</a:t>
            </a:r>
            <a:endParaRPr lang="en-US" sz="1600" dirty="0"/>
          </a:p>
        </p:txBody>
      </p:sp>
      <p:sp>
        <p:nvSpPr>
          <p:cNvPr id="15" name="Text 13"/>
          <p:cNvSpPr txBox="1"/>
          <p:nvPr/>
        </p:nvSpPr>
        <p:spPr>
          <a:xfrm>
            <a:off x="7315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Problems 1–2 · An SMTP dialogue; size and path</a:t>
            </a:r>
            <a:endParaRPr lang="en-US" sz="1500" dirty="0"/>
          </a:p>
        </p:txBody>
      </p:sp>
      <p:sp>
        <p:nvSpPr>
          <p:cNvPr id="16" name="Text 14"/>
          <p:cNvSpPr txBox="1"/>
          <p:nvPr/>
        </p:nvSpPr>
        <p:spPr>
          <a:xfrm>
            <a:off x="62179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Problems 3–4 · POP3 or IMAP; reading IMAP</a:t>
            </a:r>
            <a:endParaRPr lang="en-US" sz="1500" dirty="0"/>
          </a:p>
        </p:txBody>
      </p:sp>
      <p:sp>
        <p:nvSpPr>
          <p:cNvPr id="17" name="Text 15"/>
          <p:cNvSpPr txBox="1"/>
          <p:nvPr/>
        </p:nvSpPr>
        <p:spPr>
          <a:xfrm>
            <a:off x="7315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Problem 5 · Flooding news</a:t>
            </a:r>
            <a:endParaRPr lang="en-US" sz="1500" dirty="0"/>
          </a:p>
        </p:txBody>
      </p:sp>
      <p:sp>
        <p:nvSpPr>
          <p:cNvPr id="18" name="Text 16"/>
          <p:cNvSpPr txBox="1"/>
          <p:nvPr/>
        </p:nvSpPr>
        <p:spPr>
          <a:xfrm>
            <a:off x="62179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Problems 6–8 · DNS timing, bytes, a zone</a:t>
            </a:r>
            <a:endParaRPr lang="en-US" sz="1500" dirty="0"/>
          </a:p>
        </p:txBody>
      </p:sp>
      <p:sp>
        <p:nvSpPr>
          <p:cNvPr id="19" name="Text 17"/>
          <p:cNvSpPr txBox="1"/>
          <p:nvPr/>
        </p:nvSpPr>
        <p:spPr>
          <a:xfrm>
            <a:off x="7315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Problems 9–11 · NAT tables, capacity, traversal</a:t>
            </a:r>
            <a:endParaRPr lang="en-US" sz="1500" dirty="0"/>
          </a:p>
        </p:txBody>
      </p:sp>
      <p:sp>
        <p:nvSpPr>
          <p:cNvPr id="20" name="Text 18"/>
          <p:cNvSpPr txBox="1"/>
          <p:nvPr/>
        </p:nvSpPr>
        <p:spPr>
          <a:xfrm>
            <a:off x="62179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Homework</a:t>
            </a:r>
            <a:endParaRPr lang="en-US" sz="1500" dirty="0"/>
          </a:p>
        </p:txBody>
      </p:sp>
      <p:sp>
        <p:nvSpPr>
          <p:cNvPr id="22" name="Text 19"/>
          <p:cNvSpPr txBox="1"/>
          <p:nvPr/>
        </p:nvSpPr>
        <p:spPr>
          <a:xfrm>
            <a:off x="731520" y="6172200"/>
            <a:ext cx="10698480" cy="457200"/>
          </a:xfrm>
          <a:prstGeom prst="rect">
            <a:avLst/>
          </a:prstGeom>
          <a:noFill/>
          <a:ln/>
        </p:spPr>
        <p:txBody>
          <a:bodyPr wrap="square" lIns="0" tIns="0" rIns="0" bIns="0" rtlCol="0" anchor="t"/>
          <a:lstStyle/>
          <a:p>
            <a:pPr indent="0" marL="0">
              <a:buNone/>
            </a:pPr>
            <a:r>
              <a:rPr lang="en-US" sz="1100" dirty="0">
                <a:solidFill>
                  <a:srgbClr val="C9D6E3"/>
                </a:solidFill>
              </a:rPr>
              <a:t>SMTP (Simple Mail Transfer Protocol) · POP3 (Post Office Protocol version 3) · IMAP (Internet Message Access Protocol) · DNS (Domain Name System) · NAT (network address translation)</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1 · A mailing-list delivery, read from the log</a:t>
            </a:r>
            <a:endParaRPr lang="en-US" sz="3000" dirty="0"/>
          </a:p>
        </p:txBody>
      </p:sp>
      <p:sp>
        <p:nvSpPr>
          <p:cNvPr id="4" name="code"/>
          <p:cNvSpPr/>
          <p:nvPr/>
        </p:nvSpPr>
        <p:spPr>
          <a:xfrm>
            <a:off x="548640" y="1280160"/>
            <a:ext cx="5120640" cy="4343400"/>
          </a:xfrm>
          <a:prstGeom prst="rect">
            <a:avLst/>
          </a:prstGeom>
          <a:solidFill>
            <a:srgbClr val="1E2A38"/>
          </a:solidFill>
          <a:ln w="12700">
            <a:solidFill>
              <a:srgbClr val="1E2A38"/>
            </a:solidFill>
            <a:prstDash val="solid"/>
          </a:ln>
        </p:spPr>
      </p:sp>
      <p:sp>
        <p:nvSpPr>
          <p:cNvPr id="5" name="Text 2"/>
          <p:cNvSpPr txBox="1"/>
          <p:nvPr/>
        </p:nvSpPr>
        <p:spPr>
          <a:xfrm>
            <a:off x="548640" y="1280160"/>
            <a:ext cx="5120640" cy="4343400"/>
          </a:xfrm>
          <a:prstGeom prst="rect">
            <a:avLst/>
          </a:prstGeom>
          <a:noFill/>
          <a:ln/>
        </p:spPr>
        <p:txBody>
          <a:bodyPr wrap="square" lIns="101600" tIns="101600" rIns="101600" bIns="101600" rtlCol="0" anchor="t"/>
          <a:lstStyle/>
          <a:p>
            <a:pPr algn="l" indent="0" marL="0">
              <a:buNone/>
            </a:pPr>
            <a:r>
              <a:rPr lang="en-US" sz="1100" dirty="0">
                <a:solidFill>
                  <a:srgbClr val="E8EEF4"/>
                </a:solidFill>
                <a:latin typeface="Consolas" pitchFamily="34" charset="0"/>
                <a:ea typeface="Consolas" pitchFamily="34" charset="-122"/>
                <a:cs typeface="Consolas" pitchFamily="34" charset="-120"/>
              </a:rPr>
              <a:t>C: MAIL FROM:&lt;list-bounces@uni.ro&gt;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250 OK</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RCPT TO:&lt;bob@example.com&gt;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250 OK</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RCPT TO:&lt;carol@example.com&gt;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550 5.1.1 No such user</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RCPT TO:&lt;dan@example.com&gt;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250 OK</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DATA</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354 Go ahead</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From: Prof. Ionescu &lt;ionescu@uni.ro&gt;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To: Students &lt;cn-2026@uni.ro&gt;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..and bring your student card.</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C: .</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 250 OK queued as 91BC</a:t>
            </a:r>
            <a:endParaRPr lang="en-US" sz="1100" dirty="0"/>
          </a:p>
        </p:txBody>
      </p:sp>
      <p:sp>
        <p:nvSpPr>
          <p:cNvPr id="6" name="Shape 3"/>
          <p:cNvSpPr/>
          <p:nvPr/>
        </p:nvSpPr>
        <p:spPr>
          <a:xfrm>
            <a:off x="5943600" y="1344168"/>
            <a:ext cx="384048" cy="384048"/>
          </a:xfrm>
          <a:prstGeom prst="ellipse">
            <a:avLst/>
          </a:prstGeom>
          <a:solidFill>
            <a:srgbClr val="B9772A"/>
          </a:solidFill>
          <a:ln w="12700">
            <a:solidFill>
              <a:srgbClr val="B9772A"/>
            </a:solidFill>
            <a:prstDash val="solid"/>
          </a:ln>
        </p:spPr>
      </p:sp>
      <p:sp>
        <p:nvSpPr>
          <p:cNvPr id="7" name="Text 4"/>
          <p:cNvSpPr txBox="1"/>
          <p:nvPr/>
        </p:nvSpPr>
        <p:spPr>
          <a:xfrm>
            <a:off x="5943600" y="1344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6446520" y="1325880"/>
            <a:ext cx="5166360" cy="9144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Delivered to </a:t>
            </a:r>
            <a:r>
              <a:rPr lang="en-US" sz="1200" b="1" dirty="0">
                <a:solidFill>
                  <a:srgbClr val="1B2430"/>
                </a:solidFill>
              </a:rPr>
              <a:t>Bob and Dan</a:t>
            </a:r>
            <a:r>
              <a:rPr lang="en-US" sz="1200" dirty="0">
                <a:solidFill>
                  <a:srgbClr val="1B2430"/>
                </a:solidFill>
              </a:rPr>
              <a:t>. Carol’s 550 → the sending server bounces to </a:t>
            </a:r>
            <a:r>
              <a:rPr lang="en-US" sz="1200" b="1" dirty="0">
                <a:solidFill>
                  <a:srgbClr val="1B2430"/>
                </a:solidFill>
              </a:rPr>
              <a:t>list-bounces@uni.ro</a:t>
            </a:r>
            <a:r>
              <a:rPr lang="en-US" sz="1200" dirty="0">
                <a:solidFill>
                  <a:srgbClr val="1B2430"/>
                </a:solidFill>
              </a:rPr>
              <a:t>, not to the professor.</a:t>
            </a:r>
            <a:endParaRPr lang="en-US" sz="1200" dirty="0"/>
          </a:p>
        </p:txBody>
      </p:sp>
      <p:sp>
        <p:nvSpPr>
          <p:cNvPr id="9" name="Shape 6"/>
          <p:cNvSpPr/>
          <p:nvPr/>
        </p:nvSpPr>
        <p:spPr>
          <a:xfrm>
            <a:off x="5943600" y="2395728"/>
            <a:ext cx="384048" cy="384048"/>
          </a:xfrm>
          <a:prstGeom prst="ellipse">
            <a:avLst/>
          </a:prstGeom>
          <a:solidFill>
            <a:srgbClr val="B9772A"/>
          </a:solidFill>
          <a:ln w="12700">
            <a:solidFill>
              <a:srgbClr val="B9772A"/>
            </a:solidFill>
            <a:prstDash val="solid"/>
          </a:ln>
        </p:spPr>
      </p:sp>
      <p:sp>
        <p:nvSpPr>
          <p:cNvPr id="10" name="Text 7"/>
          <p:cNvSpPr txBox="1"/>
          <p:nvPr/>
        </p:nvSpPr>
        <p:spPr>
          <a:xfrm>
            <a:off x="5943600" y="23957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6446520" y="2377440"/>
            <a:ext cx="5166360" cy="9144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Nobody is in To: — delivery uses only the </a:t>
            </a:r>
            <a:r>
              <a:rPr lang="en-US" sz="1200" b="1" dirty="0">
                <a:solidFill>
                  <a:srgbClr val="1B2430"/>
                </a:solidFill>
              </a:rPr>
              <a:t>envelope</a:t>
            </a:r>
            <a:r>
              <a:rPr lang="en-US" sz="1200" dirty="0">
                <a:solidFill>
                  <a:srgbClr val="1B2430"/>
                </a:solidFill>
              </a:rPr>
              <a:t>: mailing lists and Bcc work this way.</a:t>
            </a:r>
            <a:endParaRPr lang="en-US" sz="1200" dirty="0"/>
          </a:p>
        </p:txBody>
      </p:sp>
      <p:sp>
        <p:nvSpPr>
          <p:cNvPr id="12" name="Shape 9"/>
          <p:cNvSpPr/>
          <p:nvPr/>
        </p:nvSpPr>
        <p:spPr>
          <a:xfrm>
            <a:off x="5943600" y="3447288"/>
            <a:ext cx="384048" cy="384048"/>
          </a:xfrm>
          <a:prstGeom prst="ellipse">
            <a:avLst/>
          </a:prstGeom>
          <a:solidFill>
            <a:srgbClr val="B9772A"/>
          </a:solidFill>
          <a:ln w="12700">
            <a:solidFill>
              <a:srgbClr val="B9772A"/>
            </a:solidFill>
            <a:prstDash val="solid"/>
          </a:ln>
        </p:spPr>
      </p:sp>
      <p:sp>
        <p:nvSpPr>
          <p:cNvPr id="13" name="Text 10"/>
          <p:cNvSpPr txBox="1"/>
          <p:nvPr/>
        </p:nvSpPr>
        <p:spPr>
          <a:xfrm>
            <a:off x="5943600" y="3447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6446520" y="3429000"/>
            <a:ext cx="5166360" cy="8229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Bob reads </a:t>
            </a:r>
            <a:r>
              <a:rPr lang="en-US" sz="1200" dirty="0">
                <a:solidFill>
                  <a:srgbClr val="1B2430"/>
                </a:solidFill>
                <a:latin typeface="Consolas" pitchFamily="34" charset="0"/>
                <a:ea typeface="Consolas" pitchFamily="34" charset="-122"/>
                <a:cs typeface="Consolas" pitchFamily="34" charset="-120"/>
              </a:rPr>
              <a:t>.and bring your student card.</a:t>
            </a:r>
            <a:r>
              <a:rPr lang="en-US" sz="1200" dirty="0">
                <a:solidFill>
                  <a:srgbClr val="1B2430"/>
                </a:solidFill>
              </a:rPr>
              <a:t> — one dot removed.</a:t>
            </a:r>
            <a:endParaRPr lang="en-US" sz="1200" dirty="0"/>
          </a:p>
        </p:txBody>
      </p:sp>
      <p:sp>
        <p:nvSpPr>
          <p:cNvPr id="15" name="Shape 12"/>
          <p:cNvSpPr/>
          <p:nvPr/>
        </p:nvSpPr>
        <p:spPr>
          <a:xfrm>
            <a:off x="5943600" y="4407408"/>
            <a:ext cx="384048" cy="384048"/>
          </a:xfrm>
          <a:prstGeom prst="ellipse">
            <a:avLst/>
          </a:prstGeom>
          <a:solidFill>
            <a:srgbClr val="A23B3B"/>
          </a:solidFill>
          <a:ln w="12700">
            <a:solidFill>
              <a:srgbClr val="A23B3B"/>
            </a:solidFill>
            <a:prstDash val="solid"/>
          </a:ln>
        </p:spPr>
      </p:sp>
      <p:sp>
        <p:nvSpPr>
          <p:cNvPr id="16" name="Text 13"/>
          <p:cNvSpPr txBox="1"/>
          <p:nvPr/>
        </p:nvSpPr>
        <p:spPr>
          <a:xfrm>
            <a:off x="5943600" y="44074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6446520" y="4389120"/>
            <a:ext cx="5166360" cy="118872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Missing: </a:t>
            </a:r>
            <a:r>
              <a:rPr lang="en-US" sz="1200" b="1" dirty="0">
                <a:solidFill>
                  <a:srgbClr val="1B2430"/>
                </a:solidFill>
              </a:rPr>
              <a:t>STARTTLS</a:t>
            </a:r>
            <a:r>
              <a:rPr lang="en-US" sz="1200" dirty="0">
                <a:solidFill>
                  <a:srgbClr val="1B2430"/>
                </a:solidFill>
              </a:rPr>
              <a:t> after EHLO (the server offered it). Without it the whole dialogue is readable on the path.</a:t>
            </a:r>
            <a:endParaRPr lang="en-US" sz="1200" dirty="0"/>
          </a:p>
        </p:txBody>
      </p:sp>
      <p:sp>
        <p:nvSpPr>
          <p:cNvPr id="1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9" name="Text 1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Read the envelope for delivery and bounces, the header only for display.</a:t>
            </a:r>
            <a:endParaRPr lang="en-US" sz="1400" dirty="0"/>
          </a:p>
        </p:txBody>
      </p:sp>
      <p:sp>
        <p:nvSpPr>
          <p:cNvPr id="20" name="Text 1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STARTTLS (start TLS on this connection) · EHLO (extended hello) · RCPT (recipient)</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2 · Size and path of a message</a:t>
            </a:r>
            <a:endParaRPr lang="en-US" sz="3000" dirty="0"/>
          </a:p>
        </p:txBody>
      </p:sp>
      <p:sp>
        <p:nvSpPr>
          <p:cNvPr id="4" name="box"/>
          <p:cNvSpPr/>
          <p:nvPr/>
        </p:nvSpPr>
        <p:spPr>
          <a:xfrm>
            <a:off x="548640" y="1325880"/>
            <a:ext cx="2651760" cy="731520"/>
          </a:xfrm>
          <a:prstGeom prst="roundRect">
            <a:avLst>
              <a:gd name="adj" fmla="val 10000"/>
            </a:avLst>
          </a:prstGeom>
          <a:solidFill>
            <a:srgbClr val="EEF2F6"/>
          </a:solidFill>
          <a:ln w="12700">
            <a:solidFill>
              <a:srgbClr val="EEF2F6"/>
            </a:solidFill>
            <a:prstDash val="solid"/>
          </a:ln>
        </p:spPr>
      </p:sp>
      <p:sp>
        <p:nvSpPr>
          <p:cNvPr id="5" name="Text 2"/>
          <p:cNvSpPr txBox="1"/>
          <p:nvPr/>
        </p:nvSpPr>
        <p:spPr>
          <a:xfrm>
            <a:off x="548640" y="1325880"/>
            <a:ext cx="2651760" cy="731520"/>
          </a:xfrm>
          <a:prstGeom prst="rect">
            <a:avLst/>
          </a:prstGeom>
          <a:noFill/>
          <a:ln/>
        </p:spPr>
        <p:txBody>
          <a:bodyPr wrap="square" lIns="635" tIns="635" rIns="635" bIns="635" rtlCol="0" anchor="ctr"/>
          <a:lstStyle/>
          <a:p>
            <a:pPr algn="ctr" indent="0" marL="0">
              <a:buNone/>
            </a:pPr>
            <a:r>
              <a:rPr lang="en-US" sz="1400" dirty="0">
                <a:solidFill>
                  <a:srgbClr val="1B2430"/>
                </a:solidFill>
              </a:rPr>
              <a:t>4 500 000 B</a:t>
            </a:r>
            <a:endParaRPr lang="en-US" sz="1400" dirty="0"/>
          </a:p>
        </p:txBody>
      </p:sp>
      <p:sp>
        <p:nvSpPr>
          <p:cNvPr id="6" name="Shape 3"/>
          <p:cNvSpPr/>
          <p:nvPr/>
        </p:nvSpPr>
        <p:spPr>
          <a:xfrm>
            <a:off x="3200400" y="1691640"/>
            <a:ext cx="182880" cy="914"/>
          </a:xfrm>
          <a:prstGeom prst="line">
            <a:avLst/>
          </a:prstGeom>
          <a:noFill/>
          <a:ln w="22225">
            <a:solidFill>
              <a:srgbClr val="B9772A"/>
            </a:solidFill>
            <a:prstDash val="solid"/>
            <a:tailEnd type="triangle"/>
          </a:ln>
        </p:spPr>
      </p:sp>
      <p:sp>
        <p:nvSpPr>
          <p:cNvPr id="7" name="box"/>
          <p:cNvSpPr/>
          <p:nvPr/>
        </p:nvSpPr>
        <p:spPr>
          <a:xfrm>
            <a:off x="3383280" y="1325880"/>
            <a:ext cx="2651760" cy="731520"/>
          </a:xfrm>
          <a:prstGeom prst="roundRect">
            <a:avLst>
              <a:gd name="adj" fmla="val 10000"/>
            </a:avLst>
          </a:prstGeom>
          <a:solidFill>
            <a:srgbClr val="F3EAD7"/>
          </a:solidFill>
          <a:ln w="12700">
            <a:solidFill>
              <a:srgbClr val="F3EAD7"/>
            </a:solidFill>
            <a:prstDash val="solid"/>
          </a:ln>
        </p:spPr>
      </p:sp>
      <p:sp>
        <p:nvSpPr>
          <p:cNvPr id="8" name="Text 5"/>
          <p:cNvSpPr txBox="1"/>
          <p:nvPr/>
        </p:nvSpPr>
        <p:spPr>
          <a:xfrm>
            <a:off x="3383280" y="1325880"/>
            <a:ext cx="2651760" cy="731520"/>
          </a:xfrm>
          <a:prstGeom prst="rect">
            <a:avLst/>
          </a:prstGeom>
          <a:noFill/>
          <a:ln/>
        </p:spPr>
        <p:txBody>
          <a:bodyPr wrap="square" lIns="635" tIns="635" rIns="635" bIns="635" rtlCol="0" anchor="ctr"/>
          <a:lstStyle/>
          <a:p>
            <a:pPr algn="ctr" indent="0" marL="0">
              <a:buNone/>
            </a:pPr>
            <a:r>
              <a:rPr lang="en-US" sz="1400" dirty="0">
                <a:solidFill>
                  <a:srgbClr val="1B2430"/>
                </a:solidFill>
              </a:rPr>
              <a:t>× 4/3 = 6 000 000 chars</a:t>
            </a:r>
            <a:endParaRPr lang="en-US" sz="1400" dirty="0"/>
          </a:p>
        </p:txBody>
      </p:sp>
      <p:sp>
        <p:nvSpPr>
          <p:cNvPr id="9" name="Shape 6"/>
          <p:cNvSpPr/>
          <p:nvPr/>
        </p:nvSpPr>
        <p:spPr>
          <a:xfrm>
            <a:off x="6035040" y="1691640"/>
            <a:ext cx="182880" cy="914"/>
          </a:xfrm>
          <a:prstGeom prst="line">
            <a:avLst/>
          </a:prstGeom>
          <a:noFill/>
          <a:ln w="22225">
            <a:solidFill>
              <a:srgbClr val="B9772A"/>
            </a:solidFill>
            <a:prstDash val="solid"/>
            <a:tailEnd type="triangle"/>
          </a:ln>
        </p:spPr>
      </p:sp>
      <p:sp>
        <p:nvSpPr>
          <p:cNvPr id="10" name="box"/>
          <p:cNvSpPr/>
          <p:nvPr/>
        </p:nvSpPr>
        <p:spPr>
          <a:xfrm>
            <a:off x="6217920" y="1325880"/>
            <a:ext cx="2651760" cy="731520"/>
          </a:xfrm>
          <a:prstGeom prst="roundRect">
            <a:avLst>
              <a:gd name="adj" fmla="val 10000"/>
            </a:avLst>
          </a:prstGeom>
          <a:solidFill>
            <a:srgbClr val="F3EAD7"/>
          </a:solidFill>
          <a:ln w="12700">
            <a:solidFill>
              <a:srgbClr val="F3EAD7"/>
            </a:solidFill>
            <a:prstDash val="solid"/>
          </a:ln>
        </p:spPr>
      </p:sp>
      <p:sp>
        <p:nvSpPr>
          <p:cNvPr id="11" name="Text 8"/>
          <p:cNvSpPr txBox="1"/>
          <p:nvPr/>
        </p:nvSpPr>
        <p:spPr>
          <a:xfrm>
            <a:off x="6217920" y="1325880"/>
            <a:ext cx="2651760" cy="731520"/>
          </a:xfrm>
          <a:prstGeom prst="rect">
            <a:avLst/>
          </a:prstGeom>
          <a:noFill/>
          <a:ln/>
        </p:spPr>
        <p:txBody>
          <a:bodyPr wrap="square" lIns="635" tIns="635" rIns="635" bIns="635" rtlCol="0" anchor="ctr"/>
          <a:lstStyle/>
          <a:p>
            <a:pPr algn="ctr" indent="0" marL="0">
              <a:buNone/>
            </a:pPr>
            <a:r>
              <a:rPr lang="en-US" sz="1400" dirty="0">
                <a:solidFill>
                  <a:srgbClr val="1B2430"/>
                </a:solidFill>
              </a:rPr>
              <a:t>+ 78 948 × 2 B line ends</a:t>
            </a:r>
            <a:endParaRPr lang="en-US" sz="1400" dirty="0"/>
          </a:p>
        </p:txBody>
      </p:sp>
      <p:sp>
        <p:nvSpPr>
          <p:cNvPr id="12" name="Shape 9"/>
          <p:cNvSpPr/>
          <p:nvPr/>
        </p:nvSpPr>
        <p:spPr>
          <a:xfrm>
            <a:off x="8869680" y="1691640"/>
            <a:ext cx="182880" cy="914"/>
          </a:xfrm>
          <a:prstGeom prst="line">
            <a:avLst/>
          </a:prstGeom>
          <a:noFill/>
          <a:ln w="22225">
            <a:solidFill>
              <a:srgbClr val="B9772A"/>
            </a:solidFill>
            <a:prstDash val="solid"/>
            <a:tailEnd type="triangle"/>
          </a:ln>
        </p:spPr>
      </p:sp>
      <p:sp>
        <p:nvSpPr>
          <p:cNvPr id="13" name="box"/>
          <p:cNvSpPr/>
          <p:nvPr/>
        </p:nvSpPr>
        <p:spPr>
          <a:xfrm>
            <a:off x="9052560" y="1325880"/>
            <a:ext cx="2651760" cy="731520"/>
          </a:xfrm>
          <a:prstGeom prst="roundRect">
            <a:avLst>
              <a:gd name="adj" fmla="val 10000"/>
            </a:avLst>
          </a:prstGeom>
          <a:solidFill>
            <a:srgbClr val="F2D6D6"/>
          </a:solidFill>
          <a:ln w="12700">
            <a:solidFill>
              <a:srgbClr val="F2D6D6"/>
            </a:solidFill>
            <a:prstDash val="solid"/>
          </a:ln>
        </p:spPr>
      </p:sp>
      <p:sp>
        <p:nvSpPr>
          <p:cNvPr id="14" name="Text 11"/>
          <p:cNvSpPr txBox="1"/>
          <p:nvPr/>
        </p:nvSpPr>
        <p:spPr>
          <a:xfrm>
            <a:off x="9052560" y="1325880"/>
            <a:ext cx="2651760" cy="731520"/>
          </a:xfrm>
          <a:prstGeom prst="rect">
            <a:avLst/>
          </a:prstGeom>
          <a:noFill/>
          <a:ln/>
        </p:spPr>
        <p:txBody>
          <a:bodyPr wrap="square" lIns="635" tIns="635" rIns="635" bIns="635" rtlCol="0" anchor="ctr"/>
          <a:lstStyle/>
          <a:p>
            <a:pPr algn="ctr" indent="0" marL="0">
              <a:buNone/>
            </a:pPr>
            <a:r>
              <a:rPr lang="en-US" sz="1400" b="1" dirty="0">
                <a:solidFill>
                  <a:srgbClr val="1B2430"/>
                </a:solidFill>
              </a:rPr>
              <a:t>≈ 6.16 MB</a:t>
            </a:r>
            <a:endParaRPr lang="en-US" sz="1400" dirty="0"/>
          </a:p>
        </p:txBody>
      </p:sp>
      <p:sp>
        <p:nvSpPr>
          <p:cNvPr id="15" name="Text 12"/>
          <p:cNvSpPr txBox="1"/>
          <p:nvPr/>
        </p:nvSpPr>
        <p:spPr>
          <a:xfrm>
            <a:off x="548640" y="2148840"/>
            <a:ext cx="11064240" cy="320040"/>
          </a:xfrm>
          <a:prstGeom prst="rect">
            <a:avLst/>
          </a:prstGeom>
          <a:noFill/>
          <a:ln/>
        </p:spPr>
        <p:txBody>
          <a:bodyPr wrap="square" lIns="0" tIns="0" rIns="0" bIns="0" rtlCol="0" anchor="t"/>
          <a:lstStyle/>
          <a:p>
            <a:pPr algn="l" indent="0" marL="0">
              <a:spcAft>
                <a:spcPts val="400"/>
              </a:spcAft>
              <a:buNone/>
            </a:pPr>
            <a:r>
              <a:rPr lang="en-US" sz="1200" dirty="0">
                <a:solidFill>
                  <a:srgbClr val="2E7D4F"/>
                </a:solidFill>
              </a:rPr>
              <a:t>below the server’s SIZE limit of 26 214 400 bytes (25 MiB): accepted</a:t>
            </a:r>
            <a:endParaRPr lang="en-US" sz="1200" dirty="0"/>
          </a:p>
        </p:txBody>
      </p:sp>
      <p:sp>
        <p:nvSpPr>
          <p:cNvPr id="16" name="box"/>
          <p:cNvSpPr/>
          <p:nvPr/>
        </p:nvSpPr>
        <p:spPr>
          <a:xfrm>
            <a:off x="548640" y="2743200"/>
            <a:ext cx="2651760" cy="1051560"/>
          </a:xfrm>
          <a:prstGeom prst="roundRect">
            <a:avLst>
              <a:gd name="adj" fmla="val 6957"/>
            </a:avLst>
          </a:prstGeom>
          <a:solidFill>
            <a:srgbClr val="EEF2F6"/>
          </a:solidFill>
          <a:ln w="12700">
            <a:solidFill>
              <a:srgbClr val="EEF2F6"/>
            </a:solidFill>
            <a:prstDash val="solid"/>
          </a:ln>
        </p:spPr>
      </p:sp>
      <p:sp>
        <p:nvSpPr>
          <p:cNvPr id="17" name="Text 14"/>
          <p:cNvSpPr txBox="1"/>
          <p:nvPr/>
        </p:nvSpPr>
        <p:spPr>
          <a:xfrm>
            <a:off x="548640" y="2743200"/>
            <a:ext cx="2651760" cy="1051560"/>
          </a:xfrm>
          <a:prstGeom prst="rect">
            <a:avLst/>
          </a:prstGeom>
          <a:noFill/>
          <a:ln/>
        </p:spPr>
        <p:txBody>
          <a:bodyPr wrap="square" lIns="635" tIns="635" rIns="635" bIns="635" rtlCol="0" anchor="ctr"/>
          <a:lstStyle/>
          <a:p>
            <a:pPr algn="ctr" indent="0" marL="0">
              <a:buNone/>
            </a:pPr>
            <a:r>
              <a:rPr lang="en-US" sz="1100" b="1" dirty="0">
                <a:solidFill>
                  <a:srgbClr val="1B2430"/>
                </a:solidFill>
              </a:rPr>
              <a:t>Alice’s PC</a:t>
            </a:r>
            <a:endParaRPr lang="en-US" sz="1100" dirty="0"/>
          </a:p>
          <a:p>
            <a:pPr algn="ctr" indent="0" marL="0">
              <a:buNone/>
            </a:pPr>
            <a:r>
              <a:rPr lang="en-US" sz="1100" dirty="0">
                <a:solidFill>
                  <a:srgbClr val="1B2430"/>
                </a:solidFill>
              </a:rPr>
              <a:t>[192.168.1.34] seen as 86.120.4.7</a:t>
            </a:r>
            <a:endParaRPr lang="en-US" sz="1100" dirty="0"/>
          </a:p>
        </p:txBody>
      </p:sp>
      <p:sp>
        <p:nvSpPr>
          <p:cNvPr id="18" name="Shape 15"/>
          <p:cNvSpPr/>
          <p:nvPr/>
        </p:nvSpPr>
        <p:spPr>
          <a:xfrm>
            <a:off x="3200400" y="3246120"/>
            <a:ext cx="182880" cy="914"/>
          </a:xfrm>
          <a:prstGeom prst="line">
            <a:avLst/>
          </a:prstGeom>
          <a:noFill/>
          <a:ln w="25400">
            <a:solidFill>
              <a:srgbClr val="1F3A5F"/>
            </a:solidFill>
            <a:prstDash val="solid"/>
            <a:tailEnd type="triangle"/>
          </a:ln>
        </p:spPr>
      </p:sp>
      <p:sp>
        <p:nvSpPr>
          <p:cNvPr id="19" name="Text 16"/>
          <p:cNvSpPr txBox="1"/>
          <p:nvPr/>
        </p:nvSpPr>
        <p:spPr>
          <a:xfrm>
            <a:off x="2377440" y="3886200"/>
            <a:ext cx="1828800" cy="32004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09:13:58</a:t>
            </a:r>
            <a:endParaRPr lang="en-US" sz="1100" dirty="0"/>
          </a:p>
        </p:txBody>
      </p:sp>
      <p:sp>
        <p:nvSpPr>
          <p:cNvPr id="20" name="box"/>
          <p:cNvSpPr/>
          <p:nvPr/>
        </p:nvSpPr>
        <p:spPr>
          <a:xfrm>
            <a:off x="3383280" y="2743200"/>
            <a:ext cx="2651760" cy="1051560"/>
          </a:xfrm>
          <a:prstGeom prst="roundRect">
            <a:avLst>
              <a:gd name="adj" fmla="val 6957"/>
            </a:avLst>
          </a:prstGeom>
          <a:solidFill>
            <a:srgbClr val="2A7F8E"/>
          </a:solidFill>
          <a:ln w="12700">
            <a:solidFill>
              <a:srgbClr val="2A7F8E"/>
            </a:solidFill>
            <a:prstDash val="solid"/>
          </a:ln>
        </p:spPr>
      </p:sp>
      <p:sp>
        <p:nvSpPr>
          <p:cNvPr id="21" name="Text 18"/>
          <p:cNvSpPr txBox="1"/>
          <p:nvPr/>
        </p:nvSpPr>
        <p:spPr>
          <a:xfrm>
            <a:off x="3383280" y="2743200"/>
            <a:ext cx="2651760" cy="1051560"/>
          </a:xfrm>
          <a:prstGeom prst="rect">
            <a:avLst/>
          </a:prstGeom>
          <a:noFill/>
          <a:ln/>
        </p:spPr>
        <p:txBody>
          <a:bodyPr wrap="square" lIns="635" tIns="635" rIns="635" bIns="635" rtlCol="0" anchor="ctr"/>
          <a:lstStyle/>
          <a:p>
            <a:pPr algn="ctr" indent="0" marL="0">
              <a:buNone/>
            </a:pPr>
            <a:r>
              <a:rPr lang="en-US" sz="1100" b="1" dirty="0">
                <a:solidFill>
                  <a:srgbClr val="FFFFFF"/>
                </a:solidFill>
              </a:rPr>
              <a:t>mail.uni.ro</a:t>
            </a:r>
            <a:endParaRPr lang="en-US" sz="1100" dirty="0"/>
          </a:p>
          <a:p>
            <a:pPr algn="ctr" indent="0" marL="0">
              <a:buNone/>
            </a:pPr>
            <a:r>
              <a:rPr lang="en-US" sz="1100" dirty="0">
                <a:solidFill>
                  <a:srgbClr val="FFFFFF"/>
                </a:solidFill>
              </a:rPr>
              <a:t>ESMTPSA: TLS + login</a:t>
            </a:r>
            <a:endParaRPr lang="en-US" sz="1100" dirty="0"/>
          </a:p>
        </p:txBody>
      </p:sp>
      <p:sp>
        <p:nvSpPr>
          <p:cNvPr id="22" name="Shape 19"/>
          <p:cNvSpPr/>
          <p:nvPr/>
        </p:nvSpPr>
        <p:spPr>
          <a:xfrm>
            <a:off x="6035040" y="3246120"/>
            <a:ext cx="182880" cy="914"/>
          </a:xfrm>
          <a:prstGeom prst="line">
            <a:avLst/>
          </a:prstGeom>
          <a:noFill/>
          <a:ln w="25400">
            <a:solidFill>
              <a:srgbClr val="1F3A5F"/>
            </a:solidFill>
            <a:prstDash val="solid"/>
            <a:tailEnd type="triangle"/>
          </a:ln>
        </p:spPr>
      </p:sp>
      <p:sp>
        <p:nvSpPr>
          <p:cNvPr id="23" name="Text 20"/>
          <p:cNvSpPr txBox="1"/>
          <p:nvPr/>
        </p:nvSpPr>
        <p:spPr>
          <a:xfrm>
            <a:off x="5212080" y="3886200"/>
            <a:ext cx="1828800" cy="32004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09:14:03</a:t>
            </a:r>
            <a:endParaRPr lang="en-US" sz="1100" dirty="0"/>
          </a:p>
        </p:txBody>
      </p:sp>
      <p:sp>
        <p:nvSpPr>
          <p:cNvPr id="24" name="box"/>
          <p:cNvSpPr/>
          <p:nvPr/>
        </p:nvSpPr>
        <p:spPr>
          <a:xfrm>
            <a:off x="6217920" y="2743200"/>
            <a:ext cx="2651760" cy="1051560"/>
          </a:xfrm>
          <a:prstGeom prst="roundRect">
            <a:avLst>
              <a:gd name="adj" fmla="val 6957"/>
            </a:avLst>
          </a:prstGeom>
          <a:solidFill>
            <a:srgbClr val="2A7F8E"/>
          </a:solidFill>
          <a:ln w="12700">
            <a:solidFill>
              <a:srgbClr val="2A7F8E"/>
            </a:solidFill>
            <a:prstDash val="solid"/>
          </a:ln>
        </p:spPr>
      </p:sp>
      <p:sp>
        <p:nvSpPr>
          <p:cNvPr id="25" name="Text 22"/>
          <p:cNvSpPr txBox="1"/>
          <p:nvPr/>
        </p:nvSpPr>
        <p:spPr>
          <a:xfrm>
            <a:off x="6217920" y="2743200"/>
            <a:ext cx="2651760" cy="1051560"/>
          </a:xfrm>
          <a:prstGeom prst="rect">
            <a:avLst/>
          </a:prstGeom>
          <a:noFill/>
          <a:ln/>
        </p:spPr>
        <p:txBody>
          <a:bodyPr wrap="square" lIns="635" tIns="635" rIns="635" bIns="635" rtlCol="0" anchor="ctr"/>
          <a:lstStyle/>
          <a:p>
            <a:pPr algn="ctr" indent="0" marL="0">
              <a:buNone/>
            </a:pPr>
            <a:r>
              <a:rPr lang="en-US" sz="1100" b="1" dirty="0">
                <a:solidFill>
                  <a:srgbClr val="FFFFFF"/>
                </a:solidFill>
              </a:rPr>
              <a:t>mx1.example.com</a:t>
            </a:r>
            <a:endParaRPr lang="en-US" sz="1100" dirty="0"/>
          </a:p>
          <a:p>
            <a:pPr algn="ctr" indent="0" marL="0">
              <a:buNone/>
            </a:pPr>
            <a:r>
              <a:rPr lang="en-US" sz="1100" dirty="0">
                <a:solidFill>
                  <a:srgbClr val="FFFFFF"/>
                </a:solidFill>
              </a:rPr>
              <a:t>ESMTPS</a:t>
            </a:r>
            <a:endParaRPr lang="en-US" sz="1100" dirty="0"/>
          </a:p>
        </p:txBody>
      </p:sp>
      <p:sp>
        <p:nvSpPr>
          <p:cNvPr id="26" name="Shape 23"/>
          <p:cNvSpPr/>
          <p:nvPr/>
        </p:nvSpPr>
        <p:spPr>
          <a:xfrm>
            <a:off x="8869680" y="3246120"/>
            <a:ext cx="182880" cy="914"/>
          </a:xfrm>
          <a:prstGeom prst="line">
            <a:avLst/>
          </a:prstGeom>
          <a:noFill/>
          <a:ln w="25400">
            <a:solidFill>
              <a:srgbClr val="1F3A5F"/>
            </a:solidFill>
            <a:prstDash val="solid"/>
            <a:tailEnd type="triangle"/>
          </a:ln>
        </p:spPr>
      </p:sp>
      <p:sp>
        <p:nvSpPr>
          <p:cNvPr id="27" name="Text 24"/>
          <p:cNvSpPr txBox="1"/>
          <p:nvPr/>
        </p:nvSpPr>
        <p:spPr>
          <a:xfrm>
            <a:off x="8046720" y="3886200"/>
            <a:ext cx="1828800" cy="320040"/>
          </a:xfrm>
          <a:prstGeom prst="rect">
            <a:avLst/>
          </a:prstGeom>
          <a:noFill/>
          <a:ln/>
        </p:spPr>
        <p:txBody>
          <a:bodyPr wrap="square" lIns="0" tIns="0" rIns="0" bIns="0" rtlCol="0" anchor="t"/>
          <a:lstStyle/>
          <a:p>
            <a:pPr algn="ctr" indent="0" marL="0">
              <a:spcAft>
                <a:spcPts val="400"/>
              </a:spcAft>
              <a:buNone/>
            </a:pPr>
            <a:r>
              <a:rPr lang="en-US" sz="1100" dirty="0">
                <a:solidFill>
                  <a:srgbClr val="5B6770"/>
                </a:solidFill>
              </a:rPr>
              <a:t>09:14:05</a:t>
            </a:r>
            <a:endParaRPr lang="en-US" sz="1100" dirty="0"/>
          </a:p>
        </p:txBody>
      </p:sp>
      <p:sp>
        <p:nvSpPr>
          <p:cNvPr id="28" name="box"/>
          <p:cNvSpPr/>
          <p:nvPr/>
        </p:nvSpPr>
        <p:spPr>
          <a:xfrm>
            <a:off x="9052560" y="2743200"/>
            <a:ext cx="2651760" cy="1051560"/>
          </a:xfrm>
          <a:prstGeom prst="roundRect">
            <a:avLst>
              <a:gd name="adj" fmla="val 6957"/>
            </a:avLst>
          </a:prstGeom>
          <a:solidFill>
            <a:srgbClr val="1F3A5F"/>
          </a:solidFill>
          <a:ln w="12700">
            <a:solidFill>
              <a:srgbClr val="1F3A5F"/>
            </a:solidFill>
            <a:prstDash val="solid"/>
          </a:ln>
        </p:spPr>
      </p:sp>
      <p:sp>
        <p:nvSpPr>
          <p:cNvPr id="29" name="Text 26"/>
          <p:cNvSpPr txBox="1"/>
          <p:nvPr/>
        </p:nvSpPr>
        <p:spPr>
          <a:xfrm>
            <a:off x="9052560" y="2743200"/>
            <a:ext cx="2651760" cy="1051560"/>
          </a:xfrm>
          <a:prstGeom prst="rect">
            <a:avLst/>
          </a:prstGeom>
          <a:noFill/>
          <a:ln/>
        </p:spPr>
        <p:txBody>
          <a:bodyPr wrap="square" lIns="635" tIns="635" rIns="635" bIns="635" rtlCol="0" anchor="ctr"/>
          <a:lstStyle/>
          <a:p>
            <a:pPr algn="ctr" indent="0" marL="0">
              <a:buNone/>
            </a:pPr>
            <a:r>
              <a:rPr lang="en-US" sz="1100" b="1" dirty="0">
                <a:solidFill>
                  <a:srgbClr val="FFFFFF"/>
                </a:solidFill>
              </a:rPr>
              <a:t>imap.example.com</a:t>
            </a:r>
            <a:endParaRPr lang="en-US" sz="1100" dirty="0"/>
          </a:p>
          <a:p>
            <a:pPr algn="ctr" indent="0" marL="0">
              <a:buNone/>
            </a:pPr>
            <a:r>
              <a:rPr lang="en-US" sz="1100" dirty="0">
                <a:solidFill>
                  <a:srgbClr val="FFFFFF"/>
                </a:solidFill>
              </a:rPr>
              <a:t>LMTP: into Bob’s mailbox</a:t>
            </a:r>
            <a:endParaRPr lang="en-US" sz="1100" dirty="0"/>
          </a:p>
        </p:txBody>
      </p:sp>
      <p:sp>
        <p:nvSpPr>
          <p:cNvPr id="30" name="Shape 27"/>
          <p:cNvSpPr/>
          <p:nvPr/>
        </p:nvSpPr>
        <p:spPr>
          <a:xfrm>
            <a:off x="548640" y="4453128"/>
            <a:ext cx="384048" cy="384048"/>
          </a:xfrm>
          <a:prstGeom prst="ellipse">
            <a:avLst/>
          </a:prstGeom>
          <a:solidFill>
            <a:srgbClr val="B9772A"/>
          </a:solidFill>
          <a:ln w="12700">
            <a:solidFill>
              <a:srgbClr val="B9772A"/>
            </a:solidFill>
            <a:prstDash val="solid"/>
          </a:ln>
        </p:spPr>
      </p:sp>
      <p:sp>
        <p:nvSpPr>
          <p:cNvPr id="31" name="Text 28"/>
          <p:cNvSpPr txBox="1"/>
          <p:nvPr/>
        </p:nvSpPr>
        <p:spPr>
          <a:xfrm>
            <a:off x="54864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32" name="Text 29"/>
          <p:cNvSpPr txBox="1"/>
          <p:nvPr/>
        </p:nvSpPr>
        <p:spPr>
          <a:xfrm>
            <a:off x="1051560" y="4434840"/>
            <a:ext cx="4983480" cy="11430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Longest hop: mail.uni.ro → mx1 (5 s: queue, checks). Clocks differ slightly: indicative only.</a:t>
            </a:r>
            <a:endParaRPr lang="en-US" sz="1200" dirty="0"/>
          </a:p>
        </p:txBody>
      </p:sp>
      <p:sp>
        <p:nvSpPr>
          <p:cNvPr id="33" name="Shape 30"/>
          <p:cNvSpPr/>
          <p:nvPr/>
        </p:nvSpPr>
        <p:spPr>
          <a:xfrm>
            <a:off x="6217920" y="4453128"/>
            <a:ext cx="384048" cy="384048"/>
          </a:xfrm>
          <a:prstGeom prst="ellipse">
            <a:avLst/>
          </a:prstGeom>
          <a:solidFill>
            <a:srgbClr val="B9772A"/>
          </a:solidFill>
          <a:ln w="12700">
            <a:solidFill>
              <a:srgbClr val="B9772A"/>
            </a:solidFill>
            <a:prstDash val="solid"/>
          </a:ln>
        </p:spPr>
      </p:sp>
      <p:sp>
        <p:nvSpPr>
          <p:cNvPr id="34" name="Text 31"/>
          <p:cNvSpPr txBox="1"/>
          <p:nvPr/>
        </p:nvSpPr>
        <p:spPr>
          <a:xfrm>
            <a:off x="621792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5" name="Text 32"/>
          <p:cNvSpPr txBox="1"/>
          <p:nvPr/>
        </p:nvSpPr>
        <p:spPr>
          <a:xfrm>
            <a:off x="6720840" y="4434840"/>
            <a:ext cx="4892040" cy="11430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Private address on her PC, another address seen by the server: Alice is </a:t>
            </a:r>
            <a:r>
              <a:rPr lang="en-US" sz="1200" b="1" dirty="0">
                <a:solidFill>
                  <a:srgbClr val="1B2430"/>
                </a:solidFill>
              </a:rPr>
              <a:t>behind NAT</a:t>
            </a:r>
            <a:r>
              <a:rPr lang="en-US" sz="1200" dirty="0">
                <a:solidFill>
                  <a:srgbClr val="1B2430"/>
                </a:solidFill>
              </a:rPr>
              <a:t>.</a:t>
            </a:r>
            <a:endParaRPr lang="en-US" sz="1200" dirty="0"/>
          </a:p>
        </p:txBody>
      </p:sp>
      <p:sp>
        <p:nvSpPr>
          <p:cNvPr id="3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7" name="Text 3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Received fields are a travel log written by each server — newest at the top.</a:t>
            </a:r>
            <a:endParaRPr lang="en-US" sz="1400" dirty="0"/>
          </a:p>
        </p:txBody>
      </p:sp>
      <p:sp>
        <p:nvSpPr>
          <p:cNvPr id="38" name="Text 3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LMTP (Local Mail Transfer Protocol) · TLS (Transport Layer Security) · NAT (network address translation)</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3 · POP3 or IMAP?</a:t>
            </a:r>
            <a:endParaRPr lang="en-US" sz="3000" dirty="0"/>
          </a:p>
        </p:txBody>
      </p:sp>
      <p:sp>
        <p:nvSpPr>
          <p:cNvPr id="4" name="box"/>
          <p:cNvSpPr/>
          <p:nvPr/>
        </p:nvSpPr>
        <p:spPr>
          <a:xfrm>
            <a:off x="548640" y="1325880"/>
            <a:ext cx="5120640" cy="868680"/>
          </a:xfrm>
          <a:prstGeom prst="roundRect">
            <a:avLst>
              <a:gd name="adj" fmla="val 8421"/>
            </a:avLst>
          </a:prstGeom>
          <a:solidFill>
            <a:srgbClr val="EEF2F6"/>
          </a:solidFill>
          <a:ln w="12700">
            <a:solidFill>
              <a:srgbClr val="EEF2F6"/>
            </a:solidFill>
            <a:prstDash val="solid"/>
          </a:ln>
        </p:spPr>
      </p:sp>
      <p:sp>
        <p:nvSpPr>
          <p:cNvPr id="5" name="Text 2"/>
          <p:cNvSpPr txBox="1"/>
          <p:nvPr/>
        </p:nvSpPr>
        <p:spPr>
          <a:xfrm>
            <a:off x="548640" y="1325880"/>
            <a:ext cx="5120640" cy="868680"/>
          </a:xfrm>
          <a:prstGeom prst="rect">
            <a:avLst/>
          </a:prstGeom>
          <a:noFill/>
          <a:ln/>
        </p:spPr>
        <p:txBody>
          <a:bodyPr wrap="square" lIns="635" tIns="635" rIns="635" bIns="635" rtlCol="0" anchor="ctr"/>
          <a:lstStyle/>
          <a:p>
            <a:pPr algn="ctr" indent="0" marL="0">
              <a:buNone/>
            </a:pPr>
            <a:r>
              <a:rPr lang="en-US" sz="1300" dirty="0">
                <a:solidFill>
                  <a:srgbClr val="1B2430"/>
                </a:solidFill>
              </a:rPr>
              <a:t>researcher on a ship, 1 h link a day, one laptop</a:t>
            </a:r>
            <a:endParaRPr lang="en-US" sz="1300" dirty="0"/>
          </a:p>
        </p:txBody>
      </p:sp>
      <p:sp>
        <p:nvSpPr>
          <p:cNvPr id="6" name="box"/>
          <p:cNvSpPr/>
          <p:nvPr/>
        </p:nvSpPr>
        <p:spPr>
          <a:xfrm>
            <a:off x="5852160" y="1325880"/>
            <a:ext cx="1463040" cy="868680"/>
          </a:xfrm>
          <a:prstGeom prst="roundRect">
            <a:avLst>
              <a:gd name="adj" fmla="val 8421"/>
            </a:avLst>
          </a:prstGeom>
          <a:solidFill>
            <a:srgbClr val="B9772A"/>
          </a:solidFill>
          <a:ln w="12700">
            <a:solidFill>
              <a:srgbClr val="B9772A"/>
            </a:solidFill>
            <a:prstDash val="solid"/>
          </a:ln>
        </p:spPr>
      </p:sp>
      <p:sp>
        <p:nvSpPr>
          <p:cNvPr id="7" name="Text 4"/>
          <p:cNvSpPr txBox="1"/>
          <p:nvPr/>
        </p:nvSpPr>
        <p:spPr>
          <a:xfrm>
            <a:off x="5852160" y="1325880"/>
            <a:ext cx="1463040" cy="868680"/>
          </a:xfrm>
          <a:prstGeom prst="rect">
            <a:avLst/>
          </a:prstGeom>
          <a:noFill/>
          <a:ln/>
        </p:spPr>
        <p:txBody>
          <a:bodyPr wrap="square" lIns="635" tIns="635" rIns="635" bIns="635" rtlCol="0" anchor="ctr"/>
          <a:lstStyle/>
          <a:p>
            <a:pPr algn="ctr" indent="0" marL="0">
              <a:buNone/>
            </a:pPr>
            <a:r>
              <a:rPr lang="en-US" sz="1500" b="1" dirty="0">
                <a:solidFill>
                  <a:srgbClr val="FFFFFF"/>
                </a:solidFill>
              </a:rPr>
              <a:t>POP3</a:t>
            </a:r>
            <a:endParaRPr lang="en-US" sz="1500" dirty="0"/>
          </a:p>
        </p:txBody>
      </p:sp>
      <p:sp>
        <p:nvSpPr>
          <p:cNvPr id="8" name="Text 5"/>
          <p:cNvSpPr txBox="1"/>
          <p:nvPr/>
        </p:nvSpPr>
        <p:spPr>
          <a:xfrm>
            <a:off x="7498080" y="1508760"/>
            <a:ext cx="4114800" cy="6400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download all in the window, read off line</a:t>
            </a:r>
            <a:endParaRPr lang="en-US" sz="1200" dirty="0"/>
          </a:p>
        </p:txBody>
      </p:sp>
      <p:sp>
        <p:nvSpPr>
          <p:cNvPr id="9" name="box"/>
          <p:cNvSpPr/>
          <p:nvPr/>
        </p:nvSpPr>
        <p:spPr>
          <a:xfrm>
            <a:off x="548640" y="2350008"/>
            <a:ext cx="5120640" cy="868680"/>
          </a:xfrm>
          <a:prstGeom prst="roundRect">
            <a:avLst>
              <a:gd name="adj" fmla="val 8421"/>
            </a:avLst>
          </a:prstGeom>
          <a:solidFill>
            <a:srgbClr val="EEF2F6"/>
          </a:solidFill>
          <a:ln w="12700">
            <a:solidFill>
              <a:srgbClr val="EEF2F6"/>
            </a:solidFill>
            <a:prstDash val="solid"/>
          </a:ln>
        </p:spPr>
      </p:sp>
      <p:sp>
        <p:nvSpPr>
          <p:cNvPr id="10" name="Text 7"/>
          <p:cNvSpPr txBox="1"/>
          <p:nvPr/>
        </p:nvSpPr>
        <p:spPr>
          <a:xfrm>
            <a:off x="548640" y="2350008"/>
            <a:ext cx="5120640" cy="868680"/>
          </a:xfrm>
          <a:prstGeom prst="rect">
            <a:avLst/>
          </a:prstGeom>
          <a:noFill/>
          <a:ln/>
        </p:spPr>
        <p:txBody>
          <a:bodyPr wrap="square" lIns="635" tIns="635" rIns="635" bIns="635" rtlCol="0" anchor="ctr"/>
          <a:lstStyle/>
          <a:p>
            <a:pPr algn="ctr" indent="0" marL="0">
              <a:buNone/>
            </a:pPr>
            <a:r>
              <a:rPr lang="en-US" sz="1300" dirty="0">
                <a:solidFill>
                  <a:srgbClr val="1B2430"/>
                </a:solidFill>
              </a:rPr>
              <a:t>manager: phone, tablet, office PC, folders</a:t>
            </a:r>
            <a:endParaRPr lang="en-US" sz="1300" dirty="0"/>
          </a:p>
        </p:txBody>
      </p:sp>
      <p:sp>
        <p:nvSpPr>
          <p:cNvPr id="11" name="box"/>
          <p:cNvSpPr/>
          <p:nvPr/>
        </p:nvSpPr>
        <p:spPr>
          <a:xfrm>
            <a:off x="5852160" y="2350008"/>
            <a:ext cx="1463040" cy="868680"/>
          </a:xfrm>
          <a:prstGeom prst="roundRect">
            <a:avLst>
              <a:gd name="adj" fmla="val 8421"/>
            </a:avLst>
          </a:prstGeom>
          <a:solidFill>
            <a:srgbClr val="2A7F8E"/>
          </a:solidFill>
          <a:ln w="12700">
            <a:solidFill>
              <a:srgbClr val="2A7F8E"/>
            </a:solidFill>
            <a:prstDash val="solid"/>
          </a:ln>
        </p:spPr>
      </p:sp>
      <p:sp>
        <p:nvSpPr>
          <p:cNvPr id="12" name="Text 9"/>
          <p:cNvSpPr txBox="1"/>
          <p:nvPr/>
        </p:nvSpPr>
        <p:spPr>
          <a:xfrm>
            <a:off x="5852160" y="2350008"/>
            <a:ext cx="1463040" cy="868680"/>
          </a:xfrm>
          <a:prstGeom prst="rect">
            <a:avLst/>
          </a:prstGeom>
          <a:noFill/>
          <a:ln/>
        </p:spPr>
        <p:txBody>
          <a:bodyPr wrap="square" lIns="635" tIns="635" rIns="635" bIns="635" rtlCol="0" anchor="ctr"/>
          <a:lstStyle/>
          <a:p>
            <a:pPr algn="ctr" indent="0" marL="0">
              <a:buNone/>
            </a:pPr>
            <a:r>
              <a:rPr lang="en-US" sz="1500" b="1" dirty="0">
                <a:solidFill>
                  <a:srgbClr val="FFFFFF"/>
                </a:solidFill>
              </a:rPr>
              <a:t>IMAP</a:t>
            </a:r>
            <a:endParaRPr lang="en-US" sz="1500" dirty="0"/>
          </a:p>
        </p:txBody>
      </p:sp>
      <p:sp>
        <p:nvSpPr>
          <p:cNvPr id="13" name="Text 10"/>
          <p:cNvSpPr txBox="1"/>
          <p:nvPr/>
        </p:nvSpPr>
        <p:spPr>
          <a:xfrm>
            <a:off x="7498080" y="2532888"/>
            <a:ext cx="4114800" cy="6400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folders and flags on the server, same everywhere</a:t>
            </a:r>
            <a:endParaRPr lang="en-US" sz="1200" dirty="0"/>
          </a:p>
        </p:txBody>
      </p:sp>
      <p:sp>
        <p:nvSpPr>
          <p:cNvPr id="14" name="box"/>
          <p:cNvSpPr/>
          <p:nvPr/>
        </p:nvSpPr>
        <p:spPr>
          <a:xfrm>
            <a:off x="548640" y="3374136"/>
            <a:ext cx="5120640" cy="868680"/>
          </a:xfrm>
          <a:prstGeom prst="roundRect">
            <a:avLst>
              <a:gd name="adj" fmla="val 8421"/>
            </a:avLst>
          </a:prstGeom>
          <a:solidFill>
            <a:srgbClr val="EEF2F6"/>
          </a:solidFill>
          <a:ln w="12700">
            <a:solidFill>
              <a:srgbClr val="EEF2F6"/>
            </a:solidFill>
            <a:prstDash val="solid"/>
          </a:ln>
        </p:spPr>
      </p:sp>
      <p:sp>
        <p:nvSpPr>
          <p:cNvPr id="15" name="Text 12"/>
          <p:cNvSpPr txBox="1"/>
          <p:nvPr/>
        </p:nvSpPr>
        <p:spPr>
          <a:xfrm>
            <a:off x="548640" y="3374136"/>
            <a:ext cx="5120640" cy="868680"/>
          </a:xfrm>
          <a:prstGeom prst="rect">
            <a:avLst/>
          </a:prstGeom>
          <a:noFill/>
          <a:ln/>
        </p:spPr>
        <p:txBody>
          <a:bodyPr wrap="square" lIns="635" tIns="635" rIns="635" bIns="635" rtlCol="0" anchor="ctr"/>
          <a:lstStyle/>
          <a:p>
            <a:pPr algn="ctr" indent="0" marL="0">
              <a:buNone/>
            </a:pPr>
            <a:r>
              <a:rPr lang="en-US" sz="1300" dirty="0">
                <a:solidFill>
                  <a:srgbClr val="1B2430"/>
                </a:solidFill>
              </a:rPr>
              <a:t>shop order robot, every minute, each order once</a:t>
            </a:r>
            <a:endParaRPr lang="en-US" sz="1300" dirty="0"/>
          </a:p>
        </p:txBody>
      </p:sp>
      <p:sp>
        <p:nvSpPr>
          <p:cNvPr id="16" name="box"/>
          <p:cNvSpPr/>
          <p:nvPr/>
        </p:nvSpPr>
        <p:spPr>
          <a:xfrm>
            <a:off x="5852160" y="3374136"/>
            <a:ext cx="1463040" cy="868680"/>
          </a:xfrm>
          <a:prstGeom prst="roundRect">
            <a:avLst>
              <a:gd name="adj" fmla="val 8421"/>
            </a:avLst>
          </a:prstGeom>
          <a:solidFill>
            <a:srgbClr val="B9772A"/>
          </a:solidFill>
          <a:ln w="12700">
            <a:solidFill>
              <a:srgbClr val="B9772A"/>
            </a:solidFill>
            <a:prstDash val="solid"/>
          </a:ln>
        </p:spPr>
      </p:sp>
      <p:sp>
        <p:nvSpPr>
          <p:cNvPr id="17" name="Text 14"/>
          <p:cNvSpPr txBox="1"/>
          <p:nvPr/>
        </p:nvSpPr>
        <p:spPr>
          <a:xfrm>
            <a:off x="5852160" y="3374136"/>
            <a:ext cx="1463040" cy="868680"/>
          </a:xfrm>
          <a:prstGeom prst="rect">
            <a:avLst/>
          </a:prstGeom>
          <a:noFill/>
          <a:ln/>
        </p:spPr>
        <p:txBody>
          <a:bodyPr wrap="square" lIns="635" tIns="635" rIns="635" bIns="635" rtlCol="0" anchor="ctr"/>
          <a:lstStyle/>
          <a:p>
            <a:pPr algn="ctr" indent="0" marL="0">
              <a:buNone/>
            </a:pPr>
            <a:r>
              <a:rPr lang="en-US" sz="1500" b="1" dirty="0">
                <a:solidFill>
                  <a:srgbClr val="FFFFFF"/>
                </a:solidFill>
              </a:rPr>
              <a:t>POP3</a:t>
            </a:r>
            <a:endParaRPr lang="en-US" sz="1500" dirty="0"/>
          </a:p>
        </p:txBody>
      </p:sp>
      <p:sp>
        <p:nvSpPr>
          <p:cNvPr id="18" name="Text 15"/>
          <p:cNvSpPr txBox="1"/>
          <p:nvPr/>
        </p:nvSpPr>
        <p:spPr>
          <a:xfrm>
            <a:off x="7498080" y="3557016"/>
            <a:ext cx="4114800" cy="6400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UIDL to skip seen messages, then DELE</a:t>
            </a:r>
            <a:endParaRPr lang="en-US" sz="1200" dirty="0"/>
          </a:p>
        </p:txBody>
      </p:sp>
      <p:sp>
        <p:nvSpPr>
          <p:cNvPr id="19" name="box"/>
          <p:cNvSpPr/>
          <p:nvPr/>
        </p:nvSpPr>
        <p:spPr>
          <a:xfrm>
            <a:off x="548640" y="4398264"/>
            <a:ext cx="5120640" cy="868680"/>
          </a:xfrm>
          <a:prstGeom prst="roundRect">
            <a:avLst>
              <a:gd name="adj" fmla="val 8421"/>
            </a:avLst>
          </a:prstGeom>
          <a:solidFill>
            <a:srgbClr val="EEF2F6"/>
          </a:solidFill>
          <a:ln w="12700">
            <a:solidFill>
              <a:srgbClr val="EEF2F6"/>
            </a:solidFill>
            <a:prstDash val="solid"/>
          </a:ln>
        </p:spPr>
      </p:sp>
      <p:sp>
        <p:nvSpPr>
          <p:cNvPr id="20" name="Text 17"/>
          <p:cNvSpPr txBox="1"/>
          <p:nvPr/>
        </p:nvSpPr>
        <p:spPr>
          <a:xfrm>
            <a:off x="548640" y="4398264"/>
            <a:ext cx="5120640" cy="868680"/>
          </a:xfrm>
          <a:prstGeom prst="rect">
            <a:avLst/>
          </a:prstGeom>
          <a:noFill/>
          <a:ln/>
        </p:spPr>
        <p:txBody>
          <a:bodyPr wrap="square" lIns="635" tIns="635" rIns="635" bIns="635" rtlCol="0" anchor="ctr"/>
          <a:lstStyle/>
          <a:p>
            <a:pPr algn="ctr" indent="0" marL="0">
              <a:buNone/>
            </a:pPr>
            <a:r>
              <a:rPr lang="en-US" sz="1300" dirty="0">
                <a:solidFill>
                  <a:srgbClr val="1B2430"/>
                </a:solidFill>
              </a:rPr>
              <a:t>student: 3 000 subjects over a slow link, then 2 messages</a:t>
            </a:r>
            <a:endParaRPr lang="en-US" sz="1300" dirty="0"/>
          </a:p>
        </p:txBody>
      </p:sp>
      <p:sp>
        <p:nvSpPr>
          <p:cNvPr id="21" name="box"/>
          <p:cNvSpPr/>
          <p:nvPr/>
        </p:nvSpPr>
        <p:spPr>
          <a:xfrm>
            <a:off x="5852160" y="4398264"/>
            <a:ext cx="1463040" cy="868680"/>
          </a:xfrm>
          <a:prstGeom prst="roundRect">
            <a:avLst>
              <a:gd name="adj" fmla="val 8421"/>
            </a:avLst>
          </a:prstGeom>
          <a:solidFill>
            <a:srgbClr val="2A7F8E"/>
          </a:solidFill>
          <a:ln w="12700">
            <a:solidFill>
              <a:srgbClr val="2A7F8E"/>
            </a:solidFill>
            <a:prstDash val="solid"/>
          </a:ln>
        </p:spPr>
      </p:sp>
      <p:sp>
        <p:nvSpPr>
          <p:cNvPr id="22" name="Text 19"/>
          <p:cNvSpPr txBox="1"/>
          <p:nvPr/>
        </p:nvSpPr>
        <p:spPr>
          <a:xfrm>
            <a:off x="5852160" y="4398264"/>
            <a:ext cx="1463040" cy="868680"/>
          </a:xfrm>
          <a:prstGeom prst="rect">
            <a:avLst/>
          </a:prstGeom>
          <a:noFill/>
          <a:ln/>
        </p:spPr>
        <p:txBody>
          <a:bodyPr wrap="square" lIns="635" tIns="635" rIns="635" bIns="635" rtlCol="0" anchor="ctr"/>
          <a:lstStyle/>
          <a:p>
            <a:pPr algn="ctr" indent="0" marL="0">
              <a:buNone/>
            </a:pPr>
            <a:r>
              <a:rPr lang="en-US" sz="1500" b="1" dirty="0">
                <a:solidFill>
                  <a:srgbClr val="FFFFFF"/>
                </a:solidFill>
              </a:rPr>
              <a:t>IMAP</a:t>
            </a:r>
            <a:endParaRPr lang="en-US" sz="1500" dirty="0"/>
          </a:p>
        </p:txBody>
      </p:sp>
      <p:sp>
        <p:nvSpPr>
          <p:cNvPr id="23" name="Text 20"/>
          <p:cNvSpPr txBox="1"/>
          <p:nvPr/>
        </p:nvSpPr>
        <p:spPr>
          <a:xfrm>
            <a:off x="7498080" y="4581144"/>
            <a:ext cx="4114800" cy="6400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FETCH subjects only, then two messages</a:t>
            </a:r>
            <a:endParaRPr lang="en-US" sz="1200" dirty="0"/>
          </a:p>
        </p:txBody>
      </p:sp>
      <p:sp>
        <p:nvSpPr>
          <p:cNvPr id="2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5" name="Text 2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POP3 for one device and simple robots; IMAP whenever state must be shared or the link is slow.</a:t>
            </a:r>
            <a:endParaRPr lang="en-US" sz="1400" dirty="0"/>
          </a:p>
        </p:txBody>
      </p:sp>
      <p:sp>
        <p:nvSpPr>
          <p:cNvPr id="26" name="Text 23"/>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POP3 (Post Office Protocol version 3) · IMAP (Internet Message Access Protocol) · UIDL (unique-id listing) · DELE (delete)</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4 · Reading an IMAP session</a:t>
            </a:r>
            <a:endParaRPr lang="en-US" sz="3000" dirty="0"/>
          </a:p>
        </p:txBody>
      </p:sp>
      <p:sp>
        <p:nvSpPr>
          <p:cNvPr id="4" name="code"/>
          <p:cNvSpPr/>
          <p:nvPr/>
        </p:nvSpPr>
        <p:spPr>
          <a:xfrm>
            <a:off x="548640" y="1280160"/>
            <a:ext cx="6400800" cy="4343400"/>
          </a:xfrm>
          <a:prstGeom prst="rect">
            <a:avLst/>
          </a:prstGeom>
          <a:solidFill>
            <a:srgbClr val="1E2A38"/>
          </a:solidFill>
          <a:ln w="12700">
            <a:solidFill>
              <a:srgbClr val="1E2A38"/>
            </a:solidFill>
            <a:prstDash val="solid"/>
          </a:ln>
        </p:spPr>
      </p:sp>
      <p:sp>
        <p:nvSpPr>
          <p:cNvPr id="5" name="Text 2"/>
          <p:cNvSpPr txBox="1"/>
          <p:nvPr/>
        </p:nvSpPr>
        <p:spPr>
          <a:xfrm>
            <a:off x="548640" y="1280160"/>
            <a:ext cx="6400800" cy="4343400"/>
          </a:xfrm>
          <a:prstGeom prst="rect">
            <a:avLst/>
          </a:prstGeom>
          <a:noFill/>
          <a:ln/>
        </p:spPr>
        <p:txBody>
          <a:bodyPr wrap="square" lIns="101600" tIns="101600" rIns="101600" bIns="101600" rtlCol="0" anchor="t"/>
          <a:lstStyle/>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 t1 SELECT INBOX</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 12 EXISTS</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t1 OK [READ-WRITE] SELECT completed</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 t2 SEARCH UNSEEN FROM "ionescu"</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 SEARCH 9 12</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t2 OK SEARCH completed</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 t3 FETCH 12 (RFC822.SIZE BODY.PEEK[…(SUBJECT)])</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 12 FETCH (RFC822.SIZE 6158210 … {22}</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Subject: Exam room</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S: t3 OK FETCH completed</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 t4 STORE 9 +FLAGS (\Deleted)</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C: t5 EXPUNGE</a:t>
            </a:r>
            <a:endParaRPr lang="en-US" sz="1100" dirty="0"/>
          </a:p>
        </p:txBody>
      </p:sp>
      <p:sp>
        <p:nvSpPr>
          <p:cNvPr id="6" name="Shape 3"/>
          <p:cNvSpPr/>
          <p:nvPr/>
        </p:nvSpPr>
        <p:spPr>
          <a:xfrm>
            <a:off x="7223760" y="1344168"/>
            <a:ext cx="384048" cy="384048"/>
          </a:xfrm>
          <a:prstGeom prst="ellipse">
            <a:avLst/>
          </a:prstGeom>
          <a:solidFill>
            <a:srgbClr val="B9772A"/>
          </a:solidFill>
          <a:ln w="12700">
            <a:solidFill>
              <a:srgbClr val="B9772A"/>
            </a:solidFill>
            <a:prstDash val="solid"/>
          </a:ln>
        </p:spPr>
      </p:sp>
      <p:sp>
        <p:nvSpPr>
          <p:cNvPr id="7" name="Text 4"/>
          <p:cNvSpPr txBox="1"/>
          <p:nvPr/>
        </p:nvSpPr>
        <p:spPr>
          <a:xfrm>
            <a:off x="7223760" y="1344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7726680" y="1325880"/>
            <a:ext cx="3886200" cy="9144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12 messages; 9 and 12 unread from Ionescu — searched </a:t>
            </a:r>
            <a:r>
              <a:rPr lang="en-US" sz="1200" b="1" dirty="0">
                <a:solidFill>
                  <a:srgbClr val="1B2430"/>
                </a:solidFill>
              </a:rPr>
              <a:t>on the server</a:t>
            </a:r>
            <a:r>
              <a:rPr lang="en-US" sz="1200" dirty="0">
                <a:solidFill>
                  <a:srgbClr val="1B2430"/>
                </a:solidFill>
              </a:rPr>
              <a:t>.</a:t>
            </a:r>
            <a:endParaRPr lang="en-US" sz="1200" dirty="0"/>
          </a:p>
        </p:txBody>
      </p:sp>
      <p:sp>
        <p:nvSpPr>
          <p:cNvPr id="9" name="Shape 6"/>
          <p:cNvSpPr/>
          <p:nvPr/>
        </p:nvSpPr>
        <p:spPr>
          <a:xfrm>
            <a:off x="7223760" y="2350008"/>
            <a:ext cx="384048" cy="384048"/>
          </a:xfrm>
          <a:prstGeom prst="ellipse">
            <a:avLst/>
          </a:prstGeom>
          <a:solidFill>
            <a:srgbClr val="B9772A"/>
          </a:solidFill>
          <a:ln w="12700">
            <a:solidFill>
              <a:srgbClr val="B9772A"/>
            </a:solidFill>
            <a:prstDash val="solid"/>
          </a:ln>
        </p:spPr>
      </p:sp>
      <p:sp>
        <p:nvSpPr>
          <p:cNvPr id="10" name="Text 7"/>
          <p:cNvSpPr txBox="1"/>
          <p:nvPr/>
        </p:nvSpPr>
        <p:spPr>
          <a:xfrm>
            <a:off x="7223760" y="2350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7726680" y="2331720"/>
            <a:ext cx="3886200" cy="9144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PEEK keeps the message unread; {22} = 22 bytes of literal data.</a:t>
            </a:r>
            <a:endParaRPr lang="en-US" sz="1200" dirty="0"/>
          </a:p>
        </p:txBody>
      </p:sp>
      <p:sp>
        <p:nvSpPr>
          <p:cNvPr id="12" name="Shape 9"/>
          <p:cNvSpPr/>
          <p:nvPr/>
        </p:nvSpPr>
        <p:spPr>
          <a:xfrm>
            <a:off x="7223760" y="3355848"/>
            <a:ext cx="384048" cy="384048"/>
          </a:xfrm>
          <a:prstGeom prst="ellipse">
            <a:avLst/>
          </a:prstGeom>
          <a:solidFill>
            <a:srgbClr val="B9772A"/>
          </a:solidFill>
          <a:ln w="12700">
            <a:solidFill>
              <a:srgbClr val="B9772A"/>
            </a:solidFill>
            <a:prstDash val="solid"/>
          </a:ln>
        </p:spPr>
      </p:sp>
      <p:sp>
        <p:nvSpPr>
          <p:cNvPr id="13" name="Text 10"/>
          <p:cNvSpPr txBox="1"/>
          <p:nvPr/>
        </p:nvSpPr>
        <p:spPr>
          <a:xfrm>
            <a:off x="7223760" y="3355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7726680" y="3337560"/>
            <a:ext cx="3886200" cy="91440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6 MB: fetch BODYSTRUCTURE and the text part, not the attachment.</a:t>
            </a:r>
            <a:endParaRPr lang="en-US" sz="1200" dirty="0"/>
          </a:p>
        </p:txBody>
      </p:sp>
      <p:sp>
        <p:nvSpPr>
          <p:cNvPr id="15" name="Shape 12"/>
          <p:cNvSpPr/>
          <p:nvPr/>
        </p:nvSpPr>
        <p:spPr>
          <a:xfrm>
            <a:off x="7223760" y="4361688"/>
            <a:ext cx="384048" cy="384048"/>
          </a:xfrm>
          <a:prstGeom prst="ellipse">
            <a:avLst/>
          </a:prstGeom>
          <a:solidFill>
            <a:srgbClr val="B9772A"/>
          </a:solidFill>
          <a:ln w="12700">
            <a:solidFill>
              <a:srgbClr val="B9772A"/>
            </a:solidFill>
            <a:prstDash val="solid"/>
          </a:ln>
        </p:spPr>
      </p:sp>
      <p:sp>
        <p:nvSpPr>
          <p:cNvPr id="16" name="Text 13"/>
          <p:cNvSpPr txBox="1"/>
          <p:nvPr/>
        </p:nvSpPr>
        <p:spPr>
          <a:xfrm>
            <a:off x="7223760" y="43616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4"/>
          <p:cNvSpPr txBox="1"/>
          <p:nvPr/>
        </p:nvSpPr>
        <p:spPr>
          <a:xfrm>
            <a:off x="7726680" y="4343400"/>
            <a:ext cx="3886200" cy="123444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t4 only marks \Deleted; t5 EXPUNGE removes it — like POP3’s UPDATE state.</a:t>
            </a:r>
            <a:endParaRPr lang="en-US" sz="1200" dirty="0"/>
          </a:p>
        </p:txBody>
      </p:sp>
      <p:sp>
        <p:nvSpPr>
          <p:cNvPr id="1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9" name="Text 1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IMAP lets the client ask small questions about a large mailbox.</a:t>
            </a:r>
            <a:endParaRPr lang="en-US" sz="1400" dirty="0"/>
          </a:p>
        </p:txBody>
      </p:sp>
      <p:sp>
        <p:nvSpPr>
          <p:cNvPr id="20" name="Text 1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POP3 (Post Office Protocol version 3) · IMAP (Internet Message Access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5 · Flooding an article through five servers</a:t>
            </a:r>
            <a:endParaRPr lang="en-US" sz="3000" dirty="0"/>
          </a:p>
        </p:txBody>
      </p:sp>
      <p:sp>
        <p:nvSpPr>
          <p:cNvPr id="4" name="Shape 1"/>
          <p:cNvSpPr/>
          <p:nvPr/>
        </p:nvSpPr>
        <p:spPr>
          <a:xfrm flipV="1">
            <a:off x="1234440" y="1755648"/>
            <a:ext cx="2194560" cy="1280160"/>
          </a:xfrm>
          <a:prstGeom prst="line">
            <a:avLst/>
          </a:prstGeom>
          <a:noFill/>
          <a:ln w="25400">
            <a:solidFill>
              <a:srgbClr val="9AA5AE"/>
            </a:solidFill>
            <a:prstDash val="solid"/>
          </a:ln>
        </p:spPr>
      </p:sp>
      <p:sp>
        <p:nvSpPr>
          <p:cNvPr id="5" name="Shape 2"/>
          <p:cNvSpPr/>
          <p:nvPr/>
        </p:nvSpPr>
        <p:spPr>
          <a:xfrm>
            <a:off x="1234440" y="3035808"/>
            <a:ext cx="2194560" cy="1280160"/>
          </a:xfrm>
          <a:prstGeom prst="line">
            <a:avLst/>
          </a:prstGeom>
          <a:noFill/>
          <a:ln w="25400">
            <a:solidFill>
              <a:srgbClr val="9AA5AE"/>
            </a:solidFill>
            <a:prstDash val="solid"/>
          </a:ln>
        </p:spPr>
      </p:sp>
      <p:sp>
        <p:nvSpPr>
          <p:cNvPr id="6" name="Shape 3"/>
          <p:cNvSpPr/>
          <p:nvPr/>
        </p:nvSpPr>
        <p:spPr>
          <a:xfrm>
            <a:off x="3429000" y="1755648"/>
            <a:ext cx="914" cy="2560320"/>
          </a:xfrm>
          <a:prstGeom prst="line">
            <a:avLst/>
          </a:prstGeom>
          <a:noFill/>
          <a:ln w="25400">
            <a:solidFill>
              <a:srgbClr val="9AA5AE"/>
            </a:solidFill>
            <a:prstDash val="solid"/>
          </a:ln>
        </p:spPr>
      </p:sp>
      <p:sp>
        <p:nvSpPr>
          <p:cNvPr id="7" name="Shape 4"/>
          <p:cNvSpPr/>
          <p:nvPr/>
        </p:nvSpPr>
        <p:spPr>
          <a:xfrm>
            <a:off x="3429000" y="1755648"/>
            <a:ext cx="2468880" cy="1280160"/>
          </a:xfrm>
          <a:prstGeom prst="line">
            <a:avLst/>
          </a:prstGeom>
          <a:noFill/>
          <a:ln w="25400">
            <a:solidFill>
              <a:srgbClr val="9AA5AE"/>
            </a:solidFill>
            <a:prstDash val="solid"/>
          </a:ln>
        </p:spPr>
      </p:sp>
      <p:sp>
        <p:nvSpPr>
          <p:cNvPr id="8" name="Shape 5"/>
          <p:cNvSpPr/>
          <p:nvPr/>
        </p:nvSpPr>
        <p:spPr>
          <a:xfrm flipV="1">
            <a:off x="3429000" y="3035808"/>
            <a:ext cx="2468880" cy="1280160"/>
          </a:xfrm>
          <a:prstGeom prst="line">
            <a:avLst/>
          </a:prstGeom>
          <a:noFill/>
          <a:ln w="25400">
            <a:solidFill>
              <a:srgbClr val="9AA5AE"/>
            </a:solidFill>
            <a:prstDash val="solid"/>
          </a:ln>
        </p:spPr>
      </p:sp>
      <p:sp>
        <p:nvSpPr>
          <p:cNvPr id="9" name="Shape 6"/>
          <p:cNvSpPr/>
          <p:nvPr/>
        </p:nvSpPr>
        <p:spPr>
          <a:xfrm>
            <a:off x="5897880" y="3035808"/>
            <a:ext cx="2377440" cy="914"/>
          </a:xfrm>
          <a:prstGeom prst="line">
            <a:avLst/>
          </a:prstGeom>
          <a:noFill/>
          <a:ln w="25400">
            <a:solidFill>
              <a:srgbClr val="9AA5AE"/>
            </a:solidFill>
            <a:prstDash val="solid"/>
          </a:ln>
        </p:spPr>
      </p:sp>
      <p:sp>
        <p:nvSpPr>
          <p:cNvPr id="10" name="box"/>
          <p:cNvSpPr/>
          <p:nvPr/>
        </p:nvSpPr>
        <p:spPr>
          <a:xfrm>
            <a:off x="822960" y="2743200"/>
            <a:ext cx="822960" cy="594360"/>
          </a:xfrm>
          <a:prstGeom prst="ellipse">
            <a:avLst/>
          </a:prstGeom>
          <a:solidFill>
            <a:srgbClr val="B9772A"/>
          </a:solidFill>
          <a:ln w="12700">
            <a:solidFill>
              <a:srgbClr val="B9772A"/>
            </a:solidFill>
            <a:prstDash val="solid"/>
          </a:ln>
        </p:spPr>
      </p:sp>
      <p:sp>
        <p:nvSpPr>
          <p:cNvPr id="11" name="Text 8"/>
          <p:cNvSpPr txBox="1"/>
          <p:nvPr/>
        </p:nvSpPr>
        <p:spPr>
          <a:xfrm>
            <a:off x="822960" y="2743200"/>
            <a:ext cx="822960" cy="594360"/>
          </a:xfrm>
          <a:prstGeom prst="rect">
            <a:avLst/>
          </a:prstGeom>
          <a:noFill/>
          <a:ln/>
        </p:spPr>
        <p:txBody>
          <a:bodyPr wrap="square" lIns="635" tIns="635" rIns="635" bIns="635" rtlCol="0" anchor="ctr"/>
          <a:lstStyle/>
          <a:p>
            <a:pPr algn="ctr" indent="0" marL="0">
              <a:buNone/>
            </a:pPr>
            <a:r>
              <a:rPr lang="en-US" sz="1500" b="1" dirty="0">
                <a:solidFill>
                  <a:srgbClr val="FFFFFF"/>
                </a:solidFill>
              </a:rPr>
              <a:t>A</a:t>
            </a:r>
            <a:endParaRPr lang="en-US" sz="1500" dirty="0"/>
          </a:p>
        </p:txBody>
      </p:sp>
      <p:sp>
        <p:nvSpPr>
          <p:cNvPr id="12" name="box"/>
          <p:cNvSpPr/>
          <p:nvPr/>
        </p:nvSpPr>
        <p:spPr>
          <a:xfrm>
            <a:off x="3017520" y="1463040"/>
            <a:ext cx="822960" cy="594360"/>
          </a:xfrm>
          <a:prstGeom prst="ellipse">
            <a:avLst/>
          </a:prstGeom>
          <a:solidFill>
            <a:srgbClr val="2A7F8E"/>
          </a:solidFill>
          <a:ln w="12700">
            <a:solidFill>
              <a:srgbClr val="2A7F8E"/>
            </a:solidFill>
            <a:prstDash val="solid"/>
          </a:ln>
        </p:spPr>
      </p:sp>
      <p:sp>
        <p:nvSpPr>
          <p:cNvPr id="13" name="Text 10"/>
          <p:cNvSpPr txBox="1"/>
          <p:nvPr/>
        </p:nvSpPr>
        <p:spPr>
          <a:xfrm>
            <a:off x="3017520" y="1463040"/>
            <a:ext cx="822960" cy="594360"/>
          </a:xfrm>
          <a:prstGeom prst="rect">
            <a:avLst/>
          </a:prstGeom>
          <a:noFill/>
          <a:ln/>
        </p:spPr>
        <p:txBody>
          <a:bodyPr wrap="square" lIns="635" tIns="635" rIns="635" bIns="635" rtlCol="0" anchor="ctr"/>
          <a:lstStyle/>
          <a:p>
            <a:pPr algn="ctr" indent="0" marL="0">
              <a:buNone/>
            </a:pPr>
            <a:r>
              <a:rPr lang="en-US" sz="1500" b="1" dirty="0">
                <a:solidFill>
                  <a:srgbClr val="FFFFFF"/>
                </a:solidFill>
              </a:rPr>
              <a:t>B</a:t>
            </a:r>
            <a:endParaRPr lang="en-US" sz="1500" dirty="0"/>
          </a:p>
        </p:txBody>
      </p:sp>
      <p:sp>
        <p:nvSpPr>
          <p:cNvPr id="14" name="box"/>
          <p:cNvSpPr/>
          <p:nvPr/>
        </p:nvSpPr>
        <p:spPr>
          <a:xfrm>
            <a:off x="3017520" y="4023360"/>
            <a:ext cx="822960" cy="594360"/>
          </a:xfrm>
          <a:prstGeom prst="ellipse">
            <a:avLst/>
          </a:prstGeom>
          <a:solidFill>
            <a:srgbClr val="2A7F8E"/>
          </a:solidFill>
          <a:ln w="12700">
            <a:solidFill>
              <a:srgbClr val="2A7F8E"/>
            </a:solidFill>
            <a:prstDash val="solid"/>
          </a:ln>
        </p:spPr>
      </p:sp>
      <p:sp>
        <p:nvSpPr>
          <p:cNvPr id="15" name="Text 12"/>
          <p:cNvSpPr txBox="1"/>
          <p:nvPr/>
        </p:nvSpPr>
        <p:spPr>
          <a:xfrm>
            <a:off x="3017520" y="4023360"/>
            <a:ext cx="822960" cy="594360"/>
          </a:xfrm>
          <a:prstGeom prst="rect">
            <a:avLst/>
          </a:prstGeom>
          <a:noFill/>
          <a:ln/>
        </p:spPr>
        <p:txBody>
          <a:bodyPr wrap="square" lIns="635" tIns="635" rIns="635" bIns="635" rtlCol="0" anchor="ctr"/>
          <a:lstStyle/>
          <a:p>
            <a:pPr algn="ctr" indent="0" marL="0">
              <a:buNone/>
            </a:pPr>
            <a:r>
              <a:rPr lang="en-US" sz="1500" b="1" dirty="0">
                <a:solidFill>
                  <a:srgbClr val="FFFFFF"/>
                </a:solidFill>
              </a:rPr>
              <a:t>C</a:t>
            </a:r>
            <a:endParaRPr lang="en-US" sz="1500" dirty="0"/>
          </a:p>
        </p:txBody>
      </p:sp>
      <p:sp>
        <p:nvSpPr>
          <p:cNvPr id="16" name="box"/>
          <p:cNvSpPr/>
          <p:nvPr/>
        </p:nvSpPr>
        <p:spPr>
          <a:xfrm>
            <a:off x="5486400" y="2743200"/>
            <a:ext cx="822960" cy="594360"/>
          </a:xfrm>
          <a:prstGeom prst="ellipse">
            <a:avLst/>
          </a:prstGeom>
          <a:solidFill>
            <a:srgbClr val="2A7F8E"/>
          </a:solidFill>
          <a:ln w="12700">
            <a:solidFill>
              <a:srgbClr val="2A7F8E"/>
            </a:solidFill>
            <a:prstDash val="solid"/>
          </a:ln>
        </p:spPr>
      </p:sp>
      <p:sp>
        <p:nvSpPr>
          <p:cNvPr id="17" name="Text 14"/>
          <p:cNvSpPr txBox="1"/>
          <p:nvPr/>
        </p:nvSpPr>
        <p:spPr>
          <a:xfrm>
            <a:off x="5486400" y="2743200"/>
            <a:ext cx="822960" cy="594360"/>
          </a:xfrm>
          <a:prstGeom prst="rect">
            <a:avLst/>
          </a:prstGeom>
          <a:noFill/>
          <a:ln/>
        </p:spPr>
        <p:txBody>
          <a:bodyPr wrap="square" lIns="635" tIns="635" rIns="635" bIns="635" rtlCol="0" anchor="ctr"/>
          <a:lstStyle/>
          <a:p>
            <a:pPr algn="ctr" indent="0" marL="0">
              <a:buNone/>
            </a:pPr>
            <a:r>
              <a:rPr lang="en-US" sz="1500" b="1" dirty="0">
                <a:solidFill>
                  <a:srgbClr val="FFFFFF"/>
                </a:solidFill>
              </a:rPr>
              <a:t>D</a:t>
            </a:r>
            <a:endParaRPr lang="en-US" sz="1500" dirty="0"/>
          </a:p>
        </p:txBody>
      </p:sp>
      <p:sp>
        <p:nvSpPr>
          <p:cNvPr id="18" name="box"/>
          <p:cNvSpPr/>
          <p:nvPr/>
        </p:nvSpPr>
        <p:spPr>
          <a:xfrm>
            <a:off x="7863840" y="2743200"/>
            <a:ext cx="822960" cy="594360"/>
          </a:xfrm>
          <a:prstGeom prst="ellipse">
            <a:avLst/>
          </a:prstGeom>
          <a:solidFill>
            <a:srgbClr val="2A7F8E"/>
          </a:solidFill>
          <a:ln w="12700">
            <a:solidFill>
              <a:srgbClr val="2A7F8E"/>
            </a:solidFill>
            <a:prstDash val="solid"/>
          </a:ln>
        </p:spPr>
      </p:sp>
      <p:sp>
        <p:nvSpPr>
          <p:cNvPr id="19" name="Text 16"/>
          <p:cNvSpPr txBox="1"/>
          <p:nvPr/>
        </p:nvSpPr>
        <p:spPr>
          <a:xfrm>
            <a:off x="7863840" y="2743200"/>
            <a:ext cx="822960" cy="594360"/>
          </a:xfrm>
          <a:prstGeom prst="rect">
            <a:avLst/>
          </a:prstGeom>
          <a:noFill/>
          <a:ln/>
        </p:spPr>
        <p:txBody>
          <a:bodyPr wrap="square" lIns="635" tIns="635" rIns="635" bIns="635" rtlCol="0" anchor="ctr"/>
          <a:lstStyle/>
          <a:p>
            <a:pPr algn="ctr" indent="0" marL="0">
              <a:buNone/>
            </a:pPr>
            <a:r>
              <a:rPr lang="en-US" sz="1500" b="1" dirty="0">
                <a:solidFill>
                  <a:srgbClr val="FFFFFF"/>
                </a:solidFill>
              </a:rPr>
              <a:t>E</a:t>
            </a:r>
            <a:endParaRPr lang="en-US" sz="1500" dirty="0"/>
          </a:p>
        </p:txBody>
      </p:sp>
      <p:sp>
        <p:nvSpPr>
          <p:cNvPr id="20" name="box"/>
          <p:cNvSpPr/>
          <p:nvPr/>
        </p:nvSpPr>
        <p:spPr>
          <a:xfrm>
            <a:off x="8778240" y="1280160"/>
            <a:ext cx="960120" cy="365760"/>
          </a:xfrm>
          <a:prstGeom prst="rect">
            <a:avLst/>
          </a:prstGeom>
          <a:solidFill>
            <a:srgbClr val="1F3A5F"/>
          </a:solidFill>
          <a:ln w="12700">
            <a:solidFill>
              <a:srgbClr val="1F3A5F"/>
            </a:solidFill>
            <a:prstDash val="solid"/>
          </a:ln>
        </p:spPr>
      </p:sp>
      <p:sp>
        <p:nvSpPr>
          <p:cNvPr id="21" name="Text 18"/>
          <p:cNvSpPr txBox="1"/>
          <p:nvPr/>
        </p:nvSpPr>
        <p:spPr>
          <a:xfrm>
            <a:off x="8778240" y="1280160"/>
            <a:ext cx="960120" cy="365760"/>
          </a:xfrm>
          <a:prstGeom prst="rect">
            <a:avLst/>
          </a:prstGeom>
          <a:noFill/>
          <a:ln/>
        </p:spPr>
        <p:txBody>
          <a:bodyPr wrap="square" lIns="635" tIns="635" rIns="635" bIns="635" rtlCol="0" anchor="ctr"/>
          <a:lstStyle/>
          <a:p>
            <a:pPr algn="ctr" indent="0" marL="0">
              <a:buNone/>
            </a:pPr>
            <a:r>
              <a:rPr lang="en-US" sz="1300" b="1" dirty="0">
                <a:solidFill>
                  <a:srgbClr val="FFFFFF"/>
                </a:solidFill>
              </a:rPr>
              <a:t>offer</a:t>
            </a:r>
            <a:endParaRPr lang="en-US" sz="1300" dirty="0"/>
          </a:p>
        </p:txBody>
      </p:sp>
      <p:sp>
        <p:nvSpPr>
          <p:cNvPr id="22" name="box"/>
          <p:cNvSpPr/>
          <p:nvPr/>
        </p:nvSpPr>
        <p:spPr>
          <a:xfrm>
            <a:off x="9784080" y="1280160"/>
            <a:ext cx="1783080" cy="365760"/>
          </a:xfrm>
          <a:prstGeom prst="rect">
            <a:avLst/>
          </a:prstGeom>
          <a:solidFill>
            <a:srgbClr val="1F3A5F"/>
          </a:solidFill>
          <a:ln w="12700">
            <a:solidFill>
              <a:srgbClr val="1F3A5F"/>
            </a:solidFill>
            <a:prstDash val="solid"/>
          </a:ln>
        </p:spPr>
      </p:sp>
      <p:sp>
        <p:nvSpPr>
          <p:cNvPr id="23" name="Text 20"/>
          <p:cNvSpPr txBox="1"/>
          <p:nvPr/>
        </p:nvSpPr>
        <p:spPr>
          <a:xfrm>
            <a:off x="9784080" y="1280160"/>
            <a:ext cx="1783080" cy="365760"/>
          </a:xfrm>
          <a:prstGeom prst="rect">
            <a:avLst/>
          </a:prstGeom>
          <a:noFill/>
          <a:ln/>
        </p:spPr>
        <p:txBody>
          <a:bodyPr wrap="square" lIns="635" tIns="635" rIns="635" bIns="635" rtlCol="0" anchor="ctr"/>
          <a:lstStyle/>
          <a:p>
            <a:pPr algn="ctr" indent="0" marL="0">
              <a:buNone/>
            </a:pPr>
            <a:r>
              <a:rPr lang="en-US" sz="1300" b="1" dirty="0">
                <a:solidFill>
                  <a:srgbClr val="FFFFFF"/>
                </a:solidFill>
              </a:rPr>
              <a:t>result</a:t>
            </a:r>
            <a:endParaRPr lang="en-US" sz="1300" dirty="0"/>
          </a:p>
        </p:txBody>
      </p:sp>
      <p:sp>
        <p:nvSpPr>
          <p:cNvPr id="24" name="box"/>
          <p:cNvSpPr/>
          <p:nvPr/>
        </p:nvSpPr>
        <p:spPr>
          <a:xfrm>
            <a:off x="8778240" y="1691640"/>
            <a:ext cx="960120" cy="384048"/>
          </a:xfrm>
          <a:prstGeom prst="rect">
            <a:avLst/>
          </a:prstGeom>
          <a:solidFill>
            <a:srgbClr val="EEF2F6"/>
          </a:solidFill>
          <a:ln w="12700">
            <a:solidFill>
              <a:srgbClr val="EEF2F6"/>
            </a:solidFill>
            <a:prstDash val="solid"/>
          </a:ln>
        </p:spPr>
      </p:sp>
      <p:sp>
        <p:nvSpPr>
          <p:cNvPr id="25" name="Text 22"/>
          <p:cNvSpPr txBox="1"/>
          <p:nvPr/>
        </p:nvSpPr>
        <p:spPr>
          <a:xfrm>
            <a:off x="8778240" y="1691640"/>
            <a:ext cx="960120" cy="384048"/>
          </a:xfrm>
          <a:prstGeom prst="rect">
            <a:avLst/>
          </a:prstGeom>
          <a:noFill/>
          <a:ln/>
        </p:spPr>
        <p:txBody>
          <a:bodyPr wrap="square" lIns="1270" tIns="1270" rIns="1270" bIns="1270" rtlCol="0" anchor="ctr"/>
          <a:lstStyle/>
          <a:p>
            <a:pPr algn="ctr" indent="0" marL="0">
              <a:buNone/>
            </a:pPr>
            <a:r>
              <a:rPr lang="en-US" sz="1200" dirty="0">
                <a:solidFill>
                  <a:srgbClr val="1B2430"/>
                </a:solidFill>
              </a:rPr>
              <a:t>A→B</a:t>
            </a:r>
            <a:endParaRPr lang="en-US" sz="1200" dirty="0"/>
          </a:p>
        </p:txBody>
      </p:sp>
      <p:sp>
        <p:nvSpPr>
          <p:cNvPr id="26" name="box"/>
          <p:cNvSpPr/>
          <p:nvPr/>
        </p:nvSpPr>
        <p:spPr>
          <a:xfrm>
            <a:off x="9784080" y="1691640"/>
            <a:ext cx="1783080" cy="384048"/>
          </a:xfrm>
          <a:prstGeom prst="rect">
            <a:avLst/>
          </a:prstGeom>
          <a:solidFill>
            <a:srgbClr val="D7EBDD"/>
          </a:solidFill>
          <a:ln w="12700">
            <a:solidFill>
              <a:srgbClr val="D7EBDD"/>
            </a:solidFill>
            <a:prstDash val="solid"/>
          </a:ln>
        </p:spPr>
      </p:sp>
      <p:sp>
        <p:nvSpPr>
          <p:cNvPr id="27" name="Text 24"/>
          <p:cNvSpPr txBox="1"/>
          <p:nvPr/>
        </p:nvSpPr>
        <p:spPr>
          <a:xfrm>
            <a:off x="9784080" y="1691640"/>
            <a:ext cx="1783080" cy="384048"/>
          </a:xfrm>
          <a:prstGeom prst="rect">
            <a:avLst/>
          </a:prstGeom>
          <a:noFill/>
          <a:ln/>
        </p:spPr>
        <p:txBody>
          <a:bodyPr wrap="square" lIns="1270" tIns="1270" rIns="1270" bIns="1270" rtlCol="0" anchor="ctr"/>
          <a:lstStyle/>
          <a:p>
            <a:pPr algn="l" indent="0" marL="0">
              <a:buNone/>
            </a:pPr>
            <a:r>
              <a:rPr lang="en-US" sz="1200" dirty="0">
                <a:solidFill>
                  <a:srgbClr val="1B2430"/>
                </a:solidFill>
              </a:rPr>
              <a:t>accepted, t = 1</a:t>
            </a:r>
            <a:endParaRPr lang="en-US" sz="1200" dirty="0"/>
          </a:p>
        </p:txBody>
      </p:sp>
      <p:sp>
        <p:nvSpPr>
          <p:cNvPr id="28" name="box"/>
          <p:cNvSpPr/>
          <p:nvPr/>
        </p:nvSpPr>
        <p:spPr>
          <a:xfrm>
            <a:off x="8778240" y="2121408"/>
            <a:ext cx="960120" cy="384048"/>
          </a:xfrm>
          <a:prstGeom prst="rect">
            <a:avLst/>
          </a:prstGeom>
          <a:solidFill>
            <a:srgbClr val="EEF2F6"/>
          </a:solidFill>
          <a:ln w="12700">
            <a:solidFill>
              <a:srgbClr val="EEF2F6"/>
            </a:solidFill>
            <a:prstDash val="solid"/>
          </a:ln>
        </p:spPr>
      </p:sp>
      <p:sp>
        <p:nvSpPr>
          <p:cNvPr id="29" name="Text 26"/>
          <p:cNvSpPr txBox="1"/>
          <p:nvPr/>
        </p:nvSpPr>
        <p:spPr>
          <a:xfrm>
            <a:off x="8778240" y="2121408"/>
            <a:ext cx="960120" cy="384048"/>
          </a:xfrm>
          <a:prstGeom prst="rect">
            <a:avLst/>
          </a:prstGeom>
          <a:noFill/>
          <a:ln/>
        </p:spPr>
        <p:txBody>
          <a:bodyPr wrap="square" lIns="1270" tIns="1270" rIns="1270" bIns="1270" rtlCol="0" anchor="ctr"/>
          <a:lstStyle/>
          <a:p>
            <a:pPr algn="ctr" indent="0" marL="0">
              <a:buNone/>
            </a:pPr>
            <a:r>
              <a:rPr lang="en-US" sz="1200" dirty="0">
                <a:solidFill>
                  <a:srgbClr val="1B2430"/>
                </a:solidFill>
              </a:rPr>
              <a:t>A→C</a:t>
            </a:r>
            <a:endParaRPr lang="en-US" sz="1200" dirty="0"/>
          </a:p>
        </p:txBody>
      </p:sp>
      <p:sp>
        <p:nvSpPr>
          <p:cNvPr id="30" name="box"/>
          <p:cNvSpPr/>
          <p:nvPr/>
        </p:nvSpPr>
        <p:spPr>
          <a:xfrm>
            <a:off x="9784080" y="2121408"/>
            <a:ext cx="1783080" cy="384048"/>
          </a:xfrm>
          <a:prstGeom prst="rect">
            <a:avLst/>
          </a:prstGeom>
          <a:solidFill>
            <a:srgbClr val="D7EBDD"/>
          </a:solidFill>
          <a:ln w="12700">
            <a:solidFill>
              <a:srgbClr val="D7EBDD"/>
            </a:solidFill>
            <a:prstDash val="solid"/>
          </a:ln>
        </p:spPr>
      </p:sp>
      <p:sp>
        <p:nvSpPr>
          <p:cNvPr id="31" name="Text 28"/>
          <p:cNvSpPr txBox="1"/>
          <p:nvPr/>
        </p:nvSpPr>
        <p:spPr>
          <a:xfrm>
            <a:off x="9784080" y="2121408"/>
            <a:ext cx="1783080" cy="384048"/>
          </a:xfrm>
          <a:prstGeom prst="rect">
            <a:avLst/>
          </a:prstGeom>
          <a:noFill/>
          <a:ln/>
        </p:spPr>
        <p:txBody>
          <a:bodyPr wrap="square" lIns="1270" tIns="1270" rIns="1270" bIns="1270" rtlCol="0" anchor="ctr"/>
          <a:lstStyle/>
          <a:p>
            <a:pPr algn="l" indent="0" marL="0">
              <a:buNone/>
            </a:pPr>
            <a:r>
              <a:rPr lang="en-US" sz="1200" dirty="0">
                <a:solidFill>
                  <a:srgbClr val="1B2430"/>
                </a:solidFill>
              </a:rPr>
              <a:t>accepted, t = 1</a:t>
            </a:r>
            <a:endParaRPr lang="en-US" sz="1200" dirty="0"/>
          </a:p>
        </p:txBody>
      </p:sp>
      <p:sp>
        <p:nvSpPr>
          <p:cNvPr id="32" name="box"/>
          <p:cNvSpPr/>
          <p:nvPr/>
        </p:nvSpPr>
        <p:spPr>
          <a:xfrm>
            <a:off x="8778240" y="2551176"/>
            <a:ext cx="960120" cy="384048"/>
          </a:xfrm>
          <a:prstGeom prst="rect">
            <a:avLst/>
          </a:prstGeom>
          <a:solidFill>
            <a:srgbClr val="EEF2F6"/>
          </a:solidFill>
          <a:ln w="12700">
            <a:solidFill>
              <a:srgbClr val="EEF2F6"/>
            </a:solidFill>
            <a:prstDash val="solid"/>
          </a:ln>
        </p:spPr>
      </p:sp>
      <p:sp>
        <p:nvSpPr>
          <p:cNvPr id="33" name="Text 30"/>
          <p:cNvSpPr txBox="1"/>
          <p:nvPr/>
        </p:nvSpPr>
        <p:spPr>
          <a:xfrm>
            <a:off x="8778240" y="2551176"/>
            <a:ext cx="960120" cy="384048"/>
          </a:xfrm>
          <a:prstGeom prst="rect">
            <a:avLst/>
          </a:prstGeom>
          <a:noFill/>
          <a:ln/>
        </p:spPr>
        <p:txBody>
          <a:bodyPr wrap="square" lIns="1270" tIns="1270" rIns="1270" bIns="1270" rtlCol="0" anchor="ctr"/>
          <a:lstStyle/>
          <a:p>
            <a:pPr algn="ctr" indent="0" marL="0">
              <a:buNone/>
            </a:pPr>
            <a:r>
              <a:rPr lang="en-US" sz="1200" dirty="0">
                <a:solidFill>
                  <a:srgbClr val="1B2430"/>
                </a:solidFill>
              </a:rPr>
              <a:t>B→C</a:t>
            </a:r>
            <a:endParaRPr lang="en-US" sz="1200" dirty="0"/>
          </a:p>
        </p:txBody>
      </p:sp>
      <p:sp>
        <p:nvSpPr>
          <p:cNvPr id="34" name="box"/>
          <p:cNvSpPr/>
          <p:nvPr/>
        </p:nvSpPr>
        <p:spPr>
          <a:xfrm>
            <a:off x="9784080" y="2551176"/>
            <a:ext cx="1783080" cy="384048"/>
          </a:xfrm>
          <a:prstGeom prst="rect">
            <a:avLst/>
          </a:prstGeom>
          <a:solidFill>
            <a:srgbClr val="F2D6D6"/>
          </a:solidFill>
          <a:ln w="12700">
            <a:solidFill>
              <a:srgbClr val="F2D6D6"/>
            </a:solidFill>
            <a:prstDash val="solid"/>
          </a:ln>
        </p:spPr>
      </p:sp>
      <p:sp>
        <p:nvSpPr>
          <p:cNvPr id="35" name="Text 32"/>
          <p:cNvSpPr txBox="1"/>
          <p:nvPr/>
        </p:nvSpPr>
        <p:spPr>
          <a:xfrm>
            <a:off x="9784080" y="2551176"/>
            <a:ext cx="1783080" cy="384048"/>
          </a:xfrm>
          <a:prstGeom prst="rect">
            <a:avLst/>
          </a:prstGeom>
          <a:noFill/>
          <a:ln/>
        </p:spPr>
        <p:txBody>
          <a:bodyPr wrap="square" lIns="1270" tIns="1270" rIns="1270" bIns="1270" rtlCol="0" anchor="ctr"/>
          <a:lstStyle/>
          <a:p>
            <a:pPr algn="l" indent="0" marL="0">
              <a:buNone/>
            </a:pPr>
            <a:r>
              <a:rPr lang="en-US" sz="1200" dirty="0">
                <a:solidFill>
                  <a:srgbClr val="1B2430"/>
                </a:solidFill>
              </a:rPr>
              <a:t>refused: seen</a:t>
            </a:r>
            <a:endParaRPr lang="en-US" sz="1200" dirty="0"/>
          </a:p>
        </p:txBody>
      </p:sp>
      <p:sp>
        <p:nvSpPr>
          <p:cNvPr id="36" name="box"/>
          <p:cNvSpPr/>
          <p:nvPr/>
        </p:nvSpPr>
        <p:spPr>
          <a:xfrm>
            <a:off x="8778240" y="2980944"/>
            <a:ext cx="960120" cy="384048"/>
          </a:xfrm>
          <a:prstGeom prst="rect">
            <a:avLst/>
          </a:prstGeom>
          <a:solidFill>
            <a:srgbClr val="EEF2F6"/>
          </a:solidFill>
          <a:ln w="12700">
            <a:solidFill>
              <a:srgbClr val="EEF2F6"/>
            </a:solidFill>
            <a:prstDash val="solid"/>
          </a:ln>
        </p:spPr>
      </p:sp>
      <p:sp>
        <p:nvSpPr>
          <p:cNvPr id="37" name="Text 34"/>
          <p:cNvSpPr txBox="1"/>
          <p:nvPr/>
        </p:nvSpPr>
        <p:spPr>
          <a:xfrm>
            <a:off x="8778240" y="2980944"/>
            <a:ext cx="960120" cy="384048"/>
          </a:xfrm>
          <a:prstGeom prst="rect">
            <a:avLst/>
          </a:prstGeom>
          <a:noFill/>
          <a:ln/>
        </p:spPr>
        <p:txBody>
          <a:bodyPr wrap="square" lIns="1270" tIns="1270" rIns="1270" bIns="1270" rtlCol="0" anchor="ctr"/>
          <a:lstStyle/>
          <a:p>
            <a:pPr algn="ctr" indent="0" marL="0">
              <a:buNone/>
            </a:pPr>
            <a:r>
              <a:rPr lang="en-US" sz="1200" dirty="0">
                <a:solidFill>
                  <a:srgbClr val="1B2430"/>
                </a:solidFill>
              </a:rPr>
              <a:t>C→B</a:t>
            </a:r>
            <a:endParaRPr lang="en-US" sz="1200" dirty="0"/>
          </a:p>
        </p:txBody>
      </p:sp>
      <p:sp>
        <p:nvSpPr>
          <p:cNvPr id="38" name="box"/>
          <p:cNvSpPr/>
          <p:nvPr/>
        </p:nvSpPr>
        <p:spPr>
          <a:xfrm>
            <a:off x="9784080" y="2980944"/>
            <a:ext cx="1783080" cy="384048"/>
          </a:xfrm>
          <a:prstGeom prst="rect">
            <a:avLst/>
          </a:prstGeom>
          <a:solidFill>
            <a:srgbClr val="F2D6D6"/>
          </a:solidFill>
          <a:ln w="12700">
            <a:solidFill>
              <a:srgbClr val="F2D6D6"/>
            </a:solidFill>
            <a:prstDash val="solid"/>
          </a:ln>
        </p:spPr>
      </p:sp>
      <p:sp>
        <p:nvSpPr>
          <p:cNvPr id="39" name="Text 36"/>
          <p:cNvSpPr txBox="1"/>
          <p:nvPr/>
        </p:nvSpPr>
        <p:spPr>
          <a:xfrm>
            <a:off x="9784080" y="2980944"/>
            <a:ext cx="1783080" cy="384048"/>
          </a:xfrm>
          <a:prstGeom prst="rect">
            <a:avLst/>
          </a:prstGeom>
          <a:noFill/>
          <a:ln/>
        </p:spPr>
        <p:txBody>
          <a:bodyPr wrap="square" lIns="1270" tIns="1270" rIns="1270" bIns="1270" rtlCol="0" anchor="ctr"/>
          <a:lstStyle/>
          <a:p>
            <a:pPr algn="l" indent="0" marL="0">
              <a:buNone/>
            </a:pPr>
            <a:r>
              <a:rPr lang="en-US" sz="1200" dirty="0">
                <a:solidFill>
                  <a:srgbClr val="1B2430"/>
                </a:solidFill>
              </a:rPr>
              <a:t>refused: seen</a:t>
            </a:r>
            <a:endParaRPr lang="en-US" sz="1200" dirty="0"/>
          </a:p>
        </p:txBody>
      </p:sp>
      <p:sp>
        <p:nvSpPr>
          <p:cNvPr id="40" name="box"/>
          <p:cNvSpPr/>
          <p:nvPr/>
        </p:nvSpPr>
        <p:spPr>
          <a:xfrm>
            <a:off x="8778240" y="3410712"/>
            <a:ext cx="960120" cy="384048"/>
          </a:xfrm>
          <a:prstGeom prst="rect">
            <a:avLst/>
          </a:prstGeom>
          <a:solidFill>
            <a:srgbClr val="EEF2F6"/>
          </a:solidFill>
          <a:ln w="12700">
            <a:solidFill>
              <a:srgbClr val="EEF2F6"/>
            </a:solidFill>
            <a:prstDash val="solid"/>
          </a:ln>
        </p:spPr>
      </p:sp>
      <p:sp>
        <p:nvSpPr>
          <p:cNvPr id="41" name="Text 38"/>
          <p:cNvSpPr txBox="1"/>
          <p:nvPr/>
        </p:nvSpPr>
        <p:spPr>
          <a:xfrm>
            <a:off x="8778240" y="3410712"/>
            <a:ext cx="960120" cy="384048"/>
          </a:xfrm>
          <a:prstGeom prst="rect">
            <a:avLst/>
          </a:prstGeom>
          <a:noFill/>
          <a:ln/>
        </p:spPr>
        <p:txBody>
          <a:bodyPr wrap="square" lIns="1270" tIns="1270" rIns="1270" bIns="1270" rtlCol="0" anchor="ctr"/>
          <a:lstStyle/>
          <a:p>
            <a:pPr algn="ctr" indent="0" marL="0">
              <a:buNone/>
            </a:pPr>
            <a:r>
              <a:rPr lang="en-US" sz="1200" dirty="0">
                <a:solidFill>
                  <a:srgbClr val="1B2430"/>
                </a:solidFill>
              </a:rPr>
              <a:t>B→D</a:t>
            </a:r>
            <a:endParaRPr lang="en-US" sz="1200" dirty="0"/>
          </a:p>
        </p:txBody>
      </p:sp>
      <p:sp>
        <p:nvSpPr>
          <p:cNvPr id="42" name="box"/>
          <p:cNvSpPr/>
          <p:nvPr/>
        </p:nvSpPr>
        <p:spPr>
          <a:xfrm>
            <a:off x="9784080" y="3410712"/>
            <a:ext cx="1783080" cy="384048"/>
          </a:xfrm>
          <a:prstGeom prst="rect">
            <a:avLst/>
          </a:prstGeom>
          <a:solidFill>
            <a:srgbClr val="D7EBDD"/>
          </a:solidFill>
          <a:ln w="12700">
            <a:solidFill>
              <a:srgbClr val="D7EBDD"/>
            </a:solidFill>
            <a:prstDash val="solid"/>
          </a:ln>
        </p:spPr>
      </p:sp>
      <p:sp>
        <p:nvSpPr>
          <p:cNvPr id="43" name="Text 40"/>
          <p:cNvSpPr txBox="1"/>
          <p:nvPr/>
        </p:nvSpPr>
        <p:spPr>
          <a:xfrm>
            <a:off x="9784080" y="3410712"/>
            <a:ext cx="1783080" cy="384048"/>
          </a:xfrm>
          <a:prstGeom prst="rect">
            <a:avLst/>
          </a:prstGeom>
          <a:noFill/>
          <a:ln/>
        </p:spPr>
        <p:txBody>
          <a:bodyPr wrap="square" lIns="1270" tIns="1270" rIns="1270" bIns="1270" rtlCol="0" anchor="ctr"/>
          <a:lstStyle/>
          <a:p>
            <a:pPr algn="l" indent="0" marL="0">
              <a:buNone/>
            </a:pPr>
            <a:r>
              <a:rPr lang="en-US" sz="1200" dirty="0">
                <a:solidFill>
                  <a:srgbClr val="1B2430"/>
                </a:solidFill>
              </a:rPr>
              <a:t>accepted, t = 2</a:t>
            </a:r>
            <a:endParaRPr lang="en-US" sz="1200" dirty="0"/>
          </a:p>
        </p:txBody>
      </p:sp>
      <p:sp>
        <p:nvSpPr>
          <p:cNvPr id="44" name="box"/>
          <p:cNvSpPr/>
          <p:nvPr/>
        </p:nvSpPr>
        <p:spPr>
          <a:xfrm>
            <a:off x="8778240" y="3840480"/>
            <a:ext cx="960120" cy="384048"/>
          </a:xfrm>
          <a:prstGeom prst="rect">
            <a:avLst/>
          </a:prstGeom>
          <a:solidFill>
            <a:srgbClr val="EEF2F6"/>
          </a:solidFill>
          <a:ln w="12700">
            <a:solidFill>
              <a:srgbClr val="EEF2F6"/>
            </a:solidFill>
            <a:prstDash val="solid"/>
          </a:ln>
        </p:spPr>
      </p:sp>
      <p:sp>
        <p:nvSpPr>
          <p:cNvPr id="45" name="Text 42"/>
          <p:cNvSpPr txBox="1"/>
          <p:nvPr/>
        </p:nvSpPr>
        <p:spPr>
          <a:xfrm>
            <a:off x="8778240" y="3840480"/>
            <a:ext cx="960120" cy="384048"/>
          </a:xfrm>
          <a:prstGeom prst="rect">
            <a:avLst/>
          </a:prstGeom>
          <a:noFill/>
          <a:ln/>
        </p:spPr>
        <p:txBody>
          <a:bodyPr wrap="square" lIns="1270" tIns="1270" rIns="1270" bIns="1270" rtlCol="0" anchor="ctr"/>
          <a:lstStyle/>
          <a:p>
            <a:pPr algn="ctr" indent="0" marL="0">
              <a:buNone/>
            </a:pPr>
            <a:r>
              <a:rPr lang="en-US" sz="1200" dirty="0">
                <a:solidFill>
                  <a:srgbClr val="1B2430"/>
                </a:solidFill>
              </a:rPr>
              <a:t>C→D</a:t>
            </a:r>
            <a:endParaRPr lang="en-US" sz="1200" dirty="0"/>
          </a:p>
        </p:txBody>
      </p:sp>
      <p:sp>
        <p:nvSpPr>
          <p:cNvPr id="46" name="box"/>
          <p:cNvSpPr/>
          <p:nvPr/>
        </p:nvSpPr>
        <p:spPr>
          <a:xfrm>
            <a:off x="9784080" y="3840480"/>
            <a:ext cx="1783080" cy="384048"/>
          </a:xfrm>
          <a:prstGeom prst="rect">
            <a:avLst/>
          </a:prstGeom>
          <a:solidFill>
            <a:srgbClr val="F2D6D6"/>
          </a:solidFill>
          <a:ln w="12700">
            <a:solidFill>
              <a:srgbClr val="F2D6D6"/>
            </a:solidFill>
            <a:prstDash val="solid"/>
          </a:ln>
        </p:spPr>
      </p:sp>
      <p:sp>
        <p:nvSpPr>
          <p:cNvPr id="47" name="Text 44"/>
          <p:cNvSpPr txBox="1"/>
          <p:nvPr/>
        </p:nvSpPr>
        <p:spPr>
          <a:xfrm>
            <a:off x="9784080" y="3840480"/>
            <a:ext cx="1783080" cy="384048"/>
          </a:xfrm>
          <a:prstGeom prst="rect">
            <a:avLst/>
          </a:prstGeom>
          <a:noFill/>
          <a:ln/>
        </p:spPr>
        <p:txBody>
          <a:bodyPr wrap="square" lIns="1270" tIns="1270" rIns="1270" bIns="1270" rtlCol="0" anchor="ctr"/>
          <a:lstStyle/>
          <a:p>
            <a:pPr algn="l" indent="0" marL="0">
              <a:buNone/>
            </a:pPr>
            <a:r>
              <a:rPr lang="en-US" sz="1200" dirty="0">
                <a:solidFill>
                  <a:srgbClr val="1B2430"/>
                </a:solidFill>
              </a:rPr>
              <a:t>refused: seen</a:t>
            </a:r>
            <a:endParaRPr lang="en-US" sz="1200" dirty="0"/>
          </a:p>
        </p:txBody>
      </p:sp>
      <p:sp>
        <p:nvSpPr>
          <p:cNvPr id="48" name="box"/>
          <p:cNvSpPr/>
          <p:nvPr/>
        </p:nvSpPr>
        <p:spPr>
          <a:xfrm>
            <a:off x="8778240" y="4270248"/>
            <a:ext cx="960120" cy="384048"/>
          </a:xfrm>
          <a:prstGeom prst="rect">
            <a:avLst/>
          </a:prstGeom>
          <a:solidFill>
            <a:srgbClr val="EEF2F6"/>
          </a:solidFill>
          <a:ln w="12700">
            <a:solidFill>
              <a:srgbClr val="EEF2F6"/>
            </a:solidFill>
            <a:prstDash val="solid"/>
          </a:ln>
        </p:spPr>
      </p:sp>
      <p:sp>
        <p:nvSpPr>
          <p:cNvPr id="49" name="Text 46"/>
          <p:cNvSpPr txBox="1"/>
          <p:nvPr/>
        </p:nvSpPr>
        <p:spPr>
          <a:xfrm>
            <a:off x="8778240" y="4270248"/>
            <a:ext cx="960120" cy="384048"/>
          </a:xfrm>
          <a:prstGeom prst="rect">
            <a:avLst/>
          </a:prstGeom>
          <a:noFill/>
          <a:ln/>
        </p:spPr>
        <p:txBody>
          <a:bodyPr wrap="square" lIns="1270" tIns="1270" rIns="1270" bIns="1270" rtlCol="0" anchor="ctr"/>
          <a:lstStyle/>
          <a:p>
            <a:pPr algn="ctr" indent="0" marL="0">
              <a:buNone/>
            </a:pPr>
            <a:r>
              <a:rPr lang="en-US" sz="1200" dirty="0">
                <a:solidFill>
                  <a:srgbClr val="1B2430"/>
                </a:solidFill>
              </a:rPr>
              <a:t>D→C</a:t>
            </a:r>
            <a:endParaRPr lang="en-US" sz="1200" dirty="0"/>
          </a:p>
        </p:txBody>
      </p:sp>
      <p:sp>
        <p:nvSpPr>
          <p:cNvPr id="50" name="box"/>
          <p:cNvSpPr/>
          <p:nvPr/>
        </p:nvSpPr>
        <p:spPr>
          <a:xfrm>
            <a:off x="9784080" y="4270248"/>
            <a:ext cx="1783080" cy="384048"/>
          </a:xfrm>
          <a:prstGeom prst="rect">
            <a:avLst/>
          </a:prstGeom>
          <a:solidFill>
            <a:srgbClr val="F2D6D6"/>
          </a:solidFill>
          <a:ln w="12700">
            <a:solidFill>
              <a:srgbClr val="F2D6D6"/>
            </a:solidFill>
            <a:prstDash val="solid"/>
          </a:ln>
        </p:spPr>
      </p:sp>
      <p:sp>
        <p:nvSpPr>
          <p:cNvPr id="51" name="Text 48"/>
          <p:cNvSpPr txBox="1"/>
          <p:nvPr/>
        </p:nvSpPr>
        <p:spPr>
          <a:xfrm>
            <a:off x="9784080" y="4270248"/>
            <a:ext cx="1783080" cy="384048"/>
          </a:xfrm>
          <a:prstGeom prst="rect">
            <a:avLst/>
          </a:prstGeom>
          <a:noFill/>
          <a:ln/>
        </p:spPr>
        <p:txBody>
          <a:bodyPr wrap="square" lIns="1270" tIns="1270" rIns="1270" bIns="1270" rtlCol="0" anchor="ctr"/>
          <a:lstStyle/>
          <a:p>
            <a:pPr algn="l" indent="0" marL="0">
              <a:buNone/>
            </a:pPr>
            <a:r>
              <a:rPr lang="en-US" sz="1200" dirty="0">
                <a:solidFill>
                  <a:srgbClr val="1B2430"/>
                </a:solidFill>
              </a:rPr>
              <a:t>refused: seen</a:t>
            </a:r>
            <a:endParaRPr lang="en-US" sz="1200" dirty="0"/>
          </a:p>
        </p:txBody>
      </p:sp>
      <p:sp>
        <p:nvSpPr>
          <p:cNvPr id="52" name="box"/>
          <p:cNvSpPr/>
          <p:nvPr/>
        </p:nvSpPr>
        <p:spPr>
          <a:xfrm>
            <a:off x="8778240" y="4700016"/>
            <a:ext cx="960120" cy="384048"/>
          </a:xfrm>
          <a:prstGeom prst="rect">
            <a:avLst/>
          </a:prstGeom>
          <a:solidFill>
            <a:srgbClr val="EEF2F6"/>
          </a:solidFill>
          <a:ln w="12700">
            <a:solidFill>
              <a:srgbClr val="EEF2F6"/>
            </a:solidFill>
            <a:prstDash val="solid"/>
          </a:ln>
        </p:spPr>
      </p:sp>
      <p:sp>
        <p:nvSpPr>
          <p:cNvPr id="53" name="Text 50"/>
          <p:cNvSpPr txBox="1"/>
          <p:nvPr/>
        </p:nvSpPr>
        <p:spPr>
          <a:xfrm>
            <a:off x="8778240" y="4700016"/>
            <a:ext cx="960120" cy="384048"/>
          </a:xfrm>
          <a:prstGeom prst="rect">
            <a:avLst/>
          </a:prstGeom>
          <a:noFill/>
          <a:ln/>
        </p:spPr>
        <p:txBody>
          <a:bodyPr wrap="square" lIns="1270" tIns="1270" rIns="1270" bIns="1270" rtlCol="0" anchor="ctr"/>
          <a:lstStyle/>
          <a:p>
            <a:pPr algn="ctr" indent="0" marL="0">
              <a:buNone/>
            </a:pPr>
            <a:r>
              <a:rPr lang="en-US" sz="1200" dirty="0">
                <a:solidFill>
                  <a:srgbClr val="1B2430"/>
                </a:solidFill>
              </a:rPr>
              <a:t>D→E</a:t>
            </a:r>
            <a:endParaRPr lang="en-US" sz="1200" dirty="0"/>
          </a:p>
        </p:txBody>
      </p:sp>
      <p:sp>
        <p:nvSpPr>
          <p:cNvPr id="54" name="box"/>
          <p:cNvSpPr/>
          <p:nvPr/>
        </p:nvSpPr>
        <p:spPr>
          <a:xfrm>
            <a:off x="9784080" y="4700016"/>
            <a:ext cx="1783080" cy="384048"/>
          </a:xfrm>
          <a:prstGeom prst="rect">
            <a:avLst/>
          </a:prstGeom>
          <a:solidFill>
            <a:srgbClr val="D7EBDD"/>
          </a:solidFill>
          <a:ln w="12700">
            <a:solidFill>
              <a:srgbClr val="D7EBDD"/>
            </a:solidFill>
            <a:prstDash val="solid"/>
          </a:ln>
        </p:spPr>
      </p:sp>
      <p:sp>
        <p:nvSpPr>
          <p:cNvPr id="55" name="Text 52"/>
          <p:cNvSpPr txBox="1"/>
          <p:nvPr/>
        </p:nvSpPr>
        <p:spPr>
          <a:xfrm>
            <a:off x="9784080" y="4700016"/>
            <a:ext cx="1783080" cy="384048"/>
          </a:xfrm>
          <a:prstGeom prst="rect">
            <a:avLst/>
          </a:prstGeom>
          <a:noFill/>
          <a:ln/>
        </p:spPr>
        <p:txBody>
          <a:bodyPr wrap="square" lIns="1270" tIns="1270" rIns="1270" bIns="1270" rtlCol="0" anchor="ctr"/>
          <a:lstStyle/>
          <a:p>
            <a:pPr algn="l" indent="0" marL="0">
              <a:buNone/>
            </a:pPr>
            <a:r>
              <a:rPr lang="en-US" sz="1200" dirty="0">
                <a:solidFill>
                  <a:srgbClr val="1B2430"/>
                </a:solidFill>
              </a:rPr>
              <a:t>accepted, t = 3</a:t>
            </a:r>
            <a:endParaRPr lang="en-US" sz="1200" dirty="0"/>
          </a:p>
        </p:txBody>
      </p:sp>
      <p:sp>
        <p:nvSpPr>
          <p:cNvPr id="56" name="box"/>
          <p:cNvSpPr/>
          <p:nvPr/>
        </p:nvSpPr>
        <p:spPr>
          <a:xfrm>
            <a:off x="548640" y="4846320"/>
            <a:ext cx="8138160" cy="731520"/>
          </a:xfrm>
          <a:prstGeom prst="roundRect">
            <a:avLst>
              <a:gd name="adj" fmla="val 10000"/>
            </a:avLst>
          </a:prstGeom>
          <a:solidFill>
            <a:srgbClr val="F3EAD7"/>
          </a:solidFill>
          <a:ln w="12700">
            <a:solidFill>
              <a:srgbClr val="F3EAD7"/>
            </a:solidFill>
            <a:prstDash val="solid"/>
          </a:ln>
        </p:spPr>
      </p:sp>
      <p:sp>
        <p:nvSpPr>
          <p:cNvPr id="57" name="Text 54"/>
          <p:cNvSpPr txBox="1"/>
          <p:nvPr/>
        </p:nvSpPr>
        <p:spPr>
          <a:xfrm>
            <a:off x="548640" y="4846320"/>
            <a:ext cx="8138160" cy="731520"/>
          </a:xfrm>
          <a:prstGeom prst="rect">
            <a:avLst/>
          </a:prstGeom>
          <a:noFill/>
          <a:ln/>
        </p:spPr>
        <p:txBody>
          <a:bodyPr wrap="square" lIns="635" tIns="635" rIns="635" bIns="635" rtlCol="0" anchor="ctr"/>
          <a:lstStyle/>
          <a:p>
            <a:pPr algn="ctr" indent="0" marL="0">
              <a:buNone/>
            </a:pPr>
            <a:r>
              <a:rPr lang="en-US" sz="1300" dirty="0">
                <a:solidFill>
                  <a:srgbClr val="1B2430"/>
                </a:solidFill>
              </a:rPr>
              <a:t>E stores Path: E!D!B!A!not-for-mail · 8 offers: 4 accepted, 4 refused</a:t>
            </a:r>
            <a:endParaRPr lang="en-US" sz="1300" dirty="0"/>
          </a:p>
        </p:txBody>
      </p:sp>
      <p:sp>
        <p:nvSpPr>
          <p:cNvPr id="5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59" name="Text 5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Path avoids sending back along the route; Message-ID stops every other duplicate.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6 · How long does a DNS lookup take?</a:t>
            </a:r>
            <a:endParaRPr lang="en-US" sz="3000" dirty="0"/>
          </a:p>
        </p:txBody>
      </p:sp>
      <p:sp>
        <p:nvSpPr>
          <p:cNvPr id="4" name="box"/>
          <p:cNvSpPr/>
          <p:nvPr/>
        </p:nvSpPr>
        <p:spPr>
          <a:xfrm>
            <a:off x="548640" y="1417320"/>
            <a:ext cx="126091" cy="640080"/>
          </a:xfrm>
          <a:prstGeom prst="rect">
            <a:avLst/>
          </a:prstGeom>
          <a:solidFill>
            <a:srgbClr val="5B6770"/>
          </a:solidFill>
          <a:ln w="12700">
            <a:solidFill>
              <a:srgbClr val="5B6770"/>
            </a:solidFill>
            <a:prstDash val="solid"/>
          </a:ln>
        </p:spPr>
      </p:sp>
      <p:sp>
        <p:nvSpPr>
          <p:cNvPr id="5" name="box"/>
          <p:cNvSpPr/>
          <p:nvPr/>
        </p:nvSpPr>
        <p:spPr>
          <a:xfrm>
            <a:off x="693019" y="1417320"/>
            <a:ext cx="1425501" cy="640080"/>
          </a:xfrm>
          <a:prstGeom prst="rect">
            <a:avLst/>
          </a:prstGeom>
          <a:solidFill>
            <a:srgbClr val="1F3A5F"/>
          </a:solidFill>
          <a:ln w="12700">
            <a:solidFill>
              <a:srgbClr val="1F3A5F"/>
            </a:solidFill>
            <a:prstDash val="solid"/>
          </a:ln>
        </p:spPr>
      </p:sp>
      <p:sp>
        <p:nvSpPr>
          <p:cNvPr id="6" name="Text 3"/>
          <p:cNvSpPr txBox="1"/>
          <p:nvPr/>
        </p:nvSpPr>
        <p:spPr>
          <a:xfrm>
            <a:off x="693019" y="1417320"/>
            <a:ext cx="1425501" cy="640080"/>
          </a:xfrm>
          <a:prstGeom prst="rect">
            <a:avLst/>
          </a:prstGeom>
          <a:noFill/>
          <a:ln/>
        </p:spPr>
        <p:txBody>
          <a:bodyPr wrap="square" lIns="635" tIns="635" rIns="635" bIns="635" rtlCol="0" anchor="ctr"/>
          <a:lstStyle/>
          <a:p>
            <a:pPr algn="ctr" indent="0" marL="0">
              <a:buNone/>
            </a:pPr>
            <a:r>
              <a:rPr lang="en-US" sz="1100" dirty="0">
                <a:solidFill>
                  <a:srgbClr val="FFFFFF"/>
                </a:solidFill>
              </a:rPr>
              <a:t>root 20</a:t>
            </a:r>
            <a:endParaRPr lang="en-US" sz="1100" dirty="0"/>
          </a:p>
        </p:txBody>
      </p:sp>
      <p:sp>
        <p:nvSpPr>
          <p:cNvPr id="7" name="box"/>
          <p:cNvSpPr/>
          <p:nvPr/>
        </p:nvSpPr>
        <p:spPr>
          <a:xfrm>
            <a:off x="2136808" y="1417320"/>
            <a:ext cx="2147396" cy="640080"/>
          </a:xfrm>
          <a:prstGeom prst="rect">
            <a:avLst/>
          </a:prstGeom>
          <a:solidFill>
            <a:srgbClr val="1F3A5F"/>
          </a:solidFill>
          <a:ln w="12700">
            <a:solidFill>
              <a:srgbClr val="1F3A5F"/>
            </a:solidFill>
            <a:prstDash val="solid"/>
          </a:ln>
        </p:spPr>
      </p:sp>
      <p:sp>
        <p:nvSpPr>
          <p:cNvPr id="8" name="Text 5"/>
          <p:cNvSpPr txBox="1"/>
          <p:nvPr/>
        </p:nvSpPr>
        <p:spPr>
          <a:xfrm>
            <a:off x="2136808" y="1417320"/>
            <a:ext cx="2147396" cy="640080"/>
          </a:xfrm>
          <a:prstGeom prst="rect">
            <a:avLst/>
          </a:prstGeom>
          <a:noFill/>
          <a:ln/>
        </p:spPr>
        <p:txBody>
          <a:bodyPr wrap="square" lIns="635" tIns="635" rIns="635" bIns="635" rtlCol="0" anchor="ctr"/>
          <a:lstStyle/>
          <a:p>
            <a:pPr algn="ctr" indent="0" marL="0">
              <a:buNone/>
            </a:pPr>
            <a:r>
              <a:rPr lang="en-US" sz="1100" dirty="0">
                <a:solidFill>
                  <a:srgbClr val="FFFFFF"/>
                </a:solidFill>
              </a:rPr>
              <a:t>.ro 30</a:t>
            </a:r>
            <a:endParaRPr lang="en-US" sz="1100" dirty="0"/>
          </a:p>
        </p:txBody>
      </p:sp>
      <p:sp>
        <p:nvSpPr>
          <p:cNvPr id="9" name="box"/>
          <p:cNvSpPr/>
          <p:nvPr/>
        </p:nvSpPr>
        <p:spPr>
          <a:xfrm>
            <a:off x="4302493" y="1417320"/>
            <a:ext cx="1064554" cy="640080"/>
          </a:xfrm>
          <a:prstGeom prst="rect">
            <a:avLst/>
          </a:prstGeom>
          <a:solidFill>
            <a:srgbClr val="2A7F8E"/>
          </a:solidFill>
          <a:ln w="12700">
            <a:solidFill>
              <a:srgbClr val="2A7F8E"/>
            </a:solidFill>
            <a:prstDash val="solid"/>
          </a:ln>
        </p:spPr>
      </p:sp>
      <p:sp>
        <p:nvSpPr>
          <p:cNvPr id="10" name="Text 7"/>
          <p:cNvSpPr txBox="1"/>
          <p:nvPr/>
        </p:nvSpPr>
        <p:spPr>
          <a:xfrm>
            <a:off x="4302493" y="1417320"/>
            <a:ext cx="1064554" cy="640080"/>
          </a:xfrm>
          <a:prstGeom prst="rect">
            <a:avLst/>
          </a:prstGeom>
          <a:noFill/>
          <a:ln/>
        </p:spPr>
        <p:txBody>
          <a:bodyPr wrap="square" lIns="635" tIns="635" rIns="635" bIns="635" rtlCol="0" anchor="ctr"/>
          <a:lstStyle/>
          <a:p>
            <a:pPr algn="ctr" indent="0" marL="0">
              <a:buNone/>
            </a:pPr>
            <a:r>
              <a:rPr lang="en-US" sz="1100" dirty="0">
                <a:solidFill>
                  <a:srgbClr val="FFFFFF"/>
                </a:solidFill>
              </a:rPr>
              <a:t>CNAME 15</a:t>
            </a:r>
            <a:endParaRPr lang="en-US" sz="1100" dirty="0"/>
          </a:p>
        </p:txBody>
      </p:sp>
      <p:sp>
        <p:nvSpPr>
          <p:cNvPr id="11" name="box"/>
          <p:cNvSpPr/>
          <p:nvPr/>
        </p:nvSpPr>
        <p:spPr>
          <a:xfrm>
            <a:off x="5385335" y="1417320"/>
            <a:ext cx="1425501" cy="640080"/>
          </a:xfrm>
          <a:prstGeom prst="rect">
            <a:avLst/>
          </a:prstGeom>
          <a:solidFill>
            <a:srgbClr val="1F3A5F"/>
          </a:solidFill>
          <a:ln w="12700">
            <a:solidFill>
              <a:srgbClr val="1F3A5F"/>
            </a:solidFill>
            <a:prstDash val="solid"/>
          </a:ln>
        </p:spPr>
      </p:sp>
      <p:sp>
        <p:nvSpPr>
          <p:cNvPr id="12" name="Text 9"/>
          <p:cNvSpPr txBox="1"/>
          <p:nvPr/>
        </p:nvSpPr>
        <p:spPr>
          <a:xfrm>
            <a:off x="5385335" y="1417320"/>
            <a:ext cx="1425501" cy="640080"/>
          </a:xfrm>
          <a:prstGeom prst="rect">
            <a:avLst/>
          </a:prstGeom>
          <a:noFill/>
          <a:ln/>
        </p:spPr>
        <p:txBody>
          <a:bodyPr wrap="square" lIns="635" tIns="635" rIns="635" bIns="635" rtlCol="0" anchor="ctr"/>
          <a:lstStyle/>
          <a:p>
            <a:pPr algn="ctr" indent="0" marL="0">
              <a:buNone/>
            </a:pPr>
            <a:r>
              <a:rPr lang="en-US" sz="1100" dirty="0">
                <a:solidFill>
                  <a:srgbClr val="FFFFFF"/>
                </a:solidFill>
              </a:rPr>
              <a:t>root 20</a:t>
            </a:r>
            <a:endParaRPr lang="en-US" sz="1100" dirty="0"/>
          </a:p>
        </p:txBody>
      </p:sp>
      <p:sp>
        <p:nvSpPr>
          <p:cNvPr id="13" name="box"/>
          <p:cNvSpPr/>
          <p:nvPr/>
        </p:nvSpPr>
        <p:spPr>
          <a:xfrm>
            <a:off x="6829124" y="1417320"/>
            <a:ext cx="1786449" cy="640080"/>
          </a:xfrm>
          <a:prstGeom prst="rect">
            <a:avLst/>
          </a:prstGeom>
          <a:solidFill>
            <a:srgbClr val="1F3A5F"/>
          </a:solidFill>
          <a:ln w="12700">
            <a:solidFill>
              <a:srgbClr val="1F3A5F"/>
            </a:solidFill>
            <a:prstDash val="solid"/>
          </a:ln>
        </p:spPr>
      </p:sp>
      <p:sp>
        <p:nvSpPr>
          <p:cNvPr id="14" name="Text 11"/>
          <p:cNvSpPr txBox="1"/>
          <p:nvPr/>
        </p:nvSpPr>
        <p:spPr>
          <a:xfrm>
            <a:off x="6829124" y="1417320"/>
            <a:ext cx="1786449" cy="640080"/>
          </a:xfrm>
          <a:prstGeom prst="rect">
            <a:avLst/>
          </a:prstGeom>
          <a:noFill/>
          <a:ln/>
        </p:spPr>
        <p:txBody>
          <a:bodyPr wrap="square" lIns="635" tIns="635" rIns="635" bIns="635" rtlCol="0" anchor="ctr"/>
          <a:lstStyle/>
          <a:p>
            <a:pPr algn="ctr" indent="0" marL="0">
              <a:buNone/>
            </a:pPr>
            <a:r>
              <a:rPr lang="en-US" sz="1100" dirty="0">
                <a:solidFill>
                  <a:srgbClr val="FFFFFF"/>
                </a:solidFill>
              </a:rPr>
              <a:t>.com 25</a:t>
            </a:r>
            <a:endParaRPr lang="en-US" sz="1100" dirty="0"/>
          </a:p>
        </p:txBody>
      </p:sp>
      <p:sp>
        <p:nvSpPr>
          <p:cNvPr id="15" name="box"/>
          <p:cNvSpPr/>
          <p:nvPr/>
        </p:nvSpPr>
        <p:spPr>
          <a:xfrm>
            <a:off x="8633861" y="1417320"/>
            <a:ext cx="2869291" cy="640080"/>
          </a:xfrm>
          <a:prstGeom prst="rect">
            <a:avLst/>
          </a:prstGeom>
          <a:solidFill>
            <a:srgbClr val="B9772A"/>
          </a:solidFill>
          <a:ln w="12700">
            <a:solidFill>
              <a:srgbClr val="B9772A"/>
            </a:solidFill>
            <a:prstDash val="solid"/>
          </a:ln>
        </p:spPr>
      </p:sp>
      <p:sp>
        <p:nvSpPr>
          <p:cNvPr id="16" name="Text 13"/>
          <p:cNvSpPr txBox="1"/>
          <p:nvPr/>
        </p:nvSpPr>
        <p:spPr>
          <a:xfrm>
            <a:off x="8633861" y="1417320"/>
            <a:ext cx="2869291" cy="640080"/>
          </a:xfrm>
          <a:prstGeom prst="rect">
            <a:avLst/>
          </a:prstGeom>
          <a:noFill/>
          <a:ln/>
        </p:spPr>
        <p:txBody>
          <a:bodyPr wrap="square" lIns="635" tIns="635" rIns="635" bIns="635" rtlCol="0" anchor="ctr"/>
          <a:lstStyle/>
          <a:p>
            <a:pPr algn="ctr" indent="0" marL="0">
              <a:buNone/>
            </a:pPr>
            <a:r>
              <a:rPr lang="en-US" sz="1100" dirty="0">
                <a:solidFill>
                  <a:srgbClr val="FFFFFF"/>
                </a:solidFill>
              </a:rPr>
              <a:t>cdn-provider.com → A 40</a:t>
            </a:r>
            <a:endParaRPr lang="en-US" sz="1100" dirty="0"/>
          </a:p>
        </p:txBody>
      </p:sp>
      <p:sp>
        <p:nvSpPr>
          <p:cNvPr id="17" name="Text 14"/>
          <p:cNvSpPr txBox="1"/>
          <p:nvPr/>
        </p:nvSpPr>
        <p:spPr>
          <a:xfrm>
            <a:off x="548640" y="2121408"/>
            <a:ext cx="10972800" cy="365760"/>
          </a:xfrm>
          <a:prstGeom prst="rect">
            <a:avLst/>
          </a:prstGeom>
          <a:noFill/>
          <a:ln/>
        </p:spPr>
        <p:txBody>
          <a:bodyPr wrap="square" lIns="0" tIns="0" rIns="0" bIns="0" rtlCol="0" anchor="t"/>
          <a:lstStyle/>
          <a:p>
            <a:pPr algn="l" indent="0" marL="0">
              <a:spcAft>
                <a:spcPts val="400"/>
              </a:spcAft>
              <a:buNone/>
            </a:pPr>
            <a:r>
              <a:rPr lang="en-US" sz="1100" dirty="0">
                <a:solidFill>
                  <a:srgbClr val="5B6770"/>
                </a:solidFill>
              </a:rPr>
              <a:t>the thin grey bar: laptop ↔ resolver, 2 ms · then the resolver’s queries, in milliseconds</a:t>
            </a:r>
            <a:endParaRPr lang="en-US" sz="1100" dirty="0"/>
          </a:p>
        </p:txBody>
      </p:sp>
      <p:sp>
        <p:nvSpPr>
          <p:cNvPr id="18" name="Text 15"/>
          <p:cNvSpPr txBox="1"/>
          <p:nvPr/>
        </p:nvSpPr>
        <p:spPr>
          <a:xfrm>
            <a:off x="548640" y="2697480"/>
            <a:ext cx="10972800" cy="365760"/>
          </a:xfrm>
          <a:prstGeom prst="rect">
            <a:avLst/>
          </a:prstGeom>
          <a:noFill/>
          <a:ln/>
        </p:spPr>
        <p:txBody>
          <a:bodyPr wrap="square" lIns="0" tIns="0" rIns="0" bIns="0" rtlCol="0" anchor="t"/>
          <a:lstStyle/>
          <a:p>
            <a:pPr algn="l" indent="0" marL="0">
              <a:spcAft>
                <a:spcPts val="400"/>
              </a:spcAft>
              <a:buNone/>
            </a:pPr>
            <a:r>
              <a:rPr lang="en-US" sz="1500" dirty="0">
                <a:solidFill>
                  <a:srgbClr val="1B2430"/>
                </a:solidFill>
              </a:rPr>
              <a:t>cold cache: </a:t>
            </a:r>
            <a:r>
              <a:rPr lang="en-US" sz="1500" b="1" dirty="0">
                <a:solidFill>
                  <a:srgbClr val="1B2430"/>
                </a:solidFill>
              </a:rPr>
              <a:t>152 ms</a:t>
            </a:r>
            <a:endParaRPr lang="en-US" sz="1500" dirty="0"/>
          </a:p>
        </p:txBody>
      </p:sp>
      <p:sp>
        <p:nvSpPr>
          <p:cNvPr id="19" name="box"/>
          <p:cNvSpPr/>
          <p:nvPr/>
        </p:nvSpPr>
        <p:spPr>
          <a:xfrm>
            <a:off x="548640" y="3246120"/>
            <a:ext cx="5440680" cy="1051560"/>
          </a:xfrm>
          <a:prstGeom prst="roundRect">
            <a:avLst>
              <a:gd name="adj" fmla="val 6957"/>
            </a:avLst>
          </a:prstGeom>
          <a:solidFill>
            <a:srgbClr val="D7EBDD"/>
          </a:solidFill>
          <a:ln w="12700">
            <a:solidFill>
              <a:srgbClr val="D7EBDD"/>
            </a:solidFill>
            <a:prstDash val="solid"/>
          </a:ln>
        </p:spPr>
      </p:sp>
      <p:sp>
        <p:nvSpPr>
          <p:cNvPr id="20" name="Text 17"/>
          <p:cNvSpPr txBox="1"/>
          <p:nvPr/>
        </p:nvSpPr>
        <p:spPr>
          <a:xfrm>
            <a:off x="548640" y="3246120"/>
            <a:ext cx="5440680" cy="1051560"/>
          </a:xfrm>
          <a:prstGeom prst="rect">
            <a:avLst/>
          </a:prstGeom>
          <a:noFill/>
          <a:ln/>
        </p:spPr>
        <p:txBody>
          <a:bodyPr wrap="square" lIns="635" tIns="635" rIns="635" bIns="635" rtlCol="0" anchor="ctr"/>
          <a:lstStyle/>
          <a:p>
            <a:pPr algn="ctr" indent="0" marL="0">
              <a:buNone/>
            </a:pPr>
            <a:r>
              <a:rPr lang="en-US" sz="1300" b="1" dirty="0">
                <a:solidFill>
                  <a:srgbClr val="1B2430"/>
                </a:solidFill>
              </a:rPr>
              <a:t>30 s later</a:t>
            </a:r>
            <a:r>
              <a:rPr lang="en-US" sz="1300" dirty="0">
                <a:solidFill>
                  <a:srgbClr val="1B2430"/>
                </a:solidFill>
              </a:rPr>
              <a:t>: everything cached</a:t>
            </a:r>
            <a:endParaRPr lang="en-US" sz="1300" dirty="0"/>
          </a:p>
          <a:p>
            <a:pPr algn="ctr" indent="0" marL="0">
              <a:buNone/>
            </a:pPr>
            <a:r>
              <a:rPr lang="en-US" sz="1300" b="1" dirty="0">
                <a:solidFill>
                  <a:srgbClr val="1B2430"/>
                </a:solidFill>
              </a:rPr>
              <a:t>2 ms</a:t>
            </a:r>
            <a:endParaRPr lang="en-US" sz="1300" dirty="0"/>
          </a:p>
        </p:txBody>
      </p:sp>
      <p:sp>
        <p:nvSpPr>
          <p:cNvPr id="21" name="box"/>
          <p:cNvSpPr/>
          <p:nvPr/>
        </p:nvSpPr>
        <p:spPr>
          <a:xfrm>
            <a:off x="6172200" y="3246120"/>
            <a:ext cx="5440680" cy="1051560"/>
          </a:xfrm>
          <a:prstGeom prst="roundRect">
            <a:avLst>
              <a:gd name="adj" fmla="val 6957"/>
            </a:avLst>
          </a:prstGeom>
          <a:solidFill>
            <a:srgbClr val="F3EAD7"/>
          </a:solidFill>
          <a:ln w="12700">
            <a:solidFill>
              <a:srgbClr val="F3EAD7"/>
            </a:solidFill>
            <a:prstDash val="solid"/>
          </a:ln>
        </p:spPr>
      </p:sp>
      <p:sp>
        <p:nvSpPr>
          <p:cNvPr id="22" name="Text 19"/>
          <p:cNvSpPr txBox="1"/>
          <p:nvPr/>
        </p:nvSpPr>
        <p:spPr>
          <a:xfrm>
            <a:off x="6172200" y="3246120"/>
            <a:ext cx="5440680" cy="1051560"/>
          </a:xfrm>
          <a:prstGeom prst="rect">
            <a:avLst/>
          </a:prstGeom>
          <a:noFill/>
          <a:ln/>
        </p:spPr>
        <p:txBody>
          <a:bodyPr wrap="square" lIns="635" tIns="635" rIns="635" bIns="635" rtlCol="0" anchor="ctr"/>
          <a:lstStyle/>
          <a:p>
            <a:pPr algn="ctr" indent="0" marL="0">
              <a:buNone/>
            </a:pPr>
            <a:r>
              <a:rPr lang="en-US" sz="1300" b="1" dirty="0">
                <a:solidFill>
                  <a:srgbClr val="1B2430"/>
                </a:solidFill>
              </a:rPr>
              <a:t>5 min later</a:t>
            </a:r>
            <a:r>
              <a:rPr lang="en-US" sz="1300" dirty="0">
                <a:solidFill>
                  <a:srgbClr val="1B2430"/>
                </a:solidFill>
              </a:rPr>
              <a:t>: A expired (TTL 60), CNAME still cached</a:t>
            </a:r>
            <a:endParaRPr lang="en-US" sz="1300" dirty="0"/>
          </a:p>
          <a:p>
            <a:pPr algn="ctr" indent="0" marL="0">
              <a:buNone/>
            </a:pPr>
            <a:r>
              <a:rPr lang="en-US" sz="1300" b="1" dirty="0">
                <a:solidFill>
                  <a:srgbClr val="1B2430"/>
                </a:solidFill>
              </a:rPr>
              <a:t>2 + 40 = 42 ms</a:t>
            </a:r>
            <a:endParaRPr lang="en-US" sz="1300" dirty="0"/>
          </a:p>
        </p:txBody>
      </p:sp>
      <p:sp>
        <p:nvSpPr>
          <p:cNvPr id="23" name="Shape 20"/>
          <p:cNvSpPr/>
          <p:nvPr/>
        </p:nvSpPr>
        <p:spPr>
          <a:xfrm>
            <a:off x="548640" y="4590288"/>
            <a:ext cx="384048" cy="384048"/>
          </a:xfrm>
          <a:prstGeom prst="ellipse">
            <a:avLst/>
          </a:prstGeom>
          <a:solidFill>
            <a:srgbClr val="B9772A"/>
          </a:solidFill>
          <a:ln w="12700">
            <a:solidFill>
              <a:srgbClr val="B9772A"/>
            </a:solidFill>
            <a:prstDash val="solid"/>
          </a:ln>
        </p:spPr>
      </p:sp>
      <p:sp>
        <p:nvSpPr>
          <p:cNvPr id="24" name="Text 21"/>
          <p:cNvSpPr txBox="1"/>
          <p:nvPr/>
        </p:nvSpPr>
        <p:spPr>
          <a:xfrm>
            <a:off x="548640" y="4590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5" name="Text 22"/>
          <p:cNvSpPr txBox="1"/>
          <p:nvPr/>
        </p:nvSpPr>
        <p:spPr>
          <a:xfrm>
            <a:off x="1051560" y="4572000"/>
            <a:ext cx="10561320" cy="10058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Why TTL 60 for the CDN’s A record? To steer users quickly to a nearer or healthier server — at the cost of more queries.</a:t>
            </a:r>
            <a:endParaRPr lang="en-US" sz="1300" dirty="0"/>
          </a:p>
        </p:txBody>
      </p:sp>
      <p:sp>
        <p:nvSpPr>
          <p:cNvPr id="2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7" name="Text 2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 CNAME into another TLD costs a second walk down the tree on a cold cache.</a:t>
            </a:r>
            <a:endParaRPr lang="en-US" sz="1400" dirty="0"/>
          </a:p>
        </p:txBody>
      </p:sp>
      <p:sp>
        <p:nvSpPr>
          <p:cNvPr id="28" name="Text 2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CNAME (canonical name) · DNS (Domain Name System) · CDN (content distribution network) · TLD (top-level domain) · TTL (time to live)</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7 · Decoding a DNS reply byte by byte</a:t>
            </a:r>
            <a:endParaRPr lang="en-US" sz="3000" dirty="0"/>
          </a:p>
        </p:txBody>
      </p:sp>
      <p:sp>
        <p:nvSpPr>
          <p:cNvPr id="4" name="code"/>
          <p:cNvSpPr/>
          <p:nvPr/>
        </p:nvSpPr>
        <p:spPr>
          <a:xfrm>
            <a:off x="548640" y="1280160"/>
            <a:ext cx="6583680" cy="1417320"/>
          </a:xfrm>
          <a:prstGeom prst="rect">
            <a:avLst/>
          </a:prstGeom>
          <a:solidFill>
            <a:srgbClr val="1E2A38"/>
          </a:solidFill>
          <a:ln w="12700">
            <a:solidFill>
              <a:srgbClr val="1E2A38"/>
            </a:solidFill>
            <a:prstDash val="solid"/>
          </a:ln>
        </p:spPr>
      </p:sp>
      <p:sp>
        <p:nvSpPr>
          <p:cNvPr id="5" name="Text 2"/>
          <p:cNvSpPr txBox="1"/>
          <p:nvPr/>
        </p:nvSpPr>
        <p:spPr>
          <a:xfrm>
            <a:off x="548640" y="1280160"/>
            <a:ext cx="6583680" cy="1417320"/>
          </a:xfrm>
          <a:prstGeom prst="rect">
            <a:avLst/>
          </a:prstGeom>
          <a:noFill/>
          <a:ln/>
        </p:spPr>
        <p:txBody>
          <a:bodyPr wrap="square" lIns="101600" tIns="101600" rIns="101600" bIns="101600" rtlCol="0" anchor="t"/>
          <a:lstStyle/>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0000  1a 2b 81 80 00 01 00 02 00 00 00 00 03 77 77 77</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0010  07 65 78 61 6d 70 6c 65 02 72 6f 00 00 01 00 01</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0020  c0 0c 00 05 00 01 00 00 01 2c 00 06 03 77 65 62</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0030  c0 10 c0 2c 00 01 00 01 00 00 01 2c 00 04 c0 00</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0040  02 50</a:t>
            </a:r>
            <a:endParaRPr lang="en-US" sz="1200" dirty="0"/>
          </a:p>
        </p:txBody>
      </p:sp>
      <p:sp>
        <p:nvSpPr>
          <p:cNvPr id="6" name="box"/>
          <p:cNvSpPr/>
          <p:nvPr/>
        </p:nvSpPr>
        <p:spPr>
          <a:xfrm>
            <a:off x="548640" y="2880360"/>
            <a:ext cx="1645920" cy="475488"/>
          </a:xfrm>
          <a:prstGeom prst="roundRect">
            <a:avLst>
              <a:gd name="adj" fmla="val 15385"/>
            </a:avLst>
          </a:prstGeom>
          <a:solidFill>
            <a:srgbClr val="1F3A5F"/>
          </a:solidFill>
          <a:ln w="12700">
            <a:solidFill>
              <a:srgbClr val="1F3A5F"/>
            </a:solidFill>
            <a:prstDash val="solid"/>
          </a:ln>
        </p:spPr>
      </p:sp>
      <p:sp>
        <p:nvSpPr>
          <p:cNvPr id="7" name="Text 4"/>
          <p:cNvSpPr txBox="1"/>
          <p:nvPr/>
        </p:nvSpPr>
        <p:spPr>
          <a:xfrm>
            <a:off x="548640" y="2880360"/>
            <a:ext cx="1645920" cy="475488"/>
          </a:xfrm>
          <a:prstGeom prst="rect">
            <a:avLst/>
          </a:prstGeom>
          <a:noFill/>
          <a:ln/>
        </p:spPr>
        <p:txBody>
          <a:bodyPr wrap="square" lIns="635" tIns="635" rIns="635" bIns="635" rtlCol="0" anchor="ctr"/>
          <a:lstStyle/>
          <a:p>
            <a:pPr algn="ctr" indent="0" marL="0">
              <a:buNone/>
            </a:pPr>
            <a:r>
              <a:rPr lang="en-US" sz="1200" b="1" dirty="0">
                <a:solidFill>
                  <a:srgbClr val="FFFFFF"/>
                </a:solidFill>
              </a:rPr>
              <a:t>header</a:t>
            </a:r>
            <a:endParaRPr lang="en-US" sz="1200" dirty="0"/>
          </a:p>
        </p:txBody>
      </p:sp>
      <p:sp>
        <p:nvSpPr>
          <p:cNvPr id="8" name="Text 5"/>
          <p:cNvSpPr txBox="1"/>
          <p:nvPr/>
        </p:nvSpPr>
        <p:spPr>
          <a:xfrm>
            <a:off x="2331720" y="2953512"/>
            <a:ext cx="923544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ID 1a2b · flags 8180: QR=1, RD=1, RA=1, AA=0, rcode 0 · QD 1, AN 2</a:t>
            </a:r>
            <a:endParaRPr lang="en-US" sz="1200" dirty="0"/>
          </a:p>
        </p:txBody>
      </p:sp>
      <p:sp>
        <p:nvSpPr>
          <p:cNvPr id="9" name="box"/>
          <p:cNvSpPr/>
          <p:nvPr/>
        </p:nvSpPr>
        <p:spPr>
          <a:xfrm>
            <a:off x="548640" y="3447288"/>
            <a:ext cx="1645920" cy="475488"/>
          </a:xfrm>
          <a:prstGeom prst="roundRect">
            <a:avLst>
              <a:gd name="adj" fmla="val 15385"/>
            </a:avLst>
          </a:prstGeom>
          <a:solidFill>
            <a:srgbClr val="2A7F8E"/>
          </a:solidFill>
          <a:ln w="12700">
            <a:solidFill>
              <a:srgbClr val="2A7F8E"/>
            </a:solidFill>
            <a:prstDash val="solid"/>
          </a:ln>
        </p:spPr>
      </p:sp>
      <p:sp>
        <p:nvSpPr>
          <p:cNvPr id="10" name="Text 7"/>
          <p:cNvSpPr txBox="1"/>
          <p:nvPr/>
        </p:nvSpPr>
        <p:spPr>
          <a:xfrm>
            <a:off x="548640" y="3447288"/>
            <a:ext cx="1645920" cy="475488"/>
          </a:xfrm>
          <a:prstGeom prst="rect">
            <a:avLst/>
          </a:prstGeom>
          <a:noFill/>
          <a:ln/>
        </p:spPr>
        <p:txBody>
          <a:bodyPr wrap="square" lIns="635" tIns="635" rIns="635" bIns="635" rtlCol="0" anchor="ctr"/>
          <a:lstStyle/>
          <a:p>
            <a:pPr algn="ctr" indent="0" marL="0">
              <a:buNone/>
            </a:pPr>
            <a:r>
              <a:rPr lang="en-US" sz="1200" b="1" dirty="0">
                <a:solidFill>
                  <a:srgbClr val="FFFFFF"/>
                </a:solidFill>
              </a:rPr>
              <a:t>question</a:t>
            </a:r>
            <a:endParaRPr lang="en-US" sz="1200" dirty="0"/>
          </a:p>
        </p:txBody>
      </p:sp>
      <p:sp>
        <p:nvSpPr>
          <p:cNvPr id="11" name="Text 8"/>
          <p:cNvSpPr txBox="1"/>
          <p:nvPr/>
        </p:nvSpPr>
        <p:spPr>
          <a:xfrm>
            <a:off x="2331720" y="3520440"/>
            <a:ext cx="923544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www.example.ro · A · IN</a:t>
            </a:r>
            <a:endParaRPr lang="en-US" sz="1200" dirty="0"/>
          </a:p>
        </p:txBody>
      </p:sp>
      <p:sp>
        <p:nvSpPr>
          <p:cNvPr id="12" name="box"/>
          <p:cNvSpPr/>
          <p:nvPr/>
        </p:nvSpPr>
        <p:spPr>
          <a:xfrm>
            <a:off x="548640" y="4014216"/>
            <a:ext cx="1645920" cy="475488"/>
          </a:xfrm>
          <a:prstGeom prst="roundRect">
            <a:avLst>
              <a:gd name="adj" fmla="val 15385"/>
            </a:avLst>
          </a:prstGeom>
          <a:solidFill>
            <a:srgbClr val="B9772A"/>
          </a:solidFill>
          <a:ln w="12700">
            <a:solidFill>
              <a:srgbClr val="B9772A"/>
            </a:solidFill>
            <a:prstDash val="solid"/>
          </a:ln>
        </p:spPr>
      </p:sp>
      <p:sp>
        <p:nvSpPr>
          <p:cNvPr id="13" name="Text 10"/>
          <p:cNvSpPr txBox="1"/>
          <p:nvPr/>
        </p:nvSpPr>
        <p:spPr>
          <a:xfrm>
            <a:off x="548640" y="4014216"/>
            <a:ext cx="1645920" cy="475488"/>
          </a:xfrm>
          <a:prstGeom prst="rect">
            <a:avLst/>
          </a:prstGeom>
          <a:noFill/>
          <a:ln/>
        </p:spPr>
        <p:txBody>
          <a:bodyPr wrap="square" lIns="635" tIns="635" rIns="635" bIns="635" rtlCol="0" anchor="ctr"/>
          <a:lstStyle/>
          <a:p>
            <a:pPr algn="ctr" indent="0" marL="0">
              <a:buNone/>
            </a:pPr>
            <a:r>
              <a:rPr lang="en-US" sz="1200" b="1" dirty="0">
                <a:solidFill>
                  <a:srgbClr val="FFFFFF"/>
                </a:solidFill>
              </a:rPr>
              <a:t>answer 1</a:t>
            </a:r>
            <a:endParaRPr lang="en-US" sz="1200" dirty="0"/>
          </a:p>
        </p:txBody>
      </p:sp>
      <p:sp>
        <p:nvSpPr>
          <p:cNvPr id="14" name="Text 11"/>
          <p:cNvSpPr txBox="1"/>
          <p:nvPr/>
        </p:nvSpPr>
        <p:spPr>
          <a:xfrm>
            <a:off x="2331720" y="4087368"/>
            <a:ext cx="923544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c0 0c → www.example.ro · </a:t>
            </a:r>
            <a:r>
              <a:rPr lang="en-US" sz="1200" b="1" dirty="0">
                <a:solidFill>
                  <a:srgbClr val="1B2430"/>
                </a:solidFill>
              </a:rPr>
              <a:t>CNAME</a:t>
            </a:r>
            <a:r>
              <a:rPr lang="en-US" sz="1200" dirty="0">
                <a:solidFill>
                  <a:srgbClr val="1B2430"/>
                </a:solidFill>
              </a:rPr>
              <a:t> · TTL 300 · web + c0 10 → </a:t>
            </a:r>
            <a:r>
              <a:rPr lang="en-US" sz="1200" b="1" dirty="0">
                <a:solidFill>
                  <a:srgbClr val="1B2430"/>
                </a:solidFill>
              </a:rPr>
              <a:t>web.example.ro</a:t>
            </a:r>
            <a:endParaRPr lang="en-US" sz="1200" dirty="0"/>
          </a:p>
        </p:txBody>
      </p:sp>
      <p:sp>
        <p:nvSpPr>
          <p:cNvPr id="15" name="box"/>
          <p:cNvSpPr/>
          <p:nvPr/>
        </p:nvSpPr>
        <p:spPr>
          <a:xfrm>
            <a:off x="548640" y="4581144"/>
            <a:ext cx="1645920" cy="475488"/>
          </a:xfrm>
          <a:prstGeom prst="roundRect">
            <a:avLst>
              <a:gd name="adj" fmla="val 15385"/>
            </a:avLst>
          </a:prstGeom>
          <a:solidFill>
            <a:srgbClr val="2E7D4F"/>
          </a:solidFill>
          <a:ln w="12700">
            <a:solidFill>
              <a:srgbClr val="2E7D4F"/>
            </a:solidFill>
            <a:prstDash val="solid"/>
          </a:ln>
        </p:spPr>
      </p:sp>
      <p:sp>
        <p:nvSpPr>
          <p:cNvPr id="16" name="Text 13"/>
          <p:cNvSpPr txBox="1"/>
          <p:nvPr/>
        </p:nvSpPr>
        <p:spPr>
          <a:xfrm>
            <a:off x="548640" y="4581144"/>
            <a:ext cx="1645920" cy="475488"/>
          </a:xfrm>
          <a:prstGeom prst="rect">
            <a:avLst/>
          </a:prstGeom>
          <a:noFill/>
          <a:ln/>
        </p:spPr>
        <p:txBody>
          <a:bodyPr wrap="square" lIns="635" tIns="635" rIns="635" bIns="635" rtlCol="0" anchor="ctr"/>
          <a:lstStyle/>
          <a:p>
            <a:pPr algn="ctr" indent="0" marL="0">
              <a:buNone/>
            </a:pPr>
            <a:r>
              <a:rPr lang="en-US" sz="1200" b="1" dirty="0">
                <a:solidFill>
                  <a:srgbClr val="FFFFFF"/>
                </a:solidFill>
              </a:rPr>
              <a:t>answer 2</a:t>
            </a:r>
            <a:endParaRPr lang="en-US" sz="1200" dirty="0"/>
          </a:p>
        </p:txBody>
      </p:sp>
      <p:sp>
        <p:nvSpPr>
          <p:cNvPr id="17" name="Text 14"/>
          <p:cNvSpPr txBox="1"/>
          <p:nvPr/>
        </p:nvSpPr>
        <p:spPr>
          <a:xfrm>
            <a:off x="2331720" y="4654296"/>
            <a:ext cx="9235440" cy="4114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c0 2c → web.example.ro · </a:t>
            </a:r>
            <a:r>
              <a:rPr lang="en-US" sz="1200" b="1" dirty="0">
                <a:solidFill>
                  <a:srgbClr val="1B2430"/>
                </a:solidFill>
              </a:rPr>
              <a:t>A</a:t>
            </a:r>
            <a:r>
              <a:rPr lang="en-US" sz="1200" dirty="0">
                <a:solidFill>
                  <a:srgbClr val="1B2430"/>
                </a:solidFill>
              </a:rPr>
              <a:t> · TTL 300 · c0 00 02 50 = </a:t>
            </a:r>
            <a:r>
              <a:rPr lang="en-US" sz="1200" b="1" dirty="0">
                <a:solidFill>
                  <a:srgbClr val="1B2430"/>
                </a:solidFill>
              </a:rPr>
              <a:t>192.0.2.80</a:t>
            </a:r>
            <a:endParaRPr lang="en-US" sz="1200" dirty="0"/>
          </a:p>
        </p:txBody>
      </p:sp>
      <p:sp>
        <p:nvSpPr>
          <p:cNvPr id="18" name="box"/>
          <p:cNvSpPr/>
          <p:nvPr/>
        </p:nvSpPr>
        <p:spPr>
          <a:xfrm>
            <a:off x="7406640" y="1280160"/>
            <a:ext cx="4206240" cy="1417320"/>
          </a:xfrm>
          <a:prstGeom prst="roundRect">
            <a:avLst>
              <a:gd name="adj" fmla="val 5161"/>
            </a:avLst>
          </a:prstGeom>
          <a:solidFill>
            <a:srgbClr val="F3EAD7"/>
          </a:solidFill>
          <a:ln w="12700">
            <a:solidFill>
              <a:srgbClr val="F3EAD7"/>
            </a:solidFill>
            <a:prstDash val="solid"/>
          </a:ln>
        </p:spPr>
      </p:sp>
      <p:sp>
        <p:nvSpPr>
          <p:cNvPr id="19" name="Text 16"/>
          <p:cNvSpPr txBox="1"/>
          <p:nvPr/>
        </p:nvSpPr>
        <p:spPr>
          <a:xfrm>
            <a:off x="7406640" y="1280160"/>
            <a:ext cx="4206240" cy="1417320"/>
          </a:xfrm>
          <a:prstGeom prst="rect">
            <a:avLst/>
          </a:prstGeom>
          <a:noFill/>
          <a:ln/>
        </p:spPr>
        <p:txBody>
          <a:bodyPr wrap="square" lIns="635" tIns="635" rIns="635" bIns="635" rtlCol="0" anchor="ctr"/>
          <a:lstStyle/>
          <a:p>
            <a:pPr algn="ctr" indent="0" marL="0">
              <a:buNone/>
            </a:pPr>
            <a:r>
              <a:rPr lang="en-US" sz="1400" b="1" dirty="0">
                <a:solidFill>
                  <a:srgbClr val="1B2430"/>
                </a:solidFill>
              </a:rPr>
              <a:t>compression saved 38 bytes</a:t>
            </a:r>
            <a:endParaRPr lang="en-US" sz="1400" dirty="0"/>
          </a:p>
          <a:p>
            <a:pPr algn="ctr" indent="0" marL="0">
              <a:buNone/>
            </a:pPr>
            <a:r>
              <a:rPr lang="en-US" sz="1400" dirty="0">
                <a:solidFill>
                  <a:srgbClr val="1B2430"/>
                </a:solidFill>
              </a:rPr>
              <a:t>104 → 66 bytes</a:t>
            </a:r>
            <a:endParaRPr lang="en-US" sz="1400" dirty="0"/>
          </a:p>
        </p:txBody>
      </p:sp>
      <p:sp>
        <p:nvSpPr>
          <p:cNvPr id="2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1" name="Text 1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Read a DNS message with three tools: the 12-byte header, length-prefixed labels, and pointers (c0 xx).</a:t>
            </a:r>
            <a:endParaRPr lang="en-US" sz="1400" dirty="0"/>
          </a:p>
        </p:txBody>
      </p:sp>
      <p:sp>
        <p:nvSpPr>
          <p:cNvPr id="22" name="Text 19"/>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CNAME (canonical name) · DNS (Domain Name System) · TTL (time to live) · QR (query/response) · AA (authoritative answer) · RD (recursion desired) · RA (recursion available) · IN (Internet class)</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8 · Designing a small zone</a:t>
            </a:r>
            <a:endParaRPr lang="en-US" sz="3000" dirty="0"/>
          </a:p>
        </p:txBody>
      </p:sp>
      <p:sp>
        <p:nvSpPr>
          <p:cNvPr id="4" name="code"/>
          <p:cNvSpPr/>
          <p:nvPr/>
        </p:nvSpPr>
        <p:spPr>
          <a:xfrm>
            <a:off x="548640" y="1280160"/>
            <a:ext cx="6949440" cy="3291840"/>
          </a:xfrm>
          <a:prstGeom prst="rect">
            <a:avLst/>
          </a:prstGeom>
          <a:solidFill>
            <a:srgbClr val="1E2A38"/>
          </a:solidFill>
          <a:ln w="12700">
            <a:solidFill>
              <a:srgbClr val="1E2A38"/>
            </a:solidFill>
            <a:prstDash val="solid"/>
          </a:ln>
        </p:spPr>
      </p:sp>
      <p:sp>
        <p:nvSpPr>
          <p:cNvPr id="5" name="Text 2"/>
          <p:cNvSpPr txBox="1"/>
          <p:nvPr/>
        </p:nvSpPr>
        <p:spPr>
          <a:xfrm>
            <a:off x="548640" y="1280160"/>
            <a:ext cx="6949440" cy="3291840"/>
          </a:xfrm>
          <a:prstGeom prst="rect">
            <a:avLst/>
          </a:prstGeom>
          <a:noFill/>
          <a:ln/>
        </p:spPr>
        <p:txBody>
          <a:bodyPr wrap="square" lIns="101600" tIns="101600" rIns="101600" bIns="101600" rtlCol="0" anchor="t"/>
          <a:lstStyle/>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86400 IN NS    ns1.retele-lab.ro.</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86400 IN NS    ns.host.net.</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ns1  86400 IN A     193.0.2.1</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3600  IN A     193.0.2.80</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www  3600  IN CNAME retele-lab.ro.</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3600  IN MX    10 mail.retele-lab.ro.</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3600  IN MX    20 mx.host.net.</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mail 3600  IN A     193.0.2.25</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3600  IN TXT   "v=spf1 ip4:193.0.2.25 -all"</a:t>
            </a:r>
            <a:endParaRPr lang="en-US" sz="1200" dirty="0"/>
          </a:p>
        </p:txBody>
      </p:sp>
      <p:sp>
        <p:nvSpPr>
          <p:cNvPr id="6" name="Shape 3"/>
          <p:cNvSpPr/>
          <p:nvPr/>
        </p:nvSpPr>
        <p:spPr>
          <a:xfrm>
            <a:off x="7772400" y="1344168"/>
            <a:ext cx="384048" cy="384048"/>
          </a:xfrm>
          <a:prstGeom prst="ellipse">
            <a:avLst/>
          </a:prstGeom>
          <a:solidFill>
            <a:srgbClr val="B9772A"/>
          </a:solidFill>
          <a:ln w="12700">
            <a:solidFill>
              <a:srgbClr val="B9772A"/>
            </a:solidFill>
            <a:prstDash val="solid"/>
          </a:ln>
        </p:spPr>
      </p:sp>
      <p:sp>
        <p:nvSpPr>
          <p:cNvPr id="7" name="Text 4"/>
          <p:cNvSpPr txBox="1"/>
          <p:nvPr/>
        </p:nvSpPr>
        <p:spPr>
          <a:xfrm>
            <a:off x="7772400" y="1344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8275320" y="1325880"/>
            <a:ext cx="3337560" cy="10515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Apex: an A record — it cannot be a CNAME (it has NS and MX).</a:t>
            </a:r>
            <a:endParaRPr lang="en-US" sz="1200" dirty="0"/>
          </a:p>
        </p:txBody>
      </p:sp>
      <p:sp>
        <p:nvSpPr>
          <p:cNvPr id="9" name="Shape 6"/>
          <p:cNvSpPr/>
          <p:nvPr/>
        </p:nvSpPr>
        <p:spPr>
          <a:xfrm>
            <a:off x="7772400" y="2487168"/>
            <a:ext cx="384048" cy="384048"/>
          </a:xfrm>
          <a:prstGeom prst="ellipse">
            <a:avLst/>
          </a:prstGeom>
          <a:solidFill>
            <a:srgbClr val="B9772A"/>
          </a:solidFill>
          <a:ln w="12700">
            <a:solidFill>
              <a:srgbClr val="B9772A"/>
            </a:solidFill>
            <a:prstDash val="solid"/>
          </a:ln>
        </p:spPr>
      </p:sp>
      <p:sp>
        <p:nvSpPr>
          <p:cNvPr id="10" name="Text 7"/>
          <p:cNvSpPr txBox="1"/>
          <p:nvPr/>
        </p:nvSpPr>
        <p:spPr>
          <a:xfrm>
            <a:off x="7772400"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8275320" y="2468880"/>
            <a:ext cx="3337560" cy="10515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.ro publishes both NS records + </a:t>
            </a:r>
            <a:r>
              <a:rPr lang="en-US" sz="1200" b="1" dirty="0">
                <a:solidFill>
                  <a:srgbClr val="1B2430"/>
                </a:solidFill>
              </a:rPr>
              <a:t>glue</a:t>
            </a:r>
            <a:r>
              <a:rPr lang="en-US" sz="1200" dirty="0">
                <a:solidFill>
                  <a:srgbClr val="1B2430"/>
                </a:solidFill>
              </a:rPr>
              <a:t> for ns1.</a:t>
            </a:r>
            <a:endParaRPr lang="en-US" sz="1200" dirty="0"/>
          </a:p>
        </p:txBody>
      </p:sp>
      <p:sp>
        <p:nvSpPr>
          <p:cNvPr id="12" name="Shape 9"/>
          <p:cNvSpPr/>
          <p:nvPr/>
        </p:nvSpPr>
        <p:spPr>
          <a:xfrm>
            <a:off x="7772400" y="3630168"/>
            <a:ext cx="384048" cy="384048"/>
          </a:xfrm>
          <a:prstGeom prst="ellipse">
            <a:avLst/>
          </a:prstGeom>
          <a:solidFill>
            <a:srgbClr val="B9772A"/>
          </a:solidFill>
          <a:ln w="12700">
            <a:solidFill>
              <a:srgbClr val="B9772A"/>
            </a:solidFill>
            <a:prstDash val="solid"/>
          </a:ln>
        </p:spPr>
      </p:sp>
      <p:sp>
        <p:nvSpPr>
          <p:cNvPr id="13" name="Text 10"/>
          <p:cNvSpPr txBox="1"/>
          <p:nvPr/>
        </p:nvSpPr>
        <p:spPr>
          <a:xfrm>
            <a:off x="7772400" y="3630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8275320" y="3611880"/>
            <a:ext cx="3337560" cy="10515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Move next Friday: lower the A TTL to 60 s on Thursday.</a:t>
            </a:r>
            <a:endParaRPr lang="en-US" sz="1200" dirty="0"/>
          </a:p>
        </p:txBody>
      </p:sp>
      <p:sp>
        <p:nvSpPr>
          <p:cNvPr id="15" name="box"/>
          <p:cNvSpPr/>
          <p:nvPr/>
        </p:nvSpPr>
        <p:spPr>
          <a:xfrm>
            <a:off x="548640" y="4754880"/>
            <a:ext cx="11064240" cy="777240"/>
          </a:xfrm>
          <a:prstGeom prst="roundRect">
            <a:avLst>
              <a:gd name="adj" fmla="val 9412"/>
            </a:avLst>
          </a:prstGeom>
          <a:solidFill>
            <a:srgbClr val="F3EAD7"/>
          </a:solidFill>
          <a:ln w="12700">
            <a:solidFill>
              <a:srgbClr val="F3EAD7"/>
            </a:solidFill>
            <a:prstDash val="solid"/>
          </a:ln>
        </p:spPr>
      </p:sp>
      <p:sp>
        <p:nvSpPr>
          <p:cNvPr id="16" name="Text 13"/>
          <p:cNvSpPr txBox="1"/>
          <p:nvPr/>
        </p:nvSpPr>
        <p:spPr>
          <a:xfrm>
            <a:off x="548640" y="4754880"/>
            <a:ext cx="11064240" cy="777240"/>
          </a:xfrm>
          <a:prstGeom prst="rect">
            <a:avLst/>
          </a:prstGeom>
          <a:noFill/>
          <a:ln/>
        </p:spPr>
        <p:txBody>
          <a:bodyPr wrap="square" lIns="635" tIns="635" rIns="635" bIns="635" rtlCol="0" anchor="ctr"/>
          <a:lstStyle/>
          <a:p>
            <a:pPr algn="ctr" indent="0" marL="0">
              <a:buNone/>
            </a:pPr>
            <a:r>
              <a:rPr lang="en-US" sz="1300" dirty="0">
                <a:solidFill>
                  <a:srgbClr val="1B2430"/>
                </a:solidFill>
              </a:rPr>
              <a:t>SPF -all: every other sender fails the check</a:t>
            </a:r>
            <a:endParaRPr lang="en-US" sz="1300" dirty="0"/>
          </a:p>
        </p:txBody>
      </p:sp>
      <p:sp>
        <p:nvSpPr>
          <p:cNvPr id="1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8" name="Text 1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A zone is a short text file — but each line is a promise the rest of the Internet will rely on.</a:t>
            </a:r>
            <a:endParaRPr lang="en-US" sz="1400" dirty="0"/>
          </a:p>
        </p:txBody>
      </p:sp>
      <p:sp>
        <p:nvSpPr>
          <p:cNvPr id="19" name="Text 16"/>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CNAME (canonical name) · SPF (Sender Policy Framework) · TTL (time to live) · MX (mail exchanger) · NS (name server) · IN (Internet class)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9 · Filling a NAT table</a:t>
            </a:r>
            <a:endParaRPr lang="en-US" sz="3000" dirty="0"/>
          </a:p>
        </p:txBody>
      </p:sp>
      <p:sp>
        <p:nvSpPr>
          <p:cNvPr id="4" name="box"/>
          <p:cNvSpPr/>
          <p:nvPr/>
        </p:nvSpPr>
        <p:spPr>
          <a:xfrm>
            <a:off x="548640" y="1280160"/>
            <a:ext cx="502920" cy="411480"/>
          </a:xfrm>
          <a:prstGeom prst="rect">
            <a:avLst/>
          </a:prstGeom>
          <a:solidFill>
            <a:srgbClr val="1F3A5F"/>
          </a:solidFill>
          <a:ln w="12700">
            <a:solidFill>
              <a:srgbClr val="1F3A5F"/>
            </a:solidFill>
            <a:prstDash val="solid"/>
          </a:ln>
        </p:spPr>
      </p:sp>
      <p:sp>
        <p:nvSpPr>
          <p:cNvPr id="5" name="Text 2"/>
          <p:cNvSpPr txBox="1"/>
          <p:nvPr/>
        </p:nvSpPr>
        <p:spPr>
          <a:xfrm>
            <a:off x="548640" y="1280160"/>
            <a:ext cx="50292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a:t>
            </a:r>
            <a:endParaRPr lang="en-US" sz="1300" dirty="0"/>
          </a:p>
        </p:txBody>
      </p:sp>
      <p:sp>
        <p:nvSpPr>
          <p:cNvPr id="6" name="box"/>
          <p:cNvSpPr/>
          <p:nvPr/>
        </p:nvSpPr>
        <p:spPr>
          <a:xfrm>
            <a:off x="1097280" y="1280160"/>
            <a:ext cx="5074920" cy="411480"/>
          </a:xfrm>
          <a:prstGeom prst="rect">
            <a:avLst/>
          </a:prstGeom>
          <a:solidFill>
            <a:srgbClr val="1F3A5F"/>
          </a:solidFill>
          <a:ln w="12700">
            <a:solidFill>
              <a:srgbClr val="1F3A5F"/>
            </a:solidFill>
            <a:prstDash val="solid"/>
          </a:ln>
        </p:spPr>
      </p:sp>
      <p:sp>
        <p:nvSpPr>
          <p:cNvPr id="7" name="Text 4"/>
          <p:cNvSpPr txBox="1"/>
          <p:nvPr/>
        </p:nvSpPr>
        <p:spPr>
          <a:xfrm>
            <a:off x="1097280" y="1280160"/>
            <a:ext cx="507492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packet</a:t>
            </a:r>
            <a:endParaRPr lang="en-US" sz="1300" dirty="0"/>
          </a:p>
        </p:txBody>
      </p:sp>
      <p:sp>
        <p:nvSpPr>
          <p:cNvPr id="8" name="box"/>
          <p:cNvSpPr/>
          <p:nvPr/>
        </p:nvSpPr>
        <p:spPr>
          <a:xfrm>
            <a:off x="6217920" y="1280160"/>
            <a:ext cx="5349240" cy="411480"/>
          </a:xfrm>
          <a:prstGeom prst="rect">
            <a:avLst/>
          </a:prstGeom>
          <a:solidFill>
            <a:srgbClr val="1F3A5F"/>
          </a:solidFill>
          <a:ln w="12700">
            <a:solidFill>
              <a:srgbClr val="1F3A5F"/>
            </a:solidFill>
            <a:prstDash val="solid"/>
          </a:ln>
        </p:spPr>
      </p:sp>
      <p:sp>
        <p:nvSpPr>
          <p:cNvPr id="9" name="Text 6"/>
          <p:cNvSpPr txBox="1"/>
          <p:nvPr/>
        </p:nvSpPr>
        <p:spPr>
          <a:xfrm>
            <a:off x="6217920" y="1280160"/>
            <a:ext cx="53492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after translation</a:t>
            </a:r>
            <a:endParaRPr lang="en-US" sz="1300" dirty="0"/>
          </a:p>
        </p:txBody>
      </p:sp>
      <p:sp>
        <p:nvSpPr>
          <p:cNvPr id="10" name="box"/>
          <p:cNvSpPr/>
          <p:nvPr/>
        </p:nvSpPr>
        <p:spPr>
          <a:xfrm>
            <a:off x="548640" y="1737360"/>
            <a:ext cx="502920" cy="457200"/>
          </a:xfrm>
          <a:prstGeom prst="rect">
            <a:avLst/>
          </a:prstGeom>
          <a:solidFill>
            <a:srgbClr val="EEF2F6"/>
          </a:solidFill>
          <a:ln w="12700">
            <a:solidFill>
              <a:srgbClr val="EEF2F6"/>
            </a:solidFill>
            <a:prstDash val="solid"/>
          </a:ln>
        </p:spPr>
      </p:sp>
      <p:sp>
        <p:nvSpPr>
          <p:cNvPr id="11" name="Text 8"/>
          <p:cNvSpPr txBox="1"/>
          <p:nvPr/>
        </p:nvSpPr>
        <p:spPr>
          <a:xfrm>
            <a:off x="548640" y="1737360"/>
            <a:ext cx="502920" cy="457200"/>
          </a:xfrm>
          <a:prstGeom prst="rect">
            <a:avLst/>
          </a:prstGeom>
          <a:noFill/>
          <a:ln/>
        </p:spPr>
        <p:txBody>
          <a:bodyPr wrap="square" lIns="1270" tIns="1270" rIns="1270" bIns="1270" rtlCol="0" anchor="ctr"/>
          <a:lstStyle/>
          <a:p>
            <a:pPr algn="ctr" indent="0" marL="0">
              <a:buNone/>
            </a:pPr>
            <a:r>
              <a:rPr lang="en-US" sz="1200" dirty="0">
                <a:solidFill>
                  <a:srgbClr val="1B2430"/>
                </a:solidFill>
              </a:rPr>
              <a:t>1</a:t>
            </a:r>
            <a:endParaRPr lang="en-US" sz="1200" dirty="0"/>
          </a:p>
        </p:txBody>
      </p:sp>
      <p:sp>
        <p:nvSpPr>
          <p:cNvPr id="12" name="box"/>
          <p:cNvSpPr/>
          <p:nvPr/>
        </p:nvSpPr>
        <p:spPr>
          <a:xfrm>
            <a:off x="1097280" y="1737360"/>
            <a:ext cx="5074920" cy="457200"/>
          </a:xfrm>
          <a:prstGeom prst="rect">
            <a:avLst/>
          </a:prstGeom>
          <a:solidFill>
            <a:srgbClr val="F7F9FB"/>
          </a:solidFill>
          <a:ln w="12700">
            <a:solidFill>
              <a:srgbClr val="F7F9FB"/>
            </a:solidFill>
            <a:prstDash val="solid"/>
          </a:ln>
        </p:spPr>
      </p:sp>
      <p:sp>
        <p:nvSpPr>
          <p:cNvPr id="13" name="Text 10"/>
          <p:cNvSpPr txBox="1"/>
          <p:nvPr/>
        </p:nvSpPr>
        <p:spPr>
          <a:xfrm>
            <a:off x="1097280" y="1737360"/>
            <a:ext cx="507492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192.168.1.10:51000 → 142.250.1.1:443 TCP</a:t>
            </a:r>
            <a:endParaRPr lang="en-US" sz="1200" dirty="0"/>
          </a:p>
        </p:txBody>
      </p:sp>
      <p:sp>
        <p:nvSpPr>
          <p:cNvPr id="14" name="box"/>
          <p:cNvSpPr/>
          <p:nvPr/>
        </p:nvSpPr>
        <p:spPr>
          <a:xfrm>
            <a:off x="6217920" y="1737360"/>
            <a:ext cx="5349240" cy="457200"/>
          </a:xfrm>
          <a:prstGeom prst="rect">
            <a:avLst/>
          </a:prstGeom>
          <a:solidFill>
            <a:srgbClr val="D7EBDD"/>
          </a:solidFill>
          <a:ln w="12700">
            <a:solidFill>
              <a:srgbClr val="D7EBDD"/>
            </a:solidFill>
            <a:prstDash val="solid"/>
          </a:ln>
        </p:spPr>
      </p:sp>
      <p:sp>
        <p:nvSpPr>
          <p:cNvPr id="15" name="Text 12"/>
          <p:cNvSpPr txBox="1"/>
          <p:nvPr/>
        </p:nvSpPr>
        <p:spPr>
          <a:xfrm>
            <a:off x="6217920" y="1737360"/>
            <a:ext cx="534924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86.120.4.7:51000 → 142.250.1.1:443</a:t>
            </a:r>
            <a:endParaRPr lang="en-US" sz="1200" dirty="0"/>
          </a:p>
        </p:txBody>
      </p:sp>
      <p:sp>
        <p:nvSpPr>
          <p:cNvPr id="16" name="box"/>
          <p:cNvSpPr/>
          <p:nvPr/>
        </p:nvSpPr>
        <p:spPr>
          <a:xfrm>
            <a:off x="548640" y="2240280"/>
            <a:ext cx="502920" cy="457200"/>
          </a:xfrm>
          <a:prstGeom prst="rect">
            <a:avLst/>
          </a:prstGeom>
          <a:solidFill>
            <a:srgbClr val="EEF2F6"/>
          </a:solidFill>
          <a:ln w="12700">
            <a:solidFill>
              <a:srgbClr val="EEF2F6"/>
            </a:solidFill>
            <a:prstDash val="solid"/>
          </a:ln>
        </p:spPr>
      </p:sp>
      <p:sp>
        <p:nvSpPr>
          <p:cNvPr id="17" name="Text 14"/>
          <p:cNvSpPr txBox="1"/>
          <p:nvPr/>
        </p:nvSpPr>
        <p:spPr>
          <a:xfrm>
            <a:off x="548640" y="2240280"/>
            <a:ext cx="502920" cy="457200"/>
          </a:xfrm>
          <a:prstGeom prst="rect">
            <a:avLst/>
          </a:prstGeom>
          <a:noFill/>
          <a:ln/>
        </p:spPr>
        <p:txBody>
          <a:bodyPr wrap="square" lIns="1270" tIns="1270" rIns="1270" bIns="1270" rtlCol="0" anchor="ctr"/>
          <a:lstStyle/>
          <a:p>
            <a:pPr algn="ctr" indent="0" marL="0">
              <a:buNone/>
            </a:pPr>
            <a:r>
              <a:rPr lang="en-US" sz="1200" dirty="0">
                <a:solidFill>
                  <a:srgbClr val="1B2430"/>
                </a:solidFill>
              </a:rPr>
              <a:t>2</a:t>
            </a:r>
            <a:endParaRPr lang="en-US" sz="1200" dirty="0"/>
          </a:p>
        </p:txBody>
      </p:sp>
      <p:sp>
        <p:nvSpPr>
          <p:cNvPr id="18" name="box"/>
          <p:cNvSpPr/>
          <p:nvPr/>
        </p:nvSpPr>
        <p:spPr>
          <a:xfrm>
            <a:off x="1097280" y="2240280"/>
            <a:ext cx="5074920" cy="457200"/>
          </a:xfrm>
          <a:prstGeom prst="rect">
            <a:avLst/>
          </a:prstGeom>
          <a:solidFill>
            <a:srgbClr val="F7F9FB"/>
          </a:solidFill>
          <a:ln w="12700">
            <a:solidFill>
              <a:srgbClr val="F7F9FB"/>
            </a:solidFill>
            <a:prstDash val="solid"/>
          </a:ln>
        </p:spPr>
      </p:sp>
      <p:sp>
        <p:nvSpPr>
          <p:cNvPr id="19" name="Text 16"/>
          <p:cNvSpPr txBox="1"/>
          <p:nvPr/>
        </p:nvSpPr>
        <p:spPr>
          <a:xfrm>
            <a:off x="1097280" y="2240280"/>
            <a:ext cx="507492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192.168.1.11:51000 → 142.250.1.1:443 TCP</a:t>
            </a:r>
            <a:endParaRPr lang="en-US" sz="1200" dirty="0"/>
          </a:p>
        </p:txBody>
      </p:sp>
      <p:sp>
        <p:nvSpPr>
          <p:cNvPr id="20" name="box"/>
          <p:cNvSpPr/>
          <p:nvPr/>
        </p:nvSpPr>
        <p:spPr>
          <a:xfrm>
            <a:off x="6217920" y="2240280"/>
            <a:ext cx="5349240" cy="457200"/>
          </a:xfrm>
          <a:prstGeom prst="rect">
            <a:avLst/>
          </a:prstGeom>
          <a:solidFill>
            <a:srgbClr val="F3EAD7"/>
          </a:solidFill>
          <a:ln w="12700">
            <a:solidFill>
              <a:srgbClr val="F3EAD7"/>
            </a:solidFill>
            <a:prstDash val="solid"/>
          </a:ln>
        </p:spPr>
      </p:sp>
      <p:sp>
        <p:nvSpPr>
          <p:cNvPr id="21" name="Text 18"/>
          <p:cNvSpPr txBox="1"/>
          <p:nvPr/>
        </p:nvSpPr>
        <p:spPr>
          <a:xfrm>
            <a:off x="6217920" y="2240280"/>
            <a:ext cx="534924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86.120.4.7:40000 (51000 taken)</a:t>
            </a:r>
            <a:endParaRPr lang="en-US" sz="1200" dirty="0"/>
          </a:p>
        </p:txBody>
      </p:sp>
      <p:sp>
        <p:nvSpPr>
          <p:cNvPr id="22" name="box"/>
          <p:cNvSpPr/>
          <p:nvPr/>
        </p:nvSpPr>
        <p:spPr>
          <a:xfrm>
            <a:off x="548640" y="2743200"/>
            <a:ext cx="502920" cy="457200"/>
          </a:xfrm>
          <a:prstGeom prst="rect">
            <a:avLst/>
          </a:prstGeom>
          <a:solidFill>
            <a:srgbClr val="EEF2F6"/>
          </a:solidFill>
          <a:ln w="12700">
            <a:solidFill>
              <a:srgbClr val="EEF2F6"/>
            </a:solidFill>
            <a:prstDash val="solid"/>
          </a:ln>
        </p:spPr>
      </p:sp>
      <p:sp>
        <p:nvSpPr>
          <p:cNvPr id="23" name="Text 20"/>
          <p:cNvSpPr txBox="1"/>
          <p:nvPr/>
        </p:nvSpPr>
        <p:spPr>
          <a:xfrm>
            <a:off x="548640" y="2743200"/>
            <a:ext cx="502920" cy="457200"/>
          </a:xfrm>
          <a:prstGeom prst="rect">
            <a:avLst/>
          </a:prstGeom>
          <a:noFill/>
          <a:ln/>
        </p:spPr>
        <p:txBody>
          <a:bodyPr wrap="square" lIns="1270" tIns="1270" rIns="1270" bIns="1270" rtlCol="0" anchor="ctr"/>
          <a:lstStyle/>
          <a:p>
            <a:pPr algn="ctr" indent="0" marL="0">
              <a:buNone/>
            </a:pPr>
            <a:r>
              <a:rPr lang="en-US" sz="1200" dirty="0">
                <a:solidFill>
                  <a:srgbClr val="1B2430"/>
                </a:solidFill>
              </a:rPr>
              <a:t>3</a:t>
            </a:r>
            <a:endParaRPr lang="en-US" sz="1200" dirty="0"/>
          </a:p>
        </p:txBody>
      </p:sp>
      <p:sp>
        <p:nvSpPr>
          <p:cNvPr id="24" name="box"/>
          <p:cNvSpPr/>
          <p:nvPr/>
        </p:nvSpPr>
        <p:spPr>
          <a:xfrm>
            <a:off x="1097280" y="2743200"/>
            <a:ext cx="5074920" cy="457200"/>
          </a:xfrm>
          <a:prstGeom prst="rect">
            <a:avLst/>
          </a:prstGeom>
          <a:solidFill>
            <a:srgbClr val="F7F9FB"/>
          </a:solidFill>
          <a:ln w="12700">
            <a:solidFill>
              <a:srgbClr val="F7F9FB"/>
            </a:solidFill>
            <a:prstDash val="solid"/>
          </a:ln>
        </p:spPr>
      </p:sp>
      <p:sp>
        <p:nvSpPr>
          <p:cNvPr id="25" name="Text 22"/>
          <p:cNvSpPr txBox="1"/>
          <p:nvPr/>
        </p:nvSpPr>
        <p:spPr>
          <a:xfrm>
            <a:off x="1097280" y="2743200"/>
            <a:ext cx="507492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192.168.1.11:5353 → 1.1.1.1:53 UDP</a:t>
            </a:r>
            <a:endParaRPr lang="en-US" sz="1200" dirty="0"/>
          </a:p>
        </p:txBody>
      </p:sp>
      <p:sp>
        <p:nvSpPr>
          <p:cNvPr id="26" name="box"/>
          <p:cNvSpPr/>
          <p:nvPr/>
        </p:nvSpPr>
        <p:spPr>
          <a:xfrm>
            <a:off x="6217920" y="2743200"/>
            <a:ext cx="5349240" cy="457200"/>
          </a:xfrm>
          <a:prstGeom prst="rect">
            <a:avLst/>
          </a:prstGeom>
          <a:solidFill>
            <a:srgbClr val="D7EBDD"/>
          </a:solidFill>
          <a:ln w="12700">
            <a:solidFill>
              <a:srgbClr val="D7EBDD"/>
            </a:solidFill>
            <a:prstDash val="solid"/>
          </a:ln>
        </p:spPr>
      </p:sp>
      <p:sp>
        <p:nvSpPr>
          <p:cNvPr id="27" name="Text 24"/>
          <p:cNvSpPr txBox="1"/>
          <p:nvPr/>
        </p:nvSpPr>
        <p:spPr>
          <a:xfrm>
            <a:off x="6217920" y="2743200"/>
            <a:ext cx="534924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86.120.4.7:5353 (separate UDP table)</a:t>
            </a:r>
            <a:endParaRPr lang="en-US" sz="1200" dirty="0"/>
          </a:p>
        </p:txBody>
      </p:sp>
      <p:sp>
        <p:nvSpPr>
          <p:cNvPr id="28" name="box"/>
          <p:cNvSpPr/>
          <p:nvPr/>
        </p:nvSpPr>
        <p:spPr>
          <a:xfrm>
            <a:off x="548640" y="3246120"/>
            <a:ext cx="502920" cy="457200"/>
          </a:xfrm>
          <a:prstGeom prst="rect">
            <a:avLst/>
          </a:prstGeom>
          <a:solidFill>
            <a:srgbClr val="EEF2F6"/>
          </a:solidFill>
          <a:ln w="12700">
            <a:solidFill>
              <a:srgbClr val="EEF2F6"/>
            </a:solidFill>
            <a:prstDash val="solid"/>
          </a:ln>
        </p:spPr>
      </p:sp>
      <p:sp>
        <p:nvSpPr>
          <p:cNvPr id="29" name="Text 26"/>
          <p:cNvSpPr txBox="1"/>
          <p:nvPr/>
        </p:nvSpPr>
        <p:spPr>
          <a:xfrm>
            <a:off x="548640" y="3246120"/>
            <a:ext cx="502920" cy="457200"/>
          </a:xfrm>
          <a:prstGeom prst="rect">
            <a:avLst/>
          </a:prstGeom>
          <a:noFill/>
          <a:ln/>
        </p:spPr>
        <p:txBody>
          <a:bodyPr wrap="square" lIns="1270" tIns="1270" rIns="1270" bIns="1270" rtlCol="0" anchor="ctr"/>
          <a:lstStyle/>
          <a:p>
            <a:pPr algn="ctr" indent="0" marL="0">
              <a:buNone/>
            </a:pPr>
            <a:r>
              <a:rPr lang="en-US" sz="1200" dirty="0">
                <a:solidFill>
                  <a:srgbClr val="1B2430"/>
                </a:solidFill>
              </a:rPr>
              <a:t>4</a:t>
            </a:r>
            <a:endParaRPr lang="en-US" sz="1200" dirty="0"/>
          </a:p>
        </p:txBody>
      </p:sp>
      <p:sp>
        <p:nvSpPr>
          <p:cNvPr id="30" name="box"/>
          <p:cNvSpPr/>
          <p:nvPr/>
        </p:nvSpPr>
        <p:spPr>
          <a:xfrm>
            <a:off x="1097280" y="3246120"/>
            <a:ext cx="5074920" cy="457200"/>
          </a:xfrm>
          <a:prstGeom prst="rect">
            <a:avLst/>
          </a:prstGeom>
          <a:solidFill>
            <a:srgbClr val="F7F9FB"/>
          </a:solidFill>
          <a:ln w="12700">
            <a:solidFill>
              <a:srgbClr val="F7F9FB"/>
            </a:solidFill>
            <a:prstDash val="solid"/>
          </a:ln>
        </p:spPr>
      </p:sp>
      <p:sp>
        <p:nvSpPr>
          <p:cNvPr id="31" name="Text 28"/>
          <p:cNvSpPr txBox="1"/>
          <p:nvPr/>
        </p:nvSpPr>
        <p:spPr>
          <a:xfrm>
            <a:off x="1097280" y="3246120"/>
            <a:ext cx="507492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142.250.1.1:443 → 86.120.4.7:40000</a:t>
            </a:r>
            <a:endParaRPr lang="en-US" sz="1200" dirty="0"/>
          </a:p>
        </p:txBody>
      </p:sp>
      <p:sp>
        <p:nvSpPr>
          <p:cNvPr id="32" name="box"/>
          <p:cNvSpPr/>
          <p:nvPr/>
        </p:nvSpPr>
        <p:spPr>
          <a:xfrm>
            <a:off x="6217920" y="3246120"/>
            <a:ext cx="5349240" cy="457200"/>
          </a:xfrm>
          <a:prstGeom prst="rect">
            <a:avLst/>
          </a:prstGeom>
          <a:solidFill>
            <a:srgbClr val="D7EBDD"/>
          </a:solidFill>
          <a:ln w="12700">
            <a:solidFill>
              <a:srgbClr val="D7EBDD"/>
            </a:solidFill>
            <a:prstDash val="solid"/>
          </a:ln>
        </p:spPr>
      </p:sp>
      <p:sp>
        <p:nvSpPr>
          <p:cNvPr id="33" name="Text 30"/>
          <p:cNvSpPr txBox="1"/>
          <p:nvPr/>
        </p:nvSpPr>
        <p:spPr>
          <a:xfrm>
            <a:off x="6217920" y="3246120"/>
            <a:ext cx="534924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 192.168.1.11:51000</a:t>
            </a:r>
            <a:endParaRPr lang="en-US" sz="1200" dirty="0"/>
          </a:p>
        </p:txBody>
      </p:sp>
      <p:sp>
        <p:nvSpPr>
          <p:cNvPr id="34" name="box"/>
          <p:cNvSpPr/>
          <p:nvPr/>
        </p:nvSpPr>
        <p:spPr>
          <a:xfrm>
            <a:off x="548640" y="3749040"/>
            <a:ext cx="502920" cy="457200"/>
          </a:xfrm>
          <a:prstGeom prst="rect">
            <a:avLst/>
          </a:prstGeom>
          <a:solidFill>
            <a:srgbClr val="EEF2F6"/>
          </a:solidFill>
          <a:ln w="12700">
            <a:solidFill>
              <a:srgbClr val="EEF2F6"/>
            </a:solidFill>
            <a:prstDash val="solid"/>
          </a:ln>
        </p:spPr>
      </p:sp>
      <p:sp>
        <p:nvSpPr>
          <p:cNvPr id="35" name="Text 32"/>
          <p:cNvSpPr txBox="1"/>
          <p:nvPr/>
        </p:nvSpPr>
        <p:spPr>
          <a:xfrm>
            <a:off x="548640" y="3749040"/>
            <a:ext cx="502920" cy="457200"/>
          </a:xfrm>
          <a:prstGeom prst="rect">
            <a:avLst/>
          </a:prstGeom>
          <a:noFill/>
          <a:ln/>
        </p:spPr>
        <p:txBody>
          <a:bodyPr wrap="square" lIns="1270" tIns="1270" rIns="1270" bIns="1270" rtlCol="0" anchor="ctr"/>
          <a:lstStyle/>
          <a:p>
            <a:pPr algn="ctr" indent="0" marL="0">
              <a:buNone/>
            </a:pPr>
            <a:r>
              <a:rPr lang="en-US" sz="1200" dirty="0">
                <a:solidFill>
                  <a:srgbClr val="1B2430"/>
                </a:solidFill>
              </a:rPr>
              <a:t>5</a:t>
            </a:r>
            <a:endParaRPr lang="en-US" sz="1200" dirty="0"/>
          </a:p>
        </p:txBody>
      </p:sp>
      <p:sp>
        <p:nvSpPr>
          <p:cNvPr id="36" name="box"/>
          <p:cNvSpPr/>
          <p:nvPr/>
        </p:nvSpPr>
        <p:spPr>
          <a:xfrm>
            <a:off x="1097280" y="3749040"/>
            <a:ext cx="5074920" cy="457200"/>
          </a:xfrm>
          <a:prstGeom prst="rect">
            <a:avLst/>
          </a:prstGeom>
          <a:solidFill>
            <a:srgbClr val="F7F9FB"/>
          </a:solidFill>
          <a:ln w="12700">
            <a:solidFill>
              <a:srgbClr val="F7F9FB"/>
            </a:solidFill>
            <a:prstDash val="solid"/>
          </a:ln>
        </p:spPr>
      </p:sp>
      <p:sp>
        <p:nvSpPr>
          <p:cNvPr id="37" name="Text 34"/>
          <p:cNvSpPr txBox="1"/>
          <p:nvPr/>
        </p:nvSpPr>
        <p:spPr>
          <a:xfrm>
            <a:off x="1097280" y="3749040"/>
            <a:ext cx="507492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203.0.113.9:22 → 86.120.4.7:22 SYN</a:t>
            </a:r>
            <a:endParaRPr lang="en-US" sz="1200" dirty="0"/>
          </a:p>
        </p:txBody>
      </p:sp>
      <p:sp>
        <p:nvSpPr>
          <p:cNvPr id="38" name="box"/>
          <p:cNvSpPr/>
          <p:nvPr/>
        </p:nvSpPr>
        <p:spPr>
          <a:xfrm>
            <a:off x="6217920" y="3749040"/>
            <a:ext cx="5349240" cy="457200"/>
          </a:xfrm>
          <a:prstGeom prst="rect">
            <a:avLst/>
          </a:prstGeom>
          <a:solidFill>
            <a:srgbClr val="F2D6D6"/>
          </a:solidFill>
          <a:ln w="12700">
            <a:solidFill>
              <a:srgbClr val="F2D6D6"/>
            </a:solidFill>
            <a:prstDash val="solid"/>
          </a:ln>
        </p:spPr>
      </p:sp>
      <p:sp>
        <p:nvSpPr>
          <p:cNvPr id="39" name="Text 36"/>
          <p:cNvSpPr txBox="1"/>
          <p:nvPr/>
        </p:nvSpPr>
        <p:spPr>
          <a:xfrm>
            <a:off x="6217920" y="3749040"/>
            <a:ext cx="5349240" cy="457200"/>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no mapping: dropped (or RST)</a:t>
            </a:r>
            <a:endParaRPr lang="en-US" sz="1200" dirty="0"/>
          </a:p>
        </p:txBody>
      </p:sp>
      <p:sp>
        <p:nvSpPr>
          <p:cNvPr id="40" name="box"/>
          <p:cNvSpPr/>
          <p:nvPr/>
        </p:nvSpPr>
        <p:spPr>
          <a:xfrm>
            <a:off x="548640" y="4343400"/>
            <a:ext cx="11064240" cy="1188720"/>
          </a:xfrm>
          <a:prstGeom prst="roundRect">
            <a:avLst>
              <a:gd name="adj" fmla="val 6154"/>
            </a:avLst>
          </a:prstGeom>
          <a:solidFill>
            <a:srgbClr val="EEF2F6"/>
          </a:solidFill>
          <a:ln w="12700">
            <a:solidFill>
              <a:srgbClr val="EEF2F6"/>
            </a:solidFill>
            <a:prstDash val="solid"/>
          </a:ln>
        </p:spPr>
      </p:sp>
      <p:sp>
        <p:nvSpPr>
          <p:cNvPr id="41" name="Text 38"/>
          <p:cNvSpPr txBox="1"/>
          <p:nvPr/>
        </p:nvSpPr>
        <p:spPr>
          <a:xfrm>
            <a:off x="548640" y="4343400"/>
            <a:ext cx="11064240" cy="1188720"/>
          </a:xfrm>
          <a:prstGeom prst="rect">
            <a:avLst/>
          </a:prstGeom>
          <a:noFill/>
          <a:ln/>
        </p:spPr>
        <p:txBody>
          <a:bodyPr wrap="square" lIns="635" tIns="635" rIns="635" bIns="635" rtlCol="0" anchor="ctr"/>
          <a:lstStyle/>
          <a:p>
            <a:pPr algn="ctr" indent="0" marL="0">
              <a:buNone/>
            </a:pPr>
            <a:r>
              <a:rPr lang="en-US" sz="1300" b="1" dirty="0">
                <a:solidFill>
                  <a:srgbClr val="1B2430"/>
                </a:solidFill>
              </a:rPr>
              <a:t>port forward TCP 2222 → 192.168.1.10:22</a:t>
            </a:r>
            <a:endParaRPr lang="en-US" sz="1300" dirty="0"/>
          </a:p>
          <a:p>
            <a:pPr algn="ctr" indent="0" marL="0">
              <a:buNone/>
            </a:pPr>
            <a:r>
              <a:rPr lang="en-US" sz="1300" dirty="0">
                <a:solidFill>
                  <a:srgbClr val="1B2430"/>
                </a:solidFill>
              </a:rPr>
              <a:t>outside: 203.0.113.9:60000 → 86.120.4.7:2222   ·   inside: 203.0.113.9:60000 → 192.168.1.10:22</a:t>
            </a:r>
            <a:endParaRPr lang="en-US" sz="1300" dirty="0"/>
          </a:p>
        </p:txBody>
      </p:sp>
      <p:sp>
        <p:nvSpPr>
          <p:cNvPr id="4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43" name="Text 4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Outgoing packets write the table; incoming packets can only read it.</a:t>
            </a:r>
            <a:endParaRPr lang="en-US" sz="1400" dirty="0"/>
          </a:p>
        </p:txBody>
      </p:sp>
      <p:sp>
        <p:nvSpPr>
          <p:cNvPr id="44" name="Text 41"/>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TCP (Transmission Control Protocol) · UDP (User Datagram Protocol) · SYN (synchronize) · RST (reset) · NAT (network address translation)</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10 · CGNAT capacity and keepalives</a:t>
            </a:r>
            <a:endParaRPr lang="en-US" sz="3000" dirty="0"/>
          </a:p>
        </p:txBody>
      </p:sp>
      <p:sp>
        <p:nvSpPr>
          <p:cNvPr id="4" name="box"/>
          <p:cNvSpPr/>
          <p:nvPr/>
        </p:nvSpPr>
        <p:spPr>
          <a:xfrm>
            <a:off x="548640" y="1371600"/>
            <a:ext cx="3566160" cy="1188720"/>
          </a:xfrm>
          <a:prstGeom prst="roundRect">
            <a:avLst>
              <a:gd name="adj" fmla="val 6154"/>
            </a:avLst>
          </a:prstGeom>
          <a:solidFill>
            <a:srgbClr val="EEF2F6"/>
          </a:solidFill>
          <a:ln w="12700">
            <a:solidFill>
              <a:srgbClr val="EEF2F6"/>
            </a:solidFill>
            <a:prstDash val="solid"/>
          </a:ln>
        </p:spPr>
      </p:sp>
      <p:sp>
        <p:nvSpPr>
          <p:cNvPr id="5" name="Text 2"/>
          <p:cNvSpPr txBox="1"/>
          <p:nvPr/>
        </p:nvSpPr>
        <p:spPr>
          <a:xfrm>
            <a:off x="548640" y="1371600"/>
            <a:ext cx="3566160" cy="1188720"/>
          </a:xfrm>
          <a:prstGeom prst="rect">
            <a:avLst/>
          </a:prstGeom>
          <a:noFill/>
          <a:ln/>
        </p:spPr>
        <p:txBody>
          <a:bodyPr wrap="square" lIns="635" tIns="635" rIns="635" bIns="635" rtlCol="0" anchor="ctr"/>
          <a:lstStyle/>
          <a:p>
            <a:pPr algn="ctr" indent="0" marL="0">
              <a:buNone/>
            </a:pPr>
            <a:r>
              <a:rPr lang="en-US" sz="1300" b="1" dirty="0">
                <a:solidFill>
                  <a:srgbClr val="1B2430"/>
                </a:solidFill>
              </a:rPr>
              <a:t>2 048 × 64 000</a:t>
            </a:r>
            <a:endParaRPr lang="en-US" sz="1300" dirty="0"/>
          </a:p>
          <a:p>
            <a:pPr algn="ctr" indent="0" marL="0">
              <a:buNone/>
            </a:pPr>
            <a:r>
              <a:rPr lang="en-US" sz="1300" dirty="0">
                <a:solidFill>
                  <a:srgbClr val="1B2430"/>
                </a:solidFill>
              </a:rPr>
              <a:t>= 131 million ports</a:t>
            </a:r>
            <a:endParaRPr lang="en-US" sz="1300" dirty="0"/>
          </a:p>
        </p:txBody>
      </p:sp>
      <p:sp>
        <p:nvSpPr>
          <p:cNvPr id="6" name="box"/>
          <p:cNvSpPr/>
          <p:nvPr/>
        </p:nvSpPr>
        <p:spPr>
          <a:xfrm>
            <a:off x="4297680" y="1371600"/>
            <a:ext cx="3566160" cy="1188720"/>
          </a:xfrm>
          <a:prstGeom prst="roundRect">
            <a:avLst>
              <a:gd name="adj" fmla="val 6154"/>
            </a:avLst>
          </a:prstGeom>
          <a:solidFill>
            <a:srgbClr val="F3EAD7"/>
          </a:solidFill>
          <a:ln w="12700">
            <a:solidFill>
              <a:srgbClr val="F3EAD7"/>
            </a:solidFill>
            <a:prstDash val="solid"/>
          </a:ln>
        </p:spPr>
      </p:sp>
      <p:sp>
        <p:nvSpPr>
          <p:cNvPr id="7" name="Text 4"/>
          <p:cNvSpPr txBox="1"/>
          <p:nvPr/>
        </p:nvSpPr>
        <p:spPr>
          <a:xfrm>
            <a:off x="4297680" y="1371600"/>
            <a:ext cx="3566160" cy="1188720"/>
          </a:xfrm>
          <a:prstGeom prst="rect">
            <a:avLst/>
          </a:prstGeom>
          <a:noFill/>
          <a:ln/>
        </p:spPr>
        <p:txBody>
          <a:bodyPr wrap="square" lIns="635" tIns="635" rIns="635" bIns="635" rtlCol="0" anchor="ctr"/>
          <a:lstStyle/>
          <a:p>
            <a:pPr algn="ctr" indent="0" marL="0">
              <a:buNone/>
            </a:pPr>
            <a:r>
              <a:rPr lang="en-US" sz="1300" b="1" dirty="0">
                <a:solidFill>
                  <a:srgbClr val="1B2430"/>
                </a:solidFill>
              </a:rPr>
              <a:t>÷ 100 000 customers</a:t>
            </a:r>
            <a:endParaRPr lang="en-US" sz="1300" dirty="0"/>
          </a:p>
          <a:p>
            <a:pPr algn="ctr" indent="0" marL="0">
              <a:buNone/>
            </a:pPr>
            <a:r>
              <a:rPr lang="en-US" sz="1300" dirty="0">
                <a:solidFill>
                  <a:srgbClr val="1B2430"/>
                </a:solidFill>
              </a:rPr>
              <a:t>≈ </a:t>
            </a:r>
            <a:r>
              <a:rPr lang="en-US" sz="1300" b="1" dirty="0">
                <a:solidFill>
                  <a:srgbClr val="1B2430"/>
                </a:solidFill>
              </a:rPr>
              <a:t>1 310 ports each</a:t>
            </a:r>
            <a:endParaRPr lang="en-US" sz="1300" dirty="0"/>
          </a:p>
        </p:txBody>
      </p:sp>
      <p:sp>
        <p:nvSpPr>
          <p:cNvPr id="8" name="box"/>
          <p:cNvSpPr/>
          <p:nvPr/>
        </p:nvSpPr>
        <p:spPr>
          <a:xfrm>
            <a:off x="8046720" y="1371600"/>
            <a:ext cx="3566160" cy="1188720"/>
          </a:xfrm>
          <a:prstGeom prst="roundRect">
            <a:avLst>
              <a:gd name="adj" fmla="val 6154"/>
            </a:avLst>
          </a:prstGeom>
          <a:solidFill>
            <a:srgbClr val="EEF2F6"/>
          </a:solidFill>
          <a:ln w="12700">
            <a:solidFill>
              <a:srgbClr val="EEF2F6"/>
            </a:solidFill>
            <a:prstDash val="solid"/>
          </a:ln>
        </p:spPr>
      </p:sp>
      <p:sp>
        <p:nvSpPr>
          <p:cNvPr id="9" name="Text 6"/>
          <p:cNvSpPr txBox="1"/>
          <p:nvPr/>
        </p:nvSpPr>
        <p:spPr>
          <a:xfrm>
            <a:off x="8046720" y="1371600"/>
            <a:ext cx="3566160" cy="1188720"/>
          </a:xfrm>
          <a:prstGeom prst="rect">
            <a:avLst/>
          </a:prstGeom>
          <a:noFill/>
          <a:ln/>
        </p:spPr>
        <p:txBody>
          <a:bodyPr wrap="square" lIns="635" tIns="635" rIns="635" bIns="635" rtlCol="0" anchor="ctr"/>
          <a:lstStyle/>
          <a:p>
            <a:pPr algn="ctr" indent="0" marL="0">
              <a:buNone/>
            </a:pPr>
            <a:r>
              <a:rPr lang="en-US" sz="1300" b="1" dirty="0">
                <a:solidFill>
                  <a:srgbClr val="1B2430"/>
                </a:solidFill>
              </a:rPr>
              <a:t>a family</a:t>
            </a:r>
            <a:endParaRPr lang="en-US" sz="1300" dirty="0"/>
          </a:p>
          <a:p>
            <a:pPr algn="ctr" indent="0" marL="0">
              <a:buNone/>
            </a:pPr>
            <a:r>
              <a:rPr lang="en-US" sz="1300" dirty="0">
                <a:solidFill>
                  <a:srgbClr val="1B2430"/>
                </a:solidFill>
              </a:rPr>
              <a:t>browsers (20–50 connections a page), phones, games: usually enough</a:t>
            </a:r>
            <a:endParaRPr lang="en-US" sz="1300" dirty="0"/>
          </a:p>
        </p:txBody>
      </p:sp>
      <p:sp>
        <p:nvSpPr>
          <p:cNvPr id="10" name="Shape 7"/>
          <p:cNvSpPr/>
          <p:nvPr/>
        </p:nvSpPr>
        <p:spPr>
          <a:xfrm>
            <a:off x="822960" y="3657600"/>
            <a:ext cx="10424160" cy="914"/>
          </a:xfrm>
          <a:prstGeom prst="line">
            <a:avLst/>
          </a:prstGeom>
          <a:noFill/>
          <a:ln w="31750">
            <a:solidFill>
              <a:srgbClr val="1F3A5F"/>
            </a:solidFill>
            <a:prstDash val="solid"/>
            <a:tailEnd type="triangle"/>
          </a:ln>
        </p:spPr>
      </p:sp>
      <p:sp>
        <p:nvSpPr>
          <p:cNvPr id="11" name="box"/>
          <p:cNvSpPr/>
          <p:nvPr/>
        </p:nvSpPr>
        <p:spPr>
          <a:xfrm>
            <a:off x="822960" y="3063240"/>
            <a:ext cx="801858" cy="457200"/>
          </a:xfrm>
          <a:prstGeom prst="rect">
            <a:avLst/>
          </a:prstGeom>
          <a:solidFill>
            <a:srgbClr val="A23B3B"/>
          </a:solidFill>
          <a:ln w="12700">
            <a:solidFill>
              <a:srgbClr val="A23B3B"/>
            </a:solidFill>
            <a:prstDash val="solid"/>
          </a:ln>
        </p:spPr>
      </p:sp>
      <p:sp>
        <p:nvSpPr>
          <p:cNvPr id="12" name="Text 9"/>
          <p:cNvSpPr txBox="1"/>
          <p:nvPr/>
        </p:nvSpPr>
        <p:spPr>
          <a:xfrm>
            <a:off x="822960" y="3063240"/>
            <a:ext cx="801858" cy="457200"/>
          </a:xfrm>
          <a:prstGeom prst="rect">
            <a:avLst/>
          </a:prstGeom>
          <a:noFill/>
          <a:ln/>
        </p:spPr>
        <p:txBody>
          <a:bodyPr wrap="square" lIns="635" tIns="635" rIns="635" bIns="635" rtlCol="0" anchor="ctr"/>
          <a:lstStyle/>
          <a:p>
            <a:pPr algn="ctr" indent="0" marL="0">
              <a:buNone/>
            </a:pPr>
            <a:r>
              <a:rPr lang="en-US" sz="1100" dirty="0">
                <a:solidFill>
                  <a:srgbClr val="FFFFFF"/>
                </a:solidFill>
              </a:rPr>
              <a:t>10 min</a:t>
            </a:r>
            <a:endParaRPr lang="en-US" sz="1100" dirty="0"/>
          </a:p>
        </p:txBody>
      </p:sp>
      <p:sp>
        <p:nvSpPr>
          <p:cNvPr id="13" name="box"/>
          <p:cNvSpPr/>
          <p:nvPr/>
        </p:nvSpPr>
        <p:spPr>
          <a:xfrm>
            <a:off x="822960" y="3794760"/>
            <a:ext cx="9622302" cy="457200"/>
          </a:xfrm>
          <a:prstGeom prst="rect">
            <a:avLst/>
          </a:prstGeom>
          <a:solidFill>
            <a:srgbClr val="B9772A"/>
          </a:solidFill>
          <a:ln w="12700">
            <a:solidFill>
              <a:srgbClr val="B9772A"/>
            </a:solidFill>
            <a:prstDash val="solid"/>
          </a:ln>
        </p:spPr>
      </p:sp>
      <p:sp>
        <p:nvSpPr>
          <p:cNvPr id="14" name="Text 11"/>
          <p:cNvSpPr txBox="1"/>
          <p:nvPr/>
        </p:nvSpPr>
        <p:spPr>
          <a:xfrm>
            <a:off x="822960" y="3794760"/>
            <a:ext cx="9622302" cy="457200"/>
          </a:xfrm>
          <a:prstGeom prst="rect">
            <a:avLst/>
          </a:prstGeom>
          <a:noFill/>
          <a:ln/>
        </p:spPr>
        <p:txBody>
          <a:bodyPr wrap="square" lIns="635" tIns="635" rIns="635" bIns="635" rtlCol="0" anchor="ctr"/>
          <a:lstStyle/>
          <a:p>
            <a:pPr algn="ctr" indent="0" marL="0">
              <a:buNone/>
            </a:pPr>
            <a:r>
              <a:rPr lang="en-US" sz="1100" dirty="0">
                <a:solidFill>
                  <a:srgbClr val="FFFFFF"/>
                </a:solidFill>
              </a:rPr>
              <a:t>home router: 2 h idle TCP</a:t>
            </a:r>
            <a:endParaRPr lang="en-US" sz="1100" dirty="0"/>
          </a:p>
        </p:txBody>
      </p:sp>
      <p:sp>
        <p:nvSpPr>
          <p:cNvPr id="15" name="Text 12"/>
          <p:cNvSpPr txBox="1"/>
          <p:nvPr/>
        </p:nvSpPr>
        <p:spPr>
          <a:xfrm>
            <a:off x="1828800" y="3108960"/>
            <a:ext cx="9144000" cy="411480"/>
          </a:xfrm>
          <a:prstGeom prst="rect">
            <a:avLst/>
          </a:prstGeom>
          <a:noFill/>
          <a:ln/>
        </p:spPr>
        <p:txBody>
          <a:bodyPr wrap="square" lIns="0" tIns="0" rIns="0" bIns="0" rtlCol="0" anchor="t"/>
          <a:lstStyle/>
          <a:p>
            <a:pPr algn="l" indent="0" marL="0">
              <a:spcAft>
                <a:spcPts val="400"/>
              </a:spcAft>
              <a:buNone/>
            </a:pPr>
            <a:r>
              <a:rPr lang="en-US" sz="1200" dirty="0">
                <a:solidFill>
                  <a:srgbClr val="2E7D4F"/>
                </a:solidFill>
              </a:rPr>
              <a:t>← keepalive every 5–9 minutes, below the shortest timeout on the path</a:t>
            </a:r>
            <a:endParaRPr lang="en-US" sz="1200" dirty="0"/>
          </a:p>
        </p:txBody>
      </p:sp>
      <p:sp>
        <p:nvSpPr>
          <p:cNvPr id="16" name="Shape 13"/>
          <p:cNvSpPr/>
          <p:nvPr/>
        </p:nvSpPr>
        <p:spPr>
          <a:xfrm>
            <a:off x="548640" y="4590288"/>
            <a:ext cx="384048" cy="384048"/>
          </a:xfrm>
          <a:prstGeom prst="ellipse">
            <a:avLst/>
          </a:prstGeom>
          <a:solidFill>
            <a:srgbClr val="B9772A"/>
          </a:solidFill>
          <a:ln w="12700">
            <a:solidFill>
              <a:srgbClr val="B9772A"/>
            </a:solidFill>
            <a:prstDash val="solid"/>
          </a:ln>
        </p:spPr>
      </p:sp>
      <p:sp>
        <p:nvSpPr>
          <p:cNvPr id="17" name="Text 14"/>
          <p:cNvSpPr txBox="1"/>
          <p:nvPr/>
        </p:nvSpPr>
        <p:spPr>
          <a:xfrm>
            <a:off x="548640" y="4590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8" name="Text 15"/>
          <p:cNvSpPr txBox="1"/>
          <p:nvPr/>
        </p:nvSpPr>
        <p:spPr>
          <a:xfrm>
            <a:off x="1051560" y="4572000"/>
            <a:ext cx="10561320" cy="10058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 CGNAT customer cannot forward ports at all: the mapping lives on the ISP’s NAT. Options: a public IPv4 address, IPv6, or a relay.</a:t>
            </a:r>
            <a:endParaRPr lang="en-US" sz="1300" dirty="0"/>
          </a:p>
        </p:txBody>
      </p:sp>
      <p:sp>
        <p:nvSpPr>
          <p:cNvPr id="19"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0" name="Text 17"/>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The shortest timeout on the path sets the keepalive interval for every long-lived connection.</a:t>
            </a:r>
            <a:endParaRPr lang="en-US" sz="1400" dirty="0"/>
          </a:p>
        </p:txBody>
      </p:sp>
      <p:sp>
        <p:nvSpPr>
          <p:cNvPr id="21" name="Text 18"/>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CGNAT (carrier-grade NAT) · IPv4 (Internet Protocol version 4) · IPv6 (Internet Protocol version 6) · TCP (Transmission Control Protocol) · NAT (network address translation) · ISP (Internet service provider)</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11 · A video call between two NATs</a:t>
            </a:r>
            <a:endParaRPr lang="en-US" sz="3000" dirty="0"/>
          </a:p>
        </p:txBody>
      </p:sp>
      <p:sp>
        <p:nvSpPr>
          <p:cNvPr id="4" name="box"/>
          <p:cNvSpPr/>
          <p:nvPr/>
        </p:nvSpPr>
        <p:spPr>
          <a:xfrm>
            <a:off x="548640" y="1325880"/>
            <a:ext cx="2560320" cy="777240"/>
          </a:xfrm>
          <a:prstGeom prst="roundRect">
            <a:avLst>
              <a:gd name="adj" fmla="val 9412"/>
            </a:avLst>
          </a:prstGeom>
          <a:solidFill>
            <a:srgbClr val="2A7F8E"/>
          </a:solidFill>
          <a:ln w="12700">
            <a:solidFill>
              <a:srgbClr val="2A7F8E"/>
            </a:solidFill>
            <a:prstDash val="solid"/>
          </a:ln>
        </p:spPr>
      </p:sp>
      <p:sp>
        <p:nvSpPr>
          <p:cNvPr id="5" name="Text 2"/>
          <p:cNvSpPr txBox="1"/>
          <p:nvPr/>
        </p:nvSpPr>
        <p:spPr>
          <a:xfrm>
            <a:off x="548640" y="1325880"/>
            <a:ext cx="2560320" cy="777240"/>
          </a:xfrm>
          <a:prstGeom prst="rect">
            <a:avLst/>
          </a:prstGeom>
          <a:noFill/>
          <a:ln/>
        </p:spPr>
        <p:txBody>
          <a:bodyPr wrap="square" lIns="635" tIns="635" rIns="635" bIns="635" rtlCol="0" anchor="ctr"/>
          <a:lstStyle/>
          <a:p>
            <a:pPr algn="ctr" indent="0" marL="0">
              <a:buNone/>
            </a:pPr>
            <a:r>
              <a:rPr lang="en-US" sz="1400" b="1" dirty="0">
                <a:solidFill>
                  <a:srgbClr val="FFFFFF"/>
                </a:solidFill>
              </a:rPr>
              <a:t>1 · STUN</a:t>
            </a:r>
            <a:endParaRPr lang="en-US" sz="1400" dirty="0"/>
          </a:p>
        </p:txBody>
      </p:sp>
      <p:sp>
        <p:nvSpPr>
          <p:cNvPr id="6" name="Text 3"/>
          <p:cNvSpPr txBox="1"/>
          <p:nvPr/>
        </p:nvSpPr>
        <p:spPr>
          <a:xfrm>
            <a:off x="3291840" y="1508760"/>
            <a:ext cx="8321040" cy="548640"/>
          </a:xfrm>
          <a:prstGeom prst="rect">
            <a:avLst/>
          </a:prstGeom>
          <a:noFill/>
          <a:ln/>
        </p:spPr>
        <p:txBody>
          <a:bodyPr wrap="square" lIns="0" tIns="0" rIns="0" bIns="0" rtlCol="0" anchor="t"/>
          <a:lstStyle/>
          <a:p>
            <a:pPr algn="l" indent="0" marL="0">
              <a:spcAft>
                <a:spcPts val="400"/>
              </a:spcAft>
              <a:buNone/>
            </a:pPr>
            <a:r>
              <a:rPr lang="en-US" sz="1400" dirty="0">
                <a:solidFill>
                  <a:srgbClr val="1B2430"/>
                </a:solidFill>
              </a:rPr>
              <a:t>each learns its public address and port</a:t>
            </a:r>
            <a:endParaRPr lang="en-US" sz="1400" dirty="0"/>
          </a:p>
        </p:txBody>
      </p:sp>
      <p:sp>
        <p:nvSpPr>
          <p:cNvPr id="7" name="box"/>
          <p:cNvSpPr/>
          <p:nvPr/>
        </p:nvSpPr>
        <p:spPr>
          <a:xfrm>
            <a:off x="548640" y="2240280"/>
            <a:ext cx="2560320" cy="777240"/>
          </a:xfrm>
          <a:prstGeom prst="roundRect">
            <a:avLst>
              <a:gd name="adj" fmla="val 9412"/>
            </a:avLst>
          </a:prstGeom>
          <a:solidFill>
            <a:srgbClr val="5B6770"/>
          </a:solidFill>
          <a:ln w="12700">
            <a:solidFill>
              <a:srgbClr val="5B6770"/>
            </a:solidFill>
            <a:prstDash val="solid"/>
          </a:ln>
        </p:spPr>
      </p:sp>
      <p:sp>
        <p:nvSpPr>
          <p:cNvPr id="8" name="Text 5"/>
          <p:cNvSpPr txBox="1"/>
          <p:nvPr/>
        </p:nvSpPr>
        <p:spPr>
          <a:xfrm>
            <a:off x="548640" y="2240280"/>
            <a:ext cx="2560320" cy="777240"/>
          </a:xfrm>
          <a:prstGeom prst="rect">
            <a:avLst/>
          </a:prstGeom>
          <a:noFill/>
          <a:ln/>
        </p:spPr>
        <p:txBody>
          <a:bodyPr wrap="square" lIns="635" tIns="635" rIns="635" bIns="635" rtlCol="0" anchor="ctr"/>
          <a:lstStyle/>
          <a:p>
            <a:pPr algn="ctr" indent="0" marL="0">
              <a:buNone/>
            </a:pPr>
            <a:r>
              <a:rPr lang="en-US" sz="1400" b="1" dirty="0">
                <a:solidFill>
                  <a:srgbClr val="FFFFFF"/>
                </a:solidFill>
              </a:rPr>
              <a:t>2 · signalling</a:t>
            </a:r>
            <a:endParaRPr lang="en-US" sz="1400" dirty="0"/>
          </a:p>
        </p:txBody>
      </p:sp>
      <p:sp>
        <p:nvSpPr>
          <p:cNvPr id="9" name="Text 6"/>
          <p:cNvSpPr txBox="1"/>
          <p:nvPr/>
        </p:nvSpPr>
        <p:spPr>
          <a:xfrm>
            <a:off x="3291840" y="2423160"/>
            <a:ext cx="8321040" cy="548640"/>
          </a:xfrm>
          <a:prstGeom prst="rect">
            <a:avLst/>
          </a:prstGeom>
          <a:noFill/>
          <a:ln/>
        </p:spPr>
        <p:txBody>
          <a:bodyPr wrap="square" lIns="0" tIns="0" rIns="0" bIns="0" rtlCol="0" anchor="t"/>
          <a:lstStyle/>
          <a:p>
            <a:pPr algn="l" indent="0" marL="0">
              <a:spcAft>
                <a:spcPts val="400"/>
              </a:spcAft>
              <a:buNone/>
            </a:pPr>
            <a:r>
              <a:rPr lang="en-US" sz="1400" dirty="0">
                <a:solidFill>
                  <a:srgbClr val="1B2430"/>
                </a:solidFill>
              </a:rPr>
              <a:t>they exchange them through the app’s server</a:t>
            </a:r>
            <a:endParaRPr lang="en-US" sz="1400" dirty="0"/>
          </a:p>
        </p:txBody>
      </p:sp>
      <p:sp>
        <p:nvSpPr>
          <p:cNvPr id="10" name="box"/>
          <p:cNvSpPr/>
          <p:nvPr/>
        </p:nvSpPr>
        <p:spPr>
          <a:xfrm>
            <a:off x="548640" y="3154680"/>
            <a:ext cx="2560320" cy="777240"/>
          </a:xfrm>
          <a:prstGeom prst="roundRect">
            <a:avLst>
              <a:gd name="adj" fmla="val 9412"/>
            </a:avLst>
          </a:prstGeom>
          <a:solidFill>
            <a:srgbClr val="2E7D4F"/>
          </a:solidFill>
          <a:ln w="12700">
            <a:solidFill>
              <a:srgbClr val="2E7D4F"/>
            </a:solidFill>
            <a:prstDash val="solid"/>
          </a:ln>
        </p:spPr>
      </p:sp>
      <p:sp>
        <p:nvSpPr>
          <p:cNvPr id="11" name="Text 8"/>
          <p:cNvSpPr txBox="1"/>
          <p:nvPr/>
        </p:nvSpPr>
        <p:spPr>
          <a:xfrm>
            <a:off x="548640" y="3154680"/>
            <a:ext cx="2560320" cy="777240"/>
          </a:xfrm>
          <a:prstGeom prst="rect">
            <a:avLst/>
          </a:prstGeom>
          <a:noFill/>
          <a:ln/>
        </p:spPr>
        <p:txBody>
          <a:bodyPr wrap="square" lIns="635" tIns="635" rIns="635" bIns="635" rtlCol="0" anchor="ctr"/>
          <a:lstStyle/>
          <a:p>
            <a:pPr algn="ctr" indent="0" marL="0">
              <a:buNone/>
            </a:pPr>
            <a:r>
              <a:rPr lang="en-US" sz="1400" b="1" dirty="0">
                <a:solidFill>
                  <a:srgbClr val="FFFFFF"/>
                </a:solidFill>
              </a:rPr>
              <a:t>3 · hole punching</a:t>
            </a:r>
            <a:endParaRPr lang="en-US" sz="1400" dirty="0"/>
          </a:p>
        </p:txBody>
      </p:sp>
      <p:sp>
        <p:nvSpPr>
          <p:cNvPr id="12" name="Text 9"/>
          <p:cNvSpPr txBox="1"/>
          <p:nvPr/>
        </p:nvSpPr>
        <p:spPr>
          <a:xfrm>
            <a:off x="3291840" y="3337560"/>
            <a:ext cx="8321040" cy="548640"/>
          </a:xfrm>
          <a:prstGeom prst="rect">
            <a:avLst/>
          </a:prstGeom>
          <a:noFill/>
          <a:ln/>
        </p:spPr>
        <p:txBody>
          <a:bodyPr wrap="square" lIns="0" tIns="0" rIns="0" bIns="0" rtlCol="0" anchor="t"/>
          <a:lstStyle/>
          <a:p>
            <a:pPr algn="l" indent="0" marL="0">
              <a:spcAft>
                <a:spcPts val="400"/>
              </a:spcAft>
              <a:buNone/>
            </a:pPr>
            <a:r>
              <a:rPr lang="en-US" sz="1400" dirty="0">
                <a:solidFill>
                  <a:srgbClr val="1B2430"/>
                </a:solidFill>
              </a:rPr>
              <a:t>both send to each other at once: each outgoing packet opens its own NAT</a:t>
            </a:r>
            <a:endParaRPr lang="en-US" sz="1400" dirty="0"/>
          </a:p>
        </p:txBody>
      </p:sp>
      <p:sp>
        <p:nvSpPr>
          <p:cNvPr id="13" name="box"/>
          <p:cNvSpPr/>
          <p:nvPr/>
        </p:nvSpPr>
        <p:spPr>
          <a:xfrm>
            <a:off x="548640" y="4069080"/>
            <a:ext cx="2560320" cy="777240"/>
          </a:xfrm>
          <a:prstGeom prst="roundRect">
            <a:avLst>
              <a:gd name="adj" fmla="val 9412"/>
            </a:avLst>
          </a:prstGeom>
          <a:solidFill>
            <a:srgbClr val="A23B3B"/>
          </a:solidFill>
          <a:ln w="12700">
            <a:solidFill>
              <a:srgbClr val="A23B3B"/>
            </a:solidFill>
            <a:prstDash val="solid"/>
          </a:ln>
        </p:spPr>
      </p:sp>
      <p:sp>
        <p:nvSpPr>
          <p:cNvPr id="14" name="Text 11"/>
          <p:cNvSpPr txBox="1"/>
          <p:nvPr/>
        </p:nvSpPr>
        <p:spPr>
          <a:xfrm>
            <a:off x="548640" y="4069080"/>
            <a:ext cx="2560320" cy="777240"/>
          </a:xfrm>
          <a:prstGeom prst="rect">
            <a:avLst/>
          </a:prstGeom>
          <a:noFill/>
          <a:ln/>
        </p:spPr>
        <p:txBody>
          <a:bodyPr wrap="square" lIns="635" tIns="635" rIns="635" bIns="635" rtlCol="0" anchor="ctr"/>
          <a:lstStyle/>
          <a:p>
            <a:pPr algn="ctr" indent="0" marL="0">
              <a:buNone/>
            </a:pPr>
            <a:r>
              <a:rPr lang="en-US" sz="1400" b="1" dirty="0">
                <a:solidFill>
                  <a:srgbClr val="FFFFFF"/>
                </a:solidFill>
              </a:rPr>
              <a:t>4 · TURN</a:t>
            </a:r>
            <a:endParaRPr lang="en-US" sz="1400" dirty="0"/>
          </a:p>
        </p:txBody>
      </p:sp>
      <p:sp>
        <p:nvSpPr>
          <p:cNvPr id="15" name="Text 12"/>
          <p:cNvSpPr txBox="1"/>
          <p:nvPr/>
        </p:nvSpPr>
        <p:spPr>
          <a:xfrm>
            <a:off x="3291840" y="4251960"/>
            <a:ext cx="8321040" cy="548640"/>
          </a:xfrm>
          <a:prstGeom prst="rect">
            <a:avLst/>
          </a:prstGeom>
          <a:noFill/>
          <a:ln/>
        </p:spPr>
        <p:txBody>
          <a:bodyPr wrap="square" lIns="0" tIns="0" rIns="0" bIns="0" rtlCol="0" anchor="t"/>
          <a:lstStyle/>
          <a:p>
            <a:pPr algn="l" indent="0" marL="0">
              <a:spcAft>
                <a:spcPts val="400"/>
              </a:spcAft>
              <a:buNone/>
            </a:pPr>
            <a:r>
              <a:rPr lang="en-US" sz="1400" dirty="0">
                <a:solidFill>
                  <a:srgbClr val="1B2430"/>
                </a:solidFill>
              </a:rPr>
              <a:t>symmetric NAT or UDP blocked → a relay carries all media</a:t>
            </a:r>
            <a:endParaRPr lang="en-US" sz="1400" dirty="0"/>
          </a:p>
        </p:txBody>
      </p:sp>
      <p:sp>
        <p:nvSpPr>
          <p:cNvPr id="16" name="box"/>
          <p:cNvSpPr/>
          <p:nvPr/>
        </p:nvSpPr>
        <p:spPr>
          <a:xfrm>
            <a:off x="548640" y="5029200"/>
            <a:ext cx="11064240" cy="548640"/>
          </a:xfrm>
          <a:prstGeom prst="roundRect">
            <a:avLst>
              <a:gd name="adj" fmla="val 13333"/>
            </a:avLst>
          </a:prstGeom>
          <a:solidFill>
            <a:srgbClr val="F3EAD7"/>
          </a:solidFill>
          <a:ln w="12700">
            <a:solidFill>
              <a:srgbClr val="F3EAD7"/>
            </a:solidFill>
            <a:prstDash val="solid"/>
          </a:ln>
        </p:spPr>
      </p:sp>
      <p:sp>
        <p:nvSpPr>
          <p:cNvPr id="17" name="Text 14"/>
          <p:cNvSpPr txBox="1"/>
          <p:nvPr/>
        </p:nvSpPr>
        <p:spPr>
          <a:xfrm>
            <a:off x="548640" y="5029200"/>
            <a:ext cx="11064240" cy="548640"/>
          </a:xfrm>
          <a:prstGeom prst="rect">
            <a:avLst/>
          </a:prstGeom>
          <a:noFill/>
          <a:ln/>
        </p:spPr>
        <p:txBody>
          <a:bodyPr wrap="square" lIns="635" tIns="635" rIns="635" bIns="635" rtlCol="0" anchor="ctr"/>
          <a:lstStyle/>
          <a:p>
            <a:pPr algn="ctr" indent="0" marL="0">
              <a:buNone/>
            </a:pPr>
            <a:r>
              <a:rPr lang="en-US" sz="1300" dirty="0">
                <a:solidFill>
                  <a:srgbClr val="1B2430"/>
                </a:solidFill>
              </a:rPr>
              <a:t>works when the NATs are </a:t>
            </a:r>
            <a:r>
              <a:rPr lang="en-US" sz="1300" b="1" dirty="0">
                <a:solidFill>
                  <a:srgbClr val="1B2430"/>
                </a:solidFill>
              </a:rPr>
              <a:t>endpoint-independent</a:t>
            </a:r>
            <a:r>
              <a:rPr lang="en-US" sz="1300" dirty="0">
                <a:solidFill>
                  <a:srgbClr val="1B2430"/>
                </a:solidFill>
              </a:rPr>
              <a:t> (RFC 4787): same public port whatever the destination</a:t>
            </a:r>
            <a:endParaRPr lang="en-US" sz="1300" dirty="0"/>
          </a:p>
        </p:txBody>
      </p:sp>
      <p:sp>
        <p:nvSpPr>
          <p:cNvPr id="1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9" name="Text 1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ICE tries direct candidates first and falls back to TURN: delay and the relay’s bandwidth are the price.</a:t>
            </a:r>
            <a:endParaRPr lang="en-US" sz="1400" dirty="0"/>
          </a:p>
        </p:txBody>
      </p:sp>
      <p:sp>
        <p:nvSpPr>
          <p:cNvPr id="20" name="Text 17"/>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STUN (Session Traversal Utilities for NAT) · TURN (Traversal Using Relays around NAT) · UDP (User Datagram Protocol) · RFC (Request for Comments) · NAT (network address translation) · ICE (Interactive Connectivity Establishment)</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Homework</a:t>
            </a:r>
            <a:endParaRPr lang="en-US" sz="3000" dirty="0"/>
          </a:p>
        </p:txBody>
      </p:sp>
      <p:sp>
        <p:nvSpPr>
          <p:cNvPr id="4" name="Shape 1"/>
          <p:cNvSpPr/>
          <p:nvPr/>
        </p:nvSpPr>
        <p:spPr>
          <a:xfrm>
            <a:off x="640080" y="1527048"/>
            <a:ext cx="384048" cy="384048"/>
          </a:xfrm>
          <a:prstGeom prst="ellipse">
            <a:avLst/>
          </a:prstGeom>
          <a:solidFill>
            <a:srgbClr val="2A7F8E"/>
          </a:solidFill>
          <a:ln w="12700">
            <a:solidFill>
              <a:srgbClr val="2A7F8E"/>
            </a:solidFill>
            <a:prstDash val="solid"/>
          </a:ln>
        </p:spPr>
      </p:sp>
      <p:sp>
        <p:nvSpPr>
          <p:cNvPr id="5" name="Text 2"/>
          <p:cNvSpPr txBox="1"/>
          <p:nvPr/>
        </p:nvSpPr>
        <p:spPr>
          <a:xfrm>
            <a:off x="640080" y="1527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box"/>
          <p:cNvSpPr/>
          <p:nvPr/>
        </p:nvSpPr>
        <p:spPr>
          <a:xfrm>
            <a:off x="1280160" y="1325880"/>
            <a:ext cx="10332720" cy="914400"/>
          </a:xfrm>
          <a:prstGeom prst="roundRect">
            <a:avLst>
              <a:gd name="adj" fmla="val 8000"/>
            </a:avLst>
          </a:prstGeom>
          <a:solidFill>
            <a:srgbClr val="EEF2F6"/>
          </a:solidFill>
          <a:ln w="12700">
            <a:solidFill>
              <a:srgbClr val="EEF2F6"/>
            </a:solidFill>
            <a:prstDash val="solid"/>
          </a:ln>
        </p:spPr>
      </p:sp>
      <p:sp>
        <p:nvSpPr>
          <p:cNvPr id="7" name="Text 4"/>
          <p:cNvSpPr txBox="1"/>
          <p:nvPr/>
        </p:nvSpPr>
        <p:spPr>
          <a:xfrm>
            <a:off x="1280160" y="1325880"/>
            <a:ext cx="10332720" cy="914400"/>
          </a:xfrm>
          <a:prstGeom prst="rect">
            <a:avLst/>
          </a:prstGeom>
          <a:noFill/>
          <a:ln/>
        </p:spPr>
        <p:txBody>
          <a:bodyPr wrap="square" lIns="152400" tIns="152400" rIns="152400" bIns="152400" rtlCol="0" anchor="ctr"/>
          <a:lstStyle/>
          <a:p>
            <a:pPr algn="l" indent="0" marL="0">
              <a:buNone/>
            </a:pPr>
            <a:r>
              <a:rPr lang="en-US" sz="1400" dirty="0">
                <a:solidFill>
                  <a:srgbClr val="1B2430"/>
                </a:solidFill>
              </a:rPr>
              <a:t>In your own mailbox (Gmail: ⋮ → Show original) copy the Received fields and Authentication-Results; draw the path and who checked SPF, DKIM, DMARC.</a:t>
            </a:r>
            <a:endParaRPr lang="en-US" sz="1400" dirty="0"/>
          </a:p>
        </p:txBody>
      </p:sp>
      <p:sp>
        <p:nvSpPr>
          <p:cNvPr id="8" name="Shape 5"/>
          <p:cNvSpPr/>
          <p:nvPr/>
        </p:nvSpPr>
        <p:spPr>
          <a:xfrm>
            <a:off x="640080" y="2606040"/>
            <a:ext cx="384048" cy="384048"/>
          </a:xfrm>
          <a:prstGeom prst="ellipse">
            <a:avLst/>
          </a:prstGeom>
          <a:solidFill>
            <a:srgbClr val="2A7F8E"/>
          </a:solidFill>
          <a:ln w="12700">
            <a:solidFill>
              <a:srgbClr val="2A7F8E"/>
            </a:solidFill>
            <a:prstDash val="solid"/>
          </a:ln>
        </p:spPr>
      </p:sp>
      <p:sp>
        <p:nvSpPr>
          <p:cNvPr id="9" name="Text 6"/>
          <p:cNvSpPr txBox="1"/>
          <p:nvPr/>
        </p:nvSpPr>
        <p:spPr>
          <a:xfrm>
            <a:off x="640080" y="2606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box"/>
          <p:cNvSpPr/>
          <p:nvPr/>
        </p:nvSpPr>
        <p:spPr>
          <a:xfrm>
            <a:off x="1280160" y="2404872"/>
            <a:ext cx="10332720" cy="914400"/>
          </a:xfrm>
          <a:prstGeom prst="roundRect">
            <a:avLst>
              <a:gd name="adj" fmla="val 8000"/>
            </a:avLst>
          </a:prstGeom>
          <a:solidFill>
            <a:srgbClr val="EEF2F6"/>
          </a:solidFill>
          <a:ln w="12700">
            <a:solidFill>
              <a:srgbClr val="EEF2F6"/>
            </a:solidFill>
            <a:prstDash val="solid"/>
          </a:ln>
        </p:spPr>
      </p:sp>
      <p:sp>
        <p:nvSpPr>
          <p:cNvPr id="11" name="Text 8"/>
          <p:cNvSpPr txBox="1"/>
          <p:nvPr/>
        </p:nvSpPr>
        <p:spPr>
          <a:xfrm>
            <a:off x="1280160" y="2404872"/>
            <a:ext cx="10332720" cy="914400"/>
          </a:xfrm>
          <a:prstGeom prst="rect">
            <a:avLst/>
          </a:prstGeom>
          <a:noFill/>
          <a:ln/>
        </p:spPr>
        <p:txBody>
          <a:bodyPr wrap="square" lIns="152400" tIns="152400" rIns="152400" bIns="152400" rtlCol="0" anchor="ctr"/>
          <a:lstStyle/>
          <a:p>
            <a:pPr algn="l" indent="0" marL="0">
              <a:buNone/>
            </a:pPr>
            <a:r>
              <a:rPr lang="en-US" sz="1400" dirty="0">
                <a:solidFill>
                  <a:srgbClr val="1B2430"/>
                </a:solidFill>
              </a:rPr>
              <a:t>With </a:t>
            </a:r>
            <a:r>
              <a:rPr lang="en-US" sz="1400" dirty="0">
                <a:solidFill>
                  <a:srgbClr val="1B2430"/>
                </a:solidFill>
                <a:latin typeface="Consolas" pitchFamily="34" charset="0"/>
                <a:ea typeface="Consolas" pitchFamily="34" charset="-122"/>
                <a:cs typeface="Consolas" pitchFamily="34" charset="-120"/>
              </a:rPr>
              <a:t>dig +norecurse</a:t>
            </a:r>
            <a:r>
              <a:rPr lang="en-US" sz="1400" dirty="0">
                <a:solidFill>
                  <a:srgbClr val="1B2430"/>
                </a:solidFill>
              </a:rPr>
              <a:t>, resolve www.unibuc.ro by hand from a.root-servers.net, following each referral.</a:t>
            </a:r>
            <a:endParaRPr lang="en-US" sz="1400" dirty="0"/>
          </a:p>
        </p:txBody>
      </p:sp>
      <p:sp>
        <p:nvSpPr>
          <p:cNvPr id="12" name="Shape 9"/>
          <p:cNvSpPr/>
          <p:nvPr/>
        </p:nvSpPr>
        <p:spPr>
          <a:xfrm>
            <a:off x="640080" y="3685032"/>
            <a:ext cx="384048" cy="384048"/>
          </a:xfrm>
          <a:prstGeom prst="ellipse">
            <a:avLst/>
          </a:prstGeom>
          <a:solidFill>
            <a:srgbClr val="2A7F8E"/>
          </a:solidFill>
          <a:ln w="12700">
            <a:solidFill>
              <a:srgbClr val="2A7F8E"/>
            </a:solidFill>
            <a:prstDash val="solid"/>
          </a:ln>
        </p:spPr>
      </p:sp>
      <p:sp>
        <p:nvSpPr>
          <p:cNvPr id="13" name="Text 10"/>
          <p:cNvSpPr txBox="1"/>
          <p:nvPr/>
        </p:nvSpPr>
        <p:spPr>
          <a:xfrm>
            <a:off x="640080" y="36850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box"/>
          <p:cNvSpPr/>
          <p:nvPr/>
        </p:nvSpPr>
        <p:spPr>
          <a:xfrm>
            <a:off x="1280160" y="3483864"/>
            <a:ext cx="10332720" cy="914400"/>
          </a:xfrm>
          <a:prstGeom prst="roundRect">
            <a:avLst>
              <a:gd name="adj" fmla="val 8000"/>
            </a:avLst>
          </a:prstGeom>
          <a:solidFill>
            <a:srgbClr val="EEF2F6"/>
          </a:solidFill>
          <a:ln w="12700">
            <a:solidFill>
              <a:srgbClr val="EEF2F6"/>
            </a:solidFill>
            <a:prstDash val="solid"/>
          </a:ln>
        </p:spPr>
      </p:sp>
      <p:sp>
        <p:nvSpPr>
          <p:cNvPr id="15" name="Text 12"/>
          <p:cNvSpPr txBox="1"/>
          <p:nvPr/>
        </p:nvSpPr>
        <p:spPr>
          <a:xfrm>
            <a:off x="1280160" y="3483864"/>
            <a:ext cx="10332720" cy="914400"/>
          </a:xfrm>
          <a:prstGeom prst="rect">
            <a:avLst/>
          </a:prstGeom>
          <a:noFill/>
          <a:ln/>
        </p:spPr>
        <p:txBody>
          <a:bodyPr wrap="square" lIns="152400" tIns="152400" rIns="152400" bIns="152400" rtlCol="0" anchor="ctr"/>
          <a:lstStyle/>
          <a:p>
            <a:pPr algn="l" indent="0" marL="0">
              <a:buNone/>
            </a:pPr>
            <a:r>
              <a:rPr lang="en-US" sz="1400" dirty="0">
                <a:solidFill>
                  <a:srgbClr val="1B2430"/>
                </a:solidFill>
              </a:rPr>
              <a:t>Write in hexadecimal the full query for unibuc.ro MX, ID 0x0042, RD set; check it with tcpdump in Laboratory 5.</a:t>
            </a:r>
            <a:endParaRPr lang="en-US" sz="1400" dirty="0"/>
          </a:p>
        </p:txBody>
      </p:sp>
      <p:sp>
        <p:nvSpPr>
          <p:cNvPr id="16" name="Shape 13"/>
          <p:cNvSpPr/>
          <p:nvPr/>
        </p:nvSpPr>
        <p:spPr>
          <a:xfrm>
            <a:off x="640080" y="4764024"/>
            <a:ext cx="384048" cy="384048"/>
          </a:xfrm>
          <a:prstGeom prst="ellipse">
            <a:avLst/>
          </a:prstGeom>
          <a:solidFill>
            <a:srgbClr val="2A7F8E"/>
          </a:solidFill>
          <a:ln w="12700">
            <a:solidFill>
              <a:srgbClr val="2A7F8E"/>
            </a:solidFill>
            <a:prstDash val="solid"/>
          </a:ln>
        </p:spPr>
      </p:sp>
      <p:sp>
        <p:nvSpPr>
          <p:cNvPr id="17" name="Text 14"/>
          <p:cNvSpPr txBox="1"/>
          <p:nvPr/>
        </p:nvSpPr>
        <p:spPr>
          <a:xfrm>
            <a:off x="640080" y="47640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8" name="box"/>
          <p:cNvSpPr/>
          <p:nvPr/>
        </p:nvSpPr>
        <p:spPr>
          <a:xfrm>
            <a:off x="1280160" y="4562856"/>
            <a:ext cx="10332720" cy="914400"/>
          </a:xfrm>
          <a:prstGeom prst="roundRect">
            <a:avLst>
              <a:gd name="adj" fmla="val 8000"/>
            </a:avLst>
          </a:prstGeom>
          <a:solidFill>
            <a:srgbClr val="EEF2F6"/>
          </a:solidFill>
          <a:ln w="12700">
            <a:solidFill>
              <a:srgbClr val="EEF2F6"/>
            </a:solidFill>
            <a:prstDash val="solid"/>
          </a:ln>
        </p:spPr>
      </p:sp>
      <p:sp>
        <p:nvSpPr>
          <p:cNvPr id="19" name="Text 16"/>
          <p:cNvSpPr txBox="1"/>
          <p:nvPr/>
        </p:nvSpPr>
        <p:spPr>
          <a:xfrm>
            <a:off x="1280160" y="4562856"/>
            <a:ext cx="10332720" cy="914400"/>
          </a:xfrm>
          <a:prstGeom prst="rect">
            <a:avLst/>
          </a:prstGeom>
          <a:noFill/>
          <a:ln/>
        </p:spPr>
        <p:txBody>
          <a:bodyPr wrap="square" lIns="152400" tIns="152400" rIns="152400" bIns="152400" rtlCol="0" anchor="ctr"/>
          <a:lstStyle/>
          <a:p>
            <a:pPr algn="l" indent="0" marL="0">
              <a:buNone/>
            </a:pPr>
            <a:r>
              <a:rPr lang="en-US" sz="1400" dirty="0">
                <a:solidFill>
                  <a:srgbClr val="1B2430"/>
                </a:solidFill>
              </a:rPr>
              <a:t>In half a page: why a NAT router must rewrite active FTP’s PORT, why it cannot under FTPS, and what passive mode changes.</a:t>
            </a:r>
            <a:endParaRPr lang="en-US" sz="1400" dirty="0"/>
          </a:p>
        </p:txBody>
      </p:sp>
      <p:sp>
        <p:nvSpPr>
          <p:cNvPr id="2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1" name="Text 1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Each task turns a scheme from this week into something you can check on a real network.</a:t>
            </a:r>
            <a:endParaRPr lang="en-US" sz="1400" dirty="0"/>
          </a:p>
        </p:txBody>
      </p:sp>
      <p:sp>
        <p:nvSpPr>
          <p:cNvPr id="22" name="Text 19"/>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DMARC (Domain-based Message Authentication, Reporting and Conformance) · DKIM (DomainKeys Identified Mail) · NAT (network address translation) · SPF (Sender Policy Framework) · FTP (File Transfer Protocol) · MX (mail exchanger) · RD (recursion desired)</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Part C · Laboratory 5 on Linux: mail, DNS, NAT</a:t>
            </a:r>
            <a:endParaRPr lang="en-US" sz="3600" dirty="0"/>
          </a:p>
        </p:txBody>
      </p:sp>
      <p:sp>
        <p:nvSpPr>
          <p:cNvPr id="3" name="box"/>
          <p:cNvSpPr/>
          <p:nvPr/>
        </p:nvSpPr>
        <p:spPr>
          <a:xfrm>
            <a:off x="731520" y="1645920"/>
            <a:ext cx="2514600" cy="1371600"/>
          </a:xfrm>
          <a:prstGeom prst="roundRect">
            <a:avLst>
              <a:gd name="adj" fmla="val 5333"/>
            </a:avLst>
          </a:prstGeom>
          <a:solidFill>
            <a:srgbClr val="2B4A70"/>
          </a:solidFill>
          <a:ln w="12700">
            <a:solidFill>
              <a:srgbClr val="2B4A70"/>
            </a:solidFill>
            <a:prstDash val="solid"/>
          </a:ln>
        </p:spPr>
      </p:sp>
      <p:sp>
        <p:nvSpPr>
          <p:cNvPr id="4" name="Text 2"/>
          <p:cNvSpPr txBox="1"/>
          <p:nvPr/>
        </p:nvSpPr>
        <p:spPr>
          <a:xfrm>
            <a:off x="73152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A · Lecture 5</a:t>
            </a:r>
            <a:endParaRPr lang="en-US" sz="1500" dirty="0"/>
          </a:p>
          <a:p>
            <a:pPr algn="ctr" indent="0" marL="0">
              <a:spcAft>
                <a:spcPts val="400"/>
              </a:spcAft>
              <a:buNone/>
            </a:pPr>
            <a:r>
              <a:rPr lang="en-US" sz="1500" dirty="0">
                <a:solidFill>
                  <a:srgbClr val="FFFFFF"/>
                </a:solidFill>
              </a:rPr>
              <a:t>Mail, news, names, NAT</a:t>
            </a:r>
            <a:endParaRPr lang="en-US" sz="1500" dirty="0"/>
          </a:p>
        </p:txBody>
      </p:sp>
      <p:sp>
        <p:nvSpPr>
          <p:cNvPr id="5" name="Shape 3"/>
          <p:cNvSpPr/>
          <p:nvPr/>
        </p:nvSpPr>
        <p:spPr>
          <a:xfrm>
            <a:off x="3273552" y="2331720"/>
            <a:ext cx="219456" cy="914"/>
          </a:xfrm>
          <a:prstGeom prst="line">
            <a:avLst/>
          </a:prstGeom>
          <a:noFill/>
          <a:ln w="25400">
            <a:solidFill>
              <a:srgbClr val="9FB3C8"/>
            </a:solidFill>
            <a:prstDash val="solid"/>
            <a:tailEnd type="triangle"/>
          </a:ln>
        </p:spPr>
      </p:sp>
      <p:sp>
        <p:nvSpPr>
          <p:cNvPr id="6" name="box"/>
          <p:cNvSpPr/>
          <p:nvPr/>
        </p:nvSpPr>
        <p:spPr>
          <a:xfrm>
            <a:off x="3520440" y="1645920"/>
            <a:ext cx="2514600" cy="1371600"/>
          </a:xfrm>
          <a:prstGeom prst="roundRect">
            <a:avLst>
              <a:gd name="adj" fmla="val 5333"/>
            </a:avLst>
          </a:prstGeom>
          <a:solidFill>
            <a:srgbClr val="2B4A70"/>
          </a:solidFill>
          <a:ln w="12700">
            <a:solidFill>
              <a:srgbClr val="2B4A70"/>
            </a:solidFill>
            <a:prstDash val="solid"/>
          </a:ln>
        </p:spPr>
      </p:sp>
      <p:sp>
        <p:nvSpPr>
          <p:cNvPr id="7" name="Text 5"/>
          <p:cNvSpPr txBox="1"/>
          <p:nvPr/>
        </p:nvSpPr>
        <p:spPr>
          <a:xfrm>
            <a:off x="352044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B · Seminar 5</a:t>
            </a:r>
            <a:endParaRPr lang="en-US" sz="1500" dirty="0"/>
          </a:p>
          <a:p>
            <a:pPr algn="ctr" indent="0" marL="0">
              <a:spcAft>
                <a:spcPts val="400"/>
              </a:spcAft>
              <a:buNone/>
            </a:pPr>
            <a:r>
              <a:rPr lang="en-US" sz="1500" dirty="0">
                <a:solidFill>
                  <a:srgbClr val="FFFFFF"/>
                </a:solidFill>
              </a:rPr>
              <a:t>Problems with solutions</a:t>
            </a:r>
            <a:endParaRPr lang="en-US" sz="1500" dirty="0"/>
          </a:p>
        </p:txBody>
      </p:sp>
      <p:sp>
        <p:nvSpPr>
          <p:cNvPr id="8" name="Shape 6"/>
          <p:cNvSpPr/>
          <p:nvPr/>
        </p:nvSpPr>
        <p:spPr>
          <a:xfrm>
            <a:off x="6062472" y="2331720"/>
            <a:ext cx="219456" cy="914"/>
          </a:xfrm>
          <a:prstGeom prst="line">
            <a:avLst/>
          </a:prstGeom>
          <a:noFill/>
          <a:ln w="25400">
            <a:solidFill>
              <a:srgbClr val="9FB3C8"/>
            </a:solidFill>
            <a:prstDash val="solid"/>
            <a:tailEnd type="triangle"/>
          </a:ln>
        </p:spPr>
      </p:sp>
      <p:sp>
        <p:nvSpPr>
          <p:cNvPr id="9" name="box"/>
          <p:cNvSpPr/>
          <p:nvPr/>
        </p:nvSpPr>
        <p:spPr>
          <a:xfrm>
            <a:off x="6309360" y="1645920"/>
            <a:ext cx="2514600" cy="1371600"/>
          </a:xfrm>
          <a:prstGeom prst="roundRect">
            <a:avLst>
              <a:gd name="adj" fmla="val 5333"/>
            </a:avLst>
          </a:prstGeom>
          <a:solidFill>
            <a:srgbClr val="2A7F8E"/>
          </a:solidFill>
          <a:ln w="12700">
            <a:solidFill>
              <a:srgbClr val="2A7F8E"/>
            </a:solidFill>
            <a:prstDash val="solid"/>
          </a:ln>
        </p:spPr>
      </p:sp>
      <p:sp>
        <p:nvSpPr>
          <p:cNvPr id="10" name="Text 8"/>
          <p:cNvSpPr txBox="1"/>
          <p:nvPr/>
        </p:nvSpPr>
        <p:spPr>
          <a:xfrm>
            <a:off x="630936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C · Laboratory 5 · Linux</a:t>
            </a:r>
            <a:endParaRPr lang="en-US" sz="1500" dirty="0"/>
          </a:p>
          <a:p>
            <a:pPr algn="ctr" indent="0" marL="0">
              <a:spcAft>
                <a:spcPts val="400"/>
              </a:spcAft>
              <a:buNone/>
            </a:pPr>
            <a:r>
              <a:rPr lang="en-US" sz="1500" dirty="0">
                <a:solidFill>
                  <a:srgbClr val="FFFFFF"/>
                </a:solidFill>
              </a:rPr>
              <a:t>SMTP, POP3, dig, DNS in C, NAT</a:t>
            </a:r>
            <a:endParaRPr lang="en-US" sz="1500" dirty="0"/>
          </a:p>
        </p:txBody>
      </p:sp>
      <p:sp>
        <p:nvSpPr>
          <p:cNvPr id="11" name="Shape 9"/>
          <p:cNvSpPr/>
          <p:nvPr/>
        </p:nvSpPr>
        <p:spPr>
          <a:xfrm>
            <a:off x="8851392" y="2331720"/>
            <a:ext cx="219456" cy="914"/>
          </a:xfrm>
          <a:prstGeom prst="line">
            <a:avLst/>
          </a:prstGeom>
          <a:noFill/>
          <a:ln w="25400">
            <a:solidFill>
              <a:srgbClr val="9FB3C8"/>
            </a:solidFill>
            <a:prstDash val="solid"/>
            <a:tailEnd type="triangle"/>
          </a:ln>
        </p:spPr>
      </p:sp>
      <p:sp>
        <p:nvSpPr>
          <p:cNvPr id="12" name="box"/>
          <p:cNvSpPr/>
          <p:nvPr/>
        </p:nvSpPr>
        <p:spPr>
          <a:xfrm>
            <a:off x="9098280" y="1645920"/>
            <a:ext cx="2514600" cy="1371600"/>
          </a:xfrm>
          <a:prstGeom prst="roundRect">
            <a:avLst>
              <a:gd name="adj" fmla="val 5333"/>
            </a:avLst>
          </a:prstGeom>
          <a:solidFill>
            <a:srgbClr val="2B4A70"/>
          </a:solidFill>
          <a:ln w="12700">
            <a:solidFill>
              <a:srgbClr val="2B4A70"/>
            </a:solidFill>
            <a:prstDash val="solid"/>
          </a:ln>
        </p:spPr>
      </p:sp>
      <p:sp>
        <p:nvSpPr>
          <p:cNvPr id="13" name="Text 11"/>
          <p:cNvSpPr txBox="1"/>
          <p:nvPr/>
        </p:nvSpPr>
        <p:spPr>
          <a:xfrm>
            <a:off x="909828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D · Laboratory 5 · Windows</a:t>
            </a:r>
            <a:endParaRPr lang="en-US" sz="1500" dirty="0"/>
          </a:p>
          <a:p>
            <a:pPr algn="ctr" indent="0" marL="0">
              <a:spcAft>
                <a:spcPts val="400"/>
              </a:spcAft>
              <a:buNone/>
            </a:pPr>
            <a:r>
              <a:rPr lang="en-US" sz="1500" dirty="0">
                <a:solidFill>
                  <a:srgbClr val="FFFFFF"/>
                </a:solidFill>
              </a:rPr>
              <a:t>PowerShell, Winsock, your NAT</a:t>
            </a:r>
            <a:endParaRPr lang="en-US" sz="1500" dirty="0"/>
          </a:p>
        </p:txBody>
      </p:sp>
      <p:sp>
        <p:nvSpPr>
          <p:cNvPr id="14" name="Text 12"/>
          <p:cNvSpPr txBox="1"/>
          <p:nvPr/>
        </p:nvSpPr>
        <p:spPr>
          <a:xfrm>
            <a:off x="731520" y="3429000"/>
            <a:ext cx="10698480" cy="365760"/>
          </a:xfrm>
          <a:prstGeom prst="rect">
            <a:avLst/>
          </a:prstGeom>
          <a:noFill/>
          <a:ln/>
        </p:spPr>
        <p:txBody>
          <a:bodyPr wrap="square" lIns="0" tIns="0" rIns="0" bIns="0" rtlCol="0" anchor="ctr"/>
          <a:lstStyle/>
          <a:p>
            <a:pPr indent="0" marL="0">
              <a:buNone/>
            </a:pPr>
            <a:r>
              <a:rPr lang="en-US" sz="1600" b="1" dirty="0">
                <a:solidFill>
                  <a:srgbClr val="DDF0F2"/>
                </a:solidFill>
              </a:rPr>
              <a:t>In this part</a:t>
            </a:r>
            <a:endParaRPr lang="en-US" sz="1600" dirty="0"/>
          </a:p>
        </p:txBody>
      </p:sp>
      <p:sp>
        <p:nvSpPr>
          <p:cNvPr id="15" name="Text 13"/>
          <p:cNvSpPr txBox="1"/>
          <p:nvPr/>
        </p:nvSpPr>
        <p:spPr>
          <a:xfrm>
            <a:off x="7315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Setup · servers, files, tools</a:t>
            </a:r>
            <a:endParaRPr lang="en-US" sz="1500" dirty="0"/>
          </a:p>
        </p:txBody>
      </p:sp>
      <p:sp>
        <p:nvSpPr>
          <p:cNvPr id="16" name="Text 14"/>
          <p:cNvSpPr txBox="1"/>
          <p:nvPr/>
        </p:nvSpPr>
        <p:spPr>
          <a:xfrm>
            <a:off x="62179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1 · SMTP by hand</a:t>
            </a:r>
            <a:endParaRPr lang="en-US" sz="1500" dirty="0"/>
          </a:p>
        </p:txBody>
      </p:sp>
      <p:sp>
        <p:nvSpPr>
          <p:cNvPr id="17" name="Text 15"/>
          <p:cNvSpPr txBox="1"/>
          <p:nvPr/>
        </p:nvSpPr>
        <p:spPr>
          <a:xfrm>
            <a:off x="7315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2 · MIME on the wire</a:t>
            </a:r>
            <a:endParaRPr lang="en-US" sz="1500" dirty="0"/>
          </a:p>
        </p:txBody>
      </p:sp>
      <p:sp>
        <p:nvSpPr>
          <p:cNvPr id="18" name="Text 16"/>
          <p:cNvSpPr txBox="1"/>
          <p:nvPr/>
        </p:nvSpPr>
        <p:spPr>
          <a:xfrm>
            <a:off x="62179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3 · POP3 by hand, an IMAP greeting</a:t>
            </a:r>
            <a:endParaRPr lang="en-US" sz="1500" dirty="0"/>
          </a:p>
        </p:txBody>
      </p:sp>
      <p:sp>
        <p:nvSpPr>
          <p:cNvPr id="19" name="Text 17"/>
          <p:cNvSpPr txBox="1"/>
          <p:nvPr/>
        </p:nvSpPr>
        <p:spPr>
          <a:xfrm>
            <a:off x="7315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4 · DNS with dig</a:t>
            </a:r>
            <a:endParaRPr lang="en-US" sz="1500" dirty="0"/>
          </a:p>
        </p:txBody>
      </p:sp>
      <p:sp>
        <p:nvSpPr>
          <p:cNvPr id="20" name="Text 18"/>
          <p:cNvSpPr txBox="1"/>
          <p:nvPr/>
        </p:nvSpPr>
        <p:spPr>
          <a:xfrm>
            <a:off x="62179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5 · A DNS client in C over UDP</a:t>
            </a:r>
            <a:endParaRPr lang="en-US" sz="1500" dirty="0"/>
          </a:p>
        </p:txBody>
      </p:sp>
      <p:sp>
        <p:nvSpPr>
          <p:cNvPr id="21" name="Text 19"/>
          <p:cNvSpPr txBox="1"/>
          <p:nvPr/>
        </p:nvSpPr>
        <p:spPr>
          <a:xfrm>
            <a:off x="731520" y="52120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6 · A NAT router of your own; STUN</a:t>
            </a:r>
            <a:endParaRPr lang="en-US" sz="1500" dirty="0"/>
          </a:p>
        </p:txBody>
      </p:sp>
      <p:sp>
        <p:nvSpPr>
          <p:cNvPr id="23" name="Text 20"/>
          <p:cNvSpPr txBox="1"/>
          <p:nvPr/>
        </p:nvSpPr>
        <p:spPr>
          <a:xfrm>
            <a:off x="731520" y="6172200"/>
            <a:ext cx="10698480" cy="457200"/>
          </a:xfrm>
          <a:prstGeom prst="rect">
            <a:avLst/>
          </a:prstGeom>
          <a:noFill/>
          <a:ln/>
        </p:spPr>
        <p:txBody>
          <a:bodyPr wrap="square" lIns="0" tIns="0" rIns="0" bIns="0" rtlCol="0" anchor="t"/>
          <a:lstStyle/>
          <a:p>
            <a:pPr indent="0" marL="0">
              <a:buNone/>
            </a:pPr>
            <a:r>
              <a:rPr lang="en-US" sz="1100" dirty="0">
                <a:solidFill>
                  <a:srgbClr val="C9D6E3"/>
                </a:solidFill>
              </a:rPr>
              <a:t>SMTP (Simple Mail Transfer Protocol) · MIME (Multipurpose Internet Mail Extensions) · POP3 (Post Office Protocol version 3) · IMAP (Internet Message Access Protocol) · STUN (Session Traversal Utilities for NAT) · UDP (User Datagram Protocol) · DNS (Domain Name System) · NAT (network address translation)</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Setup · Your own mail system on one machine</a:t>
            </a:r>
            <a:endParaRPr lang="en-US" sz="3000" dirty="0"/>
          </a:p>
        </p:txBody>
      </p:sp>
      <p:sp>
        <p:nvSpPr>
          <p:cNvPr id="4" name="box"/>
          <p:cNvSpPr/>
          <p:nvPr/>
        </p:nvSpPr>
        <p:spPr>
          <a:xfrm>
            <a:off x="548640" y="1463040"/>
            <a:ext cx="2377440" cy="914400"/>
          </a:xfrm>
          <a:prstGeom prst="roundRect">
            <a:avLst>
              <a:gd name="adj" fmla="val 8000"/>
            </a:avLst>
          </a:prstGeom>
          <a:solidFill>
            <a:srgbClr val="EEF2F6"/>
          </a:solidFill>
          <a:ln w="12700">
            <a:solidFill>
              <a:srgbClr val="EEF2F6"/>
            </a:solidFill>
            <a:prstDash val="solid"/>
          </a:ln>
        </p:spPr>
      </p:sp>
      <p:sp>
        <p:nvSpPr>
          <p:cNvPr id="5" name="Text 2"/>
          <p:cNvSpPr txBox="1"/>
          <p:nvPr/>
        </p:nvSpPr>
        <p:spPr>
          <a:xfrm>
            <a:off x="548640" y="1463040"/>
            <a:ext cx="2377440" cy="914400"/>
          </a:xfrm>
          <a:prstGeom prst="rect">
            <a:avLst/>
          </a:prstGeom>
          <a:noFill/>
          <a:ln/>
        </p:spPr>
        <p:txBody>
          <a:bodyPr wrap="square" lIns="635" tIns="635" rIns="635" bIns="635" rtlCol="0" anchor="ctr"/>
          <a:lstStyle/>
          <a:p>
            <a:pPr algn="ctr" indent="0" marL="0">
              <a:buNone/>
            </a:pPr>
            <a:r>
              <a:rPr lang="en-US" sz="1200" dirty="0">
                <a:solidFill>
                  <a:srgbClr val="1B2430"/>
                </a:solidFill>
              </a:rPr>
              <a:t>talk.py / nc -C</a:t>
            </a:r>
            <a:endParaRPr lang="en-US" sz="1200" dirty="0"/>
          </a:p>
          <a:p>
            <a:pPr algn="ctr" indent="0" marL="0">
              <a:buNone/>
            </a:pPr>
            <a:r>
              <a:rPr lang="en-US" sz="1200" dirty="0">
                <a:solidFill>
                  <a:srgbClr val="1B2430"/>
                </a:solidFill>
              </a:rPr>
              <a:t>you type SMTP</a:t>
            </a:r>
            <a:endParaRPr lang="en-US" sz="1200" dirty="0"/>
          </a:p>
        </p:txBody>
      </p:sp>
      <p:sp>
        <p:nvSpPr>
          <p:cNvPr id="6" name="box"/>
          <p:cNvSpPr/>
          <p:nvPr/>
        </p:nvSpPr>
        <p:spPr>
          <a:xfrm>
            <a:off x="3657600" y="1463040"/>
            <a:ext cx="2560320" cy="914400"/>
          </a:xfrm>
          <a:prstGeom prst="roundRect">
            <a:avLst>
              <a:gd name="adj" fmla="val 8000"/>
            </a:avLst>
          </a:prstGeom>
          <a:solidFill>
            <a:srgbClr val="2A7F8E"/>
          </a:solidFill>
          <a:ln w="12700">
            <a:solidFill>
              <a:srgbClr val="2A7F8E"/>
            </a:solidFill>
            <a:prstDash val="solid"/>
          </a:ln>
        </p:spPr>
      </p:sp>
      <p:sp>
        <p:nvSpPr>
          <p:cNvPr id="7" name="Text 4"/>
          <p:cNvSpPr txBox="1"/>
          <p:nvPr/>
        </p:nvSpPr>
        <p:spPr>
          <a:xfrm>
            <a:off x="3657600" y="1463040"/>
            <a:ext cx="2560320" cy="914400"/>
          </a:xfrm>
          <a:prstGeom prst="rect">
            <a:avLst/>
          </a:prstGeom>
          <a:noFill/>
          <a:ln/>
        </p:spPr>
        <p:txBody>
          <a:bodyPr wrap="square" lIns="635" tIns="635" rIns="635" bIns="635" rtlCol="0" anchor="ctr"/>
          <a:lstStyle/>
          <a:p>
            <a:pPr algn="ctr" indent="0" marL="0">
              <a:buNone/>
            </a:pPr>
            <a:r>
              <a:rPr lang="en-US" sz="1200" b="1" dirty="0">
                <a:solidFill>
                  <a:srgbClr val="FFFFFF"/>
                </a:solidFill>
              </a:rPr>
              <a:t>aiosmtpd</a:t>
            </a:r>
            <a:endParaRPr lang="en-US" sz="1200" dirty="0"/>
          </a:p>
          <a:p>
            <a:pPr algn="ctr" indent="0" marL="0">
              <a:buNone/>
            </a:pPr>
            <a:r>
              <a:rPr lang="en-US" sz="1200" dirty="0">
                <a:solidFill>
                  <a:srgbClr val="FFFFFF"/>
                </a:solidFill>
              </a:rPr>
              <a:t>127.0.0.1:8025</a:t>
            </a:r>
            <a:endParaRPr lang="en-US" sz="1200" dirty="0"/>
          </a:p>
        </p:txBody>
      </p:sp>
      <p:sp>
        <p:nvSpPr>
          <p:cNvPr id="8" name="box"/>
          <p:cNvSpPr/>
          <p:nvPr/>
        </p:nvSpPr>
        <p:spPr>
          <a:xfrm>
            <a:off x="6949440" y="1463040"/>
            <a:ext cx="2194560" cy="914400"/>
          </a:xfrm>
          <a:prstGeom prst="roundRect">
            <a:avLst>
              <a:gd name="adj" fmla="val 8000"/>
            </a:avLst>
          </a:prstGeom>
          <a:solidFill>
            <a:srgbClr val="F3EAD7"/>
          </a:solidFill>
          <a:ln w="12700">
            <a:solidFill>
              <a:srgbClr val="F3EAD7"/>
            </a:solidFill>
            <a:prstDash val="solid"/>
          </a:ln>
        </p:spPr>
      </p:sp>
      <p:sp>
        <p:nvSpPr>
          <p:cNvPr id="9" name="Text 6"/>
          <p:cNvSpPr txBox="1"/>
          <p:nvPr/>
        </p:nvSpPr>
        <p:spPr>
          <a:xfrm>
            <a:off x="6949440" y="1463040"/>
            <a:ext cx="2194560" cy="914400"/>
          </a:xfrm>
          <a:prstGeom prst="rect">
            <a:avLst/>
          </a:prstGeom>
          <a:noFill/>
          <a:ln/>
        </p:spPr>
        <p:txBody>
          <a:bodyPr wrap="square" lIns="635" tIns="635" rIns="635" bIns="635" rtlCol="0" anchor="ctr"/>
          <a:lstStyle/>
          <a:p>
            <a:pPr algn="ctr" indent="0" marL="0">
              <a:buNone/>
            </a:pPr>
            <a:r>
              <a:rPr lang="en-US" sz="1200" b="1" dirty="0">
                <a:solidFill>
                  <a:srgbClr val="1B2430"/>
                </a:solidFill>
              </a:rPr>
              <a:t>~/Maildir/new/</a:t>
            </a:r>
            <a:endParaRPr lang="en-US" sz="1200" dirty="0"/>
          </a:p>
          <a:p>
            <a:pPr algn="ctr" indent="0" marL="0">
              <a:buNone/>
            </a:pPr>
            <a:r>
              <a:rPr lang="en-US" sz="1200" dirty="0">
                <a:solidFill>
                  <a:srgbClr val="1B2430"/>
                </a:solidFill>
              </a:rPr>
              <a:t>one file per message</a:t>
            </a:r>
            <a:endParaRPr lang="en-US" sz="1200" dirty="0"/>
          </a:p>
        </p:txBody>
      </p:sp>
      <p:sp>
        <p:nvSpPr>
          <p:cNvPr id="10" name="box"/>
          <p:cNvSpPr/>
          <p:nvPr/>
        </p:nvSpPr>
        <p:spPr>
          <a:xfrm>
            <a:off x="9692640" y="1463040"/>
            <a:ext cx="1920240" cy="914400"/>
          </a:xfrm>
          <a:prstGeom prst="roundRect">
            <a:avLst>
              <a:gd name="adj" fmla="val 8000"/>
            </a:avLst>
          </a:prstGeom>
          <a:solidFill>
            <a:srgbClr val="2A7F8E"/>
          </a:solidFill>
          <a:ln w="12700">
            <a:solidFill>
              <a:srgbClr val="2A7F8E"/>
            </a:solidFill>
            <a:prstDash val="solid"/>
          </a:ln>
        </p:spPr>
      </p:sp>
      <p:sp>
        <p:nvSpPr>
          <p:cNvPr id="11" name="Text 8"/>
          <p:cNvSpPr txBox="1"/>
          <p:nvPr/>
        </p:nvSpPr>
        <p:spPr>
          <a:xfrm>
            <a:off x="9692640" y="1463040"/>
            <a:ext cx="1920240" cy="914400"/>
          </a:xfrm>
          <a:prstGeom prst="rect">
            <a:avLst/>
          </a:prstGeom>
          <a:noFill/>
          <a:ln/>
        </p:spPr>
        <p:txBody>
          <a:bodyPr wrap="square" lIns="635" tIns="635" rIns="635" bIns="635" rtlCol="0" anchor="ctr"/>
          <a:lstStyle/>
          <a:p>
            <a:pPr algn="ctr" indent="0" marL="0">
              <a:buNone/>
            </a:pPr>
            <a:r>
              <a:rPr lang="en-US" sz="1100" b="1" dirty="0">
                <a:solidFill>
                  <a:srgbClr val="FFFFFF"/>
                </a:solidFill>
              </a:rPr>
              <a:t>pop3_server.py</a:t>
            </a:r>
            <a:endParaRPr lang="en-US" sz="1100" dirty="0"/>
          </a:p>
          <a:p>
            <a:pPr algn="ctr" indent="0" marL="0">
              <a:buNone/>
            </a:pPr>
            <a:r>
              <a:rPr lang="en-US" sz="1100" dirty="0">
                <a:solidFill>
                  <a:srgbClr val="FFFFFF"/>
                </a:solidFill>
              </a:rPr>
              <a:t>:1110 · bob/secret</a:t>
            </a:r>
            <a:endParaRPr lang="en-US" sz="1100" dirty="0"/>
          </a:p>
        </p:txBody>
      </p:sp>
      <p:sp>
        <p:nvSpPr>
          <p:cNvPr id="12" name="Shape 9"/>
          <p:cNvSpPr/>
          <p:nvPr/>
        </p:nvSpPr>
        <p:spPr>
          <a:xfrm>
            <a:off x="2926080" y="1920240"/>
            <a:ext cx="731520" cy="914"/>
          </a:xfrm>
          <a:prstGeom prst="line">
            <a:avLst/>
          </a:prstGeom>
          <a:noFill/>
          <a:ln w="31750">
            <a:solidFill>
              <a:srgbClr val="1F3A5F"/>
            </a:solidFill>
            <a:prstDash val="solid"/>
            <a:tailEnd type="triangle"/>
          </a:ln>
        </p:spPr>
      </p:sp>
      <p:sp>
        <p:nvSpPr>
          <p:cNvPr id="13" name="Text 10"/>
          <p:cNvSpPr txBox="1"/>
          <p:nvPr/>
        </p:nvSpPr>
        <p:spPr>
          <a:xfrm>
            <a:off x="2926080" y="1325880"/>
            <a:ext cx="73152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SMTP</a:t>
            </a:r>
            <a:endParaRPr lang="en-US" sz="1200" dirty="0"/>
          </a:p>
        </p:txBody>
      </p:sp>
      <p:sp>
        <p:nvSpPr>
          <p:cNvPr id="14" name="Shape 11"/>
          <p:cNvSpPr/>
          <p:nvPr/>
        </p:nvSpPr>
        <p:spPr>
          <a:xfrm>
            <a:off x="6217920" y="1920240"/>
            <a:ext cx="731520" cy="914"/>
          </a:xfrm>
          <a:prstGeom prst="line">
            <a:avLst/>
          </a:prstGeom>
          <a:noFill/>
          <a:ln w="31750">
            <a:solidFill>
              <a:srgbClr val="1F3A5F"/>
            </a:solidFill>
            <a:prstDash val="solid"/>
            <a:tailEnd type="triangle"/>
          </a:ln>
        </p:spPr>
      </p:sp>
      <p:sp>
        <p:nvSpPr>
          <p:cNvPr id="15" name="Shape 12"/>
          <p:cNvSpPr/>
          <p:nvPr/>
        </p:nvSpPr>
        <p:spPr>
          <a:xfrm>
            <a:off x="9144000" y="1920240"/>
            <a:ext cx="548640" cy="914"/>
          </a:xfrm>
          <a:prstGeom prst="line">
            <a:avLst/>
          </a:prstGeom>
          <a:noFill/>
          <a:ln w="31750">
            <a:solidFill>
              <a:srgbClr val="B9772A"/>
            </a:solidFill>
            <a:prstDash val="solid"/>
            <a:tailEnd type="triangle"/>
          </a:ln>
        </p:spPr>
      </p:sp>
      <p:sp>
        <p:nvSpPr>
          <p:cNvPr id="16" name="box"/>
          <p:cNvSpPr/>
          <p:nvPr/>
        </p:nvSpPr>
        <p:spPr>
          <a:xfrm>
            <a:off x="548640" y="2834640"/>
            <a:ext cx="3063240" cy="411480"/>
          </a:xfrm>
          <a:prstGeom prst="rect">
            <a:avLst/>
          </a:prstGeom>
          <a:solidFill>
            <a:srgbClr val="1F3A5F"/>
          </a:solidFill>
          <a:ln w="12700">
            <a:solidFill>
              <a:srgbClr val="1F3A5F"/>
            </a:solidFill>
            <a:prstDash val="solid"/>
          </a:ln>
        </p:spPr>
      </p:sp>
      <p:sp>
        <p:nvSpPr>
          <p:cNvPr id="17" name="Text 14"/>
          <p:cNvSpPr txBox="1"/>
          <p:nvPr/>
        </p:nvSpPr>
        <p:spPr>
          <a:xfrm>
            <a:off x="548640" y="2834640"/>
            <a:ext cx="306324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File</a:t>
            </a:r>
            <a:endParaRPr lang="en-US" sz="1300" dirty="0"/>
          </a:p>
        </p:txBody>
      </p:sp>
      <p:sp>
        <p:nvSpPr>
          <p:cNvPr id="18" name="box"/>
          <p:cNvSpPr/>
          <p:nvPr/>
        </p:nvSpPr>
        <p:spPr>
          <a:xfrm>
            <a:off x="3657600" y="2834640"/>
            <a:ext cx="7909560" cy="411480"/>
          </a:xfrm>
          <a:prstGeom prst="rect">
            <a:avLst/>
          </a:prstGeom>
          <a:solidFill>
            <a:srgbClr val="1F3A5F"/>
          </a:solidFill>
          <a:ln w="12700">
            <a:solidFill>
              <a:srgbClr val="1F3A5F"/>
            </a:solidFill>
            <a:prstDash val="solid"/>
          </a:ln>
        </p:spPr>
      </p:sp>
      <p:sp>
        <p:nvSpPr>
          <p:cNvPr id="19" name="Text 16"/>
          <p:cNvSpPr txBox="1"/>
          <p:nvPr/>
        </p:nvSpPr>
        <p:spPr>
          <a:xfrm>
            <a:off x="3657600" y="2834640"/>
            <a:ext cx="7909560" cy="411480"/>
          </a:xfrm>
          <a:prstGeom prst="rect">
            <a:avLst/>
          </a:prstGeom>
          <a:noFill/>
          <a:ln/>
        </p:spPr>
        <p:txBody>
          <a:bodyPr wrap="square" lIns="635" tIns="635" rIns="635" bIns="635" rtlCol="0" anchor="ctr"/>
          <a:lstStyle/>
          <a:p>
            <a:pPr algn="ctr" indent="0" marL="0">
              <a:buNone/>
            </a:pPr>
            <a:r>
              <a:rPr lang="en-US" sz="1300" b="1" dirty="0">
                <a:solidFill>
                  <a:srgbClr val="FFFFFF"/>
                </a:solidFill>
              </a:rPr>
              <a:t>Role</a:t>
            </a:r>
            <a:endParaRPr lang="en-US" sz="1300" dirty="0"/>
          </a:p>
        </p:txBody>
      </p:sp>
      <p:sp>
        <p:nvSpPr>
          <p:cNvPr id="20" name="box"/>
          <p:cNvSpPr/>
          <p:nvPr/>
        </p:nvSpPr>
        <p:spPr>
          <a:xfrm>
            <a:off x="548640" y="3291840"/>
            <a:ext cx="3063240" cy="384048"/>
          </a:xfrm>
          <a:prstGeom prst="rect">
            <a:avLst/>
          </a:prstGeom>
          <a:solidFill>
            <a:srgbClr val="EEF2F6"/>
          </a:solidFill>
          <a:ln w="12700">
            <a:solidFill>
              <a:srgbClr val="EEF2F6"/>
            </a:solidFill>
            <a:prstDash val="solid"/>
          </a:ln>
        </p:spPr>
      </p:sp>
      <p:sp>
        <p:nvSpPr>
          <p:cNvPr id="21" name="Text 18"/>
          <p:cNvSpPr txBox="1"/>
          <p:nvPr/>
        </p:nvSpPr>
        <p:spPr>
          <a:xfrm>
            <a:off x="548640" y="3291840"/>
            <a:ext cx="3063240" cy="384048"/>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python/talk.py host port [--tls]</a:t>
            </a:r>
            <a:endParaRPr lang="en-US" sz="1200" dirty="0"/>
          </a:p>
        </p:txBody>
      </p:sp>
      <p:sp>
        <p:nvSpPr>
          <p:cNvPr id="22" name="box"/>
          <p:cNvSpPr/>
          <p:nvPr/>
        </p:nvSpPr>
        <p:spPr>
          <a:xfrm>
            <a:off x="3657600" y="3291840"/>
            <a:ext cx="7909560" cy="384048"/>
          </a:xfrm>
          <a:prstGeom prst="rect">
            <a:avLst/>
          </a:prstGeom>
          <a:solidFill>
            <a:srgbClr val="F7F9FB"/>
          </a:solidFill>
          <a:ln w="12700">
            <a:solidFill>
              <a:srgbClr val="F7F9FB"/>
            </a:solidFill>
            <a:prstDash val="solid"/>
          </a:ln>
        </p:spPr>
      </p:sp>
      <p:sp>
        <p:nvSpPr>
          <p:cNvPr id="23" name="Text 20"/>
          <p:cNvSpPr txBox="1"/>
          <p:nvPr/>
        </p:nvSpPr>
        <p:spPr>
          <a:xfrm>
            <a:off x="3657600" y="3291840"/>
            <a:ext cx="7909560" cy="384048"/>
          </a:xfrm>
          <a:prstGeom prst="rect">
            <a:avLst/>
          </a:prstGeom>
          <a:noFill/>
          <a:ln/>
        </p:spPr>
        <p:txBody>
          <a:bodyPr wrap="square" lIns="1270" tIns="1270" rIns="1270" bIns="1270" rtlCol="0" anchor="ctr"/>
          <a:lstStyle/>
          <a:p>
            <a:pPr algn="l" indent="0" marL="0">
              <a:buNone/>
            </a:pPr>
            <a:r>
              <a:rPr lang="en-US" sz="1200" dirty="0">
                <a:solidFill>
                  <a:srgbClr val="1B2430"/>
                </a:solidFill>
              </a:rPr>
              <a:t>lines out with CR LF, every received line printed after &lt;-</a:t>
            </a:r>
            <a:endParaRPr lang="en-US" sz="1200" dirty="0"/>
          </a:p>
        </p:txBody>
      </p:sp>
      <p:sp>
        <p:nvSpPr>
          <p:cNvPr id="24" name="box"/>
          <p:cNvSpPr/>
          <p:nvPr/>
        </p:nvSpPr>
        <p:spPr>
          <a:xfrm>
            <a:off x="548640" y="3721608"/>
            <a:ext cx="3063240" cy="384048"/>
          </a:xfrm>
          <a:prstGeom prst="rect">
            <a:avLst/>
          </a:prstGeom>
          <a:solidFill>
            <a:srgbClr val="EEF2F6"/>
          </a:solidFill>
          <a:ln w="12700">
            <a:solidFill>
              <a:srgbClr val="EEF2F6"/>
            </a:solidFill>
            <a:prstDash val="solid"/>
          </a:ln>
        </p:spPr>
      </p:sp>
      <p:sp>
        <p:nvSpPr>
          <p:cNvPr id="25" name="Text 22"/>
          <p:cNvSpPr txBox="1"/>
          <p:nvPr/>
        </p:nvSpPr>
        <p:spPr>
          <a:xfrm>
            <a:off x="548640" y="3721608"/>
            <a:ext cx="3063240" cy="384048"/>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python/send_mail.py</a:t>
            </a:r>
            <a:endParaRPr lang="en-US" sz="1200" dirty="0"/>
          </a:p>
        </p:txBody>
      </p:sp>
      <p:sp>
        <p:nvSpPr>
          <p:cNvPr id="26" name="box"/>
          <p:cNvSpPr/>
          <p:nvPr/>
        </p:nvSpPr>
        <p:spPr>
          <a:xfrm>
            <a:off x="3657600" y="3721608"/>
            <a:ext cx="7909560" cy="384048"/>
          </a:xfrm>
          <a:prstGeom prst="rect">
            <a:avLst/>
          </a:prstGeom>
          <a:solidFill>
            <a:srgbClr val="F7F9FB"/>
          </a:solidFill>
          <a:ln w="12700">
            <a:solidFill>
              <a:srgbClr val="F7F9FB"/>
            </a:solidFill>
            <a:prstDash val="solid"/>
          </a:ln>
        </p:spPr>
      </p:sp>
      <p:sp>
        <p:nvSpPr>
          <p:cNvPr id="27" name="Text 24"/>
          <p:cNvSpPr txBox="1"/>
          <p:nvPr/>
        </p:nvSpPr>
        <p:spPr>
          <a:xfrm>
            <a:off x="3657600" y="3721608"/>
            <a:ext cx="7909560" cy="384048"/>
          </a:xfrm>
          <a:prstGeom prst="rect">
            <a:avLst/>
          </a:prstGeom>
          <a:noFill/>
          <a:ln/>
        </p:spPr>
        <p:txBody>
          <a:bodyPr wrap="square" lIns="1270" tIns="1270" rIns="1270" bIns="1270" rtlCol="0" anchor="ctr"/>
          <a:lstStyle/>
          <a:p>
            <a:pPr algn="l" indent="0" marL="0">
              <a:buNone/>
            </a:pPr>
            <a:r>
              <a:rPr lang="en-US" sz="1200" dirty="0">
                <a:solidFill>
                  <a:srgbClr val="1B2430"/>
                </a:solidFill>
              </a:rPr>
              <a:t>a MIME message with an attachment, SMTP dialogue shown</a:t>
            </a:r>
            <a:endParaRPr lang="en-US" sz="1200" dirty="0"/>
          </a:p>
        </p:txBody>
      </p:sp>
      <p:sp>
        <p:nvSpPr>
          <p:cNvPr id="28" name="box"/>
          <p:cNvSpPr/>
          <p:nvPr/>
        </p:nvSpPr>
        <p:spPr>
          <a:xfrm>
            <a:off x="548640" y="4151376"/>
            <a:ext cx="3063240" cy="384048"/>
          </a:xfrm>
          <a:prstGeom prst="rect">
            <a:avLst/>
          </a:prstGeom>
          <a:solidFill>
            <a:srgbClr val="EEF2F6"/>
          </a:solidFill>
          <a:ln w="12700">
            <a:solidFill>
              <a:srgbClr val="EEF2F6"/>
            </a:solidFill>
            <a:prstDash val="solid"/>
          </a:ln>
        </p:spPr>
      </p:sp>
      <p:sp>
        <p:nvSpPr>
          <p:cNvPr id="29" name="Text 26"/>
          <p:cNvSpPr txBox="1"/>
          <p:nvPr/>
        </p:nvSpPr>
        <p:spPr>
          <a:xfrm>
            <a:off x="548640" y="4151376"/>
            <a:ext cx="3063240" cy="384048"/>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linux/dns_query.c · python/dns_query.py</a:t>
            </a:r>
            <a:endParaRPr lang="en-US" sz="1200" dirty="0"/>
          </a:p>
        </p:txBody>
      </p:sp>
      <p:sp>
        <p:nvSpPr>
          <p:cNvPr id="30" name="box"/>
          <p:cNvSpPr/>
          <p:nvPr/>
        </p:nvSpPr>
        <p:spPr>
          <a:xfrm>
            <a:off x="3657600" y="4151376"/>
            <a:ext cx="7909560" cy="384048"/>
          </a:xfrm>
          <a:prstGeom prst="rect">
            <a:avLst/>
          </a:prstGeom>
          <a:solidFill>
            <a:srgbClr val="F7F9FB"/>
          </a:solidFill>
          <a:ln w="12700">
            <a:solidFill>
              <a:srgbClr val="F7F9FB"/>
            </a:solidFill>
            <a:prstDash val="solid"/>
          </a:ln>
        </p:spPr>
      </p:sp>
      <p:sp>
        <p:nvSpPr>
          <p:cNvPr id="31" name="Text 28"/>
          <p:cNvSpPr txBox="1"/>
          <p:nvPr/>
        </p:nvSpPr>
        <p:spPr>
          <a:xfrm>
            <a:off x="3657600" y="4151376"/>
            <a:ext cx="7909560" cy="384048"/>
          </a:xfrm>
          <a:prstGeom prst="rect">
            <a:avLst/>
          </a:prstGeom>
          <a:noFill/>
          <a:ln/>
        </p:spPr>
        <p:txBody>
          <a:bodyPr wrap="square" lIns="1270" tIns="1270" rIns="1270" bIns="1270" rtlCol="0" anchor="ctr"/>
          <a:lstStyle/>
          <a:p>
            <a:pPr algn="l" indent="0" marL="0">
              <a:buNone/>
            </a:pPr>
            <a:r>
              <a:rPr lang="en-US" sz="1200" dirty="0">
                <a:solidFill>
                  <a:srgbClr val="1B2430"/>
                </a:solidFill>
              </a:rPr>
              <a:t>DNS queries built byte by byte over UDP</a:t>
            </a:r>
            <a:endParaRPr lang="en-US" sz="1200" dirty="0"/>
          </a:p>
        </p:txBody>
      </p:sp>
      <p:sp>
        <p:nvSpPr>
          <p:cNvPr id="32" name="box"/>
          <p:cNvSpPr/>
          <p:nvPr/>
        </p:nvSpPr>
        <p:spPr>
          <a:xfrm>
            <a:off x="548640" y="4581144"/>
            <a:ext cx="3063240" cy="384048"/>
          </a:xfrm>
          <a:prstGeom prst="rect">
            <a:avLst/>
          </a:prstGeom>
          <a:solidFill>
            <a:srgbClr val="EEF2F6"/>
          </a:solidFill>
          <a:ln w="12700">
            <a:solidFill>
              <a:srgbClr val="EEF2F6"/>
            </a:solidFill>
            <a:prstDash val="solid"/>
          </a:ln>
        </p:spPr>
      </p:sp>
      <p:sp>
        <p:nvSpPr>
          <p:cNvPr id="33" name="Text 30"/>
          <p:cNvSpPr txBox="1"/>
          <p:nvPr/>
        </p:nvSpPr>
        <p:spPr>
          <a:xfrm>
            <a:off x="548640" y="4581144"/>
            <a:ext cx="3063240" cy="384048"/>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linux/nat_lab.sh up | down</a:t>
            </a:r>
            <a:endParaRPr lang="en-US" sz="1200" dirty="0"/>
          </a:p>
        </p:txBody>
      </p:sp>
      <p:sp>
        <p:nvSpPr>
          <p:cNvPr id="34" name="box"/>
          <p:cNvSpPr/>
          <p:nvPr/>
        </p:nvSpPr>
        <p:spPr>
          <a:xfrm>
            <a:off x="3657600" y="4581144"/>
            <a:ext cx="7909560" cy="384048"/>
          </a:xfrm>
          <a:prstGeom prst="rect">
            <a:avLst/>
          </a:prstGeom>
          <a:solidFill>
            <a:srgbClr val="F7F9FB"/>
          </a:solidFill>
          <a:ln w="12700">
            <a:solidFill>
              <a:srgbClr val="F7F9FB"/>
            </a:solidFill>
            <a:prstDash val="solid"/>
          </a:ln>
        </p:spPr>
      </p:sp>
      <p:sp>
        <p:nvSpPr>
          <p:cNvPr id="35" name="Text 32"/>
          <p:cNvSpPr txBox="1"/>
          <p:nvPr/>
        </p:nvSpPr>
        <p:spPr>
          <a:xfrm>
            <a:off x="3657600" y="4581144"/>
            <a:ext cx="7909560" cy="384048"/>
          </a:xfrm>
          <a:prstGeom prst="rect">
            <a:avLst/>
          </a:prstGeom>
          <a:noFill/>
          <a:ln/>
        </p:spPr>
        <p:txBody>
          <a:bodyPr wrap="square" lIns="1270" tIns="1270" rIns="1270" bIns="1270" rtlCol="0" anchor="ctr"/>
          <a:lstStyle/>
          <a:p>
            <a:pPr algn="l" indent="0" marL="0">
              <a:buNone/>
            </a:pPr>
            <a:r>
              <a:rPr lang="en-US" sz="1200" dirty="0">
                <a:solidFill>
                  <a:srgbClr val="1B2430"/>
                </a:solidFill>
              </a:rPr>
              <a:t>namespaces lan, router (NAT), server</a:t>
            </a:r>
            <a:endParaRPr lang="en-US" sz="1200" dirty="0"/>
          </a:p>
        </p:txBody>
      </p:sp>
      <p:sp>
        <p:nvSpPr>
          <p:cNvPr id="36" name="box"/>
          <p:cNvSpPr/>
          <p:nvPr/>
        </p:nvSpPr>
        <p:spPr>
          <a:xfrm>
            <a:off x="548640" y="5010912"/>
            <a:ext cx="3063240" cy="384048"/>
          </a:xfrm>
          <a:prstGeom prst="rect">
            <a:avLst/>
          </a:prstGeom>
          <a:solidFill>
            <a:srgbClr val="EEF2F6"/>
          </a:solidFill>
          <a:ln w="12700">
            <a:solidFill>
              <a:srgbClr val="EEF2F6"/>
            </a:solidFill>
            <a:prstDash val="solid"/>
          </a:ln>
        </p:spPr>
      </p:sp>
      <p:sp>
        <p:nvSpPr>
          <p:cNvPr id="37" name="Text 34"/>
          <p:cNvSpPr txBox="1"/>
          <p:nvPr/>
        </p:nvSpPr>
        <p:spPr>
          <a:xfrm>
            <a:off x="548640" y="5010912"/>
            <a:ext cx="3063240" cy="384048"/>
          </a:xfrm>
          <a:prstGeom prst="rect">
            <a:avLst/>
          </a:prstGeom>
          <a:noFill/>
          <a:ln/>
        </p:spPr>
        <p:txBody>
          <a:bodyPr wrap="square" lIns="1270" tIns="1270" rIns="1270" bIns="1270" rtlCol="0" anchor="ctr"/>
          <a:lstStyle/>
          <a:p>
            <a:pPr algn="l" indent="0" marL="0">
              <a:buNone/>
            </a:pPr>
            <a:r>
              <a:rPr lang="en-US" sz="1200" dirty="0">
                <a:solidFill>
                  <a:srgbClr val="1B2430"/>
                </a:solidFill>
                <a:latin typeface="Consolas" pitchFamily="34" charset="0"/>
                <a:ea typeface="Consolas" pitchFamily="34" charset="-122"/>
                <a:cs typeface="Consolas" pitchFamily="34" charset="-120"/>
              </a:rPr>
              <a:t>python/stun_client.py</a:t>
            </a:r>
            <a:endParaRPr lang="en-US" sz="1200" dirty="0"/>
          </a:p>
        </p:txBody>
      </p:sp>
      <p:sp>
        <p:nvSpPr>
          <p:cNvPr id="38" name="box"/>
          <p:cNvSpPr/>
          <p:nvPr/>
        </p:nvSpPr>
        <p:spPr>
          <a:xfrm>
            <a:off x="3657600" y="5010912"/>
            <a:ext cx="7909560" cy="384048"/>
          </a:xfrm>
          <a:prstGeom prst="rect">
            <a:avLst/>
          </a:prstGeom>
          <a:solidFill>
            <a:srgbClr val="F7F9FB"/>
          </a:solidFill>
          <a:ln w="12700">
            <a:solidFill>
              <a:srgbClr val="F7F9FB"/>
            </a:solidFill>
            <a:prstDash val="solid"/>
          </a:ln>
        </p:spPr>
      </p:sp>
      <p:sp>
        <p:nvSpPr>
          <p:cNvPr id="39" name="Text 36"/>
          <p:cNvSpPr txBox="1"/>
          <p:nvPr/>
        </p:nvSpPr>
        <p:spPr>
          <a:xfrm>
            <a:off x="3657600" y="5010912"/>
            <a:ext cx="7909560" cy="384048"/>
          </a:xfrm>
          <a:prstGeom prst="rect">
            <a:avLst/>
          </a:prstGeom>
          <a:noFill/>
          <a:ln/>
        </p:spPr>
        <p:txBody>
          <a:bodyPr wrap="square" lIns="1270" tIns="1270" rIns="1270" bIns="1270" rtlCol="0" anchor="ctr"/>
          <a:lstStyle/>
          <a:p>
            <a:pPr algn="l" indent="0" marL="0">
              <a:buNone/>
            </a:pPr>
            <a:r>
              <a:rPr lang="en-US" sz="1200" dirty="0">
                <a:solidFill>
                  <a:srgbClr val="1B2430"/>
                </a:solidFill>
              </a:rPr>
              <a:t>your real public mapping</a:t>
            </a:r>
            <a:endParaRPr lang="en-US" sz="1200" dirty="0"/>
          </a:p>
        </p:txBody>
      </p:sp>
      <p:sp>
        <p:nvSpPr>
          <p:cNvPr id="4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41" name="Text 3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Everything this week runs on your machine first — then you look at real servers on the Internet.</a:t>
            </a:r>
            <a:endParaRPr lang="en-US" sz="1400" dirty="0"/>
          </a:p>
        </p:txBody>
      </p:sp>
      <p:sp>
        <p:nvSpPr>
          <p:cNvPr id="42" name="Text 39"/>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SMTP (Simple Mail Transfer Protocol) · MIME (Multipurpose Internet Mail Extensions) · UDP (User Datagram Protocol) · DNS (Domain Name System) · NAT (network address translation) · CR (carriage return) · LF (line feed)</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1 · SMTP by hand</a:t>
            </a:r>
            <a:endParaRPr lang="en-US" sz="3000" dirty="0"/>
          </a:p>
        </p:txBody>
      </p:sp>
      <p:sp>
        <p:nvSpPr>
          <p:cNvPr id="4" name="code"/>
          <p:cNvSpPr/>
          <p:nvPr/>
        </p:nvSpPr>
        <p:spPr>
          <a:xfrm>
            <a:off x="548640" y="1280160"/>
            <a:ext cx="5120640" cy="4343400"/>
          </a:xfrm>
          <a:prstGeom prst="rect">
            <a:avLst/>
          </a:prstGeom>
          <a:solidFill>
            <a:srgbClr val="1E2A38"/>
          </a:solidFill>
          <a:ln w="12700">
            <a:solidFill>
              <a:srgbClr val="1E2A38"/>
            </a:solidFill>
            <a:prstDash val="solid"/>
          </a:ln>
        </p:spPr>
      </p:sp>
      <p:sp>
        <p:nvSpPr>
          <p:cNvPr id="5" name="Text 2"/>
          <p:cNvSpPr txBox="1"/>
          <p:nvPr/>
        </p:nvSpPr>
        <p:spPr>
          <a:xfrm>
            <a:off x="548640" y="1280160"/>
            <a:ext cx="5120640" cy="4343400"/>
          </a:xfrm>
          <a:prstGeom prst="rect">
            <a:avLst/>
          </a:prstGeom>
          <a:noFill/>
          <a:ln/>
        </p:spPr>
        <p:txBody>
          <a:bodyPr wrap="square" lIns="101600" tIns="101600" rIns="101600" bIns="101600" rtlCol="0" anchor="t"/>
          <a:lstStyle/>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EHLO client.lab.test</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MAIL FROM:&lt;alice@lab.test&gt;</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RCPT TO:&lt;bob@lab.test&gt;</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RCPT TO:&lt;carol@lab.test&gt;</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DATA</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From: Alice &lt;alice@lab.test&gt;</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To: Bob &lt;bob@lab.test&gt;</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Subject: typed by hand</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Hello Bob,</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..this line started with one dot.</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QUIT</a:t>
            </a:r>
            <a:endParaRPr lang="en-US" sz="1200" dirty="0"/>
          </a:p>
        </p:txBody>
      </p:sp>
      <p:sp>
        <p:nvSpPr>
          <p:cNvPr id="6" name="code"/>
          <p:cNvSpPr/>
          <p:nvPr/>
        </p:nvSpPr>
        <p:spPr>
          <a:xfrm>
            <a:off x="5943600" y="1280160"/>
            <a:ext cx="5669280" cy="2240280"/>
          </a:xfrm>
          <a:prstGeom prst="rect">
            <a:avLst/>
          </a:prstGeom>
          <a:solidFill>
            <a:srgbClr val="1E2A38"/>
          </a:solidFill>
          <a:ln w="12700">
            <a:solidFill>
              <a:srgbClr val="1E2A38"/>
            </a:solidFill>
            <a:prstDash val="solid"/>
          </a:ln>
        </p:spPr>
      </p:sp>
      <p:sp>
        <p:nvSpPr>
          <p:cNvPr id="7" name="Text 4"/>
          <p:cNvSpPr txBox="1"/>
          <p:nvPr/>
        </p:nvSpPr>
        <p:spPr>
          <a:xfrm>
            <a:off x="5943600" y="1280160"/>
            <a:ext cx="5669280" cy="2240280"/>
          </a:xfrm>
          <a:prstGeom prst="rect">
            <a:avLst/>
          </a:prstGeom>
          <a:noFill/>
          <a:ln/>
        </p:spPr>
        <p:txBody>
          <a:bodyPr wrap="square" lIns="101600" tIns="101600" rIns="101600" bIns="101600" rtlCol="0" anchor="t"/>
          <a:lstStyle/>
          <a:p>
            <a:pPr algn="l" indent="0" marL="0">
              <a:buNone/>
            </a:pPr>
            <a:r>
              <a:rPr lang="en-US" sz="1100" dirty="0">
                <a:solidFill>
                  <a:srgbClr val="E8EEF4"/>
                </a:solidFill>
                <a:latin typeface="Consolas" pitchFamily="34" charset="0"/>
                <a:ea typeface="Consolas" pitchFamily="34" charset="-122"/>
                <a:cs typeface="Consolas" pitchFamily="34" charset="-120"/>
              </a:rPr>
              <a:t>&lt;- 220 localhost Python SMTP 1.4.6</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&lt;- 250-localhost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&lt;- 250-8BITMIME</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&lt;- 250 HELP</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&lt;- 250 OK  (×3)</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&lt;- 354 End data with &lt;CR&gt;&lt;LF&gt;.&lt;CR&gt;&lt;LF&gt;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&lt;- 250 OK</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&lt;- 221 Bye</a:t>
            </a:r>
            <a:endParaRPr lang="en-US" sz="1100" dirty="0"/>
          </a:p>
        </p:txBody>
      </p:sp>
      <p:sp>
        <p:nvSpPr>
          <p:cNvPr id="8" name="code"/>
          <p:cNvSpPr/>
          <p:nvPr/>
        </p:nvSpPr>
        <p:spPr>
          <a:xfrm>
            <a:off x="5943600" y="3703320"/>
            <a:ext cx="5669280" cy="1920240"/>
          </a:xfrm>
          <a:prstGeom prst="rect">
            <a:avLst/>
          </a:prstGeom>
          <a:solidFill>
            <a:srgbClr val="1E2A38"/>
          </a:solidFill>
          <a:ln w="12700">
            <a:solidFill>
              <a:srgbClr val="1E2A38"/>
            </a:solidFill>
            <a:prstDash val="solid"/>
          </a:ln>
        </p:spPr>
      </p:sp>
      <p:sp>
        <p:nvSpPr>
          <p:cNvPr id="9" name="Text 6"/>
          <p:cNvSpPr txBox="1"/>
          <p:nvPr/>
        </p:nvSpPr>
        <p:spPr>
          <a:xfrm>
            <a:off x="5943600" y="3703320"/>
            <a:ext cx="5669280" cy="1920240"/>
          </a:xfrm>
          <a:prstGeom prst="rect">
            <a:avLst/>
          </a:prstGeom>
          <a:noFill/>
          <a:ln/>
        </p:spPr>
        <p:txBody>
          <a:bodyPr wrap="square" lIns="101600" tIns="101600" rIns="101600" bIns="101600" rtlCol="0" anchor="t"/>
          <a:lstStyle/>
          <a:p>
            <a:pPr algn="l" indent="0" marL="0">
              <a:buNone/>
            </a:pPr>
            <a:r>
              <a:rPr lang="en-US" sz="1100" dirty="0">
                <a:solidFill>
                  <a:srgbClr val="E8EEF4"/>
                </a:solidFill>
                <a:latin typeface="Consolas" pitchFamily="34" charset="0"/>
                <a:ea typeface="Consolas" pitchFamily="34" charset="-122"/>
                <a:cs typeface="Consolas" pitchFamily="34" charset="-120"/>
              </a:rPr>
              <a:t>To: Bob &lt;bob@lab.test&gt;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Subject: typed by hand</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X-Peer: ('127.0.0.1', 41022)</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X-MailFrom: alice@lab.test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X-RcptTo: bob@lab.test, carol@lab.test</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 </a:t>
            </a:r>
            <a:endParaRPr lang="en-US" sz="1100" dirty="0"/>
          </a:p>
          <a:p>
            <a:pPr algn="l" indent="0" marL="0">
              <a:buNone/>
            </a:pPr>
            <a:r>
              <a:rPr lang="en-US" sz="1100" dirty="0">
                <a:solidFill>
                  <a:srgbClr val="E8EEF4"/>
                </a:solidFill>
                <a:latin typeface="Consolas" pitchFamily="34" charset="0"/>
                <a:ea typeface="Consolas" pitchFamily="34" charset="-122"/>
                <a:cs typeface="Consolas" pitchFamily="34" charset="-120"/>
              </a:rPr>
              <a:t>.this line started with one dot.</a:t>
            </a:r>
            <a:endParaRPr lang="en-US" sz="1100" dirty="0"/>
          </a:p>
        </p:txBody>
      </p:sp>
      <p:sp>
        <p:nvSpPr>
          <p:cNvPr id="1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1" name="Text 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Q1–Q3 · Carol receives it from the envelope (X-RcptTo); the stored line has one dot.</a:t>
            </a:r>
            <a:endParaRPr lang="en-US" sz="1400" dirty="0"/>
          </a:p>
        </p:txBody>
      </p:sp>
      <p:sp>
        <p:nvSpPr>
          <p:cNvPr id="12" name="Text 9"/>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SMTP (Simple Mail Transfer Protocol) · EHLO (extended hello) · RCPT (recipient) · CR (carriage return) · LF (line feed)</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2 · An attachment on the wire</a:t>
            </a:r>
            <a:endParaRPr lang="en-US" sz="3000" dirty="0"/>
          </a:p>
        </p:txBody>
      </p:sp>
      <p:sp>
        <p:nvSpPr>
          <p:cNvPr id="4" name="code"/>
          <p:cNvSpPr/>
          <p:nvPr/>
        </p:nvSpPr>
        <p:spPr>
          <a:xfrm>
            <a:off x="548640" y="1280160"/>
            <a:ext cx="6035040" cy="2011680"/>
          </a:xfrm>
          <a:prstGeom prst="rect">
            <a:avLst/>
          </a:prstGeom>
          <a:solidFill>
            <a:srgbClr val="1E2A38"/>
          </a:solidFill>
          <a:ln w="12700">
            <a:solidFill>
              <a:srgbClr val="1E2A38"/>
            </a:solidFill>
            <a:prstDash val="solid"/>
          </a:ln>
        </p:spPr>
      </p:sp>
      <p:sp>
        <p:nvSpPr>
          <p:cNvPr id="5" name="Text 2"/>
          <p:cNvSpPr txBox="1"/>
          <p:nvPr/>
        </p:nvSpPr>
        <p:spPr>
          <a:xfrm>
            <a:off x="548640" y="1280160"/>
            <a:ext cx="6035040" cy="201168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head -c 30000 /dev/urandom &gt; photo.bin</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python3 python/send_mail.py 127.0.0.1 8025 photo.bin</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ls -l photo.bin ~/Maildir/new/</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less "$(ls -t ~/Maildir/new/* | head -1)"</a:t>
            </a:r>
            <a:endParaRPr lang="en-US" sz="1200" dirty="0"/>
          </a:p>
        </p:txBody>
      </p:sp>
      <p:sp>
        <p:nvSpPr>
          <p:cNvPr id="6" name="box"/>
          <p:cNvSpPr/>
          <p:nvPr/>
        </p:nvSpPr>
        <p:spPr>
          <a:xfrm>
            <a:off x="6858000" y="1371600"/>
            <a:ext cx="3461619" cy="640080"/>
          </a:xfrm>
          <a:prstGeom prst="rect">
            <a:avLst/>
          </a:prstGeom>
          <a:solidFill>
            <a:srgbClr val="1F3A5F"/>
          </a:solidFill>
          <a:ln w="12700">
            <a:solidFill>
              <a:srgbClr val="1F3A5F"/>
            </a:solidFill>
            <a:prstDash val="solid"/>
          </a:ln>
        </p:spPr>
      </p:sp>
      <p:sp>
        <p:nvSpPr>
          <p:cNvPr id="7" name="Text 4"/>
          <p:cNvSpPr txBox="1"/>
          <p:nvPr/>
        </p:nvSpPr>
        <p:spPr>
          <a:xfrm>
            <a:off x="6858000" y="1371600"/>
            <a:ext cx="3461619" cy="640080"/>
          </a:xfrm>
          <a:prstGeom prst="rect">
            <a:avLst/>
          </a:prstGeom>
          <a:noFill/>
          <a:ln/>
        </p:spPr>
        <p:txBody>
          <a:bodyPr wrap="square" lIns="635" tIns="635" rIns="635" bIns="635" rtlCol="0" anchor="ctr"/>
          <a:lstStyle/>
          <a:p>
            <a:pPr algn="ctr" indent="0" marL="0">
              <a:buNone/>
            </a:pPr>
            <a:r>
              <a:rPr lang="en-US" sz="1200" dirty="0">
                <a:solidFill>
                  <a:srgbClr val="FFFFFF"/>
                </a:solidFill>
              </a:rPr>
              <a:t>photo.bin: 30 000 B</a:t>
            </a:r>
            <a:endParaRPr lang="en-US" sz="1200" dirty="0"/>
          </a:p>
        </p:txBody>
      </p:sp>
      <p:sp>
        <p:nvSpPr>
          <p:cNvPr id="8" name="box"/>
          <p:cNvSpPr/>
          <p:nvPr/>
        </p:nvSpPr>
        <p:spPr>
          <a:xfrm>
            <a:off x="6858000" y="2240280"/>
            <a:ext cx="4754880" cy="640080"/>
          </a:xfrm>
          <a:prstGeom prst="rect">
            <a:avLst/>
          </a:prstGeom>
          <a:solidFill>
            <a:srgbClr val="B9772A"/>
          </a:solidFill>
          <a:ln w="12700">
            <a:solidFill>
              <a:srgbClr val="B9772A"/>
            </a:solidFill>
            <a:prstDash val="solid"/>
          </a:ln>
        </p:spPr>
      </p:sp>
      <p:sp>
        <p:nvSpPr>
          <p:cNvPr id="9" name="Text 6"/>
          <p:cNvSpPr txBox="1"/>
          <p:nvPr/>
        </p:nvSpPr>
        <p:spPr>
          <a:xfrm>
            <a:off x="6858000" y="2240280"/>
            <a:ext cx="4754880" cy="640080"/>
          </a:xfrm>
          <a:prstGeom prst="rect">
            <a:avLst/>
          </a:prstGeom>
          <a:noFill/>
          <a:ln/>
        </p:spPr>
        <p:txBody>
          <a:bodyPr wrap="square" lIns="635" tIns="635" rIns="635" bIns="635" rtlCol="0" anchor="ctr"/>
          <a:lstStyle/>
          <a:p>
            <a:pPr algn="ctr" indent="0" marL="0">
              <a:buNone/>
            </a:pPr>
            <a:r>
              <a:rPr lang="en-US" sz="1200" dirty="0">
                <a:solidFill>
                  <a:srgbClr val="FFFFFF"/>
                </a:solidFill>
              </a:rPr>
              <a:t>stored message: 41 208 B</a:t>
            </a:r>
            <a:endParaRPr lang="en-US" sz="1200" dirty="0"/>
          </a:p>
        </p:txBody>
      </p:sp>
      <p:sp>
        <p:nvSpPr>
          <p:cNvPr id="10" name="Text 7"/>
          <p:cNvSpPr txBox="1"/>
          <p:nvPr/>
        </p:nvSpPr>
        <p:spPr>
          <a:xfrm>
            <a:off x="6858000" y="3063240"/>
            <a:ext cx="4754880" cy="365760"/>
          </a:xfrm>
          <a:prstGeom prst="rect">
            <a:avLst/>
          </a:prstGeom>
          <a:noFill/>
          <a:ln/>
        </p:spPr>
        <p:txBody>
          <a:bodyPr wrap="square" lIns="0" tIns="0" rIns="0" bIns="0" rtlCol="0" anchor="t"/>
          <a:lstStyle/>
          <a:p>
            <a:pPr algn="l" indent="0" marL="0">
              <a:spcAft>
                <a:spcPts val="400"/>
              </a:spcAft>
              <a:buNone/>
            </a:pPr>
            <a:r>
              <a:rPr lang="en-US" sz="1300" b="1" dirty="0">
                <a:solidFill>
                  <a:srgbClr val="B9772A"/>
                </a:solidFill>
              </a:rPr>
              <a:t>+37 %</a:t>
            </a:r>
            <a:r>
              <a:rPr lang="en-US" sz="1300" dirty="0">
                <a:solidFill>
                  <a:srgbClr val="B9772A"/>
                </a:solidFill>
              </a:rPr>
              <a:t> — as the lecture predicted</a:t>
            </a:r>
            <a:endParaRPr lang="en-US" sz="1300" dirty="0"/>
          </a:p>
        </p:txBody>
      </p:sp>
      <p:sp>
        <p:nvSpPr>
          <p:cNvPr id="11" name="box"/>
          <p:cNvSpPr/>
          <p:nvPr/>
        </p:nvSpPr>
        <p:spPr>
          <a:xfrm>
            <a:off x="548640" y="3566160"/>
            <a:ext cx="11064240" cy="777240"/>
          </a:xfrm>
          <a:prstGeom prst="roundRect">
            <a:avLst>
              <a:gd name="adj" fmla="val 9412"/>
            </a:avLst>
          </a:prstGeom>
          <a:solidFill>
            <a:srgbClr val="F3EAD7"/>
          </a:solidFill>
          <a:ln w="12700">
            <a:solidFill>
              <a:srgbClr val="F3EAD7"/>
            </a:solidFill>
            <a:prstDash val="solid"/>
          </a:ln>
        </p:spPr>
      </p:sp>
      <p:sp>
        <p:nvSpPr>
          <p:cNvPr id="12" name="Text 9"/>
          <p:cNvSpPr txBox="1"/>
          <p:nvPr/>
        </p:nvSpPr>
        <p:spPr>
          <a:xfrm>
            <a:off x="548640" y="3566160"/>
            <a:ext cx="11064240" cy="777240"/>
          </a:xfrm>
          <a:prstGeom prst="rect">
            <a:avLst/>
          </a:prstGeom>
          <a:noFill/>
          <a:ln/>
        </p:spPr>
        <p:txBody>
          <a:bodyPr wrap="square" lIns="635" tIns="635" rIns="635" bIns="635" rtlCol="0" anchor="ctr"/>
          <a:lstStyle/>
          <a:p>
            <a:pPr algn="ctr" indent="0" marL="0">
              <a:buNone/>
            </a:pPr>
            <a:r>
              <a:rPr lang="en-US" sz="1300" dirty="0">
                <a:solidFill>
                  <a:srgbClr val="1B2430"/>
                </a:solidFill>
                <a:latin typeface="Consolas" pitchFamily="34" charset="0"/>
                <a:ea typeface="Consolas" pitchFamily="34" charset="-122"/>
                <a:cs typeface="Consolas" pitchFamily="34" charset="-120"/>
              </a:rPr>
              <a:t>Subject: Lab 5 report =?utf-8?b?4oCU?= first draft     →  4oCU = the dash “—” in UTF-8</a:t>
            </a:r>
            <a:endParaRPr lang="en-US" sz="1300" dirty="0"/>
          </a:p>
        </p:txBody>
      </p:sp>
      <p:sp>
        <p:nvSpPr>
          <p:cNvPr id="13" name="Shape 10"/>
          <p:cNvSpPr/>
          <p:nvPr/>
        </p:nvSpPr>
        <p:spPr>
          <a:xfrm>
            <a:off x="548640" y="4590288"/>
            <a:ext cx="384048" cy="384048"/>
          </a:xfrm>
          <a:prstGeom prst="ellipse">
            <a:avLst/>
          </a:prstGeom>
          <a:solidFill>
            <a:srgbClr val="B9772A"/>
          </a:solidFill>
          <a:ln w="12700">
            <a:solidFill>
              <a:srgbClr val="B9772A"/>
            </a:solidFill>
            <a:prstDash val="solid"/>
          </a:ln>
        </p:spPr>
      </p:sp>
      <p:sp>
        <p:nvSpPr>
          <p:cNvPr id="14" name="Text 11"/>
          <p:cNvSpPr txBox="1"/>
          <p:nvPr/>
        </p:nvSpPr>
        <p:spPr>
          <a:xfrm>
            <a:off x="548640" y="4590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5" name="Text 12"/>
          <p:cNvSpPr txBox="1"/>
          <p:nvPr/>
        </p:nvSpPr>
        <p:spPr>
          <a:xfrm>
            <a:off x="1051560" y="4572000"/>
            <a:ext cx="10561320" cy="96012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Q4–Q5 · Find the envelope in the debug output, multipart/mixed with its boundary, and the attachment’s base64 encoding.</a:t>
            </a:r>
            <a:endParaRPr lang="en-US" sz="1300" dirty="0"/>
          </a:p>
        </p:txBody>
      </p:sp>
      <p:sp>
        <p:nvSpPr>
          <p:cNvPr id="1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7" name="Text 1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MIME made visible: labels, boundaries, base64 and an encoded word.</a:t>
            </a:r>
            <a:endParaRPr lang="en-US" sz="1400" dirty="0"/>
          </a:p>
        </p:txBody>
      </p:sp>
      <p:sp>
        <p:nvSpPr>
          <p:cNvPr id="18" name="Text 1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MIME (Multipurpose Internet Mail Extensions) · UTF (Unicode Transformation Format)</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3 · POP3 by hand; an IMAP greeting over TLS</a:t>
            </a:r>
            <a:endParaRPr lang="en-US" sz="3000" dirty="0"/>
          </a:p>
        </p:txBody>
      </p:sp>
      <p:sp>
        <p:nvSpPr>
          <p:cNvPr id="4" name="code"/>
          <p:cNvSpPr/>
          <p:nvPr/>
        </p:nvSpPr>
        <p:spPr>
          <a:xfrm>
            <a:off x="548640" y="1280160"/>
            <a:ext cx="4937760" cy="4343400"/>
          </a:xfrm>
          <a:prstGeom prst="rect">
            <a:avLst/>
          </a:prstGeom>
          <a:solidFill>
            <a:srgbClr val="1E2A38"/>
          </a:solidFill>
          <a:ln w="12700">
            <a:solidFill>
              <a:srgbClr val="1E2A38"/>
            </a:solidFill>
            <a:prstDash val="solid"/>
          </a:ln>
        </p:spPr>
      </p:sp>
      <p:sp>
        <p:nvSpPr>
          <p:cNvPr id="5" name="Text 2"/>
          <p:cNvSpPr txBox="1"/>
          <p:nvPr/>
        </p:nvSpPr>
        <p:spPr>
          <a:xfrm>
            <a:off x="548640" y="1280160"/>
            <a:ext cx="4937760" cy="434340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USER bob          → +OK send PASS</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PASS secret       → +OK</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STAT              → +OK 2 41423</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LIST              → 1 215 / 2 41208 / .</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UIDL</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TOP 1 0</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RETR 1            → … .</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DELE 1</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RSET              → unmarked</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DELE 1</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QUIT              → +OK bye (1 deleted)</a:t>
            </a:r>
            <a:endParaRPr lang="en-US" sz="1100" dirty="0"/>
          </a:p>
        </p:txBody>
      </p:sp>
      <p:sp>
        <p:nvSpPr>
          <p:cNvPr id="6" name="code"/>
          <p:cNvSpPr/>
          <p:nvPr/>
        </p:nvSpPr>
        <p:spPr>
          <a:xfrm>
            <a:off x="5760720" y="1280160"/>
            <a:ext cx="5852160" cy="1783080"/>
          </a:xfrm>
          <a:prstGeom prst="rect">
            <a:avLst/>
          </a:prstGeom>
          <a:solidFill>
            <a:srgbClr val="1E2A38"/>
          </a:solidFill>
          <a:ln w="12700">
            <a:solidFill>
              <a:srgbClr val="1E2A38"/>
            </a:solidFill>
            <a:prstDash val="solid"/>
          </a:ln>
        </p:spPr>
      </p:sp>
      <p:sp>
        <p:nvSpPr>
          <p:cNvPr id="7" name="Text 4"/>
          <p:cNvSpPr txBox="1"/>
          <p:nvPr/>
        </p:nvSpPr>
        <p:spPr>
          <a:xfrm>
            <a:off x="5760720" y="1280160"/>
            <a:ext cx="5852160" cy="1783080"/>
          </a:xfrm>
          <a:prstGeom prst="rect">
            <a:avLst/>
          </a:prstGeom>
          <a:noFill/>
          <a:ln/>
        </p:spPr>
        <p:txBody>
          <a:bodyPr wrap="square" lIns="101600" tIns="101600" rIns="101600" bIns="101600" rtlCol="0" anchor="t"/>
          <a:lstStyle/>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python3 python/talk.py imap.gmail.com 993 --tls</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&lt;- * OK Gimap ready …</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a1 CAPABILITY</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&lt;- * CAPABILITY IMAP4rev1 … IDLE … AUTH=…</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&lt;- a1 OK Thats all she wrote!</a:t>
            </a:r>
            <a:endParaRPr lang="en-US" sz="1100" dirty="0"/>
          </a:p>
        </p:txBody>
      </p:sp>
      <p:sp>
        <p:nvSpPr>
          <p:cNvPr id="8" name="Shape 5"/>
          <p:cNvSpPr/>
          <p:nvPr/>
        </p:nvSpPr>
        <p:spPr>
          <a:xfrm>
            <a:off x="5760720" y="3310128"/>
            <a:ext cx="384048" cy="384048"/>
          </a:xfrm>
          <a:prstGeom prst="ellipse">
            <a:avLst/>
          </a:prstGeom>
          <a:solidFill>
            <a:srgbClr val="B9772A"/>
          </a:solidFill>
          <a:ln w="12700">
            <a:solidFill>
              <a:srgbClr val="B9772A"/>
            </a:solidFill>
            <a:prstDash val="solid"/>
          </a:ln>
        </p:spPr>
      </p:sp>
      <p:sp>
        <p:nvSpPr>
          <p:cNvPr id="9" name="Text 6"/>
          <p:cNvSpPr txBox="1"/>
          <p:nvPr/>
        </p:nvSpPr>
        <p:spPr>
          <a:xfrm>
            <a:off x="5760720" y="3310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7"/>
          <p:cNvSpPr txBox="1"/>
          <p:nvPr/>
        </p:nvSpPr>
        <p:spPr>
          <a:xfrm>
            <a:off x="6263640" y="3291840"/>
            <a:ext cx="5349240" cy="100584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Q6 · No QUIT → no UPDATE state → nothing deleted.</a:t>
            </a:r>
            <a:endParaRPr lang="en-US" sz="1300" dirty="0"/>
          </a:p>
        </p:txBody>
      </p:sp>
      <p:sp>
        <p:nvSpPr>
          <p:cNvPr id="11" name="Shape 8"/>
          <p:cNvSpPr/>
          <p:nvPr/>
        </p:nvSpPr>
        <p:spPr>
          <a:xfrm>
            <a:off x="5760720" y="4453128"/>
            <a:ext cx="384048" cy="384048"/>
          </a:xfrm>
          <a:prstGeom prst="ellipse">
            <a:avLst/>
          </a:prstGeom>
          <a:solidFill>
            <a:srgbClr val="B9772A"/>
          </a:solidFill>
          <a:ln w="12700">
            <a:solidFill>
              <a:srgbClr val="B9772A"/>
            </a:solidFill>
            <a:prstDash val="solid"/>
          </a:ln>
        </p:spPr>
      </p:sp>
      <p:sp>
        <p:nvSpPr>
          <p:cNvPr id="12" name="Text 9"/>
          <p:cNvSpPr txBox="1"/>
          <p:nvPr/>
        </p:nvSpPr>
        <p:spPr>
          <a:xfrm>
            <a:off x="576072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6263640" y="4434840"/>
            <a:ext cx="5349240" cy="11430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Q7 · Tagged (a1) and untagged (*) lines; tcpdump sees only TLS records.</a:t>
            </a:r>
            <a:endParaRPr lang="en-US" sz="1300" dirty="0"/>
          </a:p>
        </p:txBody>
      </p:sp>
      <p:sp>
        <p:nvSpPr>
          <p:cNvPr id="1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5" name="Text 1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POP3 by hand shows its three states; the IMAP greeting shows a much larger protocol behind TLS.</a:t>
            </a:r>
            <a:endParaRPr lang="en-US" sz="1400" dirty="0"/>
          </a:p>
        </p:txBody>
      </p:sp>
      <p:sp>
        <p:nvSpPr>
          <p:cNvPr id="16" name="Text 13"/>
          <p:cNvSpPr txBox="1"/>
          <p:nvPr/>
        </p:nvSpPr>
        <p:spPr>
          <a:xfrm>
            <a:off x="731520" y="6089904"/>
            <a:ext cx="10789920" cy="310896"/>
          </a:xfrm>
          <a:prstGeom prst="rect">
            <a:avLst/>
          </a:prstGeom>
          <a:noFill/>
          <a:ln/>
        </p:spPr>
        <p:txBody>
          <a:bodyPr wrap="square" lIns="0" tIns="0" rIns="0" bIns="0" rtlCol="0" anchor="ctr"/>
          <a:lstStyle/>
          <a:p>
            <a:pPr indent="0" marL="0">
              <a:lnSpc>
                <a:spcPct val="90000"/>
              </a:lnSpc>
              <a:buNone/>
            </a:pPr>
            <a:r>
              <a:rPr lang="en-US" sz="750" dirty="0">
                <a:solidFill>
                  <a:srgbClr val="5B6770"/>
                </a:solidFill>
              </a:rPr>
              <a:t>POP3 (Post Office Protocol version 3) · IMAP (Internet Message Access Protocol) · UIDL (unique-id listing) · STAT (status) · RETR (retrieve) · RSET (reset) · TLS (Transport Layer Security)</a:t>
            </a:r>
            <a:endParaRPr lang="en-US" sz="7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4 · DNS with dig</a:t>
            </a:r>
            <a:endParaRPr lang="en-US" sz="3000" dirty="0"/>
          </a:p>
        </p:txBody>
      </p:sp>
      <p:sp>
        <p:nvSpPr>
          <p:cNvPr id="4" name="code"/>
          <p:cNvSpPr/>
          <p:nvPr/>
        </p:nvSpPr>
        <p:spPr>
          <a:xfrm>
            <a:off x="548640" y="1280160"/>
            <a:ext cx="6400800" cy="4343400"/>
          </a:xfrm>
          <a:prstGeom prst="rect">
            <a:avLst/>
          </a:prstGeom>
          <a:solidFill>
            <a:srgbClr val="1E2A38"/>
          </a:solidFill>
          <a:ln w="12700">
            <a:solidFill>
              <a:srgbClr val="1E2A38"/>
            </a:solidFill>
            <a:prstDash val="solid"/>
          </a:ln>
        </p:spPr>
      </p:sp>
      <p:sp>
        <p:nvSpPr>
          <p:cNvPr id="5" name="Text 2"/>
          <p:cNvSpPr txBox="1"/>
          <p:nvPr/>
        </p:nvSpPr>
        <p:spPr>
          <a:xfrm>
            <a:off x="548640" y="1280160"/>
            <a:ext cx="6400800" cy="4343400"/>
          </a:xfrm>
          <a:prstGeom prst="rect">
            <a:avLst/>
          </a:prstGeom>
          <a:noFill/>
          <a:ln/>
        </p:spPr>
        <p:txBody>
          <a:bodyPr wrap="square" lIns="101600" tIns="101600" rIns="101600" bIns="101600" rtlCol="0" anchor="t"/>
          <a:lstStyle/>
          <a:p>
            <a:pPr algn="l" indent="0" marL="0">
              <a:spcAft>
                <a:spcPts val="300"/>
              </a:spcAft>
              <a:buNone/>
            </a:pPr>
            <a:r>
              <a:rPr lang="en-US" sz="1100" dirty="0">
                <a:solidFill>
                  <a:srgbClr val="E8EEF4"/>
                </a:solidFill>
                <a:latin typeface="Consolas" pitchFamily="34" charset="0"/>
                <a:ea typeface="Consolas" pitchFamily="34" charset="-122"/>
                <a:cs typeface="Consolas" pitchFamily="34" charset="-120"/>
              </a:rPr>
              <a:t>dig www.unibuc.ro</a:t>
            </a:r>
            <a:endParaRPr lang="en-US" sz="1100" dirty="0"/>
          </a:p>
          <a:p>
            <a:pPr algn="l" indent="0" marL="0">
              <a:spcAft>
                <a:spcPts val="300"/>
              </a:spcAft>
              <a:buNone/>
            </a:pPr>
            <a:r>
              <a:rPr lang="en-US" sz="1100" dirty="0">
                <a:solidFill>
                  <a:srgbClr val="E8EEF4"/>
                </a:solidFill>
                <a:latin typeface="Consolas" pitchFamily="34" charset="0"/>
                <a:ea typeface="Consolas" pitchFamily="34" charset="-122"/>
                <a:cs typeface="Consolas" pitchFamily="34" charset="-120"/>
              </a:rPr>
              <a:t>dig +short unibuc.ro MX ; dig +short unibuc.ro NS</a:t>
            </a:r>
            <a:endParaRPr lang="en-US" sz="1100" dirty="0"/>
          </a:p>
          <a:p>
            <a:pPr algn="l" indent="0" marL="0">
              <a:spcAft>
                <a:spcPts val="300"/>
              </a:spcAft>
              <a:buNone/>
            </a:pPr>
            <a:r>
              <a:rPr lang="en-US" sz="1100" dirty="0">
                <a:solidFill>
                  <a:srgbClr val="E8EEF4"/>
                </a:solidFill>
                <a:latin typeface="Consolas" pitchFamily="34" charset="0"/>
                <a:ea typeface="Consolas" pitchFamily="34" charset="-122"/>
                <a:cs typeface="Consolas" pitchFamily="34" charset="-120"/>
              </a:rPr>
              <a:t>dig +trace www.unibuc.ro</a:t>
            </a:r>
            <a:endParaRPr lang="en-US" sz="1100" dirty="0"/>
          </a:p>
          <a:p>
            <a:pPr algn="l" indent="0" marL="0">
              <a:spcAft>
                <a:spcPts val="300"/>
              </a:spcAft>
              <a:buNone/>
            </a:pPr>
            <a:r>
              <a:rPr lang="en-US" sz="1100" dirty="0">
                <a:solidFill>
                  <a:srgbClr val="E8EEF4"/>
                </a:solidFill>
                <a:latin typeface="Consolas" pitchFamily="34" charset="0"/>
                <a:ea typeface="Consolas" pitchFamily="34" charset="-122"/>
                <a:cs typeface="Consolas" pitchFamily="34" charset="-120"/>
              </a:rPr>
              <a:t>dig +norecurse @a.root-servers.net www.unibuc.ro</a:t>
            </a:r>
            <a:endParaRPr lang="en-US" sz="1100" dirty="0"/>
          </a:p>
          <a:p>
            <a:pPr algn="l" indent="0" marL="0">
              <a:spcAft>
                <a:spcPts val="300"/>
              </a:spcAft>
              <a:buNone/>
            </a:pPr>
            <a:r>
              <a:rPr lang="en-US" sz="1100" dirty="0">
                <a:solidFill>
                  <a:srgbClr val="E8EEF4"/>
                </a:solidFill>
                <a:latin typeface="Consolas" pitchFamily="34" charset="0"/>
                <a:ea typeface="Consolas" pitchFamily="34" charset="-122"/>
                <a:cs typeface="Consolas" pitchFamily="34" charset="-120"/>
              </a:rPr>
              <a:t>dig @1.1.1.1 www.google.com A     # twice: TTL</a:t>
            </a:r>
            <a:endParaRPr lang="en-US" sz="1100" dirty="0"/>
          </a:p>
          <a:p>
            <a:pPr algn="l" indent="0" marL="0">
              <a:spcAft>
                <a:spcPts val="300"/>
              </a:spcAft>
              <a:buNone/>
            </a:pPr>
            <a:r>
              <a:rPr lang="en-US" sz="1100" dirty="0">
                <a:solidFill>
                  <a:srgbClr val="E8EEF4"/>
                </a:solidFill>
                <a:latin typeface="Consolas" pitchFamily="34" charset="0"/>
                <a:ea typeface="Consolas" pitchFamily="34" charset="-122"/>
                <a:cs typeface="Consolas" pitchFamily="34" charset="-120"/>
              </a:rPr>
              <a:t>dig gmail.com TXT ; dig _dmarc.gmail.com TXT</a:t>
            </a:r>
            <a:endParaRPr lang="en-US" sz="1100" dirty="0"/>
          </a:p>
          <a:p>
            <a:pPr algn="l" indent="0" marL="0">
              <a:spcAft>
                <a:spcPts val="300"/>
              </a:spcAft>
              <a:buNone/>
            </a:pPr>
            <a:r>
              <a:rPr lang="en-US" sz="1100" dirty="0">
                <a:solidFill>
                  <a:srgbClr val="E8EEF4"/>
                </a:solidFill>
                <a:latin typeface="Consolas" pitchFamily="34" charset="0"/>
                <a:ea typeface="Consolas" pitchFamily="34" charset="-122"/>
                <a:cs typeface="Consolas" pitchFamily="34" charset="-120"/>
              </a:rPr>
              <a:t>dig -x 8.8.8.8</a:t>
            </a:r>
            <a:endParaRPr lang="en-US" sz="1100" dirty="0"/>
          </a:p>
          <a:p>
            <a:pPr algn="l" indent="0" marL="0">
              <a:spcAft>
                <a:spcPts val="300"/>
              </a:spcAft>
              <a:buNone/>
            </a:pPr>
            <a:r>
              <a:rPr lang="en-US" sz="1100" dirty="0">
                <a:solidFill>
                  <a:srgbClr val="E8EEF4"/>
                </a:solidFill>
                <a:latin typeface="Consolas" pitchFamily="34" charset="0"/>
                <a:ea typeface="Consolas" pitchFamily="34" charset="-122"/>
                <a:cs typeface="Consolas" pitchFamily="34" charset="-120"/>
              </a:rPr>
              <a:t>dig +dnssec unibuc.ro SOA</a:t>
            </a:r>
            <a:endParaRPr lang="en-US" sz="1100" dirty="0"/>
          </a:p>
          <a:p>
            <a:pPr algn="l" indent="0" marL="0">
              <a:spcAft>
                <a:spcPts val="300"/>
              </a:spcAft>
              <a:buNone/>
            </a:pPr>
            <a:r>
              <a:rPr lang="en-US" sz="1100" dirty="0">
                <a:solidFill>
                  <a:srgbClr val="E8EEF4"/>
                </a:solidFill>
                <a:latin typeface="Consolas" pitchFamily="34" charset="0"/>
                <a:ea typeface="Consolas" pitchFamily="34" charset="-122"/>
                <a:cs typeface="Consolas" pitchFamily="34" charset="-120"/>
              </a:rPr>
              <a:t>curl -s -H 'accept: application/dns-json' \</a:t>
            </a:r>
            <a:endParaRPr lang="en-US" sz="1100" dirty="0"/>
          </a:p>
          <a:p>
            <a:pPr algn="l" indent="0" marL="0">
              <a:spcAft>
                <a:spcPts val="300"/>
              </a:spcAft>
              <a:buNone/>
            </a:pPr>
            <a:r>
              <a:rPr lang="en-US" sz="1100" dirty="0">
                <a:solidFill>
                  <a:srgbClr val="E8EEF4"/>
                </a:solidFill>
                <a:latin typeface="Consolas" pitchFamily="34" charset="0"/>
                <a:ea typeface="Consolas" pitchFamily="34" charset="-122"/>
                <a:cs typeface="Consolas" pitchFamily="34" charset="-120"/>
              </a:rPr>
              <a:t>  'https://cloudflare-dns.com/dns-query?name=unibuc.ro&amp;type=MX'</a:t>
            </a:r>
            <a:endParaRPr lang="en-US" sz="1100" dirty="0"/>
          </a:p>
        </p:txBody>
      </p:sp>
      <p:sp>
        <p:nvSpPr>
          <p:cNvPr id="6" name="box"/>
          <p:cNvSpPr/>
          <p:nvPr/>
        </p:nvSpPr>
        <p:spPr>
          <a:xfrm>
            <a:off x="7223760" y="1280160"/>
            <a:ext cx="4389120" cy="731520"/>
          </a:xfrm>
          <a:prstGeom prst="roundRect">
            <a:avLst>
              <a:gd name="adj" fmla="val 10000"/>
            </a:avLst>
          </a:prstGeom>
          <a:solidFill>
            <a:srgbClr val="1F3A5F"/>
          </a:solidFill>
          <a:ln w="12700">
            <a:solidFill>
              <a:srgbClr val="1F3A5F"/>
            </a:solidFill>
            <a:prstDash val="solid"/>
          </a:ln>
        </p:spPr>
      </p:sp>
      <p:sp>
        <p:nvSpPr>
          <p:cNvPr id="7" name="Text 4"/>
          <p:cNvSpPr txBox="1"/>
          <p:nvPr/>
        </p:nvSpPr>
        <p:spPr>
          <a:xfrm>
            <a:off x="7223760" y="1280160"/>
            <a:ext cx="4389120" cy="731520"/>
          </a:xfrm>
          <a:prstGeom prst="rect">
            <a:avLst/>
          </a:prstGeom>
          <a:noFill/>
          <a:ln/>
        </p:spPr>
        <p:txBody>
          <a:bodyPr wrap="square" lIns="635" tIns="635" rIns="635" bIns="635" rtlCol="0" anchor="ctr"/>
          <a:lstStyle/>
          <a:p>
            <a:pPr algn="ctr" indent="0" marL="0">
              <a:buNone/>
            </a:pPr>
            <a:r>
              <a:rPr lang="en-US" sz="1200" b="1" dirty="0">
                <a:solidFill>
                  <a:srgbClr val="FFFFFF"/>
                </a:solidFill>
              </a:rPr>
              <a:t>header line</a:t>
            </a:r>
            <a:endParaRPr lang="en-US" sz="1200" dirty="0"/>
          </a:p>
          <a:p>
            <a:pPr algn="ctr" indent="0" marL="0">
              <a:buNone/>
            </a:pPr>
            <a:r>
              <a:rPr lang="en-US" sz="1200" dirty="0">
                <a:solidFill>
                  <a:srgbClr val="FFFFFF"/>
                </a:solidFill>
              </a:rPr>
              <a:t>qr rd ra (aa?) · status</a:t>
            </a:r>
            <a:endParaRPr lang="en-US" sz="1200" dirty="0"/>
          </a:p>
        </p:txBody>
      </p:sp>
      <p:sp>
        <p:nvSpPr>
          <p:cNvPr id="8" name="box"/>
          <p:cNvSpPr/>
          <p:nvPr/>
        </p:nvSpPr>
        <p:spPr>
          <a:xfrm>
            <a:off x="7223760" y="2148840"/>
            <a:ext cx="4389120" cy="731520"/>
          </a:xfrm>
          <a:prstGeom prst="roundRect">
            <a:avLst>
              <a:gd name="adj" fmla="val 10000"/>
            </a:avLst>
          </a:prstGeom>
          <a:solidFill>
            <a:srgbClr val="2A7F8E"/>
          </a:solidFill>
          <a:ln w="12700">
            <a:solidFill>
              <a:srgbClr val="2A7F8E"/>
            </a:solidFill>
            <a:prstDash val="solid"/>
          </a:ln>
        </p:spPr>
      </p:sp>
      <p:sp>
        <p:nvSpPr>
          <p:cNvPr id="9" name="Text 6"/>
          <p:cNvSpPr txBox="1"/>
          <p:nvPr/>
        </p:nvSpPr>
        <p:spPr>
          <a:xfrm>
            <a:off x="7223760" y="2148840"/>
            <a:ext cx="4389120" cy="731520"/>
          </a:xfrm>
          <a:prstGeom prst="rect">
            <a:avLst/>
          </a:prstGeom>
          <a:noFill/>
          <a:ln/>
        </p:spPr>
        <p:txBody>
          <a:bodyPr wrap="square" lIns="635" tIns="635" rIns="635" bIns="635" rtlCol="0" anchor="ctr"/>
          <a:lstStyle/>
          <a:p>
            <a:pPr algn="ctr" indent="0" marL="0">
              <a:buNone/>
            </a:pPr>
            <a:r>
              <a:rPr lang="en-US" sz="1200" b="1" dirty="0">
                <a:solidFill>
                  <a:srgbClr val="FFFFFF"/>
                </a:solidFill>
              </a:rPr>
              <a:t>+trace</a:t>
            </a:r>
            <a:endParaRPr lang="en-US" sz="1200" dirty="0"/>
          </a:p>
          <a:p>
            <a:pPr algn="ctr" indent="0" marL="0">
              <a:buNone/>
            </a:pPr>
            <a:r>
              <a:rPr lang="en-US" sz="1200" dirty="0">
                <a:solidFill>
                  <a:srgbClr val="FFFFFF"/>
                </a:solidFill>
              </a:rPr>
              <a:t>. → ro. → unibuc.ro.</a:t>
            </a:r>
            <a:endParaRPr lang="en-US" sz="1200" dirty="0"/>
          </a:p>
        </p:txBody>
      </p:sp>
      <p:sp>
        <p:nvSpPr>
          <p:cNvPr id="10" name="box"/>
          <p:cNvSpPr/>
          <p:nvPr/>
        </p:nvSpPr>
        <p:spPr>
          <a:xfrm>
            <a:off x="7223760" y="3017520"/>
            <a:ext cx="4389120" cy="731520"/>
          </a:xfrm>
          <a:prstGeom prst="roundRect">
            <a:avLst>
              <a:gd name="adj" fmla="val 10000"/>
            </a:avLst>
          </a:prstGeom>
          <a:solidFill>
            <a:srgbClr val="B9772A"/>
          </a:solidFill>
          <a:ln w="12700">
            <a:solidFill>
              <a:srgbClr val="B9772A"/>
            </a:solidFill>
            <a:prstDash val="solid"/>
          </a:ln>
        </p:spPr>
      </p:sp>
      <p:sp>
        <p:nvSpPr>
          <p:cNvPr id="11" name="Text 8"/>
          <p:cNvSpPr txBox="1"/>
          <p:nvPr/>
        </p:nvSpPr>
        <p:spPr>
          <a:xfrm>
            <a:off x="7223760" y="3017520"/>
            <a:ext cx="4389120" cy="731520"/>
          </a:xfrm>
          <a:prstGeom prst="rect">
            <a:avLst/>
          </a:prstGeom>
          <a:noFill/>
          <a:ln/>
        </p:spPr>
        <p:txBody>
          <a:bodyPr wrap="square" lIns="635" tIns="635" rIns="635" bIns="635" rtlCol="0" anchor="ctr"/>
          <a:lstStyle/>
          <a:p>
            <a:pPr algn="ctr" indent="0" marL="0">
              <a:buNone/>
            </a:pPr>
            <a:r>
              <a:rPr lang="en-US" sz="1200" b="1" dirty="0">
                <a:solidFill>
                  <a:srgbClr val="FFFFFF"/>
                </a:solidFill>
              </a:rPr>
              <a:t>+norecurse at a root</a:t>
            </a:r>
            <a:endParaRPr lang="en-US" sz="1200" dirty="0"/>
          </a:p>
          <a:p>
            <a:pPr algn="ctr" indent="0" marL="0">
              <a:buNone/>
            </a:pPr>
            <a:r>
              <a:rPr lang="en-US" sz="1200" dirty="0">
                <a:solidFill>
                  <a:srgbClr val="FFFFFF"/>
                </a:solidFill>
              </a:rPr>
              <a:t>AUTHORITY: ro. NS … · ADDITIONAL: glue</a:t>
            </a:r>
            <a:endParaRPr lang="en-US" sz="1200" dirty="0"/>
          </a:p>
        </p:txBody>
      </p:sp>
      <p:sp>
        <p:nvSpPr>
          <p:cNvPr id="12" name="box"/>
          <p:cNvSpPr/>
          <p:nvPr/>
        </p:nvSpPr>
        <p:spPr>
          <a:xfrm>
            <a:off x="7223760" y="3886200"/>
            <a:ext cx="4389120" cy="731520"/>
          </a:xfrm>
          <a:prstGeom prst="roundRect">
            <a:avLst>
              <a:gd name="adj" fmla="val 10000"/>
            </a:avLst>
          </a:prstGeom>
          <a:solidFill>
            <a:srgbClr val="2E7D4F"/>
          </a:solidFill>
          <a:ln w="12700">
            <a:solidFill>
              <a:srgbClr val="2E7D4F"/>
            </a:solidFill>
            <a:prstDash val="solid"/>
          </a:ln>
        </p:spPr>
      </p:sp>
      <p:sp>
        <p:nvSpPr>
          <p:cNvPr id="13" name="Text 10"/>
          <p:cNvSpPr txBox="1"/>
          <p:nvPr/>
        </p:nvSpPr>
        <p:spPr>
          <a:xfrm>
            <a:off x="7223760" y="3886200"/>
            <a:ext cx="4389120" cy="731520"/>
          </a:xfrm>
          <a:prstGeom prst="rect">
            <a:avLst/>
          </a:prstGeom>
          <a:noFill/>
          <a:ln/>
        </p:spPr>
        <p:txBody>
          <a:bodyPr wrap="square" lIns="635" tIns="635" rIns="635" bIns="635" rtlCol="0" anchor="ctr"/>
          <a:lstStyle/>
          <a:p>
            <a:pPr algn="ctr" indent="0" marL="0">
              <a:buNone/>
            </a:pPr>
            <a:r>
              <a:rPr lang="en-US" sz="1200" b="1" dirty="0">
                <a:solidFill>
                  <a:srgbClr val="FFFFFF"/>
                </a:solidFill>
              </a:rPr>
              <a:t>TTL</a:t>
            </a:r>
            <a:endParaRPr lang="en-US" sz="1200" dirty="0"/>
          </a:p>
          <a:p>
            <a:pPr algn="ctr" indent="0" marL="0">
              <a:buNone/>
            </a:pPr>
            <a:r>
              <a:rPr lang="en-US" sz="1200" dirty="0">
                <a:solidFill>
                  <a:srgbClr val="FFFFFF"/>
                </a:solidFill>
              </a:rPr>
              <a:t>300 … then 287</a:t>
            </a:r>
            <a:endParaRPr lang="en-US" sz="1200" dirty="0"/>
          </a:p>
        </p:txBody>
      </p:sp>
      <p:sp>
        <p:nvSpPr>
          <p:cNvPr id="14" name="box"/>
          <p:cNvSpPr/>
          <p:nvPr/>
        </p:nvSpPr>
        <p:spPr>
          <a:xfrm>
            <a:off x="7223760" y="4754880"/>
            <a:ext cx="4389120" cy="731520"/>
          </a:xfrm>
          <a:prstGeom prst="roundRect">
            <a:avLst>
              <a:gd name="adj" fmla="val 10000"/>
            </a:avLst>
          </a:prstGeom>
          <a:solidFill>
            <a:srgbClr val="A23B3B"/>
          </a:solidFill>
          <a:ln w="12700">
            <a:solidFill>
              <a:srgbClr val="A23B3B"/>
            </a:solidFill>
            <a:prstDash val="solid"/>
          </a:ln>
        </p:spPr>
      </p:sp>
      <p:sp>
        <p:nvSpPr>
          <p:cNvPr id="15" name="Text 12"/>
          <p:cNvSpPr txBox="1"/>
          <p:nvPr/>
        </p:nvSpPr>
        <p:spPr>
          <a:xfrm>
            <a:off x="7223760" y="4754880"/>
            <a:ext cx="4389120" cy="731520"/>
          </a:xfrm>
          <a:prstGeom prst="rect">
            <a:avLst/>
          </a:prstGeom>
          <a:noFill/>
          <a:ln/>
        </p:spPr>
        <p:txBody>
          <a:bodyPr wrap="square" lIns="635" tIns="635" rIns="635" bIns="635" rtlCol="0" anchor="ctr"/>
          <a:lstStyle/>
          <a:p>
            <a:pPr algn="ctr" indent="0" marL="0">
              <a:buNone/>
            </a:pPr>
            <a:r>
              <a:rPr lang="en-US" sz="1200" b="1" dirty="0">
                <a:solidFill>
                  <a:srgbClr val="FFFFFF"/>
                </a:solidFill>
              </a:rPr>
              <a:t>DoH</a:t>
            </a:r>
            <a:endParaRPr lang="en-US" sz="1200" dirty="0"/>
          </a:p>
          <a:p>
            <a:pPr algn="ctr" indent="0" marL="0">
              <a:buNone/>
            </a:pPr>
            <a:r>
              <a:rPr lang="en-US" sz="1200" dirty="0">
                <a:solidFill>
                  <a:srgbClr val="FFFFFF"/>
                </a:solidFill>
              </a:rPr>
              <a:t>invisible to tcpdump port 53</a:t>
            </a:r>
            <a:endParaRPr lang="en-US" sz="1200" dirty="0"/>
          </a:p>
        </p:txBody>
      </p:sp>
      <p:sp>
        <p:nvSpPr>
          <p:cNvPr id="16"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7" name="Text 14"/>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Q8–Q10 · dig is the stethoscope of DNS: flags, sections, referrals and TTLs at a glance.</a:t>
            </a:r>
            <a:endParaRPr lang="en-US" sz="1400" dirty="0"/>
          </a:p>
        </p:txBody>
      </p:sp>
      <p:sp>
        <p:nvSpPr>
          <p:cNvPr id="18" name="Text 15"/>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DNS (Domain Name System) · SOA (start of authority) · TXT (text) · TTL (time to live) · DoH (DNS over HTTPS) · MX (mail exchanger) · NS (name server)</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5 · A DNS client in C: what the program does</a:t>
            </a:r>
            <a:endParaRPr lang="en-US" sz="3000" dirty="0"/>
          </a:p>
        </p:txBody>
      </p:sp>
      <p:sp>
        <p:nvSpPr>
          <p:cNvPr id="4" name="box"/>
          <p:cNvSpPr/>
          <p:nvPr/>
        </p:nvSpPr>
        <p:spPr>
          <a:xfrm>
            <a:off x="548640" y="1280160"/>
            <a:ext cx="6949440" cy="493776"/>
          </a:xfrm>
          <a:prstGeom prst="roundRect">
            <a:avLst>
              <a:gd name="adj" fmla="val 14815"/>
            </a:avLst>
          </a:prstGeom>
          <a:solidFill>
            <a:srgbClr val="1F3A5F"/>
          </a:solidFill>
          <a:ln w="12700">
            <a:solidFill>
              <a:srgbClr val="1F3A5F"/>
            </a:solidFill>
            <a:prstDash val="solid"/>
          </a:ln>
        </p:spPr>
      </p:sp>
      <p:sp>
        <p:nvSpPr>
          <p:cNvPr id="5" name="Text 2"/>
          <p:cNvSpPr txBox="1"/>
          <p:nvPr/>
        </p:nvSpPr>
        <p:spPr>
          <a:xfrm>
            <a:off x="548640" y="1280160"/>
            <a:ext cx="6949440" cy="493776"/>
          </a:xfrm>
          <a:prstGeom prst="rect">
            <a:avLst/>
          </a:prstGeom>
          <a:noFill/>
          <a:ln/>
        </p:spPr>
        <p:txBody>
          <a:bodyPr wrap="square" lIns="635" tIns="635" rIns="635" bIns="635" rtlCol="0" anchor="ctr"/>
          <a:lstStyle/>
          <a:p>
            <a:pPr algn="ctr" indent="0" marL="0">
              <a:buNone/>
            </a:pPr>
            <a:r>
              <a:rPr lang="en-US" sz="1200" dirty="0">
                <a:solidFill>
                  <a:srgbClr val="FFFFFF"/>
                </a:solidFill>
              </a:rPr>
              <a:t>header: ID random, flags 0x0100 (RD), QDCOUNT 1</a:t>
            </a:r>
            <a:endParaRPr lang="en-US" sz="1200" dirty="0"/>
          </a:p>
        </p:txBody>
      </p:sp>
      <p:sp>
        <p:nvSpPr>
          <p:cNvPr id="6" name="Shape 3"/>
          <p:cNvSpPr/>
          <p:nvPr/>
        </p:nvSpPr>
        <p:spPr>
          <a:xfrm>
            <a:off x="4023360" y="1773936"/>
            <a:ext cx="914" cy="109728"/>
          </a:xfrm>
          <a:prstGeom prst="line">
            <a:avLst/>
          </a:prstGeom>
          <a:noFill/>
          <a:ln w="12700">
            <a:solidFill>
              <a:srgbClr val="9AA5AE"/>
            </a:solidFill>
            <a:prstDash val="solid"/>
            <a:tailEnd type="triangle"/>
          </a:ln>
        </p:spPr>
      </p:sp>
      <p:sp>
        <p:nvSpPr>
          <p:cNvPr id="7" name="box"/>
          <p:cNvSpPr/>
          <p:nvPr/>
        </p:nvSpPr>
        <p:spPr>
          <a:xfrm>
            <a:off x="548640" y="1883664"/>
            <a:ext cx="6949440" cy="493776"/>
          </a:xfrm>
          <a:prstGeom prst="roundRect">
            <a:avLst>
              <a:gd name="adj" fmla="val 14815"/>
            </a:avLst>
          </a:prstGeom>
          <a:solidFill>
            <a:srgbClr val="2A7F8E"/>
          </a:solidFill>
          <a:ln w="12700">
            <a:solidFill>
              <a:srgbClr val="2A7F8E"/>
            </a:solidFill>
            <a:prstDash val="solid"/>
          </a:ln>
        </p:spPr>
      </p:sp>
      <p:sp>
        <p:nvSpPr>
          <p:cNvPr id="8" name="Text 5"/>
          <p:cNvSpPr txBox="1"/>
          <p:nvPr/>
        </p:nvSpPr>
        <p:spPr>
          <a:xfrm>
            <a:off x="548640" y="1883664"/>
            <a:ext cx="6949440" cy="493776"/>
          </a:xfrm>
          <a:prstGeom prst="rect">
            <a:avLst/>
          </a:prstGeom>
          <a:noFill/>
          <a:ln/>
        </p:spPr>
        <p:txBody>
          <a:bodyPr wrap="square" lIns="635" tIns="635" rIns="635" bIns="635" rtlCol="0" anchor="ctr"/>
          <a:lstStyle/>
          <a:p>
            <a:pPr algn="ctr" indent="0" marL="0">
              <a:buNone/>
            </a:pPr>
            <a:r>
              <a:rPr lang="en-US" sz="1200" dirty="0">
                <a:solidFill>
                  <a:srgbClr val="FFFFFF"/>
                </a:solidFill>
              </a:rPr>
              <a:t>name → labels: 03 www 06 unibuc 02 ro 00</a:t>
            </a:r>
            <a:endParaRPr lang="en-US" sz="1200" dirty="0"/>
          </a:p>
        </p:txBody>
      </p:sp>
      <p:sp>
        <p:nvSpPr>
          <p:cNvPr id="9" name="Shape 6"/>
          <p:cNvSpPr/>
          <p:nvPr/>
        </p:nvSpPr>
        <p:spPr>
          <a:xfrm>
            <a:off x="4023360" y="2377440"/>
            <a:ext cx="914" cy="109728"/>
          </a:xfrm>
          <a:prstGeom prst="line">
            <a:avLst/>
          </a:prstGeom>
          <a:noFill/>
          <a:ln w="12700">
            <a:solidFill>
              <a:srgbClr val="9AA5AE"/>
            </a:solidFill>
            <a:prstDash val="solid"/>
            <a:tailEnd type="triangle"/>
          </a:ln>
        </p:spPr>
      </p:sp>
      <p:sp>
        <p:nvSpPr>
          <p:cNvPr id="10" name="box"/>
          <p:cNvSpPr/>
          <p:nvPr/>
        </p:nvSpPr>
        <p:spPr>
          <a:xfrm>
            <a:off x="548640" y="2487168"/>
            <a:ext cx="6949440" cy="493776"/>
          </a:xfrm>
          <a:prstGeom prst="roundRect">
            <a:avLst>
              <a:gd name="adj" fmla="val 14815"/>
            </a:avLst>
          </a:prstGeom>
          <a:solidFill>
            <a:srgbClr val="2A7F8E"/>
          </a:solidFill>
          <a:ln w="12700">
            <a:solidFill>
              <a:srgbClr val="2A7F8E"/>
            </a:solidFill>
            <a:prstDash val="solid"/>
          </a:ln>
        </p:spPr>
      </p:sp>
      <p:sp>
        <p:nvSpPr>
          <p:cNvPr id="11" name="Text 8"/>
          <p:cNvSpPr txBox="1"/>
          <p:nvPr/>
        </p:nvSpPr>
        <p:spPr>
          <a:xfrm>
            <a:off x="548640" y="2487168"/>
            <a:ext cx="6949440" cy="493776"/>
          </a:xfrm>
          <a:prstGeom prst="rect">
            <a:avLst/>
          </a:prstGeom>
          <a:noFill/>
          <a:ln/>
        </p:spPr>
        <p:txBody>
          <a:bodyPr wrap="square" lIns="635" tIns="635" rIns="635" bIns="635" rtlCol="0" anchor="ctr"/>
          <a:lstStyle/>
          <a:p>
            <a:pPr algn="ctr" indent="0" marL="0">
              <a:buNone/>
            </a:pPr>
            <a:r>
              <a:rPr lang="en-US" sz="1200" dirty="0">
                <a:solidFill>
                  <a:srgbClr val="FFFFFF"/>
                </a:solidFill>
              </a:rPr>
              <a:t>QTYPE, QCLASS = IN</a:t>
            </a:r>
            <a:endParaRPr lang="en-US" sz="1200" dirty="0"/>
          </a:p>
        </p:txBody>
      </p:sp>
      <p:sp>
        <p:nvSpPr>
          <p:cNvPr id="12" name="Shape 9"/>
          <p:cNvSpPr/>
          <p:nvPr/>
        </p:nvSpPr>
        <p:spPr>
          <a:xfrm>
            <a:off x="4023360" y="2980944"/>
            <a:ext cx="914" cy="109728"/>
          </a:xfrm>
          <a:prstGeom prst="line">
            <a:avLst/>
          </a:prstGeom>
          <a:noFill/>
          <a:ln w="12700">
            <a:solidFill>
              <a:srgbClr val="9AA5AE"/>
            </a:solidFill>
            <a:prstDash val="solid"/>
            <a:tailEnd type="triangle"/>
          </a:ln>
        </p:spPr>
      </p:sp>
      <p:sp>
        <p:nvSpPr>
          <p:cNvPr id="13" name="box"/>
          <p:cNvSpPr/>
          <p:nvPr/>
        </p:nvSpPr>
        <p:spPr>
          <a:xfrm>
            <a:off x="548640" y="3090672"/>
            <a:ext cx="6949440" cy="493776"/>
          </a:xfrm>
          <a:prstGeom prst="roundRect">
            <a:avLst>
              <a:gd name="adj" fmla="val 14815"/>
            </a:avLst>
          </a:prstGeom>
          <a:solidFill>
            <a:srgbClr val="5B6770"/>
          </a:solidFill>
          <a:ln w="12700">
            <a:solidFill>
              <a:srgbClr val="5B6770"/>
            </a:solidFill>
            <a:prstDash val="solid"/>
          </a:ln>
        </p:spPr>
      </p:sp>
      <p:sp>
        <p:nvSpPr>
          <p:cNvPr id="14" name="Text 11"/>
          <p:cNvSpPr txBox="1"/>
          <p:nvPr/>
        </p:nvSpPr>
        <p:spPr>
          <a:xfrm>
            <a:off x="548640" y="3090672"/>
            <a:ext cx="6949440" cy="493776"/>
          </a:xfrm>
          <a:prstGeom prst="rect">
            <a:avLst/>
          </a:prstGeom>
          <a:noFill/>
          <a:ln/>
        </p:spPr>
        <p:txBody>
          <a:bodyPr wrap="square" lIns="635" tIns="635" rIns="635" bIns="635" rtlCol="0" anchor="ctr"/>
          <a:lstStyle/>
          <a:p>
            <a:pPr algn="ctr" indent="0" marL="0">
              <a:buNone/>
            </a:pPr>
            <a:r>
              <a:rPr lang="en-US" sz="1200" dirty="0">
                <a:solidFill>
                  <a:srgbClr val="FFFFFF"/>
                </a:solidFill>
              </a:rPr>
              <a:t>socket(AF_INET, SOCK_DGRAM) · SO_RCVTIMEO 2 s</a:t>
            </a:r>
            <a:endParaRPr lang="en-US" sz="1200" dirty="0"/>
          </a:p>
        </p:txBody>
      </p:sp>
      <p:sp>
        <p:nvSpPr>
          <p:cNvPr id="15" name="Shape 12"/>
          <p:cNvSpPr/>
          <p:nvPr/>
        </p:nvSpPr>
        <p:spPr>
          <a:xfrm>
            <a:off x="4023360" y="3584448"/>
            <a:ext cx="914" cy="109728"/>
          </a:xfrm>
          <a:prstGeom prst="line">
            <a:avLst/>
          </a:prstGeom>
          <a:noFill/>
          <a:ln w="12700">
            <a:solidFill>
              <a:srgbClr val="9AA5AE"/>
            </a:solidFill>
            <a:prstDash val="solid"/>
            <a:tailEnd type="triangle"/>
          </a:ln>
        </p:spPr>
      </p:sp>
      <p:sp>
        <p:nvSpPr>
          <p:cNvPr id="16" name="box"/>
          <p:cNvSpPr/>
          <p:nvPr/>
        </p:nvSpPr>
        <p:spPr>
          <a:xfrm>
            <a:off x="548640" y="3694176"/>
            <a:ext cx="6949440" cy="493776"/>
          </a:xfrm>
          <a:prstGeom prst="roundRect">
            <a:avLst>
              <a:gd name="adj" fmla="val 14815"/>
            </a:avLst>
          </a:prstGeom>
          <a:solidFill>
            <a:srgbClr val="B9772A"/>
          </a:solidFill>
          <a:ln w="12700">
            <a:solidFill>
              <a:srgbClr val="B9772A"/>
            </a:solidFill>
            <a:prstDash val="solid"/>
          </a:ln>
        </p:spPr>
      </p:sp>
      <p:sp>
        <p:nvSpPr>
          <p:cNvPr id="17" name="Text 14"/>
          <p:cNvSpPr txBox="1"/>
          <p:nvPr/>
        </p:nvSpPr>
        <p:spPr>
          <a:xfrm>
            <a:off x="548640" y="3694176"/>
            <a:ext cx="6949440" cy="493776"/>
          </a:xfrm>
          <a:prstGeom prst="rect">
            <a:avLst/>
          </a:prstGeom>
          <a:noFill/>
          <a:ln/>
        </p:spPr>
        <p:txBody>
          <a:bodyPr wrap="square" lIns="635" tIns="635" rIns="635" bIns="635" rtlCol="0" anchor="ctr"/>
          <a:lstStyle/>
          <a:p>
            <a:pPr algn="ctr" indent="0" marL="0">
              <a:buNone/>
            </a:pPr>
            <a:r>
              <a:rPr lang="en-US" sz="1200" dirty="0">
                <a:solidFill>
                  <a:srgbClr val="FFFFFF"/>
                </a:solidFill>
              </a:rPr>
              <a:t>sendto(server:53) → recvfrom (3 tries)</a:t>
            </a:r>
            <a:endParaRPr lang="en-US" sz="1200" dirty="0"/>
          </a:p>
        </p:txBody>
      </p:sp>
      <p:sp>
        <p:nvSpPr>
          <p:cNvPr id="18" name="Shape 15"/>
          <p:cNvSpPr/>
          <p:nvPr/>
        </p:nvSpPr>
        <p:spPr>
          <a:xfrm>
            <a:off x="4023360" y="4187952"/>
            <a:ext cx="914" cy="109728"/>
          </a:xfrm>
          <a:prstGeom prst="line">
            <a:avLst/>
          </a:prstGeom>
          <a:noFill/>
          <a:ln w="12700">
            <a:solidFill>
              <a:srgbClr val="9AA5AE"/>
            </a:solidFill>
            <a:prstDash val="solid"/>
            <a:tailEnd type="triangle"/>
          </a:ln>
        </p:spPr>
      </p:sp>
      <p:sp>
        <p:nvSpPr>
          <p:cNvPr id="19" name="box"/>
          <p:cNvSpPr/>
          <p:nvPr/>
        </p:nvSpPr>
        <p:spPr>
          <a:xfrm>
            <a:off x="548640" y="4297680"/>
            <a:ext cx="6949440" cy="493776"/>
          </a:xfrm>
          <a:prstGeom prst="roundRect">
            <a:avLst>
              <a:gd name="adj" fmla="val 14815"/>
            </a:avLst>
          </a:prstGeom>
          <a:solidFill>
            <a:srgbClr val="1F3A5F"/>
          </a:solidFill>
          <a:ln w="12700">
            <a:solidFill>
              <a:srgbClr val="1F3A5F"/>
            </a:solidFill>
            <a:prstDash val="solid"/>
          </a:ln>
        </p:spPr>
      </p:sp>
      <p:sp>
        <p:nvSpPr>
          <p:cNvPr id="20" name="Text 17"/>
          <p:cNvSpPr txBox="1"/>
          <p:nvPr/>
        </p:nvSpPr>
        <p:spPr>
          <a:xfrm>
            <a:off x="548640" y="4297680"/>
            <a:ext cx="6949440" cy="493776"/>
          </a:xfrm>
          <a:prstGeom prst="rect">
            <a:avLst/>
          </a:prstGeom>
          <a:noFill/>
          <a:ln/>
        </p:spPr>
        <p:txBody>
          <a:bodyPr wrap="square" lIns="635" tIns="635" rIns="635" bIns="635" rtlCol="0" anchor="ctr"/>
          <a:lstStyle/>
          <a:p>
            <a:pPr algn="ctr" indent="0" marL="0">
              <a:buNone/>
            </a:pPr>
            <a:r>
              <a:rPr lang="en-US" sz="1200" dirty="0">
                <a:solidFill>
                  <a:srgbClr val="FFFFFF"/>
                </a:solidFill>
              </a:rPr>
              <a:t>check ID; print flags and counts</a:t>
            </a:r>
            <a:endParaRPr lang="en-US" sz="1200" dirty="0"/>
          </a:p>
        </p:txBody>
      </p:sp>
      <p:sp>
        <p:nvSpPr>
          <p:cNvPr id="21" name="Shape 18"/>
          <p:cNvSpPr/>
          <p:nvPr/>
        </p:nvSpPr>
        <p:spPr>
          <a:xfrm>
            <a:off x="4023360" y="4791456"/>
            <a:ext cx="914" cy="109728"/>
          </a:xfrm>
          <a:prstGeom prst="line">
            <a:avLst/>
          </a:prstGeom>
          <a:noFill/>
          <a:ln w="12700">
            <a:solidFill>
              <a:srgbClr val="9AA5AE"/>
            </a:solidFill>
            <a:prstDash val="solid"/>
            <a:tailEnd type="triangle"/>
          </a:ln>
        </p:spPr>
      </p:sp>
      <p:sp>
        <p:nvSpPr>
          <p:cNvPr id="22" name="box"/>
          <p:cNvSpPr/>
          <p:nvPr/>
        </p:nvSpPr>
        <p:spPr>
          <a:xfrm>
            <a:off x="548640" y="4901184"/>
            <a:ext cx="6949440" cy="493776"/>
          </a:xfrm>
          <a:prstGeom prst="roundRect">
            <a:avLst>
              <a:gd name="adj" fmla="val 14815"/>
            </a:avLst>
          </a:prstGeom>
          <a:solidFill>
            <a:srgbClr val="2E7D4F"/>
          </a:solidFill>
          <a:ln w="12700">
            <a:solidFill>
              <a:srgbClr val="2E7D4F"/>
            </a:solidFill>
            <a:prstDash val="solid"/>
          </a:ln>
        </p:spPr>
      </p:sp>
      <p:sp>
        <p:nvSpPr>
          <p:cNvPr id="23" name="Text 20"/>
          <p:cNvSpPr txBox="1"/>
          <p:nvPr/>
        </p:nvSpPr>
        <p:spPr>
          <a:xfrm>
            <a:off x="548640" y="4901184"/>
            <a:ext cx="6949440" cy="493776"/>
          </a:xfrm>
          <a:prstGeom prst="rect">
            <a:avLst/>
          </a:prstGeom>
          <a:noFill/>
          <a:ln/>
        </p:spPr>
        <p:txBody>
          <a:bodyPr wrap="square" lIns="635" tIns="635" rIns="635" bIns="635" rtlCol="0" anchor="ctr"/>
          <a:lstStyle/>
          <a:p>
            <a:pPr algn="ctr" indent="0" marL="0">
              <a:buNone/>
            </a:pPr>
            <a:r>
              <a:rPr lang="en-US" sz="1200" dirty="0">
                <a:solidFill>
                  <a:srgbClr val="FFFFFF"/>
                </a:solidFill>
              </a:rPr>
              <a:t>for each RR: read_name · type · class · TTL · RDLENGTH · data</a:t>
            </a:r>
            <a:endParaRPr lang="en-US" sz="1200" dirty="0"/>
          </a:p>
        </p:txBody>
      </p:sp>
      <p:sp>
        <p:nvSpPr>
          <p:cNvPr id="24" name="code"/>
          <p:cNvSpPr/>
          <p:nvPr/>
        </p:nvSpPr>
        <p:spPr>
          <a:xfrm>
            <a:off x="7772400" y="1280160"/>
            <a:ext cx="3840480" cy="2103120"/>
          </a:xfrm>
          <a:prstGeom prst="rect">
            <a:avLst/>
          </a:prstGeom>
          <a:solidFill>
            <a:srgbClr val="1E2A38"/>
          </a:solidFill>
          <a:ln w="12700">
            <a:solidFill>
              <a:srgbClr val="1E2A38"/>
            </a:solidFill>
            <a:prstDash val="solid"/>
          </a:ln>
        </p:spPr>
      </p:sp>
      <p:sp>
        <p:nvSpPr>
          <p:cNvPr id="25" name="Text 22"/>
          <p:cNvSpPr txBox="1"/>
          <p:nvPr/>
        </p:nvSpPr>
        <p:spPr>
          <a:xfrm>
            <a:off x="7772400" y="1280160"/>
            <a:ext cx="3840480" cy="210312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make -C linux</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./linux/dns_query \</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   www.unibuc.ro A 1.1.1.1</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./linux/dns_query unibuc.ro MX</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./linux/dns_query \</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   www.unibuc.ro A 198.41.0.4</a:t>
            </a:r>
            <a:endParaRPr lang="en-US" sz="1100" dirty="0"/>
          </a:p>
        </p:txBody>
      </p:sp>
      <p:sp>
        <p:nvSpPr>
          <p:cNvPr id="26" name="box"/>
          <p:cNvSpPr/>
          <p:nvPr/>
        </p:nvSpPr>
        <p:spPr>
          <a:xfrm>
            <a:off x="7772400" y="3566160"/>
            <a:ext cx="3840480" cy="1005840"/>
          </a:xfrm>
          <a:prstGeom prst="roundRect">
            <a:avLst>
              <a:gd name="adj" fmla="val 7273"/>
            </a:avLst>
          </a:prstGeom>
          <a:solidFill>
            <a:srgbClr val="F3EAD7"/>
          </a:solidFill>
          <a:ln w="12700">
            <a:solidFill>
              <a:srgbClr val="F3EAD7"/>
            </a:solidFill>
            <a:prstDash val="solid"/>
          </a:ln>
        </p:spPr>
      </p:sp>
      <p:sp>
        <p:nvSpPr>
          <p:cNvPr id="27" name="Text 24"/>
          <p:cNvSpPr txBox="1"/>
          <p:nvPr/>
        </p:nvSpPr>
        <p:spPr>
          <a:xfrm>
            <a:off x="7772400" y="3566160"/>
            <a:ext cx="3840480" cy="1005840"/>
          </a:xfrm>
          <a:prstGeom prst="rect">
            <a:avLst/>
          </a:prstGeom>
          <a:noFill/>
          <a:ln/>
        </p:spPr>
        <p:txBody>
          <a:bodyPr wrap="square" lIns="635" tIns="635" rIns="635" bIns="635" rtlCol="0" anchor="ctr"/>
          <a:lstStyle/>
          <a:p>
            <a:pPr algn="ctr" indent="0" marL="0">
              <a:buNone/>
            </a:pPr>
            <a:r>
              <a:rPr lang="en-US" sz="1100" dirty="0">
                <a:solidFill>
                  <a:srgbClr val="1B2430"/>
                </a:solidFill>
                <a:latin typeface="Consolas" pitchFamily="34" charset="0"/>
                <a:ea typeface="Consolas" pitchFamily="34" charset="-122"/>
                <a:cs typeface="Consolas" pitchFamily="34" charset="-120"/>
              </a:rPr>
              <a:t>sudo tcpdump -i any -n -X</a:t>
            </a:r>
            <a:endParaRPr lang="en-US" sz="1100" dirty="0"/>
          </a:p>
          <a:p>
            <a:pPr algn="ctr" indent="0" marL="0">
              <a:buNone/>
            </a:pPr>
            <a:r>
              <a:rPr lang="en-US" sz="1100" dirty="0">
                <a:solidFill>
                  <a:srgbClr val="1B2430"/>
                </a:solidFill>
                <a:latin typeface="Consolas" pitchFamily="34" charset="0"/>
                <a:ea typeface="Consolas" pitchFamily="34" charset="-122"/>
                <a:cs typeface="Consolas" pitchFamily="34" charset="-120"/>
              </a:rPr>
              <a:t>udp port 53</a:t>
            </a:r>
            <a:endParaRPr lang="en-US" sz="1100" dirty="0"/>
          </a:p>
        </p:txBody>
      </p:sp>
      <p:sp>
        <p:nvSpPr>
          <p:cNvPr id="28"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9" name="Text 26"/>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Q11 · Compare the bytes tcpdump prints with your hand-written homework query.</a:t>
            </a:r>
            <a:endParaRPr lang="en-US" sz="1400" dirty="0"/>
          </a:p>
        </p:txBody>
      </p:sp>
      <p:sp>
        <p:nvSpPr>
          <p:cNvPr id="30" name="Text 27"/>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AF_INET (address family Internet) · DNS (Domain Name System) · TTL (time to live) · MX (mail exchanger) · RR (resource record) · RD (recursion desired) · IN (Internet class)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5 · read_name: labels, pointers and a loop guard</a:t>
            </a:r>
            <a:endParaRPr lang="en-US" sz="3000" dirty="0"/>
          </a:p>
        </p:txBody>
      </p:sp>
      <p:sp>
        <p:nvSpPr>
          <p:cNvPr id="4" name="code"/>
          <p:cNvSpPr/>
          <p:nvPr/>
        </p:nvSpPr>
        <p:spPr>
          <a:xfrm>
            <a:off x="548640" y="1280160"/>
            <a:ext cx="6400800" cy="3794760"/>
          </a:xfrm>
          <a:prstGeom prst="rect">
            <a:avLst/>
          </a:prstGeom>
          <a:solidFill>
            <a:srgbClr val="1E2A38"/>
          </a:solidFill>
          <a:ln w="12700">
            <a:solidFill>
              <a:srgbClr val="1E2A38"/>
            </a:solidFill>
            <a:prstDash val="solid"/>
          </a:ln>
        </p:spPr>
      </p:sp>
      <p:sp>
        <p:nvSpPr>
          <p:cNvPr id="5" name="Text 2"/>
          <p:cNvSpPr txBox="1"/>
          <p:nvPr/>
        </p:nvSpPr>
        <p:spPr>
          <a:xfrm>
            <a:off x="548640" y="1280160"/>
            <a:ext cx="6400800" cy="3794760"/>
          </a:xfrm>
          <a:prstGeom prst="rect">
            <a:avLst/>
          </a:prstGeom>
          <a:noFill/>
          <a:ln/>
        </p:spPr>
        <p:txBody>
          <a:bodyPr wrap="square" lIns="101600" tIns="101600" rIns="101600" bIns="101600" rtlCol="0" anchor="t"/>
          <a:lstStyle/>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for (;;) {</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if (p &gt;= len || hops++ &gt; 50) return -1; /* guard */</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int l = msg[p];</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if ((l &amp; 0xC0) == 0xC0) {           /* pointer */</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if (!jumped) *pos = p + 2;</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p = ((l &amp; 0x3F) &lt;&lt; 8) | msg[p + 1];</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jumped = 1; continue;</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if (l == 0) { if (!jumped) *pos = p + 1; break; }</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memcpy(out + n, msg + p + 1, l);    /* a label */</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    n += l; out[n++] = '.'; p += 1 + l;</a:t>
            </a:r>
            <a:endParaRPr lang="en-US" sz="1200" dirty="0"/>
          </a:p>
          <a:p>
            <a:pPr algn="l" indent="0" marL="0">
              <a:spcAft>
                <a:spcPts val="100"/>
              </a:spcAft>
              <a:buNone/>
            </a:pPr>
            <a:r>
              <a:rPr lang="en-US" sz="1200" dirty="0">
                <a:solidFill>
                  <a:srgbClr val="E8EEF4"/>
                </a:solidFill>
                <a:latin typeface="Consolas" pitchFamily="34" charset="0"/>
                <a:ea typeface="Consolas" pitchFamily="34" charset="-122"/>
                <a:cs typeface="Consolas" pitchFamily="34" charset="-120"/>
              </a:rPr>
              <a:t>}</a:t>
            </a:r>
            <a:endParaRPr lang="en-US" sz="1200" dirty="0"/>
          </a:p>
        </p:txBody>
      </p:sp>
      <p:sp>
        <p:nvSpPr>
          <p:cNvPr id="6" name="Shape 3"/>
          <p:cNvSpPr/>
          <p:nvPr/>
        </p:nvSpPr>
        <p:spPr>
          <a:xfrm>
            <a:off x="7223760" y="1344168"/>
            <a:ext cx="384048" cy="384048"/>
          </a:xfrm>
          <a:prstGeom prst="ellipse">
            <a:avLst/>
          </a:prstGeom>
          <a:solidFill>
            <a:srgbClr val="B9772A"/>
          </a:solidFill>
          <a:ln w="12700">
            <a:solidFill>
              <a:srgbClr val="B9772A"/>
            </a:solidFill>
            <a:prstDash val="solid"/>
          </a:ln>
        </p:spPr>
      </p:sp>
      <p:sp>
        <p:nvSpPr>
          <p:cNvPr id="7" name="Text 4"/>
          <p:cNvSpPr txBox="1"/>
          <p:nvPr/>
        </p:nvSpPr>
        <p:spPr>
          <a:xfrm>
            <a:off x="7223760" y="1344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7726680" y="1325880"/>
            <a:ext cx="3886200" cy="10972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Q12 · </a:t>
            </a:r>
            <a:r>
              <a:rPr lang="en-US" sz="1300" dirty="0">
                <a:solidFill>
                  <a:srgbClr val="1B2430"/>
                </a:solidFill>
                <a:latin typeface="Consolas" pitchFamily="34" charset="0"/>
                <a:ea typeface="Consolas" pitchFamily="34" charset="-122"/>
                <a:cs typeface="Consolas" pitchFamily="34" charset="-120"/>
              </a:rPr>
              <a:t>c0 0c</a:t>
            </a:r>
            <a:r>
              <a:rPr lang="en-US" sz="1300" dirty="0">
                <a:solidFill>
                  <a:srgbClr val="1B2430"/>
                </a:solidFill>
              </a:rPr>
              <a:t> → offset 12, the question name.</a:t>
            </a:r>
            <a:endParaRPr lang="en-US" sz="1300" dirty="0"/>
          </a:p>
        </p:txBody>
      </p:sp>
      <p:sp>
        <p:nvSpPr>
          <p:cNvPr id="9" name="Shape 6"/>
          <p:cNvSpPr/>
          <p:nvPr/>
        </p:nvSpPr>
        <p:spPr>
          <a:xfrm>
            <a:off x="7223760" y="2578608"/>
            <a:ext cx="384048" cy="384048"/>
          </a:xfrm>
          <a:prstGeom prst="ellipse">
            <a:avLst/>
          </a:prstGeom>
          <a:solidFill>
            <a:srgbClr val="B9772A"/>
          </a:solidFill>
          <a:ln w="12700">
            <a:solidFill>
              <a:srgbClr val="B9772A"/>
            </a:solidFill>
            <a:prstDash val="solid"/>
          </a:ln>
        </p:spPr>
      </p:sp>
      <p:sp>
        <p:nvSpPr>
          <p:cNvPr id="10" name="Text 7"/>
          <p:cNvSpPr txBox="1"/>
          <p:nvPr/>
        </p:nvSpPr>
        <p:spPr>
          <a:xfrm>
            <a:off x="7223760" y="2578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8"/>
          <p:cNvSpPr txBox="1"/>
          <p:nvPr/>
        </p:nvSpPr>
        <p:spPr>
          <a:xfrm>
            <a:off x="7726680" y="2560320"/>
            <a:ext cx="3886200" cy="109728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After a pointer, parsing continues </a:t>
            </a:r>
            <a:r>
              <a:rPr lang="en-US" sz="1300" b="1" dirty="0">
                <a:solidFill>
                  <a:srgbClr val="1B2430"/>
                </a:solidFill>
              </a:rPr>
              <a:t>after the 2 bytes</a:t>
            </a:r>
            <a:r>
              <a:rPr lang="en-US" sz="1300" dirty="0">
                <a:solidFill>
                  <a:srgbClr val="1B2430"/>
                </a:solidFill>
              </a:rPr>
              <a:t>, not where the pointer led.</a:t>
            </a:r>
            <a:endParaRPr lang="en-US" sz="1300" dirty="0"/>
          </a:p>
        </p:txBody>
      </p:sp>
      <p:sp>
        <p:nvSpPr>
          <p:cNvPr id="12" name="Shape 9"/>
          <p:cNvSpPr/>
          <p:nvPr/>
        </p:nvSpPr>
        <p:spPr>
          <a:xfrm>
            <a:off x="7223760" y="3813048"/>
            <a:ext cx="384048" cy="384048"/>
          </a:xfrm>
          <a:prstGeom prst="ellipse">
            <a:avLst/>
          </a:prstGeom>
          <a:solidFill>
            <a:srgbClr val="B9772A"/>
          </a:solidFill>
          <a:ln w="12700">
            <a:solidFill>
              <a:srgbClr val="B9772A"/>
            </a:solidFill>
            <a:prstDash val="solid"/>
          </a:ln>
        </p:spPr>
      </p:sp>
      <p:sp>
        <p:nvSpPr>
          <p:cNvPr id="13" name="Text 10"/>
          <p:cNvSpPr txBox="1"/>
          <p:nvPr/>
        </p:nvSpPr>
        <p:spPr>
          <a:xfrm>
            <a:off x="7223760" y="3813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4" name="Text 11"/>
          <p:cNvSpPr txBox="1"/>
          <p:nvPr/>
        </p:nvSpPr>
        <p:spPr>
          <a:xfrm>
            <a:off x="7726680" y="3794760"/>
            <a:ext cx="3886200" cy="128016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Q13 · Root replies have ANCOUNT 0: extend the program into an iterative resolver.</a:t>
            </a:r>
            <a:endParaRPr lang="en-US" sz="1300" dirty="0"/>
          </a:p>
        </p:txBody>
      </p:sp>
      <p:sp>
        <p:nvSpPr>
          <p:cNvPr id="15"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6" name="Text 13"/>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Never trust a reply: bounds checks and a jump limit turn a parser into a safe parser.</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6 · A LAN, a NAT router and a server in one machine</a:t>
            </a:r>
            <a:endParaRPr lang="en-US" sz="3000" dirty="0"/>
          </a:p>
        </p:txBody>
      </p:sp>
      <p:sp>
        <p:nvSpPr>
          <p:cNvPr id="4" name="box"/>
          <p:cNvSpPr/>
          <p:nvPr/>
        </p:nvSpPr>
        <p:spPr>
          <a:xfrm>
            <a:off x="548640" y="1463040"/>
            <a:ext cx="2743200" cy="1188720"/>
          </a:xfrm>
          <a:prstGeom prst="roundRect">
            <a:avLst>
              <a:gd name="adj" fmla="val 6154"/>
            </a:avLst>
          </a:prstGeom>
          <a:solidFill>
            <a:srgbClr val="EEF2F6"/>
          </a:solidFill>
          <a:ln w="12700">
            <a:solidFill>
              <a:srgbClr val="EEF2F6"/>
            </a:solidFill>
            <a:prstDash val="solid"/>
          </a:ln>
        </p:spPr>
      </p:sp>
      <p:sp>
        <p:nvSpPr>
          <p:cNvPr id="5" name="Text 2"/>
          <p:cNvSpPr txBox="1"/>
          <p:nvPr/>
        </p:nvSpPr>
        <p:spPr>
          <a:xfrm>
            <a:off x="548640" y="1463040"/>
            <a:ext cx="2743200" cy="1188720"/>
          </a:xfrm>
          <a:prstGeom prst="rect">
            <a:avLst/>
          </a:prstGeom>
          <a:noFill/>
          <a:ln/>
        </p:spPr>
        <p:txBody>
          <a:bodyPr wrap="square" lIns="635" tIns="635" rIns="635" bIns="635" rtlCol="0" anchor="ctr"/>
          <a:lstStyle/>
          <a:p>
            <a:pPr algn="ctr" indent="0" marL="0">
              <a:buNone/>
            </a:pPr>
            <a:r>
              <a:rPr lang="en-US" sz="1300" b="1" dirty="0">
                <a:solidFill>
                  <a:srgbClr val="1B2430"/>
                </a:solidFill>
              </a:rPr>
              <a:t>lan</a:t>
            </a:r>
            <a:endParaRPr lang="en-US" sz="1300" dirty="0"/>
          </a:p>
          <a:p>
            <a:pPr algn="ctr" indent="0" marL="0">
              <a:buNone/>
            </a:pPr>
            <a:r>
              <a:rPr lang="en-US" sz="1300" dirty="0">
                <a:solidFill>
                  <a:srgbClr val="1B2430"/>
                </a:solidFill>
              </a:rPr>
              <a:t>192.168.77.2</a:t>
            </a:r>
            <a:endParaRPr lang="en-US" sz="1300" dirty="0"/>
          </a:p>
          <a:p>
            <a:pPr algn="ctr" indent="0" marL="0">
              <a:buNone/>
            </a:pPr>
            <a:r>
              <a:rPr lang="en-US" sz="1300" dirty="0">
                <a:solidFill>
                  <a:srgbClr val="1B2430"/>
                </a:solidFill>
              </a:rPr>
              <a:t>default via .1</a:t>
            </a:r>
            <a:endParaRPr lang="en-US" sz="1300" dirty="0"/>
          </a:p>
        </p:txBody>
      </p:sp>
      <p:sp>
        <p:nvSpPr>
          <p:cNvPr id="6" name="box"/>
          <p:cNvSpPr/>
          <p:nvPr/>
        </p:nvSpPr>
        <p:spPr>
          <a:xfrm>
            <a:off x="4572000" y="1325880"/>
            <a:ext cx="3017520" cy="1463040"/>
          </a:xfrm>
          <a:prstGeom prst="roundRect">
            <a:avLst>
              <a:gd name="adj" fmla="val 5000"/>
            </a:avLst>
          </a:prstGeom>
          <a:solidFill>
            <a:srgbClr val="B9772A"/>
          </a:solidFill>
          <a:ln w="12700">
            <a:solidFill>
              <a:srgbClr val="B9772A"/>
            </a:solidFill>
            <a:prstDash val="solid"/>
          </a:ln>
        </p:spPr>
      </p:sp>
      <p:sp>
        <p:nvSpPr>
          <p:cNvPr id="7" name="Text 4"/>
          <p:cNvSpPr txBox="1"/>
          <p:nvPr/>
        </p:nvSpPr>
        <p:spPr>
          <a:xfrm>
            <a:off x="4572000" y="1325880"/>
            <a:ext cx="3017520" cy="1463040"/>
          </a:xfrm>
          <a:prstGeom prst="rect">
            <a:avLst/>
          </a:prstGeom>
          <a:noFill/>
          <a:ln/>
        </p:spPr>
        <p:txBody>
          <a:bodyPr wrap="square" lIns="635" tIns="635" rIns="635" bIns="635" rtlCol="0" anchor="ctr"/>
          <a:lstStyle/>
          <a:p>
            <a:pPr algn="ctr" indent="0" marL="0">
              <a:buNone/>
            </a:pPr>
            <a:r>
              <a:rPr lang="en-US" sz="1200" b="1" dirty="0">
                <a:solidFill>
                  <a:srgbClr val="FFFFFF"/>
                </a:solidFill>
              </a:rPr>
              <a:t>router</a:t>
            </a:r>
            <a:endParaRPr lang="en-US" sz="1200" dirty="0"/>
          </a:p>
          <a:p>
            <a:pPr algn="ctr" indent="0" marL="0">
              <a:buNone/>
            </a:pPr>
            <a:r>
              <a:rPr lang="en-US" sz="1200" dirty="0">
                <a:solidFill>
                  <a:srgbClr val="FFFFFF"/>
                </a:solidFill>
              </a:rPr>
              <a:t>veth-in 192.168.77.1</a:t>
            </a:r>
            <a:endParaRPr lang="en-US" sz="1200" dirty="0"/>
          </a:p>
          <a:p>
            <a:pPr algn="ctr" indent="0" marL="0">
              <a:buNone/>
            </a:pPr>
            <a:r>
              <a:rPr lang="en-US" sz="1200" dirty="0">
                <a:solidFill>
                  <a:srgbClr val="FFFFFF"/>
                </a:solidFill>
              </a:rPr>
              <a:t>veth-out 203.0.113.1</a:t>
            </a:r>
            <a:endParaRPr lang="en-US" sz="1200" dirty="0"/>
          </a:p>
          <a:p>
            <a:pPr algn="ctr" indent="0" marL="0">
              <a:buNone/>
            </a:pPr>
            <a:r>
              <a:rPr lang="en-US" sz="1200" dirty="0">
                <a:solidFill>
                  <a:srgbClr val="FFFFFF"/>
                </a:solidFill>
              </a:rPr>
              <a:t>ip_forward = 1</a:t>
            </a:r>
            <a:endParaRPr lang="en-US" sz="1200" dirty="0"/>
          </a:p>
        </p:txBody>
      </p:sp>
      <p:sp>
        <p:nvSpPr>
          <p:cNvPr id="8" name="box"/>
          <p:cNvSpPr/>
          <p:nvPr/>
        </p:nvSpPr>
        <p:spPr>
          <a:xfrm>
            <a:off x="8869680" y="1463040"/>
            <a:ext cx="2743200" cy="1188720"/>
          </a:xfrm>
          <a:prstGeom prst="roundRect">
            <a:avLst>
              <a:gd name="adj" fmla="val 6154"/>
            </a:avLst>
          </a:prstGeom>
          <a:solidFill>
            <a:srgbClr val="2A7F8E"/>
          </a:solidFill>
          <a:ln w="12700">
            <a:solidFill>
              <a:srgbClr val="2A7F8E"/>
            </a:solidFill>
            <a:prstDash val="solid"/>
          </a:ln>
        </p:spPr>
      </p:sp>
      <p:sp>
        <p:nvSpPr>
          <p:cNvPr id="9" name="Text 6"/>
          <p:cNvSpPr txBox="1"/>
          <p:nvPr/>
        </p:nvSpPr>
        <p:spPr>
          <a:xfrm>
            <a:off x="8869680" y="1463040"/>
            <a:ext cx="2743200" cy="1188720"/>
          </a:xfrm>
          <a:prstGeom prst="rect">
            <a:avLst/>
          </a:prstGeom>
          <a:noFill/>
          <a:ln/>
        </p:spPr>
        <p:txBody>
          <a:bodyPr wrap="square" lIns="635" tIns="635" rIns="635" bIns="635" rtlCol="0" anchor="ctr"/>
          <a:lstStyle/>
          <a:p>
            <a:pPr algn="ctr" indent="0" marL="0">
              <a:buNone/>
            </a:pPr>
            <a:r>
              <a:rPr lang="en-US" sz="1300" b="1" dirty="0">
                <a:solidFill>
                  <a:srgbClr val="FFFFFF"/>
                </a:solidFill>
              </a:rPr>
              <a:t>server</a:t>
            </a:r>
            <a:endParaRPr lang="en-US" sz="1300" dirty="0"/>
          </a:p>
          <a:p>
            <a:pPr algn="ctr" indent="0" marL="0">
              <a:buNone/>
            </a:pPr>
            <a:r>
              <a:rPr lang="en-US" sz="1300" dirty="0">
                <a:solidFill>
                  <a:srgbClr val="FFFFFF"/>
                </a:solidFill>
              </a:rPr>
              <a:t>203.0.113.10</a:t>
            </a:r>
            <a:endParaRPr lang="en-US" sz="1300" dirty="0"/>
          </a:p>
          <a:p>
            <a:pPr algn="ctr" indent="0" marL="0">
              <a:buNone/>
            </a:pPr>
            <a:r>
              <a:rPr lang="en-US" sz="1300" dirty="0">
                <a:solidFill>
                  <a:srgbClr val="FFFFFF"/>
                </a:solidFill>
              </a:rPr>
              <a:t>no route to .77.0/24</a:t>
            </a:r>
            <a:endParaRPr lang="en-US" sz="1300" dirty="0"/>
          </a:p>
        </p:txBody>
      </p:sp>
      <p:sp>
        <p:nvSpPr>
          <p:cNvPr id="10" name="Shape 7"/>
          <p:cNvSpPr/>
          <p:nvPr/>
        </p:nvSpPr>
        <p:spPr>
          <a:xfrm>
            <a:off x="3291840" y="2057400"/>
            <a:ext cx="1280160" cy="914"/>
          </a:xfrm>
          <a:prstGeom prst="line">
            <a:avLst/>
          </a:prstGeom>
          <a:noFill/>
          <a:ln w="38100">
            <a:solidFill>
              <a:srgbClr val="1F3A5F"/>
            </a:solidFill>
            <a:prstDash val="solid"/>
            <a:headEnd type="triangle"/>
            <a:tailEnd type="triangle"/>
          </a:ln>
        </p:spPr>
      </p:sp>
      <p:sp>
        <p:nvSpPr>
          <p:cNvPr id="11" name="Text 8"/>
          <p:cNvSpPr txBox="1"/>
          <p:nvPr/>
        </p:nvSpPr>
        <p:spPr>
          <a:xfrm>
            <a:off x="3611880" y="1737360"/>
            <a:ext cx="64008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veth</a:t>
            </a:r>
            <a:endParaRPr lang="en-US" sz="1200" dirty="0"/>
          </a:p>
        </p:txBody>
      </p:sp>
      <p:sp>
        <p:nvSpPr>
          <p:cNvPr id="12" name="Shape 9"/>
          <p:cNvSpPr/>
          <p:nvPr/>
        </p:nvSpPr>
        <p:spPr>
          <a:xfrm>
            <a:off x="7589520" y="2057400"/>
            <a:ext cx="1280160" cy="914"/>
          </a:xfrm>
          <a:prstGeom prst="line">
            <a:avLst/>
          </a:prstGeom>
          <a:noFill/>
          <a:ln w="38100">
            <a:solidFill>
              <a:srgbClr val="1F3A5F"/>
            </a:solidFill>
            <a:prstDash val="solid"/>
            <a:headEnd type="triangle"/>
            <a:tailEnd type="triangle"/>
          </a:ln>
        </p:spPr>
      </p:sp>
      <p:sp>
        <p:nvSpPr>
          <p:cNvPr id="13" name="Text 10"/>
          <p:cNvSpPr txBox="1"/>
          <p:nvPr/>
        </p:nvSpPr>
        <p:spPr>
          <a:xfrm>
            <a:off x="7909560" y="1737360"/>
            <a:ext cx="640080" cy="310896"/>
          </a:xfrm>
          <a:prstGeom prst="rect">
            <a:avLst/>
          </a:prstGeom>
          <a:solidFill>
            <a:srgbClr val="FFFFFF"/>
          </a:solidFill>
          <a:ln/>
        </p:spPr>
        <p:txBody>
          <a:bodyPr wrap="square" lIns="0" tIns="0" rIns="0" bIns="0" rtlCol="0" anchor="ctr"/>
          <a:lstStyle/>
          <a:p>
            <a:pPr algn="ctr" indent="0" marL="0">
              <a:buNone/>
            </a:pPr>
            <a:r>
              <a:rPr lang="en-US" sz="1200" dirty="0">
                <a:solidFill>
                  <a:srgbClr val="1F3A5F"/>
                </a:solidFill>
              </a:rPr>
              <a:t>veth</a:t>
            </a:r>
            <a:endParaRPr lang="en-US" sz="1200" dirty="0"/>
          </a:p>
        </p:txBody>
      </p:sp>
      <p:sp>
        <p:nvSpPr>
          <p:cNvPr id="14" name="code"/>
          <p:cNvSpPr/>
          <p:nvPr/>
        </p:nvSpPr>
        <p:spPr>
          <a:xfrm>
            <a:off x="548640" y="3063240"/>
            <a:ext cx="6583680" cy="1325880"/>
          </a:xfrm>
          <a:prstGeom prst="rect">
            <a:avLst/>
          </a:prstGeom>
          <a:solidFill>
            <a:srgbClr val="1E2A38"/>
          </a:solidFill>
          <a:ln w="12700">
            <a:solidFill>
              <a:srgbClr val="1E2A38"/>
            </a:solidFill>
            <a:prstDash val="solid"/>
          </a:ln>
        </p:spPr>
      </p:sp>
      <p:sp>
        <p:nvSpPr>
          <p:cNvPr id="15" name="Text 12"/>
          <p:cNvSpPr txBox="1"/>
          <p:nvPr/>
        </p:nvSpPr>
        <p:spPr>
          <a:xfrm>
            <a:off x="548640" y="3063240"/>
            <a:ext cx="6583680" cy="132588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table ip nat {</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  chain postrouting { type nat hook postrouting priority srcnat;</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    oifname "veth-out" ip saddr 192.168.77.0/24 masquerade } }</a:t>
            </a:r>
            <a:endParaRPr lang="en-US" sz="1100" dirty="0"/>
          </a:p>
        </p:txBody>
      </p:sp>
      <p:sp>
        <p:nvSpPr>
          <p:cNvPr id="16" name="code"/>
          <p:cNvSpPr/>
          <p:nvPr/>
        </p:nvSpPr>
        <p:spPr>
          <a:xfrm>
            <a:off x="7406640" y="3063240"/>
            <a:ext cx="4206240" cy="1325880"/>
          </a:xfrm>
          <a:prstGeom prst="rect">
            <a:avLst/>
          </a:prstGeom>
          <a:solidFill>
            <a:srgbClr val="1E2A38"/>
          </a:solidFill>
          <a:ln w="12700">
            <a:solidFill>
              <a:srgbClr val="1E2A38"/>
            </a:solidFill>
            <a:prstDash val="solid"/>
          </a:ln>
        </p:spPr>
      </p:sp>
      <p:sp>
        <p:nvSpPr>
          <p:cNvPr id="17" name="Text 14"/>
          <p:cNvSpPr txBox="1"/>
          <p:nvPr/>
        </p:nvSpPr>
        <p:spPr>
          <a:xfrm>
            <a:off x="7406640" y="3063240"/>
            <a:ext cx="4206240" cy="132588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sudo ./linux/nat_lab.sh up</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sudo ip netns exec lan \</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  curl -sI http://203.0.113.10/</a:t>
            </a:r>
            <a:endParaRPr lang="en-US" sz="1100" dirty="0"/>
          </a:p>
        </p:txBody>
      </p:sp>
      <p:sp>
        <p:nvSpPr>
          <p:cNvPr id="18" name="Shape 15"/>
          <p:cNvSpPr/>
          <p:nvPr/>
        </p:nvSpPr>
        <p:spPr>
          <a:xfrm>
            <a:off x="548640" y="4636008"/>
            <a:ext cx="384048" cy="384048"/>
          </a:xfrm>
          <a:prstGeom prst="ellipse">
            <a:avLst/>
          </a:prstGeom>
          <a:solidFill>
            <a:srgbClr val="B9772A"/>
          </a:solidFill>
          <a:ln w="12700">
            <a:solidFill>
              <a:srgbClr val="B9772A"/>
            </a:solidFill>
            <a:prstDash val="solid"/>
          </a:ln>
        </p:spPr>
      </p:sp>
      <p:sp>
        <p:nvSpPr>
          <p:cNvPr id="19" name="Text 16"/>
          <p:cNvSpPr txBox="1"/>
          <p:nvPr/>
        </p:nvSpPr>
        <p:spPr>
          <a:xfrm>
            <a:off x="548640" y="4636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0" name="Text 17"/>
          <p:cNvSpPr txBox="1"/>
          <p:nvPr/>
        </p:nvSpPr>
        <p:spPr>
          <a:xfrm>
            <a:off x="1051560" y="4617720"/>
            <a:ext cx="10561320" cy="9144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Q14 · The server logs </a:t>
            </a:r>
            <a:r>
              <a:rPr lang="en-US" sz="1300" b="1" dirty="0">
                <a:solidFill>
                  <a:srgbClr val="1B2430"/>
                </a:solidFill>
              </a:rPr>
              <a:t>203.0.113.1</a:t>
            </a:r>
            <a:r>
              <a:rPr lang="en-US" sz="1300" dirty="0">
                <a:solidFill>
                  <a:srgbClr val="1B2430"/>
                </a:solidFill>
              </a:rPr>
              <a:t>, not 192.168.77.2; </a:t>
            </a:r>
            <a:r>
              <a:rPr lang="en-US" sz="1300" dirty="0">
                <a:solidFill>
                  <a:srgbClr val="1B2430"/>
                </a:solidFill>
                <a:latin typeface="Consolas" pitchFamily="34" charset="0"/>
                <a:ea typeface="Consolas" pitchFamily="34" charset="-122"/>
                <a:cs typeface="Consolas" pitchFamily="34" charset="-120"/>
              </a:rPr>
              <a:t>conntrack -L</a:t>
            </a:r>
            <a:r>
              <a:rPr lang="en-US" sz="1300" dirty="0">
                <a:solidFill>
                  <a:srgbClr val="1B2430"/>
                </a:solidFill>
              </a:rPr>
              <a:t> in the router shows both directions of the mapping.</a:t>
            </a:r>
            <a:endParaRPr lang="en-US" sz="1300" dirty="0"/>
          </a:p>
        </p:txBody>
      </p:sp>
      <p:sp>
        <p:nvSpPr>
          <p:cNvPr id="21"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2" name="Text 19"/>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Three namespaces, two cables, one rule: a complete NAT you can switch off and watch fail.</a:t>
            </a:r>
            <a:endParaRPr lang="en-US" sz="1400" dirty="0"/>
          </a:p>
        </p:txBody>
      </p:sp>
      <p:sp>
        <p:nvSpPr>
          <p:cNvPr id="23" name="Text 20"/>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NAT (network address translation) · LAN (local area network)</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6 · Remove NAT, then forward a port</a:t>
            </a:r>
            <a:endParaRPr lang="en-US" sz="3000" dirty="0"/>
          </a:p>
        </p:txBody>
      </p:sp>
      <p:sp>
        <p:nvSpPr>
          <p:cNvPr id="4" name="box"/>
          <p:cNvSpPr/>
          <p:nvPr/>
        </p:nvSpPr>
        <p:spPr>
          <a:xfrm>
            <a:off x="548640" y="1325880"/>
            <a:ext cx="5394960" cy="1508760"/>
          </a:xfrm>
          <a:prstGeom prst="roundRect">
            <a:avLst>
              <a:gd name="adj" fmla="val 4848"/>
            </a:avLst>
          </a:prstGeom>
          <a:solidFill>
            <a:srgbClr val="F2D6D6"/>
          </a:solidFill>
          <a:ln w="12700">
            <a:solidFill>
              <a:srgbClr val="F2D6D6"/>
            </a:solidFill>
            <a:prstDash val="solid"/>
          </a:ln>
        </p:spPr>
      </p:sp>
      <p:sp>
        <p:nvSpPr>
          <p:cNvPr id="5" name="Text 2"/>
          <p:cNvSpPr txBox="1"/>
          <p:nvPr/>
        </p:nvSpPr>
        <p:spPr>
          <a:xfrm>
            <a:off x="548640" y="1325880"/>
            <a:ext cx="5394960" cy="1508760"/>
          </a:xfrm>
          <a:prstGeom prst="rect">
            <a:avLst/>
          </a:prstGeom>
          <a:noFill/>
          <a:ln/>
        </p:spPr>
        <p:txBody>
          <a:bodyPr wrap="square" lIns="635" tIns="635" rIns="635" bIns="635" rtlCol="0" anchor="ctr"/>
          <a:lstStyle/>
          <a:p>
            <a:pPr algn="ctr" indent="0" marL="0">
              <a:spcAft>
                <a:spcPts val="300"/>
              </a:spcAft>
              <a:buNone/>
            </a:pPr>
            <a:r>
              <a:rPr lang="en-US" sz="1200" dirty="0">
                <a:solidFill>
                  <a:srgbClr val="1B2430"/>
                </a:solidFill>
                <a:latin typeface="Consolas" pitchFamily="34" charset="0"/>
                <a:ea typeface="Consolas" pitchFamily="34" charset="-122"/>
                <a:cs typeface="Consolas" pitchFamily="34" charset="-120"/>
              </a:rPr>
              <a:t>nft flush table ip nat</a:t>
            </a:r>
            <a:endParaRPr lang="en-US" sz="1200" dirty="0"/>
          </a:p>
          <a:p>
            <a:pPr algn="ctr" indent="0" marL="0">
              <a:spcAft>
                <a:spcPts val="300"/>
              </a:spcAft>
              <a:buNone/>
            </a:pPr>
            <a:r>
              <a:rPr lang="en-US" sz="1200" dirty="0">
                <a:solidFill>
                  <a:srgbClr val="1B2430"/>
                </a:solidFill>
              </a:rPr>
              <a:t>the SYN reaches the server with source 192.168.77.2;</a:t>
            </a:r>
            <a:endParaRPr lang="en-US" sz="1200" dirty="0"/>
          </a:p>
          <a:p>
            <a:pPr algn="ctr" indent="0" marL="0">
              <a:spcAft>
                <a:spcPts val="300"/>
              </a:spcAft>
              <a:buNone/>
            </a:pPr>
            <a:r>
              <a:rPr lang="en-US" sz="1200" dirty="0">
                <a:solidFill>
                  <a:srgbClr val="1B2430"/>
                </a:solidFill>
              </a:rPr>
              <a:t>the SYN-ACK has no route back → </a:t>
            </a:r>
            <a:r>
              <a:rPr lang="en-US" sz="1200" b="1" dirty="0">
                <a:solidFill>
                  <a:srgbClr val="1B2430"/>
                </a:solidFill>
              </a:rPr>
              <a:t>curl times out</a:t>
            </a:r>
            <a:endParaRPr lang="en-US" sz="1200" dirty="0"/>
          </a:p>
        </p:txBody>
      </p:sp>
      <p:sp>
        <p:nvSpPr>
          <p:cNvPr id="6" name="code"/>
          <p:cNvSpPr/>
          <p:nvPr/>
        </p:nvSpPr>
        <p:spPr>
          <a:xfrm>
            <a:off x="6217920" y="1325880"/>
            <a:ext cx="5394960" cy="1508760"/>
          </a:xfrm>
          <a:prstGeom prst="rect">
            <a:avLst/>
          </a:prstGeom>
          <a:solidFill>
            <a:srgbClr val="1E2A38"/>
          </a:solidFill>
          <a:ln w="12700">
            <a:solidFill>
              <a:srgbClr val="1E2A38"/>
            </a:solidFill>
            <a:prstDash val="solid"/>
          </a:ln>
        </p:spPr>
      </p:sp>
      <p:sp>
        <p:nvSpPr>
          <p:cNvPr id="7" name="Text 4"/>
          <p:cNvSpPr txBox="1"/>
          <p:nvPr/>
        </p:nvSpPr>
        <p:spPr>
          <a:xfrm>
            <a:off x="6217920" y="1325880"/>
            <a:ext cx="5394960" cy="1508760"/>
          </a:xfrm>
          <a:prstGeom prst="rect">
            <a:avLst/>
          </a:prstGeom>
          <a:noFill/>
          <a:ln/>
        </p:spPr>
        <p:txBody>
          <a:bodyPr wrap="square" lIns="101600" tIns="101600" rIns="101600" bIns="101600" rtlCol="0" anchor="t"/>
          <a:lstStyle/>
          <a:p>
            <a:pPr algn="l" indent="0" marL="0">
              <a:buNone/>
            </a:pPr>
            <a:r>
              <a:rPr lang="en-US" sz="1000" dirty="0">
                <a:solidFill>
                  <a:srgbClr val="E8EEF4"/>
                </a:solidFill>
                <a:latin typeface="Consolas" pitchFamily="34" charset="0"/>
                <a:ea typeface="Consolas" pitchFamily="34" charset="-122"/>
                <a:cs typeface="Consolas" pitchFamily="34" charset="-120"/>
              </a:rPr>
              <a:t>nft add chain ip nat prerouting \</a:t>
            </a:r>
            <a:endParaRPr lang="en-US" sz="1000" dirty="0"/>
          </a:p>
          <a:p>
            <a:pPr algn="l" indent="0" marL="0">
              <a:buNone/>
            </a:pPr>
            <a:r>
              <a:rPr lang="en-US" sz="1000" dirty="0">
                <a:solidFill>
                  <a:srgbClr val="E8EEF4"/>
                </a:solidFill>
                <a:latin typeface="Consolas" pitchFamily="34" charset="0"/>
                <a:ea typeface="Consolas" pitchFamily="34" charset="-122"/>
                <a:cs typeface="Consolas" pitchFamily="34" charset="-120"/>
              </a:rPr>
              <a:t> '{ type nat hook prerouting priority dstnat; … }'</a:t>
            </a:r>
            <a:endParaRPr lang="en-US" sz="1000" dirty="0"/>
          </a:p>
          <a:p>
            <a:pPr algn="l" indent="0" marL="0">
              <a:buNone/>
            </a:pPr>
            <a:r>
              <a:rPr lang="en-US" sz="1000" dirty="0">
                <a:solidFill>
                  <a:srgbClr val="E8EEF4"/>
                </a:solidFill>
                <a:latin typeface="Consolas" pitchFamily="34" charset="0"/>
                <a:ea typeface="Consolas" pitchFamily="34" charset="-122"/>
                <a:cs typeface="Consolas" pitchFamily="34" charset="-120"/>
              </a:rPr>
              <a:t>nft add rule ip nat prerouting \</a:t>
            </a:r>
            <a:endParaRPr lang="en-US" sz="1000" dirty="0"/>
          </a:p>
          <a:p>
            <a:pPr algn="l" indent="0" marL="0">
              <a:buNone/>
            </a:pPr>
            <a:r>
              <a:rPr lang="en-US" sz="1000" dirty="0">
                <a:solidFill>
                  <a:srgbClr val="E8EEF4"/>
                </a:solidFill>
                <a:latin typeface="Consolas" pitchFamily="34" charset="0"/>
                <a:ea typeface="Consolas" pitchFamily="34" charset="-122"/>
                <a:cs typeface="Consolas" pitchFamily="34" charset="-120"/>
              </a:rPr>
              <a:t> iifname veth-out tcp dport 8080 \</a:t>
            </a:r>
            <a:endParaRPr lang="en-US" sz="1000" dirty="0"/>
          </a:p>
          <a:p>
            <a:pPr algn="l" indent="0" marL="0">
              <a:buNone/>
            </a:pPr>
            <a:r>
              <a:rPr lang="en-US" sz="1000" dirty="0">
                <a:solidFill>
                  <a:srgbClr val="E8EEF4"/>
                </a:solidFill>
                <a:latin typeface="Consolas" pitchFamily="34" charset="0"/>
                <a:ea typeface="Consolas" pitchFamily="34" charset="-122"/>
                <a:cs typeface="Consolas" pitchFamily="34" charset="-120"/>
              </a:rPr>
              <a:t> dnat to 192.168.77.2:8080</a:t>
            </a:r>
            <a:endParaRPr lang="en-US" sz="1000" dirty="0"/>
          </a:p>
        </p:txBody>
      </p:sp>
      <p:sp>
        <p:nvSpPr>
          <p:cNvPr id="8" name="box"/>
          <p:cNvSpPr/>
          <p:nvPr/>
        </p:nvSpPr>
        <p:spPr>
          <a:xfrm>
            <a:off x="548640" y="3154680"/>
            <a:ext cx="2560320" cy="822960"/>
          </a:xfrm>
          <a:prstGeom prst="roundRect">
            <a:avLst>
              <a:gd name="adj" fmla="val 8889"/>
            </a:avLst>
          </a:prstGeom>
          <a:solidFill>
            <a:srgbClr val="2A7F8E"/>
          </a:solidFill>
          <a:ln w="12700">
            <a:solidFill>
              <a:srgbClr val="2A7F8E"/>
            </a:solidFill>
            <a:prstDash val="solid"/>
          </a:ln>
        </p:spPr>
      </p:sp>
      <p:sp>
        <p:nvSpPr>
          <p:cNvPr id="9" name="Text 6"/>
          <p:cNvSpPr txBox="1"/>
          <p:nvPr/>
        </p:nvSpPr>
        <p:spPr>
          <a:xfrm>
            <a:off x="548640" y="3154680"/>
            <a:ext cx="2560320" cy="822960"/>
          </a:xfrm>
          <a:prstGeom prst="rect">
            <a:avLst/>
          </a:prstGeom>
          <a:noFill/>
          <a:ln/>
        </p:spPr>
        <p:txBody>
          <a:bodyPr wrap="square" lIns="635" tIns="635" rIns="635" bIns="635" rtlCol="0" anchor="ctr"/>
          <a:lstStyle/>
          <a:p>
            <a:pPr algn="ctr" indent="0" marL="0">
              <a:buNone/>
            </a:pPr>
            <a:r>
              <a:rPr lang="en-US" sz="1200" dirty="0">
                <a:solidFill>
                  <a:srgbClr val="FFFFFF"/>
                </a:solidFill>
              </a:rPr>
              <a:t>server</a:t>
            </a:r>
            <a:endParaRPr lang="en-US" sz="1200" dirty="0"/>
          </a:p>
          <a:p>
            <a:pPr algn="ctr" indent="0" marL="0">
              <a:buNone/>
            </a:pPr>
            <a:r>
              <a:rPr lang="en-US" sz="1200" dirty="0">
                <a:solidFill>
                  <a:srgbClr val="FFFFFF"/>
                </a:solidFill>
              </a:rPr>
              <a:t>curl 203.0.113.1:8080</a:t>
            </a:r>
            <a:endParaRPr lang="en-US" sz="1200" dirty="0"/>
          </a:p>
        </p:txBody>
      </p:sp>
      <p:sp>
        <p:nvSpPr>
          <p:cNvPr id="10" name="box"/>
          <p:cNvSpPr/>
          <p:nvPr/>
        </p:nvSpPr>
        <p:spPr>
          <a:xfrm>
            <a:off x="4389120" y="3154680"/>
            <a:ext cx="3108960" cy="822960"/>
          </a:xfrm>
          <a:prstGeom prst="roundRect">
            <a:avLst>
              <a:gd name="adj" fmla="val 8889"/>
            </a:avLst>
          </a:prstGeom>
          <a:solidFill>
            <a:srgbClr val="B9772A"/>
          </a:solidFill>
          <a:ln w="12700">
            <a:solidFill>
              <a:srgbClr val="B9772A"/>
            </a:solidFill>
            <a:prstDash val="solid"/>
          </a:ln>
        </p:spPr>
      </p:sp>
      <p:sp>
        <p:nvSpPr>
          <p:cNvPr id="11" name="Text 8"/>
          <p:cNvSpPr txBox="1"/>
          <p:nvPr/>
        </p:nvSpPr>
        <p:spPr>
          <a:xfrm>
            <a:off x="4389120" y="3154680"/>
            <a:ext cx="3108960" cy="822960"/>
          </a:xfrm>
          <a:prstGeom prst="rect">
            <a:avLst/>
          </a:prstGeom>
          <a:noFill/>
          <a:ln/>
        </p:spPr>
        <p:txBody>
          <a:bodyPr wrap="square" lIns="635" tIns="635" rIns="635" bIns="635" rtlCol="0" anchor="ctr"/>
          <a:lstStyle/>
          <a:p>
            <a:pPr algn="ctr" indent="0" marL="0">
              <a:buNone/>
            </a:pPr>
            <a:r>
              <a:rPr lang="en-US" sz="1200" dirty="0">
                <a:solidFill>
                  <a:srgbClr val="FFFFFF"/>
                </a:solidFill>
              </a:rPr>
              <a:t>router</a:t>
            </a:r>
            <a:endParaRPr lang="en-US" sz="1200" dirty="0"/>
          </a:p>
          <a:p>
            <a:pPr algn="ctr" indent="0" marL="0">
              <a:buNone/>
            </a:pPr>
            <a:r>
              <a:rPr lang="en-US" sz="1200" dirty="0">
                <a:solidFill>
                  <a:srgbClr val="FFFFFF"/>
                </a:solidFill>
              </a:rPr>
              <a:t>DNAT before routing</a:t>
            </a:r>
            <a:endParaRPr lang="en-US" sz="1200" dirty="0"/>
          </a:p>
        </p:txBody>
      </p:sp>
      <p:sp>
        <p:nvSpPr>
          <p:cNvPr id="12" name="box"/>
          <p:cNvSpPr/>
          <p:nvPr/>
        </p:nvSpPr>
        <p:spPr>
          <a:xfrm>
            <a:off x="8778240" y="3154680"/>
            <a:ext cx="2834640" cy="822960"/>
          </a:xfrm>
          <a:prstGeom prst="roundRect">
            <a:avLst>
              <a:gd name="adj" fmla="val 8889"/>
            </a:avLst>
          </a:prstGeom>
          <a:solidFill>
            <a:srgbClr val="EEF2F6"/>
          </a:solidFill>
          <a:ln w="12700">
            <a:solidFill>
              <a:srgbClr val="EEF2F6"/>
            </a:solidFill>
            <a:prstDash val="solid"/>
          </a:ln>
        </p:spPr>
      </p:sp>
      <p:sp>
        <p:nvSpPr>
          <p:cNvPr id="13" name="Text 10"/>
          <p:cNvSpPr txBox="1"/>
          <p:nvPr/>
        </p:nvSpPr>
        <p:spPr>
          <a:xfrm>
            <a:off x="8778240" y="3154680"/>
            <a:ext cx="2834640" cy="822960"/>
          </a:xfrm>
          <a:prstGeom prst="rect">
            <a:avLst/>
          </a:prstGeom>
          <a:noFill/>
          <a:ln/>
        </p:spPr>
        <p:txBody>
          <a:bodyPr wrap="square" lIns="635" tIns="635" rIns="635" bIns="635" rtlCol="0" anchor="ctr"/>
          <a:lstStyle/>
          <a:p>
            <a:pPr algn="ctr" indent="0" marL="0">
              <a:buNone/>
            </a:pPr>
            <a:r>
              <a:rPr lang="en-US" sz="1200" dirty="0">
                <a:solidFill>
                  <a:srgbClr val="1B2430"/>
                </a:solidFill>
              </a:rPr>
              <a:t>lan</a:t>
            </a:r>
            <a:endParaRPr lang="en-US" sz="1200" dirty="0"/>
          </a:p>
          <a:p>
            <a:pPr algn="ctr" indent="0" marL="0">
              <a:buNone/>
            </a:pPr>
            <a:r>
              <a:rPr lang="en-US" sz="1200" dirty="0">
                <a:solidFill>
                  <a:srgbClr val="1B2430"/>
                </a:solidFill>
              </a:rPr>
              <a:t>http.server :8080</a:t>
            </a:r>
            <a:endParaRPr lang="en-US" sz="1200" dirty="0"/>
          </a:p>
        </p:txBody>
      </p:sp>
      <p:sp>
        <p:nvSpPr>
          <p:cNvPr id="14" name="Shape 11"/>
          <p:cNvSpPr/>
          <p:nvPr/>
        </p:nvSpPr>
        <p:spPr>
          <a:xfrm>
            <a:off x="3108960" y="3566160"/>
            <a:ext cx="1280160" cy="914"/>
          </a:xfrm>
          <a:prstGeom prst="line">
            <a:avLst/>
          </a:prstGeom>
          <a:noFill/>
          <a:ln w="31750">
            <a:solidFill>
              <a:srgbClr val="1F3A5F"/>
            </a:solidFill>
            <a:prstDash val="solid"/>
            <a:tailEnd type="triangle"/>
          </a:ln>
        </p:spPr>
      </p:sp>
      <p:sp>
        <p:nvSpPr>
          <p:cNvPr id="15" name="Shape 12"/>
          <p:cNvSpPr/>
          <p:nvPr/>
        </p:nvSpPr>
        <p:spPr>
          <a:xfrm>
            <a:off x="7498080" y="3566160"/>
            <a:ext cx="1280160" cy="914"/>
          </a:xfrm>
          <a:prstGeom prst="line">
            <a:avLst/>
          </a:prstGeom>
          <a:noFill/>
          <a:ln w="31750">
            <a:solidFill>
              <a:srgbClr val="1F3A5F"/>
            </a:solidFill>
            <a:prstDash val="solid"/>
            <a:tailEnd type="triangle"/>
          </a:ln>
        </p:spPr>
      </p:sp>
      <p:sp>
        <p:nvSpPr>
          <p:cNvPr id="16" name="Shape 13"/>
          <p:cNvSpPr/>
          <p:nvPr/>
        </p:nvSpPr>
        <p:spPr>
          <a:xfrm>
            <a:off x="548640" y="4315968"/>
            <a:ext cx="384048" cy="384048"/>
          </a:xfrm>
          <a:prstGeom prst="ellipse">
            <a:avLst/>
          </a:prstGeom>
          <a:solidFill>
            <a:srgbClr val="B9772A"/>
          </a:solidFill>
          <a:ln w="12700">
            <a:solidFill>
              <a:srgbClr val="B9772A"/>
            </a:solidFill>
            <a:prstDash val="solid"/>
          </a:ln>
        </p:spPr>
      </p:sp>
      <p:sp>
        <p:nvSpPr>
          <p:cNvPr id="17" name="Text 14"/>
          <p:cNvSpPr txBox="1"/>
          <p:nvPr/>
        </p:nvSpPr>
        <p:spPr>
          <a:xfrm>
            <a:off x="548640" y="4315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8" name="Text 15"/>
          <p:cNvSpPr txBox="1"/>
          <p:nvPr/>
        </p:nvSpPr>
        <p:spPr>
          <a:xfrm>
            <a:off x="1051560" y="4297680"/>
            <a:ext cx="10561320" cy="128016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Q15 · DNAT in </a:t>
            </a:r>
            <a:r>
              <a:rPr lang="en-US" sz="1300" b="1" dirty="0">
                <a:solidFill>
                  <a:srgbClr val="1B2430"/>
                </a:solidFill>
              </a:rPr>
              <a:t>prerouting</a:t>
            </a:r>
            <a:r>
              <a:rPr lang="en-US" sz="1300" dirty="0">
                <a:solidFill>
                  <a:srgbClr val="1B2430"/>
                </a:solidFill>
              </a:rPr>
              <a:t> (the routing decision must see the new destination); masquerade in </a:t>
            </a:r>
            <a:r>
              <a:rPr lang="en-US" sz="1300" b="1" dirty="0">
                <a:solidFill>
                  <a:srgbClr val="1B2430"/>
                </a:solidFill>
              </a:rPr>
              <a:t>postrouting</a:t>
            </a:r>
            <a:r>
              <a:rPr lang="en-US" sz="1300" dirty="0">
                <a:solidFill>
                  <a:srgbClr val="1B2430"/>
                </a:solidFill>
              </a:rPr>
              <a:t> (after the outgoing interface is known). The lan server logs the real client 203.0.113.10.</a:t>
            </a:r>
            <a:endParaRPr lang="en-US" sz="1300" dirty="0"/>
          </a:p>
        </p:txBody>
      </p:sp>
      <p:sp>
        <p:nvSpPr>
          <p:cNvPr id="19"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0" name="Text 17"/>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Source NAT on the way out, destination NAT on the way in — the two halves of every home router.</a:t>
            </a:r>
            <a:endParaRPr lang="en-US" sz="1400" dirty="0"/>
          </a:p>
        </p:txBody>
      </p:sp>
      <p:sp>
        <p:nvSpPr>
          <p:cNvPr id="21" name="Text 18"/>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SYN (synchronize) · ACK (acknowledgement) · NAT (network address translation)</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6 · STUN: which mapping did your real NAT create?</a:t>
            </a:r>
            <a:endParaRPr lang="en-US" sz="3000" dirty="0"/>
          </a:p>
        </p:txBody>
      </p:sp>
      <p:sp>
        <p:nvSpPr>
          <p:cNvPr id="4" name="code"/>
          <p:cNvSpPr/>
          <p:nvPr/>
        </p:nvSpPr>
        <p:spPr>
          <a:xfrm>
            <a:off x="548640" y="1280160"/>
            <a:ext cx="5852160" cy="2011680"/>
          </a:xfrm>
          <a:prstGeom prst="rect">
            <a:avLst/>
          </a:prstGeom>
          <a:solidFill>
            <a:srgbClr val="1E2A38"/>
          </a:solidFill>
          <a:ln w="12700">
            <a:solidFill>
              <a:srgbClr val="1E2A38"/>
            </a:solidFill>
            <a:prstDash val="solid"/>
          </a:ln>
        </p:spPr>
      </p:sp>
      <p:sp>
        <p:nvSpPr>
          <p:cNvPr id="5" name="Text 2"/>
          <p:cNvSpPr txBox="1"/>
          <p:nvPr/>
        </p:nvSpPr>
        <p:spPr>
          <a:xfrm>
            <a:off x="548640" y="1280160"/>
            <a:ext cx="5852160" cy="2011680"/>
          </a:xfrm>
          <a:prstGeom prst="rect">
            <a:avLst/>
          </a:prstGeom>
          <a:noFill/>
          <a:ln/>
        </p:spPr>
        <p:txBody>
          <a:bodyPr wrap="square" lIns="101600" tIns="101600" rIns="101600" bIns="101600" rtlCol="0" anchor="t"/>
          <a:lstStyle/>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 ip -4 addr show | grep inet</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    inet 192.168.1.34/24 …</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 python3 python/stun_client.py</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local (private) side: ('0.0.0.0', 52811)</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request 1: the server saw us as 86.120.4.7:52811</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request 2: the server saw us as 86.120.4.7:52811</a:t>
            </a:r>
            <a:endParaRPr lang="en-US" sz="1100" dirty="0"/>
          </a:p>
        </p:txBody>
      </p:sp>
      <p:sp>
        <p:nvSpPr>
          <p:cNvPr id="6" name="box"/>
          <p:cNvSpPr/>
          <p:nvPr/>
        </p:nvSpPr>
        <p:spPr>
          <a:xfrm>
            <a:off x="6675120" y="1280160"/>
            <a:ext cx="4937760" cy="603504"/>
          </a:xfrm>
          <a:prstGeom prst="roundRect">
            <a:avLst>
              <a:gd name="adj" fmla="val 12121"/>
            </a:avLst>
          </a:prstGeom>
          <a:solidFill>
            <a:srgbClr val="F3EAD7"/>
          </a:solidFill>
          <a:ln w="12700">
            <a:solidFill>
              <a:srgbClr val="F3EAD7"/>
            </a:solidFill>
            <a:prstDash val="solid"/>
          </a:ln>
        </p:spPr>
      </p:sp>
      <p:sp>
        <p:nvSpPr>
          <p:cNvPr id="7" name="Text 4"/>
          <p:cNvSpPr txBox="1"/>
          <p:nvPr/>
        </p:nvSpPr>
        <p:spPr>
          <a:xfrm>
            <a:off x="6675120" y="1280160"/>
            <a:ext cx="4937760" cy="603504"/>
          </a:xfrm>
          <a:prstGeom prst="rect">
            <a:avLst/>
          </a:prstGeom>
          <a:noFill/>
          <a:ln/>
        </p:spPr>
        <p:txBody>
          <a:bodyPr wrap="square" lIns="635" tIns="635" rIns="635" bIns="635" rtlCol="0" anchor="ctr"/>
          <a:lstStyle/>
          <a:p>
            <a:pPr algn="ctr" indent="0" marL="0">
              <a:buNone/>
            </a:pPr>
            <a:r>
              <a:rPr lang="en-US" sz="1200" b="1" dirty="0">
                <a:solidFill>
                  <a:srgbClr val="1B2430"/>
                </a:solidFill>
              </a:rPr>
              <a:t>private address</a:t>
            </a:r>
            <a:r>
              <a:rPr lang="en-US" sz="1200" dirty="0">
                <a:solidFill>
                  <a:srgbClr val="1B2430"/>
                </a:solidFill>
              </a:rPr>
              <a:t>: 192.168.1.34</a:t>
            </a:r>
            <a:endParaRPr lang="en-US" sz="1200" dirty="0"/>
          </a:p>
        </p:txBody>
      </p:sp>
      <p:sp>
        <p:nvSpPr>
          <p:cNvPr id="8" name="box"/>
          <p:cNvSpPr/>
          <p:nvPr/>
        </p:nvSpPr>
        <p:spPr>
          <a:xfrm>
            <a:off x="6675120" y="1993392"/>
            <a:ext cx="4937760" cy="603504"/>
          </a:xfrm>
          <a:prstGeom prst="roundRect">
            <a:avLst>
              <a:gd name="adj" fmla="val 12121"/>
            </a:avLst>
          </a:prstGeom>
          <a:solidFill>
            <a:srgbClr val="F3EAD7"/>
          </a:solidFill>
          <a:ln w="12700">
            <a:solidFill>
              <a:srgbClr val="F3EAD7"/>
            </a:solidFill>
            <a:prstDash val="solid"/>
          </a:ln>
        </p:spPr>
      </p:sp>
      <p:sp>
        <p:nvSpPr>
          <p:cNvPr id="9" name="Text 6"/>
          <p:cNvSpPr txBox="1"/>
          <p:nvPr/>
        </p:nvSpPr>
        <p:spPr>
          <a:xfrm>
            <a:off x="6675120" y="1993392"/>
            <a:ext cx="4937760" cy="603504"/>
          </a:xfrm>
          <a:prstGeom prst="rect">
            <a:avLst/>
          </a:prstGeom>
          <a:noFill/>
          <a:ln/>
        </p:spPr>
        <p:txBody>
          <a:bodyPr wrap="square" lIns="635" tIns="635" rIns="635" bIns="635" rtlCol="0" anchor="ctr"/>
          <a:lstStyle/>
          <a:p>
            <a:pPr algn="ctr" indent="0" marL="0">
              <a:buNone/>
            </a:pPr>
            <a:r>
              <a:rPr lang="en-US" sz="1200" b="1" dirty="0">
                <a:solidFill>
                  <a:srgbClr val="1B2430"/>
                </a:solidFill>
              </a:rPr>
              <a:t>public mapping</a:t>
            </a:r>
            <a:r>
              <a:rPr lang="en-US" sz="1200" dirty="0">
                <a:solidFill>
                  <a:srgbClr val="1B2430"/>
                </a:solidFill>
              </a:rPr>
              <a:t>: 86.120.4.7:52811</a:t>
            </a:r>
            <a:endParaRPr lang="en-US" sz="1200" dirty="0"/>
          </a:p>
        </p:txBody>
      </p:sp>
      <p:sp>
        <p:nvSpPr>
          <p:cNvPr id="10" name="box"/>
          <p:cNvSpPr/>
          <p:nvPr/>
        </p:nvSpPr>
        <p:spPr>
          <a:xfrm>
            <a:off x="6675120" y="2706624"/>
            <a:ext cx="4937760" cy="603504"/>
          </a:xfrm>
          <a:prstGeom prst="roundRect">
            <a:avLst>
              <a:gd name="adj" fmla="val 12121"/>
            </a:avLst>
          </a:prstGeom>
          <a:solidFill>
            <a:srgbClr val="D7EBDD"/>
          </a:solidFill>
          <a:ln w="12700">
            <a:solidFill>
              <a:srgbClr val="D7EBDD"/>
            </a:solidFill>
            <a:prstDash val="solid"/>
          </a:ln>
        </p:spPr>
      </p:sp>
      <p:sp>
        <p:nvSpPr>
          <p:cNvPr id="11" name="Text 8"/>
          <p:cNvSpPr txBox="1"/>
          <p:nvPr/>
        </p:nvSpPr>
        <p:spPr>
          <a:xfrm>
            <a:off x="6675120" y="2706624"/>
            <a:ext cx="4937760" cy="603504"/>
          </a:xfrm>
          <a:prstGeom prst="rect">
            <a:avLst/>
          </a:prstGeom>
          <a:noFill/>
          <a:ln/>
        </p:spPr>
        <p:txBody>
          <a:bodyPr wrap="square" lIns="635" tIns="635" rIns="635" bIns="635" rtlCol="0" anchor="ctr"/>
          <a:lstStyle/>
          <a:p>
            <a:pPr algn="ctr" indent="0" marL="0">
              <a:buNone/>
            </a:pPr>
            <a:r>
              <a:rPr lang="en-US" sz="1200" b="1" dirty="0">
                <a:solidFill>
                  <a:srgbClr val="1B2430"/>
                </a:solidFill>
              </a:rPr>
              <a:t>same port twice</a:t>
            </a:r>
            <a:r>
              <a:rPr lang="en-US" sz="1200" dirty="0">
                <a:solidFill>
                  <a:srgbClr val="1B2430"/>
                </a:solidFill>
              </a:rPr>
              <a:t>: endpoint-independent: hole punching works</a:t>
            </a:r>
            <a:endParaRPr lang="en-US" sz="1200" dirty="0"/>
          </a:p>
        </p:txBody>
      </p:sp>
      <p:sp>
        <p:nvSpPr>
          <p:cNvPr id="12" name="box"/>
          <p:cNvSpPr/>
          <p:nvPr/>
        </p:nvSpPr>
        <p:spPr>
          <a:xfrm>
            <a:off x="548640" y="3566160"/>
            <a:ext cx="11064240" cy="914400"/>
          </a:xfrm>
          <a:prstGeom prst="roundRect">
            <a:avLst>
              <a:gd name="adj" fmla="val 8000"/>
            </a:avLst>
          </a:prstGeom>
          <a:solidFill>
            <a:srgbClr val="EEF2F6"/>
          </a:solidFill>
          <a:ln w="12700">
            <a:solidFill>
              <a:srgbClr val="EEF2F6"/>
            </a:solidFill>
            <a:prstDash val="solid"/>
          </a:ln>
        </p:spPr>
      </p:sp>
      <p:sp>
        <p:nvSpPr>
          <p:cNvPr id="13" name="Text 10"/>
          <p:cNvSpPr txBox="1"/>
          <p:nvPr/>
        </p:nvSpPr>
        <p:spPr>
          <a:xfrm>
            <a:off x="548640" y="3566160"/>
            <a:ext cx="11064240" cy="914400"/>
          </a:xfrm>
          <a:prstGeom prst="rect">
            <a:avLst/>
          </a:prstGeom>
          <a:noFill/>
          <a:ln/>
        </p:spPr>
        <p:txBody>
          <a:bodyPr wrap="square" lIns="635" tIns="635" rIns="635" bIns="635" rtlCol="0" anchor="ctr"/>
          <a:lstStyle/>
          <a:p>
            <a:pPr algn="ctr" indent="0" marL="0">
              <a:buNone/>
            </a:pPr>
            <a:r>
              <a:rPr lang="en-US" sz="1300" dirty="0">
                <a:solidFill>
                  <a:srgbClr val="1B2430"/>
                </a:solidFill>
              </a:rPr>
              <a:t>Binding request: type 0x0001, magic cookie 0x2112A442, 12-byte transaction ID → response 0x0101 with </a:t>
            </a:r>
            <a:r>
              <a:rPr lang="en-US" sz="1300" b="1" dirty="0">
                <a:solidFill>
                  <a:srgbClr val="1B2430"/>
                </a:solidFill>
              </a:rPr>
              <a:t>XOR-MAPPED-ADDRESS</a:t>
            </a:r>
            <a:r>
              <a:rPr lang="en-US" sz="1300" dirty="0">
                <a:solidFill>
                  <a:srgbClr val="1B2430"/>
                </a:solidFill>
              </a:rPr>
              <a:t> (port XOR 0x2112, address XOR the cookie)</a:t>
            </a:r>
            <a:endParaRPr lang="en-US" sz="1300" dirty="0"/>
          </a:p>
        </p:txBody>
      </p:sp>
      <p:sp>
        <p:nvSpPr>
          <p:cNvPr id="14" name="Shape 11"/>
          <p:cNvSpPr/>
          <p:nvPr/>
        </p:nvSpPr>
        <p:spPr>
          <a:xfrm>
            <a:off x="548640" y="4727448"/>
            <a:ext cx="384048" cy="384048"/>
          </a:xfrm>
          <a:prstGeom prst="ellipse">
            <a:avLst/>
          </a:prstGeom>
          <a:solidFill>
            <a:srgbClr val="B9772A"/>
          </a:solidFill>
          <a:ln w="12700">
            <a:solidFill>
              <a:srgbClr val="B9772A"/>
            </a:solidFill>
            <a:prstDash val="solid"/>
          </a:ln>
        </p:spPr>
      </p:sp>
      <p:sp>
        <p:nvSpPr>
          <p:cNvPr id="15" name="Text 12"/>
          <p:cNvSpPr txBox="1"/>
          <p:nvPr/>
        </p:nvSpPr>
        <p:spPr>
          <a:xfrm>
            <a:off x="548640" y="47274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6" name="Text 13"/>
          <p:cNvSpPr txBox="1"/>
          <p:nvPr/>
        </p:nvSpPr>
        <p:spPr>
          <a:xfrm>
            <a:off x="1051560" y="4709160"/>
            <a:ext cx="10561320" cy="86868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Q16 · Is your router’s WAN address in 100.64.0.0/10? Then a CGNAT sits between you and the STUN server. (Example values: yours differ.)</a:t>
            </a:r>
            <a:endParaRPr lang="en-US" sz="1200" dirty="0"/>
          </a:p>
        </p:txBody>
      </p:sp>
      <p:sp>
        <p:nvSpPr>
          <p:cNvPr id="17"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8" name="Text 15"/>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STUN is a mirror on the Internet: it shows you the address your NAT gave you.</a:t>
            </a:r>
            <a:endParaRPr lang="en-US" sz="1400" dirty="0"/>
          </a:p>
        </p:txBody>
      </p:sp>
      <p:sp>
        <p:nvSpPr>
          <p:cNvPr id="19" name="Text 16"/>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CGNAT (carrier-grade NAT) · STUN (Session Traversal Utilities for NAT) · NAT (network address translation) · WAN (wide area network)</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Part D · Laboratory 5 on Windows</a:t>
            </a:r>
            <a:endParaRPr lang="en-US" sz="3600" dirty="0"/>
          </a:p>
        </p:txBody>
      </p:sp>
      <p:sp>
        <p:nvSpPr>
          <p:cNvPr id="3" name="box"/>
          <p:cNvSpPr/>
          <p:nvPr/>
        </p:nvSpPr>
        <p:spPr>
          <a:xfrm>
            <a:off x="731520" y="1645920"/>
            <a:ext cx="2514600" cy="1371600"/>
          </a:xfrm>
          <a:prstGeom prst="roundRect">
            <a:avLst>
              <a:gd name="adj" fmla="val 5333"/>
            </a:avLst>
          </a:prstGeom>
          <a:solidFill>
            <a:srgbClr val="2B4A70"/>
          </a:solidFill>
          <a:ln w="12700">
            <a:solidFill>
              <a:srgbClr val="2B4A70"/>
            </a:solidFill>
            <a:prstDash val="solid"/>
          </a:ln>
        </p:spPr>
      </p:sp>
      <p:sp>
        <p:nvSpPr>
          <p:cNvPr id="4" name="Text 2"/>
          <p:cNvSpPr txBox="1"/>
          <p:nvPr/>
        </p:nvSpPr>
        <p:spPr>
          <a:xfrm>
            <a:off x="73152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A · Lecture 5</a:t>
            </a:r>
            <a:endParaRPr lang="en-US" sz="1500" dirty="0"/>
          </a:p>
          <a:p>
            <a:pPr algn="ctr" indent="0" marL="0">
              <a:spcAft>
                <a:spcPts val="400"/>
              </a:spcAft>
              <a:buNone/>
            </a:pPr>
            <a:r>
              <a:rPr lang="en-US" sz="1500" dirty="0">
                <a:solidFill>
                  <a:srgbClr val="FFFFFF"/>
                </a:solidFill>
              </a:rPr>
              <a:t>Mail, news, names, NAT</a:t>
            </a:r>
            <a:endParaRPr lang="en-US" sz="1500" dirty="0"/>
          </a:p>
        </p:txBody>
      </p:sp>
      <p:sp>
        <p:nvSpPr>
          <p:cNvPr id="5" name="Shape 3"/>
          <p:cNvSpPr/>
          <p:nvPr/>
        </p:nvSpPr>
        <p:spPr>
          <a:xfrm>
            <a:off x="3273552" y="2331720"/>
            <a:ext cx="219456" cy="914"/>
          </a:xfrm>
          <a:prstGeom prst="line">
            <a:avLst/>
          </a:prstGeom>
          <a:noFill/>
          <a:ln w="25400">
            <a:solidFill>
              <a:srgbClr val="9FB3C8"/>
            </a:solidFill>
            <a:prstDash val="solid"/>
            <a:tailEnd type="triangle"/>
          </a:ln>
        </p:spPr>
      </p:sp>
      <p:sp>
        <p:nvSpPr>
          <p:cNvPr id="6" name="box"/>
          <p:cNvSpPr/>
          <p:nvPr/>
        </p:nvSpPr>
        <p:spPr>
          <a:xfrm>
            <a:off x="3520440" y="1645920"/>
            <a:ext cx="2514600" cy="1371600"/>
          </a:xfrm>
          <a:prstGeom prst="roundRect">
            <a:avLst>
              <a:gd name="adj" fmla="val 5333"/>
            </a:avLst>
          </a:prstGeom>
          <a:solidFill>
            <a:srgbClr val="2B4A70"/>
          </a:solidFill>
          <a:ln w="12700">
            <a:solidFill>
              <a:srgbClr val="2B4A70"/>
            </a:solidFill>
            <a:prstDash val="solid"/>
          </a:ln>
        </p:spPr>
      </p:sp>
      <p:sp>
        <p:nvSpPr>
          <p:cNvPr id="7" name="Text 5"/>
          <p:cNvSpPr txBox="1"/>
          <p:nvPr/>
        </p:nvSpPr>
        <p:spPr>
          <a:xfrm>
            <a:off x="352044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B · Seminar 5</a:t>
            </a:r>
            <a:endParaRPr lang="en-US" sz="1500" dirty="0"/>
          </a:p>
          <a:p>
            <a:pPr algn="ctr" indent="0" marL="0">
              <a:spcAft>
                <a:spcPts val="400"/>
              </a:spcAft>
              <a:buNone/>
            </a:pPr>
            <a:r>
              <a:rPr lang="en-US" sz="1500" dirty="0">
                <a:solidFill>
                  <a:srgbClr val="FFFFFF"/>
                </a:solidFill>
              </a:rPr>
              <a:t>Problems with solutions</a:t>
            </a:r>
            <a:endParaRPr lang="en-US" sz="1500" dirty="0"/>
          </a:p>
        </p:txBody>
      </p:sp>
      <p:sp>
        <p:nvSpPr>
          <p:cNvPr id="8" name="Shape 6"/>
          <p:cNvSpPr/>
          <p:nvPr/>
        </p:nvSpPr>
        <p:spPr>
          <a:xfrm>
            <a:off x="6062472" y="2331720"/>
            <a:ext cx="219456" cy="914"/>
          </a:xfrm>
          <a:prstGeom prst="line">
            <a:avLst/>
          </a:prstGeom>
          <a:noFill/>
          <a:ln w="25400">
            <a:solidFill>
              <a:srgbClr val="9FB3C8"/>
            </a:solidFill>
            <a:prstDash val="solid"/>
            <a:tailEnd type="triangle"/>
          </a:ln>
        </p:spPr>
      </p:sp>
      <p:sp>
        <p:nvSpPr>
          <p:cNvPr id="9" name="box"/>
          <p:cNvSpPr/>
          <p:nvPr/>
        </p:nvSpPr>
        <p:spPr>
          <a:xfrm>
            <a:off x="6309360" y="1645920"/>
            <a:ext cx="2514600" cy="1371600"/>
          </a:xfrm>
          <a:prstGeom prst="roundRect">
            <a:avLst>
              <a:gd name="adj" fmla="val 5333"/>
            </a:avLst>
          </a:prstGeom>
          <a:solidFill>
            <a:srgbClr val="2B4A70"/>
          </a:solidFill>
          <a:ln w="12700">
            <a:solidFill>
              <a:srgbClr val="2B4A70"/>
            </a:solidFill>
            <a:prstDash val="solid"/>
          </a:ln>
        </p:spPr>
      </p:sp>
      <p:sp>
        <p:nvSpPr>
          <p:cNvPr id="10" name="Text 8"/>
          <p:cNvSpPr txBox="1"/>
          <p:nvPr/>
        </p:nvSpPr>
        <p:spPr>
          <a:xfrm>
            <a:off x="630936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C · Laboratory 5 · Linux</a:t>
            </a:r>
            <a:endParaRPr lang="en-US" sz="1500" dirty="0"/>
          </a:p>
          <a:p>
            <a:pPr algn="ctr" indent="0" marL="0">
              <a:spcAft>
                <a:spcPts val="400"/>
              </a:spcAft>
              <a:buNone/>
            </a:pPr>
            <a:r>
              <a:rPr lang="en-US" sz="1500" dirty="0">
                <a:solidFill>
                  <a:srgbClr val="FFFFFF"/>
                </a:solidFill>
              </a:rPr>
              <a:t>SMTP, POP3, dig, DNS in C, NAT</a:t>
            </a:r>
            <a:endParaRPr lang="en-US" sz="1500" dirty="0"/>
          </a:p>
        </p:txBody>
      </p:sp>
      <p:sp>
        <p:nvSpPr>
          <p:cNvPr id="11" name="Shape 9"/>
          <p:cNvSpPr/>
          <p:nvPr/>
        </p:nvSpPr>
        <p:spPr>
          <a:xfrm>
            <a:off x="8851392" y="2331720"/>
            <a:ext cx="219456" cy="914"/>
          </a:xfrm>
          <a:prstGeom prst="line">
            <a:avLst/>
          </a:prstGeom>
          <a:noFill/>
          <a:ln w="25400">
            <a:solidFill>
              <a:srgbClr val="9FB3C8"/>
            </a:solidFill>
            <a:prstDash val="solid"/>
            <a:tailEnd type="triangle"/>
          </a:ln>
        </p:spPr>
      </p:sp>
      <p:sp>
        <p:nvSpPr>
          <p:cNvPr id="12" name="box"/>
          <p:cNvSpPr/>
          <p:nvPr/>
        </p:nvSpPr>
        <p:spPr>
          <a:xfrm>
            <a:off x="9098280" y="1645920"/>
            <a:ext cx="2514600" cy="1371600"/>
          </a:xfrm>
          <a:prstGeom prst="roundRect">
            <a:avLst>
              <a:gd name="adj" fmla="val 5333"/>
            </a:avLst>
          </a:prstGeom>
          <a:solidFill>
            <a:srgbClr val="2A7F8E"/>
          </a:solidFill>
          <a:ln w="12700">
            <a:solidFill>
              <a:srgbClr val="2A7F8E"/>
            </a:solidFill>
            <a:prstDash val="solid"/>
          </a:ln>
        </p:spPr>
      </p:sp>
      <p:sp>
        <p:nvSpPr>
          <p:cNvPr id="13" name="Text 11"/>
          <p:cNvSpPr txBox="1"/>
          <p:nvPr/>
        </p:nvSpPr>
        <p:spPr>
          <a:xfrm>
            <a:off x="9098280" y="1645920"/>
            <a:ext cx="2514600" cy="1371600"/>
          </a:xfrm>
          <a:prstGeom prst="rect">
            <a:avLst/>
          </a:prstGeom>
          <a:noFill/>
          <a:ln/>
        </p:spPr>
        <p:txBody>
          <a:bodyPr wrap="square" lIns="635" tIns="635" rIns="635" bIns="635" rtlCol="0" anchor="ctr"/>
          <a:lstStyle/>
          <a:p>
            <a:pPr algn="ctr" indent="0" marL="0">
              <a:spcAft>
                <a:spcPts val="400"/>
              </a:spcAft>
              <a:buNone/>
            </a:pPr>
            <a:r>
              <a:rPr lang="en-US" sz="1500" b="1" dirty="0">
                <a:solidFill>
                  <a:srgbClr val="FFFFFF"/>
                </a:solidFill>
              </a:rPr>
              <a:t>D · Laboratory 5 · Windows</a:t>
            </a:r>
            <a:endParaRPr lang="en-US" sz="1500" dirty="0"/>
          </a:p>
          <a:p>
            <a:pPr algn="ctr" indent="0" marL="0">
              <a:spcAft>
                <a:spcPts val="400"/>
              </a:spcAft>
              <a:buNone/>
            </a:pPr>
            <a:r>
              <a:rPr lang="en-US" sz="1500" dirty="0">
                <a:solidFill>
                  <a:srgbClr val="FFFFFF"/>
                </a:solidFill>
              </a:rPr>
              <a:t>PowerShell, Winsock, your NAT</a:t>
            </a:r>
            <a:endParaRPr lang="en-US" sz="1500" dirty="0"/>
          </a:p>
        </p:txBody>
      </p:sp>
      <p:sp>
        <p:nvSpPr>
          <p:cNvPr id="14" name="Text 12"/>
          <p:cNvSpPr txBox="1"/>
          <p:nvPr/>
        </p:nvSpPr>
        <p:spPr>
          <a:xfrm>
            <a:off x="731520" y="3429000"/>
            <a:ext cx="10698480" cy="365760"/>
          </a:xfrm>
          <a:prstGeom prst="rect">
            <a:avLst/>
          </a:prstGeom>
          <a:noFill/>
          <a:ln/>
        </p:spPr>
        <p:txBody>
          <a:bodyPr wrap="square" lIns="0" tIns="0" rIns="0" bIns="0" rtlCol="0" anchor="ctr"/>
          <a:lstStyle/>
          <a:p>
            <a:pPr indent="0" marL="0">
              <a:buNone/>
            </a:pPr>
            <a:r>
              <a:rPr lang="en-US" sz="1600" b="1" dirty="0">
                <a:solidFill>
                  <a:srgbClr val="DDF0F2"/>
                </a:solidFill>
              </a:rPr>
              <a:t>In this part</a:t>
            </a:r>
            <a:endParaRPr lang="en-US" sz="1600" dirty="0"/>
          </a:p>
        </p:txBody>
      </p:sp>
      <p:sp>
        <p:nvSpPr>
          <p:cNvPr id="15" name="Text 13"/>
          <p:cNvSpPr txBox="1"/>
          <p:nvPr/>
        </p:nvSpPr>
        <p:spPr>
          <a:xfrm>
            <a:off x="7315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Tasks 1–3 · SMTP, MIME, POP3 and IMAP</a:t>
            </a:r>
            <a:endParaRPr lang="en-US" sz="1500" dirty="0"/>
          </a:p>
        </p:txBody>
      </p:sp>
      <p:sp>
        <p:nvSpPr>
          <p:cNvPr id="16" name="Text 14"/>
          <p:cNvSpPr txBox="1"/>
          <p:nvPr/>
        </p:nvSpPr>
        <p:spPr>
          <a:xfrm>
            <a:off x="6217920" y="38404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4 · Resolve-DnsName, nslookup, the cache</a:t>
            </a:r>
            <a:endParaRPr lang="en-US" sz="1500" dirty="0"/>
          </a:p>
        </p:txBody>
      </p:sp>
      <p:sp>
        <p:nvSpPr>
          <p:cNvPr id="17" name="Text 15"/>
          <p:cNvSpPr txBox="1"/>
          <p:nvPr/>
        </p:nvSpPr>
        <p:spPr>
          <a:xfrm>
            <a:off x="7315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5 · The DNS client with Winsock</a:t>
            </a:r>
            <a:endParaRPr lang="en-US" sz="1500" dirty="0"/>
          </a:p>
        </p:txBody>
      </p:sp>
      <p:sp>
        <p:nvSpPr>
          <p:cNvPr id="18" name="Text 16"/>
          <p:cNvSpPr txBox="1"/>
          <p:nvPr/>
        </p:nvSpPr>
        <p:spPr>
          <a:xfrm>
            <a:off x="6217920" y="42976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Task 6 · Finding your own NAT</a:t>
            </a:r>
            <a:endParaRPr lang="en-US" sz="1500" dirty="0"/>
          </a:p>
        </p:txBody>
      </p:sp>
      <p:sp>
        <p:nvSpPr>
          <p:cNvPr id="19" name="Text 17"/>
          <p:cNvSpPr txBox="1"/>
          <p:nvPr/>
        </p:nvSpPr>
        <p:spPr>
          <a:xfrm>
            <a:off x="731520" y="4754880"/>
            <a:ext cx="5303520" cy="411480"/>
          </a:xfrm>
          <a:prstGeom prst="rect">
            <a:avLst/>
          </a:prstGeom>
          <a:noFill/>
          <a:ln/>
        </p:spPr>
        <p:txBody>
          <a:bodyPr wrap="square" lIns="0" tIns="0" rIns="0" bIns="0" rtlCol="0" anchor="ctr"/>
          <a:lstStyle/>
          <a:p>
            <a:pPr indent="0" marL="0">
              <a:buNone/>
            </a:pPr>
            <a:r>
              <a:rPr lang="en-US" sz="1500" dirty="0">
                <a:solidFill>
                  <a:srgbClr val="FFFFFF"/>
                </a:solidFill>
              </a:rPr>
              <a:t>WSL 2 · Windows’ own NAT</a:t>
            </a:r>
            <a:endParaRPr lang="en-US" sz="1500" dirty="0"/>
          </a:p>
        </p:txBody>
      </p:sp>
      <p:sp>
        <p:nvSpPr>
          <p:cNvPr id="21" name="Text 18"/>
          <p:cNvSpPr txBox="1"/>
          <p:nvPr/>
        </p:nvSpPr>
        <p:spPr>
          <a:xfrm>
            <a:off x="731520" y="6172200"/>
            <a:ext cx="10698480" cy="457200"/>
          </a:xfrm>
          <a:prstGeom prst="rect">
            <a:avLst/>
          </a:prstGeom>
          <a:noFill/>
          <a:ln/>
        </p:spPr>
        <p:txBody>
          <a:bodyPr wrap="square" lIns="0" tIns="0" rIns="0" bIns="0" rtlCol="0" anchor="t"/>
          <a:lstStyle/>
          <a:p>
            <a:pPr indent="0" marL="0">
              <a:buNone/>
            </a:pPr>
            <a:r>
              <a:rPr lang="en-US" sz="1100" dirty="0">
                <a:solidFill>
                  <a:srgbClr val="C9D6E3"/>
                </a:solidFill>
              </a:rPr>
              <a:t>SMTP (Simple Mail Transfer Protocol) · MIME (Multipurpose Internet Mail Extensions) · POP3 (Post Office Protocol version 3) · IMAP (Internet Message Access Protocol) · DNS (Domain Name System) · NAT (network address translation) · WSL (Windows Subsystem for Linux)</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Tasks 1–3 · The same mail servers on Windows</a:t>
            </a:r>
            <a:endParaRPr lang="en-US" sz="3000" dirty="0"/>
          </a:p>
        </p:txBody>
      </p:sp>
      <p:sp>
        <p:nvSpPr>
          <p:cNvPr id="4" name="code"/>
          <p:cNvSpPr/>
          <p:nvPr/>
        </p:nvSpPr>
        <p:spPr>
          <a:xfrm>
            <a:off x="548640" y="1280160"/>
            <a:ext cx="6766560" cy="2926080"/>
          </a:xfrm>
          <a:prstGeom prst="rect">
            <a:avLst/>
          </a:prstGeom>
          <a:solidFill>
            <a:srgbClr val="1E2A38"/>
          </a:solidFill>
          <a:ln w="12700">
            <a:solidFill>
              <a:srgbClr val="1E2A38"/>
            </a:solidFill>
            <a:prstDash val="solid"/>
          </a:ln>
        </p:spPr>
      </p:sp>
      <p:sp>
        <p:nvSpPr>
          <p:cNvPr id="5" name="Text 2"/>
          <p:cNvSpPr txBox="1"/>
          <p:nvPr/>
        </p:nvSpPr>
        <p:spPr>
          <a:xfrm>
            <a:off x="548640" y="1280160"/>
            <a:ext cx="6766560" cy="2926080"/>
          </a:xfrm>
          <a:prstGeom prst="rect">
            <a:avLst/>
          </a:prstGeom>
          <a:noFill/>
          <a:ln/>
        </p:spPr>
        <p:txBody>
          <a:bodyPr wrap="square" lIns="101600" tIns="101600" rIns="101600" bIns="101600" rtlCol="0" anchor="t"/>
          <a:lstStyle/>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py -m pip install aiosmtpd</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py -m aiosmtpd -n -l 127.0.0.1:8025 `</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   -c aiosmtpd.handlers.Mailbox Maildir</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py python\talk.py 127.0.0.1 8025</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py python\send_mail.py 127.0.0.1 8025 photo.bin</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py python\pop3_server.py Maildir 1110</a:t>
            </a:r>
            <a:endParaRPr lang="en-US" sz="1100" dirty="0"/>
          </a:p>
          <a:p>
            <a:pPr algn="l" indent="0" marL="0">
              <a:spcAft>
                <a:spcPts val="200"/>
              </a:spcAft>
              <a:buNone/>
            </a:pPr>
            <a:r>
              <a:rPr lang="en-US" sz="1100" dirty="0">
                <a:solidFill>
                  <a:srgbClr val="E8EEF4"/>
                </a:solidFill>
                <a:latin typeface="Consolas" pitchFamily="34" charset="0"/>
                <a:ea typeface="Consolas" pitchFamily="34" charset="-122"/>
                <a:cs typeface="Consolas" pitchFamily="34" charset="-120"/>
              </a:rPr>
              <a:t>py python\talk.py imap.gmail.com 993 --tls</a:t>
            </a:r>
            <a:endParaRPr lang="en-US" sz="1100" dirty="0"/>
          </a:p>
        </p:txBody>
      </p:sp>
      <p:sp>
        <p:nvSpPr>
          <p:cNvPr id="6" name="box"/>
          <p:cNvSpPr/>
          <p:nvPr/>
        </p:nvSpPr>
        <p:spPr>
          <a:xfrm>
            <a:off x="7589520" y="1280160"/>
            <a:ext cx="4023360" cy="1371600"/>
          </a:xfrm>
          <a:prstGeom prst="roundRect">
            <a:avLst>
              <a:gd name="adj" fmla="val 5333"/>
            </a:avLst>
          </a:prstGeom>
          <a:solidFill>
            <a:srgbClr val="F3EAD7"/>
          </a:solidFill>
          <a:ln w="12700">
            <a:solidFill>
              <a:srgbClr val="F3EAD7"/>
            </a:solidFill>
            <a:prstDash val="solid"/>
          </a:ln>
        </p:spPr>
      </p:sp>
      <p:sp>
        <p:nvSpPr>
          <p:cNvPr id="7" name="Text 4"/>
          <p:cNvSpPr txBox="1"/>
          <p:nvPr/>
        </p:nvSpPr>
        <p:spPr>
          <a:xfrm>
            <a:off x="7589520" y="1280160"/>
            <a:ext cx="4023360" cy="1371600"/>
          </a:xfrm>
          <a:prstGeom prst="rect">
            <a:avLst/>
          </a:prstGeom>
          <a:noFill/>
          <a:ln/>
        </p:spPr>
        <p:txBody>
          <a:bodyPr wrap="square" lIns="635" tIns="635" rIns="635" bIns="635" rtlCol="0" anchor="ctr"/>
          <a:lstStyle/>
          <a:p>
            <a:pPr algn="ctr" indent="0" marL="0">
              <a:buNone/>
            </a:pPr>
            <a:r>
              <a:rPr lang="en-US" sz="1100" b="1" dirty="0">
                <a:solidFill>
                  <a:srgbClr val="1B2430"/>
                </a:solidFill>
              </a:rPr>
              <a:t>random file</a:t>
            </a:r>
            <a:endParaRPr lang="en-US" sz="1100" dirty="0"/>
          </a:p>
          <a:p>
            <a:pPr algn="ctr" indent="0" marL="0">
              <a:buNone/>
            </a:pPr>
            <a:r>
              <a:rPr lang="en-US" sz="1100" dirty="0">
                <a:solidFill>
                  <a:srgbClr val="1B2430"/>
                </a:solidFill>
              </a:rPr>
              <a:t>(New-Object Random).NextBytes($b)</a:t>
            </a:r>
            <a:endParaRPr lang="en-US" sz="1100" dirty="0"/>
          </a:p>
          <a:p>
            <a:pPr algn="ctr" indent="0" marL="0">
              <a:buNone/>
            </a:pPr>
            <a:r>
              <a:rPr lang="en-US" sz="1100" dirty="0">
                <a:solidFill>
                  <a:srgbClr val="1B2430"/>
                </a:solidFill>
              </a:rPr>
              <a:t>[IO.File]::WriteAllBytes(…)</a:t>
            </a:r>
            <a:endParaRPr lang="en-US" sz="1100" dirty="0"/>
          </a:p>
        </p:txBody>
      </p:sp>
      <p:sp>
        <p:nvSpPr>
          <p:cNvPr id="8" name="box"/>
          <p:cNvSpPr/>
          <p:nvPr/>
        </p:nvSpPr>
        <p:spPr>
          <a:xfrm>
            <a:off x="7589520" y="2834640"/>
            <a:ext cx="4023360" cy="1371600"/>
          </a:xfrm>
          <a:prstGeom prst="roundRect">
            <a:avLst>
              <a:gd name="adj" fmla="val 5333"/>
            </a:avLst>
          </a:prstGeom>
          <a:solidFill>
            <a:srgbClr val="F3EAD7"/>
          </a:solidFill>
          <a:ln w="12700">
            <a:solidFill>
              <a:srgbClr val="F3EAD7"/>
            </a:solidFill>
            <a:prstDash val="solid"/>
          </a:ln>
        </p:spPr>
      </p:sp>
      <p:sp>
        <p:nvSpPr>
          <p:cNvPr id="9" name="Text 6"/>
          <p:cNvSpPr txBox="1"/>
          <p:nvPr/>
        </p:nvSpPr>
        <p:spPr>
          <a:xfrm>
            <a:off x="7589520" y="2834640"/>
            <a:ext cx="4023360" cy="1371600"/>
          </a:xfrm>
          <a:prstGeom prst="rect">
            <a:avLst/>
          </a:prstGeom>
          <a:noFill/>
          <a:ln/>
        </p:spPr>
        <p:txBody>
          <a:bodyPr wrap="square" lIns="635" tIns="635" rIns="635" bIns="635" rtlCol="0" anchor="ctr"/>
          <a:lstStyle/>
          <a:p>
            <a:pPr algn="ctr" indent="0" marL="0">
              <a:buNone/>
            </a:pPr>
            <a:r>
              <a:rPr lang="en-US" sz="1100" b="1" dirty="0">
                <a:solidFill>
                  <a:srgbClr val="1B2430"/>
                </a:solidFill>
              </a:rPr>
              <a:t>decode the encoded word</a:t>
            </a:r>
            <a:endParaRPr lang="en-US" sz="1100" dirty="0"/>
          </a:p>
          <a:p>
            <a:pPr algn="ctr" indent="0" marL="0">
              <a:buNone/>
            </a:pPr>
            <a:r>
              <a:rPr lang="en-US" sz="1100" dirty="0">
                <a:solidFill>
                  <a:srgbClr val="1B2430"/>
                </a:solidFill>
              </a:rPr>
              <a:t>[Text.Encoding]::UTF8.GetString(</a:t>
            </a:r>
            <a:endParaRPr lang="en-US" sz="1100" dirty="0"/>
          </a:p>
          <a:p>
            <a:pPr algn="ctr" indent="0" marL="0">
              <a:buNone/>
            </a:pPr>
            <a:r>
              <a:rPr lang="en-US" sz="1100" dirty="0">
                <a:solidFill>
                  <a:srgbClr val="1B2430"/>
                </a:solidFill>
              </a:rPr>
              <a:t>[Convert]::FromBase64String('4oCU'))</a:t>
            </a:r>
            <a:endParaRPr lang="en-US" sz="1100" dirty="0"/>
          </a:p>
        </p:txBody>
      </p:sp>
      <p:sp>
        <p:nvSpPr>
          <p:cNvPr id="10" name="Shape 7"/>
          <p:cNvSpPr/>
          <p:nvPr/>
        </p:nvSpPr>
        <p:spPr>
          <a:xfrm>
            <a:off x="548640" y="4498848"/>
            <a:ext cx="384048" cy="384048"/>
          </a:xfrm>
          <a:prstGeom prst="ellipse">
            <a:avLst/>
          </a:prstGeom>
          <a:solidFill>
            <a:srgbClr val="B9772A"/>
          </a:solidFill>
          <a:ln w="12700">
            <a:solidFill>
              <a:srgbClr val="B9772A"/>
            </a:solidFill>
            <a:prstDash val="solid"/>
          </a:ln>
        </p:spPr>
      </p:sp>
      <p:sp>
        <p:nvSpPr>
          <p:cNvPr id="11" name="Text 8"/>
          <p:cNvSpPr txBox="1"/>
          <p:nvPr/>
        </p:nvSpPr>
        <p:spPr>
          <a:xfrm>
            <a:off x="548640" y="4498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2" name="Text 9"/>
          <p:cNvSpPr txBox="1"/>
          <p:nvPr/>
        </p:nvSpPr>
        <p:spPr>
          <a:xfrm>
            <a:off x="1051560" y="4480560"/>
            <a:ext cx="10561320" cy="1051560"/>
          </a:xfrm>
          <a:prstGeom prst="rect">
            <a:avLst/>
          </a:prstGeom>
          <a:noFill/>
          <a:ln/>
        </p:spPr>
        <p:txBody>
          <a:bodyPr wrap="square" lIns="0" tIns="0" rIns="0" bIns="0" rtlCol="0" anchor="t"/>
          <a:lstStyle/>
          <a:p>
            <a:pPr algn="l" indent="0" marL="0">
              <a:spcAft>
                <a:spcPts val="400"/>
              </a:spcAft>
              <a:buNone/>
            </a:pPr>
            <a:r>
              <a:rPr lang="en-US" sz="1200" dirty="0">
                <a:solidFill>
                  <a:srgbClr val="1B2430"/>
                </a:solidFill>
              </a:rPr>
              <a:t>Wireshark on the loopback adapter, filter </a:t>
            </a:r>
            <a:r>
              <a:rPr lang="en-US" sz="1200" dirty="0">
                <a:solidFill>
                  <a:srgbClr val="1B2430"/>
                </a:solidFill>
                <a:latin typeface="Consolas" pitchFamily="34" charset="0"/>
                <a:ea typeface="Consolas" pitchFamily="34" charset="-122"/>
                <a:cs typeface="Consolas" pitchFamily="34" charset="-120"/>
              </a:rPr>
              <a:t>tcp.port == 1110</a:t>
            </a:r>
            <a:r>
              <a:rPr lang="en-US" sz="1200" dirty="0">
                <a:solidFill>
                  <a:srgbClr val="1B2430"/>
                </a:solidFill>
              </a:rPr>
              <a:t>: the POP3 password is readable — </a:t>
            </a:r>
            <a:r>
              <a:rPr lang="en-US" sz="1200" dirty="0">
                <a:solidFill>
                  <a:srgbClr val="1B2430"/>
                </a:solidFill>
                <a:latin typeface="Consolas" pitchFamily="34" charset="0"/>
                <a:ea typeface="Consolas" pitchFamily="34" charset="-122"/>
                <a:cs typeface="Consolas" pitchFamily="34" charset="-120"/>
              </a:rPr>
              <a:t>tcp.port == 993</a:t>
            </a:r>
            <a:r>
              <a:rPr lang="en-US" sz="1200" dirty="0">
                <a:solidFill>
                  <a:srgbClr val="1B2430"/>
                </a:solidFill>
              </a:rPr>
              <a:t>: only TLS, with the name in the ClientHello.</a:t>
            </a:r>
            <a:endParaRPr lang="en-US" sz="1200" dirty="0"/>
          </a:p>
        </p:txBody>
      </p:sp>
      <p:sp>
        <p:nvSpPr>
          <p:cNvPr id="13"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4" name="Text 11"/>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Q1–Q7 · Same protocols, same answers as on Linux — only the shell around them changes.</a:t>
            </a:r>
            <a:endParaRPr lang="en-US" sz="1400" dirty="0"/>
          </a:p>
        </p:txBody>
      </p:sp>
      <p:sp>
        <p:nvSpPr>
          <p:cNvPr id="15" name="Text 12"/>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POP3 (Post Office Protocol version 3) · TLS (Transport Layer Security)</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4 · DNS with Windows tools</a:t>
            </a:r>
            <a:endParaRPr lang="en-US" sz="3000" dirty="0"/>
          </a:p>
        </p:txBody>
      </p:sp>
      <p:sp>
        <p:nvSpPr>
          <p:cNvPr id="4" name="code"/>
          <p:cNvSpPr/>
          <p:nvPr/>
        </p:nvSpPr>
        <p:spPr>
          <a:xfrm>
            <a:off x="548640" y="1280160"/>
            <a:ext cx="6766560" cy="4343400"/>
          </a:xfrm>
          <a:prstGeom prst="rect">
            <a:avLst/>
          </a:prstGeom>
          <a:solidFill>
            <a:srgbClr val="1E2A38"/>
          </a:solidFill>
          <a:ln w="12700">
            <a:solidFill>
              <a:srgbClr val="1E2A38"/>
            </a:solidFill>
            <a:prstDash val="solid"/>
          </a:ln>
        </p:spPr>
      </p:sp>
      <p:sp>
        <p:nvSpPr>
          <p:cNvPr id="5" name="Text 2"/>
          <p:cNvSpPr txBox="1"/>
          <p:nvPr/>
        </p:nvSpPr>
        <p:spPr>
          <a:xfrm>
            <a:off x="548640" y="1280160"/>
            <a:ext cx="6766560" cy="4343400"/>
          </a:xfrm>
          <a:prstGeom prst="rect">
            <a:avLst/>
          </a:prstGeom>
          <a:noFill/>
          <a:ln/>
        </p:spPr>
        <p:txBody>
          <a:bodyPr wrap="square" lIns="101600" tIns="101600" rIns="101600" bIns="101600" rtlCol="0" anchor="t"/>
          <a:lstStyle/>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Resolve-DnsName www.unibuc.ro</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Resolve-DnsName unibuc.ro -Type MX</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Resolve-DnsName gmail.com -Type TXT -Server 1.1.1.1</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Resolve-DnsName _dmarc.gmail.com -Type TXT</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Resolve-DnsName 8.8.8.8                # PTR</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Resolve-DnsName www.unibuc.ro `</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   -Server a.root-servers.net -NoRecursion</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nslookup -debug www.google.com 1.1.1.1</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ipconfig /displaydns | Select-String …</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ipconfig /flushdns                     # (admin)</a:t>
            </a:r>
            <a:endParaRPr lang="en-US" sz="1100" dirty="0"/>
          </a:p>
          <a:p>
            <a:pPr algn="l" indent="0" marL="0">
              <a:spcAft>
                <a:spcPts val="100"/>
              </a:spcAft>
              <a:buNone/>
            </a:pPr>
            <a:r>
              <a:rPr lang="en-US" sz="1100" dirty="0">
                <a:solidFill>
                  <a:srgbClr val="E8EEF4"/>
                </a:solidFill>
                <a:latin typeface="Consolas" pitchFamily="34" charset="0"/>
                <a:ea typeface="Consolas" pitchFamily="34" charset="-122"/>
                <a:cs typeface="Consolas" pitchFamily="34" charset="-120"/>
              </a:rPr>
              <a:t>Get-DnsClientServerAddress -AddressFamily IPv4</a:t>
            </a:r>
            <a:endParaRPr lang="en-US" sz="1100" dirty="0"/>
          </a:p>
        </p:txBody>
      </p:sp>
      <p:sp>
        <p:nvSpPr>
          <p:cNvPr id="6" name="box"/>
          <p:cNvSpPr/>
          <p:nvPr/>
        </p:nvSpPr>
        <p:spPr>
          <a:xfrm>
            <a:off x="7589520" y="1280160"/>
            <a:ext cx="4023360" cy="914400"/>
          </a:xfrm>
          <a:prstGeom prst="roundRect">
            <a:avLst>
              <a:gd name="adj" fmla="val 8000"/>
            </a:avLst>
          </a:prstGeom>
          <a:solidFill>
            <a:srgbClr val="1F3A5F"/>
          </a:solidFill>
          <a:ln w="12700">
            <a:solidFill>
              <a:srgbClr val="1F3A5F"/>
            </a:solidFill>
            <a:prstDash val="solid"/>
          </a:ln>
        </p:spPr>
      </p:sp>
      <p:sp>
        <p:nvSpPr>
          <p:cNvPr id="7" name="Text 4"/>
          <p:cNvSpPr txBox="1"/>
          <p:nvPr/>
        </p:nvSpPr>
        <p:spPr>
          <a:xfrm>
            <a:off x="7589520" y="1280160"/>
            <a:ext cx="4023360" cy="914400"/>
          </a:xfrm>
          <a:prstGeom prst="rect">
            <a:avLst/>
          </a:prstGeom>
          <a:noFill/>
          <a:ln/>
        </p:spPr>
        <p:txBody>
          <a:bodyPr wrap="square" lIns="635" tIns="635" rIns="635" bIns="635" rtlCol="0" anchor="ctr"/>
          <a:lstStyle/>
          <a:p>
            <a:pPr algn="ctr" indent="0" marL="0">
              <a:buNone/>
            </a:pPr>
            <a:r>
              <a:rPr lang="en-US" sz="1200" b="1" dirty="0">
                <a:solidFill>
                  <a:srgbClr val="FFFFFF"/>
                </a:solidFill>
              </a:rPr>
              <a:t>your resolvers</a:t>
            </a:r>
            <a:endParaRPr lang="en-US" sz="1200" dirty="0"/>
          </a:p>
          <a:p>
            <a:pPr algn="ctr" indent="0" marL="0">
              <a:buNone/>
            </a:pPr>
            <a:r>
              <a:rPr lang="en-US" sz="1200" dirty="0">
                <a:solidFill>
                  <a:srgbClr val="FFFFFF"/>
                </a:solidFill>
              </a:rPr>
              <a:t>Get-DnsClientServerAddress</a:t>
            </a:r>
            <a:endParaRPr lang="en-US" sz="1200" dirty="0"/>
          </a:p>
        </p:txBody>
      </p:sp>
      <p:sp>
        <p:nvSpPr>
          <p:cNvPr id="8" name="box"/>
          <p:cNvSpPr/>
          <p:nvPr/>
        </p:nvSpPr>
        <p:spPr>
          <a:xfrm>
            <a:off x="7589520" y="2359152"/>
            <a:ext cx="4023360" cy="914400"/>
          </a:xfrm>
          <a:prstGeom prst="roundRect">
            <a:avLst>
              <a:gd name="adj" fmla="val 8000"/>
            </a:avLst>
          </a:prstGeom>
          <a:solidFill>
            <a:srgbClr val="B9772A"/>
          </a:solidFill>
          <a:ln w="12700">
            <a:solidFill>
              <a:srgbClr val="B9772A"/>
            </a:solidFill>
            <a:prstDash val="solid"/>
          </a:ln>
        </p:spPr>
      </p:sp>
      <p:sp>
        <p:nvSpPr>
          <p:cNvPr id="9" name="Text 6"/>
          <p:cNvSpPr txBox="1"/>
          <p:nvPr/>
        </p:nvSpPr>
        <p:spPr>
          <a:xfrm>
            <a:off x="7589520" y="2359152"/>
            <a:ext cx="4023360" cy="914400"/>
          </a:xfrm>
          <a:prstGeom prst="rect">
            <a:avLst/>
          </a:prstGeom>
          <a:noFill/>
          <a:ln/>
        </p:spPr>
        <p:txBody>
          <a:bodyPr wrap="square" lIns="635" tIns="635" rIns="635" bIns="635" rtlCol="0" anchor="ctr"/>
          <a:lstStyle/>
          <a:p>
            <a:pPr algn="ctr" indent="0" marL="0">
              <a:buNone/>
            </a:pPr>
            <a:r>
              <a:rPr lang="en-US" sz="1200" b="1" dirty="0">
                <a:solidFill>
                  <a:srgbClr val="FFFFFF"/>
                </a:solidFill>
              </a:rPr>
              <a:t>referral</a:t>
            </a:r>
            <a:endParaRPr lang="en-US" sz="1200" dirty="0"/>
          </a:p>
          <a:p>
            <a:pPr algn="ctr" indent="0" marL="0">
              <a:buNone/>
            </a:pPr>
            <a:r>
              <a:rPr lang="en-US" sz="1200" dirty="0">
                <a:solidFill>
                  <a:srgbClr val="FFFFFF"/>
                </a:solidFill>
              </a:rPr>
              <a:t>-NoRecursion to a root server</a:t>
            </a:r>
            <a:endParaRPr lang="en-US" sz="1200" dirty="0"/>
          </a:p>
        </p:txBody>
      </p:sp>
      <p:sp>
        <p:nvSpPr>
          <p:cNvPr id="10" name="box"/>
          <p:cNvSpPr/>
          <p:nvPr/>
        </p:nvSpPr>
        <p:spPr>
          <a:xfrm>
            <a:off x="7589520" y="3438144"/>
            <a:ext cx="4023360" cy="914400"/>
          </a:xfrm>
          <a:prstGeom prst="roundRect">
            <a:avLst>
              <a:gd name="adj" fmla="val 8000"/>
            </a:avLst>
          </a:prstGeom>
          <a:solidFill>
            <a:srgbClr val="2E7D4F"/>
          </a:solidFill>
          <a:ln w="12700">
            <a:solidFill>
              <a:srgbClr val="2E7D4F"/>
            </a:solidFill>
            <a:prstDash val="solid"/>
          </a:ln>
        </p:spPr>
      </p:sp>
      <p:sp>
        <p:nvSpPr>
          <p:cNvPr id="11" name="Text 8"/>
          <p:cNvSpPr txBox="1"/>
          <p:nvPr/>
        </p:nvSpPr>
        <p:spPr>
          <a:xfrm>
            <a:off x="7589520" y="3438144"/>
            <a:ext cx="4023360" cy="914400"/>
          </a:xfrm>
          <a:prstGeom prst="rect">
            <a:avLst/>
          </a:prstGeom>
          <a:noFill/>
          <a:ln/>
        </p:spPr>
        <p:txBody>
          <a:bodyPr wrap="square" lIns="635" tIns="635" rIns="635" bIns="635" rtlCol="0" anchor="ctr"/>
          <a:lstStyle/>
          <a:p>
            <a:pPr algn="ctr" indent="0" marL="0">
              <a:buNone/>
            </a:pPr>
            <a:r>
              <a:rPr lang="en-US" sz="1200" b="1" dirty="0">
                <a:solidFill>
                  <a:srgbClr val="FFFFFF"/>
                </a:solidFill>
              </a:rPr>
              <a:t>TTL</a:t>
            </a:r>
            <a:endParaRPr lang="en-US" sz="1200" dirty="0"/>
          </a:p>
          <a:p>
            <a:pPr algn="ctr" indent="0" marL="0">
              <a:buNone/>
            </a:pPr>
            <a:r>
              <a:rPr lang="en-US" sz="1200" dirty="0">
                <a:solidFill>
                  <a:srgbClr val="FFFFFF"/>
                </a:solidFill>
              </a:rPr>
              <a:t>nslookup -debug, twice</a:t>
            </a:r>
            <a:endParaRPr lang="en-US" sz="1200" dirty="0"/>
          </a:p>
        </p:txBody>
      </p:sp>
      <p:sp>
        <p:nvSpPr>
          <p:cNvPr id="12" name="box"/>
          <p:cNvSpPr/>
          <p:nvPr/>
        </p:nvSpPr>
        <p:spPr>
          <a:xfrm>
            <a:off x="7589520" y="4517136"/>
            <a:ext cx="4023360" cy="914400"/>
          </a:xfrm>
          <a:prstGeom prst="roundRect">
            <a:avLst>
              <a:gd name="adj" fmla="val 8000"/>
            </a:avLst>
          </a:prstGeom>
          <a:solidFill>
            <a:srgbClr val="2A7F8E"/>
          </a:solidFill>
          <a:ln w="12700">
            <a:solidFill>
              <a:srgbClr val="2A7F8E"/>
            </a:solidFill>
            <a:prstDash val="solid"/>
          </a:ln>
        </p:spPr>
      </p:sp>
      <p:sp>
        <p:nvSpPr>
          <p:cNvPr id="13" name="Text 10"/>
          <p:cNvSpPr txBox="1"/>
          <p:nvPr/>
        </p:nvSpPr>
        <p:spPr>
          <a:xfrm>
            <a:off x="7589520" y="4517136"/>
            <a:ext cx="4023360" cy="914400"/>
          </a:xfrm>
          <a:prstGeom prst="rect">
            <a:avLst/>
          </a:prstGeom>
          <a:noFill/>
          <a:ln/>
        </p:spPr>
        <p:txBody>
          <a:bodyPr wrap="square" lIns="635" tIns="635" rIns="635" bIns="635" rtlCol="0" anchor="ctr"/>
          <a:lstStyle/>
          <a:p>
            <a:pPr algn="ctr" indent="0" marL="0">
              <a:buNone/>
            </a:pPr>
            <a:r>
              <a:rPr lang="en-US" sz="1200" b="1" dirty="0">
                <a:solidFill>
                  <a:srgbClr val="FFFFFF"/>
                </a:solidFill>
              </a:rPr>
              <a:t>Windows cache</a:t>
            </a:r>
            <a:endParaRPr lang="en-US" sz="1200" dirty="0"/>
          </a:p>
          <a:p>
            <a:pPr algn="ctr" indent="0" marL="0">
              <a:buNone/>
            </a:pPr>
            <a:r>
              <a:rPr lang="en-US" sz="1200" dirty="0">
                <a:solidFill>
                  <a:srgbClr val="FFFFFF"/>
                </a:solidFill>
              </a:rPr>
              <a:t>ipconfig /displaydns · /flushdns</a:t>
            </a:r>
            <a:endParaRPr lang="en-US" sz="1200" dirty="0"/>
          </a:p>
        </p:txBody>
      </p:sp>
      <p:sp>
        <p:nvSpPr>
          <p:cNvPr id="14"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5" name="Text 12"/>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Q8–Q10 · The cache you flush with ipconfig is a stub resolver’s cache — the resolver keeps its own.</a:t>
            </a:r>
            <a:endParaRPr lang="en-US" sz="1400" dirty="0"/>
          </a:p>
        </p:txBody>
      </p:sp>
      <p:sp>
        <p:nvSpPr>
          <p:cNvPr id="16" name="Text 13"/>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IPv4 (Internet Protocol version 4) · DNS (Domain Name System) · PTR (pointer) · TXT (text) · TTL (time to live) · MX (mail exchanger)</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5 · The DNS client with Winsock</a:t>
            </a:r>
            <a:endParaRPr lang="en-US" sz="3000" dirty="0"/>
          </a:p>
        </p:txBody>
      </p:sp>
      <p:sp>
        <p:nvSpPr>
          <p:cNvPr id="4" name="Text 1"/>
          <p:cNvSpPr txBox="1"/>
          <p:nvPr/>
        </p:nvSpPr>
        <p:spPr>
          <a:xfrm>
            <a:off x="548640" y="1188720"/>
            <a:ext cx="4572000" cy="365760"/>
          </a:xfrm>
          <a:prstGeom prst="rect">
            <a:avLst/>
          </a:prstGeom>
          <a:noFill/>
          <a:ln/>
        </p:spPr>
        <p:txBody>
          <a:bodyPr wrap="square" lIns="0" tIns="0" rIns="0" bIns="0" rtlCol="0" anchor="t"/>
          <a:lstStyle/>
          <a:p>
            <a:pPr algn="l" indent="0" marL="0">
              <a:spcAft>
                <a:spcPts val="400"/>
              </a:spcAft>
              <a:buNone/>
            </a:pPr>
            <a:r>
              <a:rPr lang="en-US" sz="1400" b="1" dirty="0">
                <a:solidFill>
                  <a:srgbClr val="1F3A5F"/>
                </a:solidFill>
              </a:rPr>
              <a:t>Linux</a:t>
            </a:r>
            <a:endParaRPr lang="en-US" sz="1400" dirty="0"/>
          </a:p>
        </p:txBody>
      </p:sp>
      <p:sp>
        <p:nvSpPr>
          <p:cNvPr id="5" name="Text 2"/>
          <p:cNvSpPr txBox="1"/>
          <p:nvPr/>
        </p:nvSpPr>
        <p:spPr>
          <a:xfrm>
            <a:off x="6400800" y="1188720"/>
            <a:ext cx="4572000" cy="365760"/>
          </a:xfrm>
          <a:prstGeom prst="rect">
            <a:avLst/>
          </a:prstGeom>
          <a:noFill/>
          <a:ln/>
        </p:spPr>
        <p:txBody>
          <a:bodyPr wrap="square" lIns="0" tIns="0" rIns="0" bIns="0" rtlCol="0" anchor="t"/>
          <a:lstStyle/>
          <a:p>
            <a:pPr algn="l" indent="0" marL="0">
              <a:spcAft>
                <a:spcPts val="400"/>
              </a:spcAft>
              <a:buNone/>
            </a:pPr>
            <a:r>
              <a:rPr lang="en-US" sz="1400" b="1" dirty="0">
                <a:solidFill>
                  <a:srgbClr val="1F3A5F"/>
                </a:solidFill>
              </a:rPr>
              <a:t>Windows</a:t>
            </a:r>
            <a:endParaRPr lang="en-US" sz="1400" dirty="0"/>
          </a:p>
        </p:txBody>
      </p:sp>
      <p:sp>
        <p:nvSpPr>
          <p:cNvPr id="6" name="box"/>
          <p:cNvSpPr/>
          <p:nvPr/>
        </p:nvSpPr>
        <p:spPr>
          <a:xfrm>
            <a:off x="548640" y="1600200"/>
            <a:ext cx="4937760" cy="457200"/>
          </a:xfrm>
          <a:prstGeom prst="roundRect">
            <a:avLst>
              <a:gd name="adj" fmla="val 16000"/>
            </a:avLst>
          </a:prstGeom>
          <a:solidFill>
            <a:srgbClr val="EEF2F6"/>
          </a:solidFill>
          <a:ln w="12700">
            <a:solidFill>
              <a:srgbClr val="EEF2F6"/>
            </a:solidFill>
            <a:prstDash val="solid"/>
          </a:ln>
        </p:spPr>
      </p:sp>
      <p:sp>
        <p:nvSpPr>
          <p:cNvPr id="7" name="Text 4"/>
          <p:cNvSpPr txBox="1"/>
          <p:nvPr/>
        </p:nvSpPr>
        <p:spPr>
          <a:xfrm>
            <a:off x="548640" y="1600200"/>
            <a:ext cx="493776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(nothing)</a:t>
            </a:r>
            <a:endParaRPr lang="en-US" sz="1200" dirty="0"/>
          </a:p>
        </p:txBody>
      </p:sp>
      <p:sp>
        <p:nvSpPr>
          <p:cNvPr id="8" name="Shape 5"/>
          <p:cNvSpPr/>
          <p:nvPr/>
        </p:nvSpPr>
        <p:spPr>
          <a:xfrm>
            <a:off x="5486400" y="1828800"/>
            <a:ext cx="914400" cy="914"/>
          </a:xfrm>
          <a:prstGeom prst="line">
            <a:avLst/>
          </a:prstGeom>
          <a:noFill/>
          <a:ln w="22225">
            <a:solidFill>
              <a:srgbClr val="B9772A"/>
            </a:solidFill>
            <a:prstDash val="solid"/>
            <a:tailEnd type="triangle"/>
          </a:ln>
        </p:spPr>
      </p:sp>
      <p:sp>
        <p:nvSpPr>
          <p:cNvPr id="9" name="box"/>
          <p:cNvSpPr/>
          <p:nvPr/>
        </p:nvSpPr>
        <p:spPr>
          <a:xfrm>
            <a:off x="6400800" y="1600200"/>
            <a:ext cx="5212080" cy="457200"/>
          </a:xfrm>
          <a:prstGeom prst="roundRect">
            <a:avLst>
              <a:gd name="adj" fmla="val 16000"/>
            </a:avLst>
          </a:prstGeom>
          <a:solidFill>
            <a:srgbClr val="DDF0F2"/>
          </a:solidFill>
          <a:ln w="12700">
            <a:solidFill>
              <a:srgbClr val="DDF0F2"/>
            </a:solidFill>
            <a:prstDash val="solid"/>
          </a:ln>
        </p:spPr>
      </p:sp>
      <p:sp>
        <p:nvSpPr>
          <p:cNvPr id="10" name="Text 7"/>
          <p:cNvSpPr txBox="1"/>
          <p:nvPr/>
        </p:nvSpPr>
        <p:spPr>
          <a:xfrm>
            <a:off x="6400800" y="1600200"/>
            <a:ext cx="521208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WSAStartup(MAKEWORD(2, 2), &amp;wsa)</a:t>
            </a:r>
            <a:endParaRPr lang="en-US" sz="1200" dirty="0"/>
          </a:p>
        </p:txBody>
      </p:sp>
      <p:sp>
        <p:nvSpPr>
          <p:cNvPr id="11" name="box"/>
          <p:cNvSpPr/>
          <p:nvPr/>
        </p:nvSpPr>
        <p:spPr>
          <a:xfrm>
            <a:off x="548640" y="2148840"/>
            <a:ext cx="4937760" cy="457200"/>
          </a:xfrm>
          <a:prstGeom prst="roundRect">
            <a:avLst>
              <a:gd name="adj" fmla="val 16000"/>
            </a:avLst>
          </a:prstGeom>
          <a:solidFill>
            <a:srgbClr val="EEF2F6"/>
          </a:solidFill>
          <a:ln w="12700">
            <a:solidFill>
              <a:srgbClr val="EEF2F6"/>
            </a:solidFill>
            <a:prstDash val="solid"/>
          </a:ln>
        </p:spPr>
      </p:sp>
      <p:sp>
        <p:nvSpPr>
          <p:cNvPr id="12" name="Text 9"/>
          <p:cNvSpPr txBox="1"/>
          <p:nvPr/>
        </p:nvSpPr>
        <p:spPr>
          <a:xfrm>
            <a:off x="548640" y="2148840"/>
            <a:ext cx="493776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int fd</a:t>
            </a:r>
            <a:endParaRPr lang="en-US" sz="1200" dirty="0"/>
          </a:p>
        </p:txBody>
      </p:sp>
      <p:sp>
        <p:nvSpPr>
          <p:cNvPr id="13" name="Shape 10"/>
          <p:cNvSpPr/>
          <p:nvPr/>
        </p:nvSpPr>
        <p:spPr>
          <a:xfrm>
            <a:off x="5486400" y="2377440"/>
            <a:ext cx="914400" cy="914"/>
          </a:xfrm>
          <a:prstGeom prst="line">
            <a:avLst/>
          </a:prstGeom>
          <a:noFill/>
          <a:ln w="22225">
            <a:solidFill>
              <a:srgbClr val="B9772A"/>
            </a:solidFill>
            <a:prstDash val="solid"/>
            <a:tailEnd type="triangle"/>
          </a:ln>
        </p:spPr>
      </p:sp>
      <p:sp>
        <p:nvSpPr>
          <p:cNvPr id="14" name="box"/>
          <p:cNvSpPr/>
          <p:nvPr/>
        </p:nvSpPr>
        <p:spPr>
          <a:xfrm>
            <a:off x="6400800" y="2148840"/>
            <a:ext cx="5212080" cy="457200"/>
          </a:xfrm>
          <a:prstGeom prst="roundRect">
            <a:avLst>
              <a:gd name="adj" fmla="val 16000"/>
            </a:avLst>
          </a:prstGeom>
          <a:solidFill>
            <a:srgbClr val="DDF0F2"/>
          </a:solidFill>
          <a:ln w="12700">
            <a:solidFill>
              <a:srgbClr val="DDF0F2"/>
            </a:solidFill>
            <a:prstDash val="solid"/>
          </a:ln>
        </p:spPr>
      </p:sp>
      <p:sp>
        <p:nvSpPr>
          <p:cNvPr id="15" name="Text 12"/>
          <p:cNvSpPr txBox="1"/>
          <p:nvPr/>
        </p:nvSpPr>
        <p:spPr>
          <a:xfrm>
            <a:off x="6400800" y="2148840"/>
            <a:ext cx="521208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SOCKET fd</a:t>
            </a:r>
            <a:endParaRPr lang="en-US" sz="1200" dirty="0"/>
          </a:p>
        </p:txBody>
      </p:sp>
      <p:sp>
        <p:nvSpPr>
          <p:cNvPr id="16" name="box"/>
          <p:cNvSpPr/>
          <p:nvPr/>
        </p:nvSpPr>
        <p:spPr>
          <a:xfrm>
            <a:off x="548640" y="2697480"/>
            <a:ext cx="4937760" cy="457200"/>
          </a:xfrm>
          <a:prstGeom prst="roundRect">
            <a:avLst>
              <a:gd name="adj" fmla="val 16000"/>
            </a:avLst>
          </a:prstGeom>
          <a:solidFill>
            <a:srgbClr val="EEF2F6"/>
          </a:solidFill>
          <a:ln w="12700">
            <a:solidFill>
              <a:srgbClr val="EEF2F6"/>
            </a:solidFill>
            <a:prstDash val="solid"/>
          </a:ln>
        </p:spPr>
      </p:sp>
      <p:sp>
        <p:nvSpPr>
          <p:cNvPr id="17" name="Text 14"/>
          <p:cNvSpPr txBox="1"/>
          <p:nvPr/>
        </p:nvSpPr>
        <p:spPr>
          <a:xfrm>
            <a:off x="548640" y="2697480"/>
            <a:ext cx="493776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struct timeval tv = {2, 0}</a:t>
            </a:r>
            <a:endParaRPr lang="en-US" sz="1200" dirty="0"/>
          </a:p>
        </p:txBody>
      </p:sp>
      <p:sp>
        <p:nvSpPr>
          <p:cNvPr id="18" name="Shape 15"/>
          <p:cNvSpPr/>
          <p:nvPr/>
        </p:nvSpPr>
        <p:spPr>
          <a:xfrm>
            <a:off x="5486400" y="2926080"/>
            <a:ext cx="914400" cy="914"/>
          </a:xfrm>
          <a:prstGeom prst="line">
            <a:avLst/>
          </a:prstGeom>
          <a:noFill/>
          <a:ln w="22225">
            <a:solidFill>
              <a:srgbClr val="B9772A"/>
            </a:solidFill>
            <a:prstDash val="solid"/>
            <a:tailEnd type="triangle"/>
          </a:ln>
        </p:spPr>
      </p:sp>
      <p:sp>
        <p:nvSpPr>
          <p:cNvPr id="19" name="box"/>
          <p:cNvSpPr/>
          <p:nvPr/>
        </p:nvSpPr>
        <p:spPr>
          <a:xfrm>
            <a:off x="6400800" y="2697480"/>
            <a:ext cx="5212080" cy="457200"/>
          </a:xfrm>
          <a:prstGeom prst="roundRect">
            <a:avLst>
              <a:gd name="adj" fmla="val 16000"/>
            </a:avLst>
          </a:prstGeom>
          <a:solidFill>
            <a:srgbClr val="DDF0F2"/>
          </a:solidFill>
          <a:ln w="12700">
            <a:solidFill>
              <a:srgbClr val="DDF0F2"/>
            </a:solidFill>
            <a:prstDash val="solid"/>
          </a:ln>
        </p:spPr>
      </p:sp>
      <p:sp>
        <p:nvSpPr>
          <p:cNvPr id="20" name="Text 17"/>
          <p:cNvSpPr txBox="1"/>
          <p:nvPr/>
        </p:nvSpPr>
        <p:spPr>
          <a:xfrm>
            <a:off x="6400800" y="2697480"/>
            <a:ext cx="521208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DWORD tv = 2000   (milliseconds)</a:t>
            </a:r>
            <a:endParaRPr lang="en-US" sz="1200" dirty="0"/>
          </a:p>
        </p:txBody>
      </p:sp>
      <p:sp>
        <p:nvSpPr>
          <p:cNvPr id="21" name="box"/>
          <p:cNvSpPr/>
          <p:nvPr/>
        </p:nvSpPr>
        <p:spPr>
          <a:xfrm>
            <a:off x="548640" y="3246120"/>
            <a:ext cx="4937760" cy="457200"/>
          </a:xfrm>
          <a:prstGeom prst="roundRect">
            <a:avLst>
              <a:gd name="adj" fmla="val 16000"/>
            </a:avLst>
          </a:prstGeom>
          <a:solidFill>
            <a:srgbClr val="EEF2F6"/>
          </a:solidFill>
          <a:ln w="12700">
            <a:solidFill>
              <a:srgbClr val="EEF2F6"/>
            </a:solidFill>
            <a:prstDash val="solid"/>
          </a:ln>
        </p:spPr>
      </p:sp>
      <p:sp>
        <p:nvSpPr>
          <p:cNvPr id="22" name="Text 19"/>
          <p:cNvSpPr txBox="1"/>
          <p:nvPr/>
        </p:nvSpPr>
        <p:spPr>
          <a:xfrm>
            <a:off x="548640" y="3246120"/>
            <a:ext cx="493776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close(fd)</a:t>
            </a:r>
            <a:endParaRPr lang="en-US" sz="1200" dirty="0"/>
          </a:p>
        </p:txBody>
      </p:sp>
      <p:sp>
        <p:nvSpPr>
          <p:cNvPr id="23" name="Shape 20"/>
          <p:cNvSpPr/>
          <p:nvPr/>
        </p:nvSpPr>
        <p:spPr>
          <a:xfrm>
            <a:off x="5486400" y="3474720"/>
            <a:ext cx="914400" cy="914"/>
          </a:xfrm>
          <a:prstGeom prst="line">
            <a:avLst/>
          </a:prstGeom>
          <a:noFill/>
          <a:ln w="22225">
            <a:solidFill>
              <a:srgbClr val="B9772A"/>
            </a:solidFill>
            <a:prstDash val="solid"/>
            <a:tailEnd type="triangle"/>
          </a:ln>
        </p:spPr>
      </p:sp>
      <p:sp>
        <p:nvSpPr>
          <p:cNvPr id="24" name="box"/>
          <p:cNvSpPr/>
          <p:nvPr/>
        </p:nvSpPr>
        <p:spPr>
          <a:xfrm>
            <a:off x="6400800" y="3246120"/>
            <a:ext cx="5212080" cy="457200"/>
          </a:xfrm>
          <a:prstGeom prst="roundRect">
            <a:avLst>
              <a:gd name="adj" fmla="val 16000"/>
            </a:avLst>
          </a:prstGeom>
          <a:solidFill>
            <a:srgbClr val="DDF0F2"/>
          </a:solidFill>
          <a:ln w="12700">
            <a:solidFill>
              <a:srgbClr val="DDF0F2"/>
            </a:solidFill>
            <a:prstDash val="solid"/>
          </a:ln>
        </p:spPr>
      </p:sp>
      <p:sp>
        <p:nvSpPr>
          <p:cNvPr id="25" name="Text 22"/>
          <p:cNvSpPr txBox="1"/>
          <p:nvPr/>
        </p:nvSpPr>
        <p:spPr>
          <a:xfrm>
            <a:off x="6400800" y="3246120"/>
            <a:ext cx="521208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closesocket(fd); WSACleanup()</a:t>
            </a:r>
            <a:endParaRPr lang="en-US" sz="1200" dirty="0"/>
          </a:p>
        </p:txBody>
      </p:sp>
      <p:sp>
        <p:nvSpPr>
          <p:cNvPr id="26" name="box"/>
          <p:cNvSpPr/>
          <p:nvPr/>
        </p:nvSpPr>
        <p:spPr>
          <a:xfrm>
            <a:off x="548640" y="3794760"/>
            <a:ext cx="4937760" cy="457200"/>
          </a:xfrm>
          <a:prstGeom prst="roundRect">
            <a:avLst>
              <a:gd name="adj" fmla="val 16000"/>
            </a:avLst>
          </a:prstGeom>
          <a:solidFill>
            <a:srgbClr val="EEF2F6"/>
          </a:solidFill>
          <a:ln w="12700">
            <a:solidFill>
              <a:srgbClr val="EEF2F6"/>
            </a:solidFill>
            <a:prstDash val="solid"/>
          </a:ln>
        </p:spPr>
      </p:sp>
      <p:sp>
        <p:nvSpPr>
          <p:cNvPr id="27" name="Text 24"/>
          <p:cNvSpPr txBox="1"/>
          <p:nvPr/>
        </p:nvSpPr>
        <p:spPr>
          <a:xfrm>
            <a:off x="548640" y="3794760"/>
            <a:ext cx="493776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gcc dns_query.c</a:t>
            </a:r>
            <a:endParaRPr lang="en-US" sz="1200" dirty="0"/>
          </a:p>
        </p:txBody>
      </p:sp>
      <p:sp>
        <p:nvSpPr>
          <p:cNvPr id="28" name="Shape 25"/>
          <p:cNvSpPr/>
          <p:nvPr/>
        </p:nvSpPr>
        <p:spPr>
          <a:xfrm>
            <a:off x="5486400" y="4023360"/>
            <a:ext cx="914400" cy="914"/>
          </a:xfrm>
          <a:prstGeom prst="line">
            <a:avLst/>
          </a:prstGeom>
          <a:noFill/>
          <a:ln w="22225">
            <a:solidFill>
              <a:srgbClr val="B9772A"/>
            </a:solidFill>
            <a:prstDash val="solid"/>
            <a:tailEnd type="triangle"/>
          </a:ln>
        </p:spPr>
      </p:sp>
      <p:sp>
        <p:nvSpPr>
          <p:cNvPr id="29" name="box"/>
          <p:cNvSpPr/>
          <p:nvPr/>
        </p:nvSpPr>
        <p:spPr>
          <a:xfrm>
            <a:off x="6400800" y="3794760"/>
            <a:ext cx="5212080" cy="457200"/>
          </a:xfrm>
          <a:prstGeom prst="roundRect">
            <a:avLst>
              <a:gd name="adj" fmla="val 16000"/>
            </a:avLst>
          </a:prstGeom>
          <a:solidFill>
            <a:srgbClr val="DDF0F2"/>
          </a:solidFill>
          <a:ln w="12700">
            <a:solidFill>
              <a:srgbClr val="DDF0F2"/>
            </a:solidFill>
            <a:prstDash val="solid"/>
          </a:ln>
        </p:spPr>
      </p:sp>
      <p:sp>
        <p:nvSpPr>
          <p:cNvPr id="30" name="Text 27"/>
          <p:cNvSpPr txBox="1"/>
          <p:nvPr/>
        </p:nvSpPr>
        <p:spPr>
          <a:xfrm>
            <a:off x="6400800" y="3794760"/>
            <a:ext cx="5212080" cy="457200"/>
          </a:xfrm>
          <a:prstGeom prst="rect">
            <a:avLst/>
          </a:prstGeom>
          <a:noFill/>
          <a:ln/>
        </p:spPr>
        <p:txBody>
          <a:bodyPr wrap="square" lIns="635" tIns="635" rIns="635" bIns="635" rtlCol="0" anchor="ctr"/>
          <a:lstStyle/>
          <a:p>
            <a:pPr algn="ctr" indent="0" marL="0">
              <a:buNone/>
            </a:pPr>
            <a:r>
              <a:rPr lang="en-US" sz="1200" dirty="0">
                <a:solidFill>
                  <a:srgbClr val="1B2430"/>
                </a:solidFill>
                <a:latin typeface="Consolas" pitchFamily="34" charset="0"/>
                <a:ea typeface="Consolas" pitchFamily="34" charset="-122"/>
                <a:cs typeface="Consolas" pitchFamily="34" charset="-120"/>
              </a:rPr>
              <a:t>gcc … -lws2_32 · cl … ws2_32.lib</a:t>
            </a:r>
            <a:endParaRPr lang="en-US" sz="1200" dirty="0"/>
          </a:p>
        </p:txBody>
      </p:sp>
      <p:sp>
        <p:nvSpPr>
          <p:cNvPr id="31" name="code"/>
          <p:cNvSpPr/>
          <p:nvPr/>
        </p:nvSpPr>
        <p:spPr>
          <a:xfrm>
            <a:off x="548640" y="4480560"/>
            <a:ext cx="6766560" cy="1097280"/>
          </a:xfrm>
          <a:prstGeom prst="rect">
            <a:avLst/>
          </a:prstGeom>
          <a:solidFill>
            <a:srgbClr val="1E2A38"/>
          </a:solidFill>
          <a:ln w="12700">
            <a:solidFill>
              <a:srgbClr val="1E2A38"/>
            </a:solidFill>
            <a:prstDash val="solid"/>
          </a:ln>
        </p:spPr>
      </p:sp>
      <p:sp>
        <p:nvSpPr>
          <p:cNvPr id="32" name="Text 29"/>
          <p:cNvSpPr txBox="1"/>
          <p:nvPr/>
        </p:nvSpPr>
        <p:spPr>
          <a:xfrm>
            <a:off x="548640" y="4480560"/>
            <a:ext cx="6766560" cy="109728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.\dns_query.exe www.unibuc.ro A 1.1.1.1</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.\dns_query.exe www.unibuc.ro A 198.41.0.4</a:t>
            </a:r>
            <a:endParaRPr lang="en-US" sz="1200" dirty="0"/>
          </a:p>
        </p:txBody>
      </p:sp>
      <p:sp>
        <p:nvSpPr>
          <p:cNvPr id="33" name="box"/>
          <p:cNvSpPr/>
          <p:nvPr/>
        </p:nvSpPr>
        <p:spPr>
          <a:xfrm>
            <a:off x="7589520" y="4480560"/>
            <a:ext cx="4023360" cy="1097280"/>
          </a:xfrm>
          <a:prstGeom prst="roundRect">
            <a:avLst>
              <a:gd name="adj" fmla="val 6667"/>
            </a:avLst>
          </a:prstGeom>
          <a:solidFill>
            <a:srgbClr val="F3EAD7"/>
          </a:solidFill>
          <a:ln w="12700">
            <a:solidFill>
              <a:srgbClr val="F3EAD7"/>
            </a:solidFill>
            <a:prstDash val="solid"/>
          </a:ln>
        </p:spPr>
      </p:sp>
      <p:sp>
        <p:nvSpPr>
          <p:cNvPr id="34" name="Text 31"/>
          <p:cNvSpPr txBox="1"/>
          <p:nvPr/>
        </p:nvSpPr>
        <p:spPr>
          <a:xfrm>
            <a:off x="7589520" y="4480560"/>
            <a:ext cx="4023360" cy="1097280"/>
          </a:xfrm>
          <a:prstGeom prst="rect">
            <a:avLst/>
          </a:prstGeom>
          <a:noFill/>
          <a:ln/>
        </p:spPr>
        <p:txBody>
          <a:bodyPr wrap="square" lIns="635" tIns="635" rIns="635" bIns="635" rtlCol="0" anchor="ctr"/>
          <a:lstStyle/>
          <a:p>
            <a:pPr algn="ctr" indent="0" marL="0">
              <a:buNone/>
            </a:pPr>
            <a:r>
              <a:rPr lang="en-US" sz="1200" dirty="0">
                <a:solidFill>
                  <a:srgbClr val="1B2430"/>
                </a:solidFill>
              </a:rPr>
              <a:t>Wireshark filter </a:t>
            </a:r>
            <a:r>
              <a:rPr lang="en-US" sz="1200" b="1" dirty="0">
                <a:solidFill>
                  <a:srgbClr val="1B2430"/>
                </a:solidFill>
              </a:rPr>
              <a:t>dns</a:t>
            </a:r>
            <a:endParaRPr lang="en-US" sz="1200" dirty="0"/>
          </a:p>
          <a:p>
            <a:pPr algn="ctr" indent="0" marL="0">
              <a:buNone/>
            </a:pPr>
            <a:r>
              <a:rPr lang="en-US" sz="1200" dirty="0">
                <a:solidFill>
                  <a:srgbClr val="1B2430"/>
                </a:solidFill>
              </a:rPr>
              <a:t>compare its tree with your output</a:t>
            </a:r>
            <a:endParaRPr lang="en-US" sz="1200" dirty="0"/>
          </a:p>
        </p:txBody>
      </p:sp>
      <p:sp>
        <p:nvSpPr>
          <p:cNvPr id="35"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36" name="Text 33"/>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Q11–Q13 · Wireshark decodes the same fields your program decodes — use it to check every byte.</a:t>
            </a:r>
            <a:endParaRPr lang="en-US" sz="1400" dirty="0"/>
          </a:p>
        </p:txBody>
      </p:sp>
      <p:sp>
        <p:nvSpPr>
          <p:cNvPr id="37" name="Text 34"/>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WSAStartup (starts Windows Sockets) · WSACleanup (stops Windows Sockets) · DNS (Domain Name System) · fd (file descriptor)</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Task 6 · How many NATs between you and the Internet?</a:t>
            </a:r>
            <a:endParaRPr lang="en-US" sz="3000" dirty="0"/>
          </a:p>
        </p:txBody>
      </p:sp>
      <p:sp>
        <p:nvSpPr>
          <p:cNvPr id="4" name="box"/>
          <p:cNvSpPr/>
          <p:nvPr/>
        </p:nvSpPr>
        <p:spPr>
          <a:xfrm>
            <a:off x="548640" y="1463040"/>
            <a:ext cx="2606040" cy="1005840"/>
          </a:xfrm>
          <a:prstGeom prst="roundRect">
            <a:avLst>
              <a:gd name="adj" fmla="val 7273"/>
            </a:avLst>
          </a:prstGeom>
          <a:solidFill>
            <a:srgbClr val="EEF2F6"/>
          </a:solidFill>
          <a:ln w="12700">
            <a:solidFill>
              <a:srgbClr val="EEF2F6"/>
            </a:solidFill>
            <a:prstDash val="solid"/>
          </a:ln>
        </p:spPr>
      </p:sp>
      <p:sp>
        <p:nvSpPr>
          <p:cNvPr id="5" name="Text 2"/>
          <p:cNvSpPr txBox="1"/>
          <p:nvPr/>
        </p:nvSpPr>
        <p:spPr>
          <a:xfrm>
            <a:off x="548640" y="1463040"/>
            <a:ext cx="2606040" cy="1005840"/>
          </a:xfrm>
          <a:prstGeom prst="rect">
            <a:avLst/>
          </a:prstGeom>
          <a:noFill/>
          <a:ln/>
        </p:spPr>
        <p:txBody>
          <a:bodyPr wrap="square" lIns="635" tIns="635" rIns="635" bIns="635" rtlCol="0" anchor="ctr"/>
          <a:lstStyle/>
          <a:p>
            <a:pPr algn="ctr" indent="0" marL="0">
              <a:buNone/>
            </a:pPr>
            <a:r>
              <a:rPr lang="en-US" sz="1200" b="1" dirty="0">
                <a:solidFill>
                  <a:srgbClr val="1B2430"/>
                </a:solidFill>
              </a:rPr>
              <a:t>PC</a:t>
            </a:r>
            <a:endParaRPr lang="en-US" sz="1200" dirty="0"/>
          </a:p>
          <a:p>
            <a:pPr algn="ctr" indent="0" marL="0">
              <a:buNone/>
            </a:pPr>
            <a:r>
              <a:rPr lang="en-US" sz="1200" dirty="0">
                <a:solidFill>
                  <a:srgbClr val="1B2430"/>
                </a:solidFill>
              </a:rPr>
              <a:t>192.168.1.34</a:t>
            </a:r>
            <a:endParaRPr lang="en-US" sz="1200" dirty="0"/>
          </a:p>
        </p:txBody>
      </p:sp>
      <p:sp>
        <p:nvSpPr>
          <p:cNvPr id="6" name="Shape 3"/>
          <p:cNvSpPr/>
          <p:nvPr/>
        </p:nvSpPr>
        <p:spPr>
          <a:xfrm>
            <a:off x="3154680" y="1965960"/>
            <a:ext cx="274320" cy="914"/>
          </a:xfrm>
          <a:prstGeom prst="line">
            <a:avLst/>
          </a:prstGeom>
          <a:noFill/>
          <a:ln w="25400">
            <a:solidFill>
              <a:srgbClr val="1F3A5F"/>
            </a:solidFill>
            <a:prstDash val="solid"/>
            <a:tailEnd type="triangle"/>
          </a:ln>
        </p:spPr>
      </p:sp>
      <p:sp>
        <p:nvSpPr>
          <p:cNvPr id="7" name="box"/>
          <p:cNvSpPr/>
          <p:nvPr/>
        </p:nvSpPr>
        <p:spPr>
          <a:xfrm>
            <a:off x="3429000" y="1463040"/>
            <a:ext cx="2606040" cy="1005840"/>
          </a:xfrm>
          <a:prstGeom prst="roundRect">
            <a:avLst>
              <a:gd name="adj" fmla="val 7273"/>
            </a:avLst>
          </a:prstGeom>
          <a:solidFill>
            <a:srgbClr val="B9772A"/>
          </a:solidFill>
          <a:ln w="12700">
            <a:solidFill>
              <a:srgbClr val="B9772A"/>
            </a:solidFill>
            <a:prstDash val="solid"/>
          </a:ln>
        </p:spPr>
      </p:sp>
      <p:sp>
        <p:nvSpPr>
          <p:cNvPr id="8" name="Text 5"/>
          <p:cNvSpPr txBox="1"/>
          <p:nvPr/>
        </p:nvSpPr>
        <p:spPr>
          <a:xfrm>
            <a:off x="3429000" y="1463040"/>
            <a:ext cx="2606040" cy="1005840"/>
          </a:xfrm>
          <a:prstGeom prst="rect">
            <a:avLst/>
          </a:prstGeom>
          <a:noFill/>
          <a:ln/>
        </p:spPr>
        <p:txBody>
          <a:bodyPr wrap="square" lIns="635" tIns="635" rIns="635" bIns="635" rtlCol="0" anchor="ctr"/>
          <a:lstStyle/>
          <a:p>
            <a:pPr algn="ctr" indent="0" marL="0">
              <a:buNone/>
            </a:pPr>
            <a:r>
              <a:rPr lang="en-US" sz="1200" b="1" dirty="0">
                <a:solidFill>
                  <a:srgbClr val="FFFFFF"/>
                </a:solidFill>
              </a:rPr>
              <a:t>home router</a:t>
            </a:r>
            <a:endParaRPr lang="en-US" sz="1200" dirty="0"/>
          </a:p>
          <a:p>
            <a:pPr algn="ctr" indent="0" marL="0">
              <a:buNone/>
            </a:pPr>
            <a:r>
              <a:rPr lang="en-US" sz="1200" dirty="0">
                <a:solidFill>
                  <a:srgbClr val="FFFFFF"/>
                </a:solidFill>
              </a:rPr>
              <a:t>WAN 100.64.7.9 ?</a:t>
            </a:r>
            <a:endParaRPr lang="en-US" sz="1200" dirty="0"/>
          </a:p>
        </p:txBody>
      </p:sp>
      <p:sp>
        <p:nvSpPr>
          <p:cNvPr id="9" name="Shape 6"/>
          <p:cNvSpPr/>
          <p:nvPr/>
        </p:nvSpPr>
        <p:spPr>
          <a:xfrm>
            <a:off x="6035040" y="1965960"/>
            <a:ext cx="274320" cy="914"/>
          </a:xfrm>
          <a:prstGeom prst="line">
            <a:avLst/>
          </a:prstGeom>
          <a:noFill/>
          <a:ln w="25400">
            <a:solidFill>
              <a:srgbClr val="1F3A5F"/>
            </a:solidFill>
            <a:prstDash val="solid"/>
            <a:tailEnd type="triangle"/>
          </a:ln>
        </p:spPr>
      </p:sp>
      <p:sp>
        <p:nvSpPr>
          <p:cNvPr id="10" name="box"/>
          <p:cNvSpPr/>
          <p:nvPr/>
        </p:nvSpPr>
        <p:spPr>
          <a:xfrm>
            <a:off x="6309360" y="1463040"/>
            <a:ext cx="2606040" cy="1005840"/>
          </a:xfrm>
          <a:prstGeom prst="roundRect">
            <a:avLst>
              <a:gd name="adj" fmla="val 7273"/>
            </a:avLst>
          </a:prstGeom>
          <a:solidFill>
            <a:srgbClr val="A23B3B"/>
          </a:solidFill>
          <a:ln w="12700">
            <a:solidFill>
              <a:srgbClr val="A23B3B"/>
            </a:solidFill>
            <a:prstDash val="solid"/>
          </a:ln>
        </p:spPr>
      </p:sp>
      <p:sp>
        <p:nvSpPr>
          <p:cNvPr id="11" name="Text 8"/>
          <p:cNvSpPr txBox="1"/>
          <p:nvPr/>
        </p:nvSpPr>
        <p:spPr>
          <a:xfrm>
            <a:off x="6309360" y="1463040"/>
            <a:ext cx="2606040" cy="1005840"/>
          </a:xfrm>
          <a:prstGeom prst="rect">
            <a:avLst/>
          </a:prstGeom>
          <a:noFill/>
          <a:ln/>
        </p:spPr>
        <p:txBody>
          <a:bodyPr wrap="square" lIns="635" tIns="635" rIns="635" bIns="635" rtlCol="0" anchor="ctr"/>
          <a:lstStyle/>
          <a:p>
            <a:pPr algn="ctr" indent="0" marL="0">
              <a:buNone/>
            </a:pPr>
            <a:r>
              <a:rPr lang="en-US" sz="1200" b="1" dirty="0">
                <a:solidFill>
                  <a:srgbClr val="FFFFFF"/>
                </a:solidFill>
              </a:rPr>
              <a:t>ISP CGNAT ?</a:t>
            </a:r>
            <a:endParaRPr lang="en-US" sz="1200" dirty="0"/>
          </a:p>
        </p:txBody>
      </p:sp>
      <p:sp>
        <p:nvSpPr>
          <p:cNvPr id="12" name="Shape 9"/>
          <p:cNvSpPr/>
          <p:nvPr/>
        </p:nvSpPr>
        <p:spPr>
          <a:xfrm>
            <a:off x="8915400" y="1965960"/>
            <a:ext cx="274320" cy="914"/>
          </a:xfrm>
          <a:prstGeom prst="line">
            <a:avLst/>
          </a:prstGeom>
          <a:noFill/>
          <a:ln w="25400">
            <a:solidFill>
              <a:srgbClr val="1F3A5F"/>
            </a:solidFill>
            <a:prstDash val="solid"/>
            <a:tailEnd type="triangle"/>
          </a:ln>
        </p:spPr>
      </p:sp>
      <p:sp>
        <p:nvSpPr>
          <p:cNvPr id="13" name="box"/>
          <p:cNvSpPr/>
          <p:nvPr/>
        </p:nvSpPr>
        <p:spPr>
          <a:xfrm>
            <a:off x="9189720" y="1463040"/>
            <a:ext cx="2606040" cy="1005840"/>
          </a:xfrm>
          <a:prstGeom prst="roundRect">
            <a:avLst>
              <a:gd name="adj" fmla="val 7273"/>
            </a:avLst>
          </a:prstGeom>
          <a:solidFill>
            <a:srgbClr val="2A7F8E"/>
          </a:solidFill>
          <a:ln w="12700">
            <a:solidFill>
              <a:srgbClr val="2A7F8E"/>
            </a:solidFill>
            <a:prstDash val="solid"/>
          </a:ln>
        </p:spPr>
      </p:sp>
      <p:sp>
        <p:nvSpPr>
          <p:cNvPr id="14" name="Text 11"/>
          <p:cNvSpPr txBox="1"/>
          <p:nvPr/>
        </p:nvSpPr>
        <p:spPr>
          <a:xfrm>
            <a:off x="9189720" y="1463040"/>
            <a:ext cx="2606040" cy="1005840"/>
          </a:xfrm>
          <a:prstGeom prst="rect">
            <a:avLst/>
          </a:prstGeom>
          <a:noFill/>
          <a:ln/>
        </p:spPr>
        <p:txBody>
          <a:bodyPr wrap="square" lIns="635" tIns="635" rIns="635" bIns="635" rtlCol="0" anchor="ctr"/>
          <a:lstStyle/>
          <a:p>
            <a:pPr algn="ctr" indent="0" marL="0">
              <a:buNone/>
            </a:pPr>
            <a:r>
              <a:rPr lang="en-US" sz="1200" b="1" dirty="0">
                <a:solidFill>
                  <a:srgbClr val="FFFFFF"/>
                </a:solidFill>
              </a:rPr>
              <a:t>what servers see</a:t>
            </a:r>
            <a:endParaRPr lang="en-US" sz="1200" dirty="0"/>
          </a:p>
          <a:p>
            <a:pPr algn="ctr" indent="0" marL="0">
              <a:buNone/>
            </a:pPr>
            <a:r>
              <a:rPr lang="en-US" sz="1200" dirty="0">
                <a:solidFill>
                  <a:srgbClr val="FFFFFF"/>
                </a:solidFill>
              </a:rPr>
              <a:t>curl.exe https://ifconfig.me</a:t>
            </a:r>
            <a:endParaRPr lang="en-US" sz="1200" dirty="0"/>
          </a:p>
        </p:txBody>
      </p:sp>
      <p:sp>
        <p:nvSpPr>
          <p:cNvPr id="15" name="code"/>
          <p:cNvSpPr/>
          <p:nvPr/>
        </p:nvSpPr>
        <p:spPr>
          <a:xfrm>
            <a:off x="548640" y="2788920"/>
            <a:ext cx="6766560" cy="1600200"/>
          </a:xfrm>
          <a:prstGeom prst="rect">
            <a:avLst/>
          </a:prstGeom>
          <a:solidFill>
            <a:srgbClr val="1E2A38"/>
          </a:solidFill>
          <a:ln w="12700">
            <a:solidFill>
              <a:srgbClr val="1E2A38"/>
            </a:solidFill>
            <a:prstDash val="solid"/>
          </a:ln>
        </p:spPr>
      </p:sp>
      <p:sp>
        <p:nvSpPr>
          <p:cNvPr id="16" name="Text 13"/>
          <p:cNvSpPr txBox="1"/>
          <p:nvPr/>
        </p:nvSpPr>
        <p:spPr>
          <a:xfrm>
            <a:off x="548640" y="2788920"/>
            <a:ext cx="6766560" cy="1600200"/>
          </a:xfrm>
          <a:prstGeom prst="rect">
            <a:avLst/>
          </a:prstGeom>
          <a:noFill/>
          <a:ln/>
        </p:spPr>
        <p:txBody>
          <a:bodyPr wrap="square" lIns="101600" tIns="101600" rIns="101600" bIns="101600" rtlCol="0" anchor="t"/>
          <a:lstStyle/>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ipconfig | Select-String 'IPv4|Gateway'</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curl.exe -s https://ifconfig.me</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tracert -d -h 4 1.1.1.1</a:t>
            </a:r>
            <a:endParaRPr lang="en-US" sz="1200" dirty="0"/>
          </a:p>
          <a:p>
            <a:pPr algn="l" indent="0" marL="0">
              <a:spcAft>
                <a:spcPts val="200"/>
              </a:spcAft>
              <a:buNone/>
            </a:pPr>
            <a:r>
              <a:rPr lang="en-US" sz="1200" dirty="0">
                <a:solidFill>
                  <a:srgbClr val="E8EEF4"/>
                </a:solidFill>
                <a:latin typeface="Consolas" pitchFamily="34" charset="0"/>
                <a:ea typeface="Consolas" pitchFamily="34" charset="-122"/>
                <a:cs typeface="Consolas" pitchFamily="34" charset="-120"/>
              </a:rPr>
              <a:t>py python\stun_client.py stun.cloudflare.com 3478</a:t>
            </a:r>
            <a:endParaRPr lang="en-US" sz="1200" dirty="0"/>
          </a:p>
        </p:txBody>
      </p:sp>
      <p:sp>
        <p:nvSpPr>
          <p:cNvPr id="17" name="box"/>
          <p:cNvSpPr/>
          <p:nvPr/>
        </p:nvSpPr>
        <p:spPr>
          <a:xfrm>
            <a:off x="7589520" y="2788920"/>
            <a:ext cx="4023360" cy="1600200"/>
          </a:xfrm>
          <a:prstGeom prst="roundRect">
            <a:avLst>
              <a:gd name="adj" fmla="val 4571"/>
            </a:avLst>
          </a:prstGeom>
          <a:solidFill>
            <a:srgbClr val="F3EAD7"/>
          </a:solidFill>
          <a:ln w="12700">
            <a:solidFill>
              <a:srgbClr val="F3EAD7"/>
            </a:solidFill>
            <a:prstDash val="solid"/>
          </a:ln>
        </p:spPr>
      </p:sp>
      <p:sp>
        <p:nvSpPr>
          <p:cNvPr id="18" name="Text 15"/>
          <p:cNvSpPr txBox="1"/>
          <p:nvPr/>
        </p:nvSpPr>
        <p:spPr>
          <a:xfrm>
            <a:off x="7589520" y="2788920"/>
            <a:ext cx="4023360" cy="1600200"/>
          </a:xfrm>
          <a:prstGeom prst="rect">
            <a:avLst/>
          </a:prstGeom>
          <a:noFill/>
          <a:ln/>
        </p:spPr>
        <p:txBody>
          <a:bodyPr wrap="square" lIns="635" tIns="635" rIns="635" bIns="635" rtlCol="0" anchor="ctr"/>
          <a:lstStyle/>
          <a:p>
            <a:pPr algn="ctr" indent="0" marL="0">
              <a:buNone/>
            </a:pPr>
            <a:r>
              <a:rPr lang="en-US" sz="1300" dirty="0">
                <a:solidFill>
                  <a:srgbClr val="1B2430"/>
                </a:solidFill>
              </a:rPr>
              <a:t>router WAN private or in </a:t>
            </a:r>
            <a:r>
              <a:rPr lang="en-US" sz="1300" b="1" dirty="0">
                <a:solidFill>
                  <a:srgbClr val="1B2430"/>
                </a:solidFill>
              </a:rPr>
              <a:t>100.64.0.0/10</a:t>
            </a:r>
            <a:endParaRPr lang="en-US" sz="1300" dirty="0"/>
          </a:p>
          <a:p>
            <a:pPr algn="ctr" indent="0" marL="0">
              <a:buNone/>
            </a:pPr>
            <a:r>
              <a:rPr lang="en-US" sz="1300" dirty="0">
                <a:solidFill>
                  <a:srgbClr val="1B2430"/>
                </a:solidFill>
              </a:rPr>
              <a:t>→ two NATs on the path</a:t>
            </a:r>
            <a:endParaRPr lang="en-US" sz="1300" dirty="0"/>
          </a:p>
        </p:txBody>
      </p:sp>
      <p:sp>
        <p:nvSpPr>
          <p:cNvPr id="19" name="Shape 16"/>
          <p:cNvSpPr/>
          <p:nvPr/>
        </p:nvSpPr>
        <p:spPr>
          <a:xfrm>
            <a:off x="548640" y="4636008"/>
            <a:ext cx="384048" cy="384048"/>
          </a:xfrm>
          <a:prstGeom prst="ellipse">
            <a:avLst/>
          </a:prstGeom>
          <a:solidFill>
            <a:srgbClr val="B9772A"/>
          </a:solidFill>
          <a:ln w="12700">
            <a:solidFill>
              <a:srgbClr val="B9772A"/>
            </a:solidFill>
            <a:prstDash val="solid"/>
          </a:ln>
        </p:spPr>
      </p:sp>
      <p:sp>
        <p:nvSpPr>
          <p:cNvPr id="20" name="Text 17"/>
          <p:cNvSpPr txBox="1"/>
          <p:nvPr/>
        </p:nvSpPr>
        <p:spPr>
          <a:xfrm>
            <a:off x="548640" y="46360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1" name="Text 18"/>
          <p:cNvSpPr txBox="1"/>
          <p:nvPr/>
        </p:nvSpPr>
        <p:spPr>
          <a:xfrm>
            <a:off x="1051560" y="4617720"/>
            <a:ext cx="10561320" cy="9144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Q14–Q15 · Count the translations; compare the STUN port with your local port and between two requests.</a:t>
            </a:r>
            <a:endParaRPr lang="en-US" sz="1300" dirty="0"/>
          </a:p>
        </p:txBody>
      </p:sp>
      <p:sp>
        <p:nvSpPr>
          <p:cNvPr id="2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3" name="Text 2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The address your PC knows is rarely the address the Internet sees.</a:t>
            </a:r>
            <a:endParaRPr lang="en-US" sz="1400" dirty="0"/>
          </a:p>
        </p:txBody>
      </p:sp>
      <p:sp>
        <p:nvSpPr>
          <p:cNvPr id="24" name="Text 21"/>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CGNAT (carrier-grade NAT) · IPv4 (Internet Protocol version 4) · STUN (Session Traversal Utilities for NAT) · ISP (Internet service provider) · WAN (wide area network)</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WSL 2 · Windows runs a NAT too</a:t>
            </a:r>
            <a:endParaRPr lang="en-US" sz="3000" dirty="0"/>
          </a:p>
        </p:txBody>
      </p:sp>
      <p:sp>
        <p:nvSpPr>
          <p:cNvPr id="4" name="box"/>
          <p:cNvSpPr/>
          <p:nvPr/>
        </p:nvSpPr>
        <p:spPr>
          <a:xfrm>
            <a:off x="548640" y="1463040"/>
            <a:ext cx="2560320" cy="1005840"/>
          </a:xfrm>
          <a:prstGeom prst="roundRect">
            <a:avLst>
              <a:gd name="adj" fmla="val 7273"/>
            </a:avLst>
          </a:prstGeom>
          <a:solidFill>
            <a:srgbClr val="EEF2F6"/>
          </a:solidFill>
          <a:ln w="12700">
            <a:solidFill>
              <a:srgbClr val="EEF2F6"/>
            </a:solidFill>
            <a:prstDash val="solid"/>
          </a:ln>
        </p:spPr>
      </p:sp>
      <p:sp>
        <p:nvSpPr>
          <p:cNvPr id="5" name="Text 2"/>
          <p:cNvSpPr txBox="1"/>
          <p:nvPr/>
        </p:nvSpPr>
        <p:spPr>
          <a:xfrm>
            <a:off x="548640" y="1463040"/>
            <a:ext cx="2560320" cy="1005840"/>
          </a:xfrm>
          <a:prstGeom prst="rect">
            <a:avLst/>
          </a:prstGeom>
          <a:noFill/>
          <a:ln/>
        </p:spPr>
        <p:txBody>
          <a:bodyPr wrap="square" lIns="635" tIns="635" rIns="635" bIns="635" rtlCol="0" anchor="ctr"/>
          <a:lstStyle/>
          <a:p>
            <a:pPr algn="ctr" indent="0" marL="0">
              <a:buNone/>
            </a:pPr>
            <a:r>
              <a:rPr lang="en-US" sz="1200" b="1" dirty="0">
                <a:solidFill>
                  <a:srgbClr val="1B2430"/>
                </a:solidFill>
              </a:rPr>
              <a:t>WSL 2 Linux</a:t>
            </a:r>
            <a:endParaRPr lang="en-US" sz="1200" dirty="0"/>
          </a:p>
          <a:p>
            <a:pPr algn="ctr" indent="0" marL="0">
              <a:buNone/>
            </a:pPr>
            <a:r>
              <a:rPr lang="en-US" sz="1200" dirty="0">
                <a:solidFill>
                  <a:srgbClr val="1B2430"/>
                </a:solidFill>
              </a:rPr>
              <a:t>172.x.y.z (ip -4 addr)</a:t>
            </a:r>
            <a:endParaRPr lang="en-US" sz="1200" dirty="0"/>
          </a:p>
        </p:txBody>
      </p:sp>
      <p:sp>
        <p:nvSpPr>
          <p:cNvPr id="6" name="box"/>
          <p:cNvSpPr/>
          <p:nvPr/>
        </p:nvSpPr>
        <p:spPr>
          <a:xfrm>
            <a:off x="3657600" y="1463040"/>
            <a:ext cx="2560320" cy="1005840"/>
          </a:xfrm>
          <a:prstGeom prst="roundRect">
            <a:avLst>
              <a:gd name="adj" fmla="val 7273"/>
            </a:avLst>
          </a:prstGeom>
          <a:solidFill>
            <a:srgbClr val="B9772A"/>
          </a:solidFill>
          <a:ln w="12700">
            <a:solidFill>
              <a:srgbClr val="B9772A"/>
            </a:solidFill>
            <a:prstDash val="solid"/>
          </a:ln>
        </p:spPr>
      </p:sp>
      <p:sp>
        <p:nvSpPr>
          <p:cNvPr id="7" name="Text 4"/>
          <p:cNvSpPr txBox="1"/>
          <p:nvPr/>
        </p:nvSpPr>
        <p:spPr>
          <a:xfrm>
            <a:off x="3657600" y="1463040"/>
            <a:ext cx="2560320" cy="1005840"/>
          </a:xfrm>
          <a:prstGeom prst="rect">
            <a:avLst/>
          </a:prstGeom>
          <a:noFill/>
          <a:ln/>
        </p:spPr>
        <p:txBody>
          <a:bodyPr wrap="square" lIns="635" tIns="635" rIns="635" bIns="635" rtlCol="0" anchor="ctr"/>
          <a:lstStyle/>
          <a:p>
            <a:pPr algn="ctr" indent="0" marL="0">
              <a:buNone/>
            </a:pPr>
            <a:r>
              <a:rPr lang="en-US" sz="1200" b="1" dirty="0">
                <a:solidFill>
                  <a:srgbClr val="FFFFFF"/>
                </a:solidFill>
              </a:rPr>
              <a:t>Windows NAT</a:t>
            </a:r>
            <a:endParaRPr lang="en-US" sz="1200" dirty="0"/>
          </a:p>
          <a:p>
            <a:pPr algn="ctr" indent="0" marL="0">
              <a:buNone/>
            </a:pPr>
            <a:r>
              <a:rPr lang="en-US" sz="1200" dirty="0">
                <a:solidFill>
                  <a:srgbClr val="FFFFFF"/>
                </a:solidFill>
              </a:rPr>
              <a:t>vEthernet (WSL)</a:t>
            </a:r>
            <a:endParaRPr lang="en-US" sz="1200" dirty="0"/>
          </a:p>
        </p:txBody>
      </p:sp>
      <p:sp>
        <p:nvSpPr>
          <p:cNvPr id="8" name="box"/>
          <p:cNvSpPr/>
          <p:nvPr/>
        </p:nvSpPr>
        <p:spPr>
          <a:xfrm>
            <a:off x="6766560" y="1463040"/>
            <a:ext cx="2194560" cy="1005840"/>
          </a:xfrm>
          <a:prstGeom prst="roundRect">
            <a:avLst>
              <a:gd name="adj" fmla="val 7273"/>
            </a:avLst>
          </a:prstGeom>
          <a:solidFill>
            <a:srgbClr val="B9772A"/>
          </a:solidFill>
          <a:ln w="12700">
            <a:solidFill>
              <a:srgbClr val="B9772A"/>
            </a:solidFill>
            <a:prstDash val="solid"/>
          </a:ln>
        </p:spPr>
      </p:sp>
      <p:sp>
        <p:nvSpPr>
          <p:cNvPr id="9" name="Text 6"/>
          <p:cNvSpPr txBox="1"/>
          <p:nvPr/>
        </p:nvSpPr>
        <p:spPr>
          <a:xfrm>
            <a:off x="6766560" y="1463040"/>
            <a:ext cx="2194560" cy="1005840"/>
          </a:xfrm>
          <a:prstGeom prst="rect">
            <a:avLst/>
          </a:prstGeom>
          <a:noFill/>
          <a:ln/>
        </p:spPr>
        <p:txBody>
          <a:bodyPr wrap="square" lIns="635" tIns="635" rIns="635" bIns="635" rtlCol="0" anchor="ctr"/>
          <a:lstStyle/>
          <a:p>
            <a:pPr algn="ctr" indent="0" marL="0">
              <a:buNone/>
            </a:pPr>
            <a:r>
              <a:rPr lang="en-US" sz="1200" dirty="0">
                <a:solidFill>
                  <a:srgbClr val="FFFFFF"/>
                </a:solidFill>
              </a:rPr>
              <a:t>home router</a:t>
            </a:r>
            <a:endParaRPr lang="en-US" sz="1200" dirty="0"/>
          </a:p>
          <a:p>
            <a:pPr algn="ctr" indent="0" marL="0">
              <a:buNone/>
            </a:pPr>
            <a:r>
              <a:rPr lang="en-US" sz="1200" dirty="0">
                <a:solidFill>
                  <a:srgbClr val="FFFFFF"/>
                </a:solidFill>
              </a:rPr>
              <a:t>NAT again</a:t>
            </a:r>
            <a:endParaRPr lang="en-US" sz="1200" dirty="0"/>
          </a:p>
        </p:txBody>
      </p:sp>
      <p:sp>
        <p:nvSpPr>
          <p:cNvPr id="10" name="box"/>
          <p:cNvSpPr/>
          <p:nvPr/>
        </p:nvSpPr>
        <p:spPr>
          <a:xfrm>
            <a:off x="9509760" y="1463040"/>
            <a:ext cx="2103120" cy="1005840"/>
          </a:xfrm>
          <a:prstGeom prst="roundRect">
            <a:avLst>
              <a:gd name="adj" fmla="val 7273"/>
            </a:avLst>
          </a:prstGeom>
          <a:solidFill>
            <a:srgbClr val="2A7F8E"/>
          </a:solidFill>
          <a:ln w="12700">
            <a:solidFill>
              <a:srgbClr val="2A7F8E"/>
            </a:solidFill>
            <a:prstDash val="solid"/>
          </a:ln>
        </p:spPr>
      </p:sp>
      <p:sp>
        <p:nvSpPr>
          <p:cNvPr id="11" name="Text 8"/>
          <p:cNvSpPr txBox="1"/>
          <p:nvPr/>
        </p:nvSpPr>
        <p:spPr>
          <a:xfrm>
            <a:off x="9509760" y="1463040"/>
            <a:ext cx="2103120" cy="1005840"/>
          </a:xfrm>
          <a:prstGeom prst="rect">
            <a:avLst/>
          </a:prstGeom>
          <a:noFill/>
          <a:ln/>
        </p:spPr>
        <p:txBody>
          <a:bodyPr wrap="square" lIns="635" tIns="635" rIns="635" bIns="635" rtlCol="0" anchor="ctr"/>
          <a:lstStyle/>
          <a:p>
            <a:pPr algn="ctr" indent="0" marL="0">
              <a:buNone/>
            </a:pPr>
            <a:r>
              <a:rPr lang="en-US" sz="1300" dirty="0">
                <a:solidFill>
                  <a:srgbClr val="FFFFFF"/>
                </a:solidFill>
              </a:rPr>
              <a:t>ifconfig.me</a:t>
            </a:r>
            <a:endParaRPr lang="en-US" sz="1300" dirty="0"/>
          </a:p>
        </p:txBody>
      </p:sp>
      <p:sp>
        <p:nvSpPr>
          <p:cNvPr id="12" name="Shape 9"/>
          <p:cNvSpPr/>
          <p:nvPr/>
        </p:nvSpPr>
        <p:spPr>
          <a:xfrm>
            <a:off x="3108960" y="1965960"/>
            <a:ext cx="548640" cy="914"/>
          </a:xfrm>
          <a:prstGeom prst="line">
            <a:avLst/>
          </a:prstGeom>
          <a:noFill/>
          <a:ln w="31750">
            <a:solidFill>
              <a:srgbClr val="1F3A5F"/>
            </a:solidFill>
            <a:prstDash val="solid"/>
            <a:tailEnd type="triangle"/>
          </a:ln>
        </p:spPr>
      </p:sp>
      <p:sp>
        <p:nvSpPr>
          <p:cNvPr id="13" name="Shape 10"/>
          <p:cNvSpPr/>
          <p:nvPr/>
        </p:nvSpPr>
        <p:spPr>
          <a:xfrm>
            <a:off x="6217920" y="1965960"/>
            <a:ext cx="548640" cy="914"/>
          </a:xfrm>
          <a:prstGeom prst="line">
            <a:avLst/>
          </a:prstGeom>
          <a:noFill/>
          <a:ln w="31750">
            <a:solidFill>
              <a:srgbClr val="1F3A5F"/>
            </a:solidFill>
            <a:prstDash val="solid"/>
            <a:tailEnd type="triangle"/>
          </a:ln>
        </p:spPr>
      </p:sp>
      <p:sp>
        <p:nvSpPr>
          <p:cNvPr id="14" name="Shape 11"/>
          <p:cNvSpPr/>
          <p:nvPr/>
        </p:nvSpPr>
        <p:spPr>
          <a:xfrm>
            <a:off x="8961120" y="1965960"/>
            <a:ext cx="548640" cy="914"/>
          </a:xfrm>
          <a:prstGeom prst="line">
            <a:avLst/>
          </a:prstGeom>
          <a:noFill/>
          <a:ln w="31750">
            <a:solidFill>
              <a:srgbClr val="1F3A5F"/>
            </a:solidFill>
            <a:prstDash val="solid"/>
            <a:tailEnd type="triangle"/>
          </a:ln>
        </p:spPr>
      </p:sp>
      <p:sp>
        <p:nvSpPr>
          <p:cNvPr id="15" name="box"/>
          <p:cNvSpPr/>
          <p:nvPr/>
        </p:nvSpPr>
        <p:spPr>
          <a:xfrm>
            <a:off x="548640" y="2926080"/>
            <a:ext cx="11064240" cy="914400"/>
          </a:xfrm>
          <a:prstGeom prst="roundRect">
            <a:avLst>
              <a:gd name="adj" fmla="val 8000"/>
            </a:avLst>
          </a:prstGeom>
          <a:solidFill>
            <a:srgbClr val="F3EAD7"/>
          </a:solidFill>
          <a:ln w="12700">
            <a:solidFill>
              <a:srgbClr val="F3EAD7"/>
            </a:solidFill>
            <a:prstDash val="solid"/>
          </a:ln>
        </p:spPr>
      </p:sp>
      <p:sp>
        <p:nvSpPr>
          <p:cNvPr id="16" name="Text 13"/>
          <p:cNvSpPr txBox="1"/>
          <p:nvPr/>
        </p:nvSpPr>
        <p:spPr>
          <a:xfrm>
            <a:off x="548640" y="2926080"/>
            <a:ext cx="11064240" cy="914400"/>
          </a:xfrm>
          <a:prstGeom prst="rect">
            <a:avLst/>
          </a:prstGeom>
          <a:noFill/>
          <a:ln/>
        </p:spPr>
        <p:txBody>
          <a:bodyPr wrap="square" lIns="635" tIns="635" rIns="635" bIns="635" rtlCol="0" anchor="ctr"/>
          <a:lstStyle/>
          <a:p>
            <a:pPr algn="ctr" indent="0" marL="0">
              <a:buNone/>
            </a:pPr>
            <a:r>
              <a:rPr lang="en-US" sz="1300" dirty="0">
                <a:solidFill>
                  <a:srgbClr val="1B2430"/>
                </a:solidFill>
              </a:rPr>
              <a:t>From another PC on the LAN, a server in WSL is unreachable without a port forwarding rule — Windows calls it netsh interface portproxy.</a:t>
            </a:r>
            <a:endParaRPr lang="en-US" sz="1300" dirty="0"/>
          </a:p>
        </p:txBody>
      </p:sp>
      <p:sp>
        <p:nvSpPr>
          <p:cNvPr id="17" name="Shape 14"/>
          <p:cNvSpPr/>
          <p:nvPr/>
        </p:nvSpPr>
        <p:spPr>
          <a:xfrm>
            <a:off x="548640" y="4133088"/>
            <a:ext cx="384048" cy="384048"/>
          </a:xfrm>
          <a:prstGeom prst="ellipse">
            <a:avLst/>
          </a:prstGeom>
          <a:solidFill>
            <a:srgbClr val="B9772A"/>
          </a:solidFill>
          <a:ln w="12700">
            <a:solidFill>
              <a:srgbClr val="B9772A"/>
            </a:solidFill>
            <a:prstDash val="solid"/>
          </a:ln>
        </p:spPr>
      </p:sp>
      <p:sp>
        <p:nvSpPr>
          <p:cNvPr id="18" name="Text 15"/>
          <p:cNvSpPr txBox="1"/>
          <p:nvPr/>
        </p:nvSpPr>
        <p:spPr>
          <a:xfrm>
            <a:off x="548640" y="4133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9" name="Text 16"/>
          <p:cNvSpPr txBox="1"/>
          <p:nvPr/>
        </p:nvSpPr>
        <p:spPr>
          <a:xfrm>
            <a:off x="1051560" y="4114800"/>
            <a:ext cx="10561320" cy="1371600"/>
          </a:xfrm>
          <a:prstGeom prst="rect">
            <a:avLst/>
          </a:prstGeom>
          <a:noFill/>
          <a:ln/>
        </p:spPr>
        <p:txBody>
          <a:bodyPr wrap="square" lIns="0" tIns="0" rIns="0" bIns="0" rtlCol="0" anchor="t"/>
          <a:lstStyle/>
          <a:p>
            <a:pPr algn="l" indent="0" marL="0">
              <a:spcAft>
                <a:spcPts val="400"/>
              </a:spcAft>
              <a:buNone/>
            </a:pPr>
            <a:r>
              <a:rPr lang="en-US" sz="1300" dirty="0">
                <a:solidFill>
                  <a:srgbClr val="1B2430"/>
                </a:solidFill>
              </a:rPr>
              <a:t>Q16 · Draw the packet from WSL to ifconfig.me with every address and every translation.</a:t>
            </a:r>
            <a:endParaRPr lang="en-US" sz="1300" dirty="0"/>
          </a:p>
        </p:txBody>
      </p:sp>
      <p:sp>
        <p:nvSpPr>
          <p:cNvPr id="20"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21" name="Text 18"/>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NAT is everywhere: in your router, at your ISP, and inside your own laptop.</a:t>
            </a:r>
            <a:endParaRPr lang="en-US" sz="1400" dirty="0"/>
          </a:p>
        </p:txBody>
      </p:sp>
      <p:sp>
        <p:nvSpPr>
          <p:cNvPr id="22" name="Text 19"/>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NAT (network address translation) · ISP (Internet service provider) · LAN (local area network) · WSL (Windows Subsystem for Linux)</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Next week</a:t>
            </a:r>
            <a:endParaRPr lang="en-US" sz="3000" dirty="0"/>
          </a:p>
        </p:txBody>
      </p:sp>
      <p:sp>
        <p:nvSpPr>
          <p:cNvPr id="4" name="box"/>
          <p:cNvSpPr/>
          <p:nvPr/>
        </p:nvSpPr>
        <p:spPr>
          <a:xfrm>
            <a:off x="548640" y="1645920"/>
            <a:ext cx="3566160" cy="3108960"/>
          </a:xfrm>
          <a:prstGeom prst="roundRect">
            <a:avLst>
              <a:gd name="adj" fmla="val 2353"/>
            </a:avLst>
          </a:prstGeom>
          <a:solidFill>
            <a:srgbClr val="1F3A5F"/>
          </a:solidFill>
          <a:ln w="12700">
            <a:solidFill>
              <a:srgbClr val="1F3A5F"/>
            </a:solidFill>
            <a:prstDash val="solid"/>
          </a:ln>
        </p:spPr>
      </p:sp>
      <p:sp>
        <p:nvSpPr>
          <p:cNvPr id="5" name="Text 2"/>
          <p:cNvSpPr txBox="1"/>
          <p:nvPr/>
        </p:nvSpPr>
        <p:spPr>
          <a:xfrm>
            <a:off x="548640" y="1645920"/>
            <a:ext cx="3566160" cy="3108960"/>
          </a:xfrm>
          <a:prstGeom prst="rect">
            <a:avLst/>
          </a:prstGeom>
          <a:noFill/>
          <a:ln/>
        </p:spPr>
        <p:txBody>
          <a:bodyPr wrap="square" lIns="152400" tIns="152400" rIns="152400" bIns="152400" rtlCol="0" anchor="t"/>
          <a:lstStyle/>
          <a:p>
            <a:pPr algn="ctr" indent="0" marL="0">
              <a:spcAft>
                <a:spcPts val="800"/>
              </a:spcAft>
              <a:buNone/>
            </a:pPr>
            <a:r>
              <a:rPr lang="en-US" sz="1500" b="1" dirty="0">
                <a:solidFill>
                  <a:srgbClr val="FFFFFF"/>
                </a:solidFill>
              </a:rPr>
              <a:t>Lecture 6</a:t>
            </a:r>
            <a:endParaRPr lang="en-US" sz="1500" dirty="0"/>
          </a:p>
          <a:p>
            <a:pPr algn="ctr" indent="0" marL="0">
              <a:spcAft>
                <a:spcPts val="800"/>
              </a:spcAft>
              <a:buNone/>
            </a:pPr>
            <a:r>
              <a:rPr lang="en-US" sz="1500" dirty="0">
                <a:solidFill>
                  <a:srgbClr val="FFFFFF"/>
                </a:solidFill>
              </a:rPr>
              <a:t>multiplexing and demultiplexing with ports · UDP · the principles of reliable data transfer that TCP is built on</a:t>
            </a:r>
            <a:endParaRPr lang="en-US" sz="1500" dirty="0"/>
          </a:p>
        </p:txBody>
      </p:sp>
      <p:sp>
        <p:nvSpPr>
          <p:cNvPr id="6" name="Shape 3"/>
          <p:cNvSpPr/>
          <p:nvPr/>
        </p:nvSpPr>
        <p:spPr>
          <a:xfrm>
            <a:off x="4114800" y="3200400"/>
            <a:ext cx="182880" cy="914"/>
          </a:xfrm>
          <a:prstGeom prst="line">
            <a:avLst/>
          </a:prstGeom>
          <a:noFill/>
          <a:ln w="22225">
            <a:solidFill>
              <a:srgbClr val="9AA5AE"/>
            </a:solidFill>
            <a:prstDash val="solid"/>
            <a:tailEnd type="triangle"/>
          </a:ln>
        </p:spPr>
      </p:sp>
      <p:sp>
        <p:nvSpPr>
          <p:cNvPr id="7" name="box"/>
          <p:cNvSpPr/>
          <p:nvPr/>
        </p:nvSpPr>
        <p:spPr>
          <a:xfrm>
            <a:off x="4297680" y="1645920"/>
            <a:ext cx="3566160" cy="3108960"/>
          </a:xfrm>
          <a:prstGeom prst="roundRect">
            <a:avLst>
              <a:gd name="adj" fmla="val 2353"/>
            </a:avLst>
          </a:prstGeom>
          <a:solidFill>
            <a:srgbClr val="EEF2F6"/>
          </a:solidFill>
          <a:ln w="12700">
            <a:solidFill>
              <a:srgbClr val="EEF2F6"/>
            </a:solidFill>
            <a:prstDash val="solid"/>
          </a:ln>
        </p:spPr>
      </p:sp>
      <p:sp>
        <p:nvSpPr>
          <p:cNvPr id="8" name="Text 5"/>
          <p:cNvSpPr txBox="1"/>
          <p:nvPr/>
        </p:nvSpPr>
        <p:spPr>
          <a:xfrm>
            <a:off x="4297680" y="1645920"/>
            <a:ext cx="3566160" cy="3108960"/>
          </a:xfrm>
          <a:prstGeom prst="rect">
            <a:avLst/>
          </a:prstGeom>
          <a:noFill/>
          <a:ln/>
        </p:spPr>
        <p:txBody>
          <a:bodyPr wrap="square" lIns="152400" tIns="152400" rIns="152400" bIns="152400" rtlCol="0" anchor="t"/>
          <a:lstStyle/>
          <a:p>
            <a:pPr algn="ctr" indent="0" marL="0">
              <a:spcAft>
                <a:spcPts val="800"/>
              </a:spcAft>
              <a:buNone/>
            </a:pPr>
            <a:r>
              <a:rPr lang="en-US" sz="1500" b="1" dirty="0">
                <a:solidFill>
                  <a:srgbClr val="1B2430"/>
                </a:solidFill>
              </a:rPr>
              <a:t>Seminar 6</a:t>
            </a:r>
            <a:endParaRPr lang="en-US" sz="1500" dirty="0"/>
          </a:p>
          <a:p>
            <a:pPr algn="ctr" indent="0" marL="0">
              <a:spcAft>
                <a:spcPts val="800"/>
              </a:spcAft>
              <a:buNone/>
            </a:pPr>
            <a:r>
              <a:rPr lang="en-US" sz="1500" dirty="0">
                <a:solidFill>
                  <a:srgbClr val="1B2430"/>
                </a:solidFill>
              </a:rPr>
              <a:t>checksums, sequence numbers, stop-and-wait and pipelined protocols</a:t>
            </a:r>
            <a:endParaRPr lang="en-US" sz="1500" dirty="0"/>
          </a:p>
        </p:txBody>
      </p:sp>
      <p:sp>
        <p:nvSpPr>
          <p:cNvPr id="9" name="Shape 6"/>
          <p:cNvSpPr/>
          <p:nvPr/>
        </p:nvSpPr>
        <p:spPr>
          <a:xfrm>
            <a:off x="7863840" y="3200400"/>
            <a:ext cx="182880" cy="914"/>
          </a:xfrm>
          <a:prstGeom prst="line">
            <a:avLst/>
          </a:prstGeom>
          <a:noFill/>
          <a:ln w="22225">
            <a:solidFill>
              <a:srgbClr val="9AA5AE"/>
            </a:solidFill>
            <a:prstDash val="solid"/>
            <a:tailEnd type="triangle"/>
          </a:ln>
        </p:spPr>
      </p:sp>
      <p:sp>
        <p:nvSpPr>
          <p:cNvPr id="10" name="box"/>
          <p:cNvSpPr/>
          <p:nvPr/>
        </p:nvSpPr>
        <p:spPr>
          <a:xfrm>
            <a:off x="8046720" y="1645920"/>
            <a:ext cx="3566160" cy="3108960"/>
          </a:xfrm>
          <a:prstGeom prst="roundRect">
            <a:avLst>
              <a:gd name="adj" fmla="val 2353"/>
            </a:avLst>
          </a:prstGeom>
          <a:solidFill>
            <a:srgbClr val="EEF2F6"/>
          </a:solidFill>
          <a:ln w="12700">
            <a:solidFill>
              <a:srgbClr val="EEF2F6"/>
            </a:solidFill>
            <a:prstDash val="solid"/>
          </a:ln>
        </p:spPr>
      </p:sp>
      <p:sp>
        <p:nvSpPr>
          <p:cNvPr id="11" name="Text 8"/>
          <p:cNvSpPr txBox="1"/>
          <p:nvPr/>
        </p:nvSpPr>
        <p:spPr>
          <a:xfrm>
            <a:off x="8046720" y="1645920"/>
            <a:ext cx="3566160" cy="3108960"/>
          </a:xfrm>
          <a:prstGeom prst="rect">
            <a:avLst/>
          </a:prstGeom>
          <a:noFill/>
          <a:ln/>
        </p:spPr>
        <p:txBody>
          <a:bodyPr wrap="square" lIns="152400" tIns="152400" rIns="152400" bIns="152400" rtlCol="0" anchor="t"/>
          <a:lstStyle/>
          <a:p>
            <a:pPr algn="ctr" indent="0" marL="0">
              <a:spcAft>
                <a:spcPts val="800"/>
              </a:spcAft>
              <a:buNone/>
            </a:pPr>
            <a:r>
              <a:rPr lang="en-US" sz="1500" b="1" dirty="0">
                <a:solidFill>
                  <a:srgbClr val="1B2430"/>
                </a:solidFill>
              </a:rPr>
              <a:t>Laboratory 6</a:t>
            </a:r>
            <a:endParaRPr lang="en-US" sz="1500" dirty="0"/>
          </a:p>
          <a:p>
            <a:pPr algn="ctr" indent="0" marL="0">
              <a:spcAft>
                <a:spcPts val="800"/>
              </a:spcAft>
              <a:buNone/>
            </a:pPr>
            <a:r>
              <a:rPr lang="en-US" sz="1500" dirty="0">
                <a:solidFill>
                  <a:srgbClr val="1B2430"/>
                </a:solidFill>
              </a:rPr>
              <a:t>a reliable transfer protocol of your own over UDP, recovering from lost packets</a:t>
            </a:r>
            <a:endParaRPr lang="en-US" sz="1500" dirty="0"/>
          </a:p>
        </p:txBody>
      </p:sp>
      <p:sp>
        <p:nvSpPr>
          <p:cNvPr id="12" name="key idea"/>
          <p:cNvSpPr/>
          <p:nvPr/>
        </p:nvSpPr>
        <p:spPr>
          <a:xfrm>
            <a:off x="548640" y="5760720"/>
            <a:ext cx="11064240" cy="658368"/>
          </a:xfrm>
          <a:prstGeom prst="roundRect">
            <a:avLst>
              <a:gd name="adj" fmla="val 11111"/>
            </a:avLst>
          </a:prstGeom>
          <a:solidFill>
            <a:srgbClr val="DDF0F2"/>
          </a:solidFill>
          <a:ln w="12700">
            <a:solidFill>
              <a:srgbClr val="DDF0F2"/>
            </a:solidFill>
            <a:prstDash val="solid"/>
          </a:ln>
        </p:spPr>
      </p:sp>
      <p:sp>
        <p:nvSpPr>
          <p:cNvPr id="13" name="Text 10"/>
          <p:cNvSpPr txBox="1"/>
          <p:nvPr/>
        </p:nvSpPr>
        <p:spPr>
          <a:xfrm>
            <a:off x="731520" y="5779008"/>
            <a:ext cx="10789920" cy="347472"/>
          </a:xfrm>
          <a:prstGeom prst="rect">
            <a:avLst/>
          </a:prstGeom>
          <a:noFill/>
          <a:ln/>
        </p:spPr>
        <p:txBody>
          <a:bodyPr wrap="square" lIns="0" tIns="0" rIns="0" bIns="0" rtlCol="0" anchor="ctr"/>
          <a:lstStyle/>
          <a:p>
            <a:pPr indent="0" marL="0">
              <a:buNone/>
            </a:pPr>
            <a:r>
              <a:rPr lang="en-US" sz="1400" b="1" dirty="0">
                <a:solidFill>
                  <a:srgbClr val="2A7F8E"/>
                </a:solidFill>
              </a:rPr>
              <a:t>Key idea  </a:t>
            </a:r>
            <a:r>
              <a:rPr lang="en-US" sz="1400" dirty="0">
                <a:solidFill>
                  <a:srgbClr val="1B2430"/>
                </a:solidFill>
              </a:rPr>
              <a:t>The application layer is complete: every protocol of Weeks 3–5 rides on the transport services we open next.</a:t>
            </a:r>
            <a:endParaRPr lang="en-US" sz="1400" dirty="0"/>
          </a:p>
        </p:txBody>
      </p:sp>
      <p:sp>
        <p:nvSpPr>
          <p:cNvPr id="14" name="Text 11"/>
          <p:cNvSpPr txBox="1"/>
          <p:nvPr/>
        </p:nvSpPr>
        <p:spPr>
          <a:xfrm>
            <a:off x="731520" y="6126480"/>
            <a:ext cx="10789920" cy="274320"/>
          </a:xfrm>
          <a:prstGeom prst="rect">
            <a:avLst/>
          </a:prstGeom>
          <a:noFill/>
          <a:ln/>
        </p:spPr>
        <p:txBody>
          <a:bodyPr wrap="square" lIns="0" tIns="0" rIns="0" bIns="0" rtlCol="0" anchor="ctr">
            <a:normAutofit/>
          </a:bodyPr>
          <a:lstStyle/>
          <a:p>
            <a:pPr indent="0" marL="0">
              <a:buNone/>
            </a:pPr>
            <a:r>
              <a:rPr lang="en-US" sz="950" dirty="0">
                <a:solidFill>
                  <a:srgbClr val="5B6770"/>
                </a:solidFill>
              </a:rPr>
              <a:t>TCP (Transmission Control Protocol) · UDP (User Datagram Protocol)</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defRPr>
            </a:lvl1pPr>
          </a:lstStyle>
          <a:p>
            <a:pPr algn="r"/>
            <a:fld id="{F7021451-1387-4CA6-816F-3879F97B5CBC}" type="slidenum">
              <a:rPr b="0" lang="en-US"/>
              <a:t>77</a:t>
            </a:fld>
            <a:endParaRPr lang="en-US"/>
          </a:p>
        </p:txBody>
      </p:sp>
    </p:spTree>
  </p:cSld>
  <p:clrMapOvr>
    <a:masterClrMapping/>
  </p:clrMapOvr>
</p:sld>
</file>

<file path=ppt/theme/theme1.xml><?xml version="1.0" encoding="utf-8"?>
<a:theme xmlns:a="http://schemas.openxmlformats.org/drawingml/2006/main" name="Computer Networks">
  <a:themeElements>
    <a:clrScheme name="Computer Networks">
      <a:dk1>
        <a:srgbClr val="1B2430"/>
      </a:dk1>
      <a:lt1>
        <a:srgbClr val="FFFFFF"/>
      </a:lt1>
      <a:dk2>
        <a:srgbClr val="1F3A5F"/>
      </a:dk2>
      <a:lt2>
        <a:srgbClr val="EEF2F6"/>
      </a:lt2>
      <a:accent1>
        <a:srgbClr val="2A7F8E"/>
      </a:accent1>
      <a:accent2>
        <a:srgbClr val="1F3A5F"/>
      </a:accent2>
      <a:accent3>
        <a:srgbClr val="B9772A"/>
      </a:accent3>
      <a:accent4>
        <a:srgbClr val="5B6770"/>
      </a:accent4>
      <a:accent5>
        <a:srgbClr val="DDF0F2"/>
      </a:accent5>
      <a:accent6>
        <a:srgbClr val="F3EAD7"/>
      </a:accent6>
      <a:hlink>
        <a:srgbClr val="2A7F8E"/>
      </a:hlink>
      <a:folHlink>
        <a:srgbClr val="5B6770"/>
      </a:folHlink>
    </a:clrScheme>
    <a:fontScheme name="Computer Network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 Week 5 in schemes</dc:title>
  <dc:subject>PptxGenJS Presentation</dc:subject>
  <dc:creator>Nicolaie Popescu-Bodorin</dc:creator>
  <cp:lastModifiedBy>Nicolaie Popescu-Bodorin</cp:lastModifiedBy>
  <cp:revision>1</cp:revision>
  <dcterms:created xsi:type="dcterms:W3CDTF">2026-10-26T10:13:01Z</dcterms:created>
  <dcterms:modified xsi:type="dcterms:W3CDTF">2026-10-26T10:13:01Z</dcterms:modified>
</cp:coreProperties>
</file>