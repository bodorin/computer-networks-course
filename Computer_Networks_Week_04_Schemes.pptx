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7ab4483-f2a4-f211-18f4-424d829716b5}">
          <p14:sldIdLst>
            <p14:sldId id="256"/>
            <p14:sldId id="257"/>
            <p14:sldId id="258"/>
          </p14:sldIdLst>
        </p14:section>
        <p14:section name="A · Lecture 4" id="{972fca32-7948-f949-8553-dfc76548275f}">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Lst>
        </p14:section>
        <p14:section name="B · Seminar 4" id="{d5cfbc8d-a55f-5e6f-8ec4-568c52b38a19}">
          <p14:sldIdLst>
            <p14:sldId id="298"/>
            <p14:sldId id="299"/>
            <p14:sldId id="300"/>
            <p14:sldId id="301"/>
            <p14:sldId id="302"/>
            <p14:sldId id="303"/>
            <p14:sldId id="304"/>
            <p14:sldId id="305"/>
            <p14:sldId id="306"/>
            <p14:sldId id="307"/>
            <p14:sldId id="308"/>
            <p14:sldId id="309"/>
            <p14:sldId id="310"/>
            <p14:sldId id="311"/>
          </p14:sldIdLst>
        </p14:section>
        <p14:section name="C · Laboratory 4 · Linux" id="{79de3142-3616-9e17-69e6-d3a546ae1e3f}">
          <p14:sldIdLst>
            <p14:sldId id="312"/>
            <p14:sldId id="313"/>
            <p14:sldId id="314"/>
            <p14:sldId id="315"/>
            <p14:sldId id="316"/>
            <p14:sldId id="317"/>
            <p14:sldId id="318"/>
            <p14:sldId id="319"/>
            <p14:sldId id="320"/>
            <p14:sldId id="321"/>
            <p14:sldId id="322"/>
          </p14:sldIdLst>
        </p14:section>
        <p14:section name="D · Laboratory 4 · Windows" id="{13cd316b-d058-b627-afbb-b5411634acbc}">
          <p14:sldIdLst>
            <p14:sldId id="323"/>
            <p14:sldId id="324"/>
            <p14:sldId id="325"/>
            <p14:sldId id="326"/>
            <p14:sldId id="327"/>
            <p14:sldId id="328"/>
            <p14:sldId id="329"/>
            <p14:sldId id="330"/>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slide in this deck is a scheme. Each scheme has numbered explanations and one key idea at the bottom. The deck follows the four parts of the Week 4 material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parts of the week, in the order they are taught. The lecture gives the concepts, the seminar the calculations and readings, the two laboratories the tools and the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syllabus lists ten protocols and services plus NAT (network address translation). They are spread over weeks 3, 4 and 5; this map shows where each one is treated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Lecture 4. The scheme at the top shows where we are in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ingredients of a cookie: a header in the response, a header in each later request, a file kept by the browser, a database kept by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is the key; the attributes say how long the browser keeps it, where it sends it back, and how it is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tracker is embedded in many sites. Its cookie comes back from every one of them, together with the page that embedded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cache answers from its store when it can (a hit); otherwise it forwards the request, keeps a copy and passes it on (a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 objects/s of 1 Mbit over a 100 Mbit/s link; Internet delay 1 s. Link delay d = (L/R)/(1 − ρ) from Lecture 2. Bars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a copy is fresh it is served without asking. When it is stale, the cache asks the origin whether it changed (conditional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cache sends its validator; the origin answers 304 with no body if nothing changed, or 200 with the new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decides; caches obey. Personal and sensitive pages must not end up in shared caches.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CDN (content distribution network) keeps copies of popular objects in thousands of servers near the users. DNS (Domain Name System) sends each user to a nearby one (Week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one HTTP (HyperText Transfer Protocol)/1.1 connection, responses come back in order: a large object delays everything queued behind it. Browsers open about six connections to compensate.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Messages are cut into binary frames. Each frame carries a stream identifier, so the frames of many exchanges can be interleaved on one TCP (Transmission Control Protocol)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Header fields repeat from request to request. HPACK (header compression for HTTP (HyperText Transfer Protocol)/2) keeps a table of fields already sent and replaces repeats by small indexes.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 (Transmission Control Protocol) delivers bytes in order. If one segment is lost, all bytes after it wait for the retransmission — whatever stream they belong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 (a transport protocol over UDP, User Datagram Protocol; first named Quick UDP Internet Connections) (RFC (Request for Comments) 9000) runs over UDP inside the application. It integrates TLS (Transport Layer Security) 1.3 and names connections by IDs, not by the 4-tuple.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semantics are the same; transport, format and concurrency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 (HyperText Transfer Protocol Secure) is HTTP sent through TLS (Transport Layer Security) on port 443. TLS sits between the application and TCP (Transmission Control Protocol) and defeats three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connection, RTT (round-trip time) = 60 ms. TLS (Transport Layer Security) 1.2 adds two round trips to TCP (Transmission Control Protocol)’s one; TLS 1.3 adds one; QUIC (a transport protocol over UDP, User Datagram Protocol; first named Quick UDP Internet Connections) merges both handshakes. Bars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client’s first message already carries a key share. After one round trip both sides hold the same session keys, and the request leaves with the client’s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accepts a certificate if the name matches, the dates are valid and the signatures lead to a root it already trusts.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TLS (Transport Layer Security) hides the content of the exchange, not the fact that it took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TELNET (RFC (Request for Comments) 854, port 23) carries keystrokes and screen output over TCP (Transmission Control Protocol), between two network virtual terminals.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IAC (interpret as command) (FF) + a verb + an option code. WILL/WONT announce what the sender will do; DO/DONT ask the other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on the path reads the session and can inject into it. Devices that still listen on port 23 with factory passwords are captured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SSH (Secure Shell)-2 (RFCs 4251–4254, port 22) replaced TELNET and the r-commands. OpenSSH is on almost every Linux and macOS system and built into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usually no certification authority. The first connection stores the server’s public host key; every later connection must present the same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private key never leaves the laptop. The server checks a signature over this session’s data with the stored public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service is a channel multiplexed on the one encrypted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talks to a port on the laptop. SSH (Secure Shell) carries the bytes, encrypted, to the gateway, which opens an ordinary connection inside the private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opens a port on the server that leads back to your machine; -D turns the gateway into a proxy for any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FTP (File Transfer Protocol) (RFC (Request for Comments) 959) keeps one control connection for the whole session and opens a new data connection for every listing and every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listens and announces its address in PORT. The server opens the data connection — towards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sends PASV (passive); the server listens on a port and announces it; the client connects. Both connections are outgoing for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decimal numbers: four bytes of the IPv4 (Internet Protocol version 4) address, then two bytes of the port, high byte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are four letters or fewer; every reply starts with a code. The first digit alone tells a program how things went.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 transfer the two sides agree on how the data are represented, structured and transmitted (RFC (Request for Comments) 959,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TYPE A each local line end becomes CR (carriage return) LF (line feed) on the wire and is converted again at the other end. A PNG (Portable Network Graphics) is not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FTP (File Transfer Protocol) server remembers each session; HTTP (HyperText Transfer Protocol) remembers nothing. And like TELNET, plain FTP is readable on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ideas, one per topic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Seminar 4. The scheme at the top shows where we are in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Empty browser. shop.example.ro sets sid (session cookie); ads.tracker.net sets uid for one year. The shop and the news site both embed the tracker’s pixel.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Mbit/s access link; 160 objects/s of 1 Mbit; origins 0.6 s away; d = (L/R)/(1 − ρ). Bars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Fetched at 10:00 with max-age=600 and ETag "v1" (40 KB). The page changes at 10:25 (ETag "v2"). Visits at 10:05, 10:12, 10:20, 10:30.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MB video then 10 icons of 10 KB over 10 Mbit/s. HTTP (HyperText Transfer Protocol)/1.1 in order vs HTTP/2 interleaved in equal shares. Bars to scale (1 s = 11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https://mail.example.com/inbox?folder=work, RTT (round-trip time) 50 ms, DNS (Domain Name System) already cached. Then: what can the access point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www.shop.ro → intermediate R11 → root ISRG Root X1 (in the trust store). Five situations.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server: FF FD 18 FF FD 20 FF FB 01 FF FB 03. From the client: student \r\n pa55w0rd \r\n.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used lab.cs.example.ro for months. Today ssh refuses to connect. Follow the decision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SSH (Secure Shell) command for each need, and say which legs are encrypted.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10.0.0.5, server 198.51.100.20, anonymous login, TYPE I, PORT, RETR (retrieve).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10 000-byte PNG (Portable Network Graphics) with 40 bytes 0x0A and 12 bytes 0x0D, downloaded with TYPE A from Linux to Windows — and uploaded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files of 5 KB, RTT (round-trip time) 40 ms, transmission ignored. FTP (File Transfer Protocol) passive, one after another, vs HTTP (HyperText Transfer Protocol)/1.1 persistent vs HTTP/2. Bars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short tasks to finish before Seminar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C: Laboratory 4 · Linux. The scheme at the top shows where we are in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exchange is under your control: course servers on local ports, standard tools as clients, tcpdump and ss (socket statistics) as observers.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web_server.py keeps the visit counter on the server, keyed by the cookie; /notes.txt answers 304 when the ETag still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curl shows the negotiated TLS (Transport Layer Security) parameters; openssl s_client shows the certificate chain; tcpdump shows the one name still 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login_server.py behaves like a TELNET server: it asks for a name and a password and turns local echo off with IAC (interpret as command) WILL 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server’s own fingerprint with the one ssh shows; then install your public key and log in without the account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ssh -L 2324:127.0.0.1:2323 localhost: telnet talks to port 2324, SSH (Secure Shell) carries the bytes over port 22, sshd delivers them to the login server on 2323.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pyftpdlib serves ~/ftproot on port 2121. The ftp client in debug mode prints every command; ss (socket statistics) shows which connections live how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ftp_client.c builds on Laboratory 3’s helpers (send_all, recv_line, tcp_connect). Each box is a few lines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reply ends at a line that starts with the three-digit code followed by a space. Lines with code + “-” — or anything else — continue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ftplib does exactly what the C client does; with debugging on it prints every command and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 Laboratory 4 · Windows. The scheme at the top shows where we are in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10 and 11 include curl.exe, the OpenSSH client and PowerShell; Python, a C compiler and Wireshark are installed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curl.exe has a cookie jar and ETag options; PowerShell keeps cookies in a session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 class SslStream performs the handshake; X509Chain rebuilds the certificate chain against the Windows trust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login_server.py on 127.0.0.1:2323; Wireshark on the loopback adapter, filter tcp.port == 2323, then Follow → TCP (Transmission Control Protocol)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pair on Windows, public key appended on the server; then a local tunnel to a web server that listens only on the server’s loopback.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built-in ftp.exe always sends PORT: the server must connect back, and Windows Firewall asks whether to allow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ftp_client_win.c is the Linux program with the Winsock spelling you met in Laboratory 3. The FTP (File Transfer Protocol) logic does not change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5 completes the application layer: e-mail, Usenet, DNS (Domain Name System) and NAT (network address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45920"/>
            <a:ext cx="1069848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474720"/>
            <a:ext cx="10698480" cy="82296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Computer Networks · Week 4</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05840"/>
            <a:ext cx="10698480" cy="457200"/>
          </a:xfrm>
          <a:prstGeom prst="rect">
            <a:avLst/>
          </a:prstGeom>
          <a:noFill/>
          <a:ln/>
        </p:spPr>
        <p:txBody>
          <a:bodyPr wrap="square" lIns="0" tIns="0" rIns="0" bIns="0" rtlCol="0" anchor="ctr"/>
          <a:lstStyle/>
          <a:p>
            <a:pPr indent="0" marL="0">
              <a:buNone/>
            </a:pPr>
            <a:r>
              <a:rPr lang="en-US" sz="1400" b="1" spc="400" kern="0" dirty="0">
                <a:solidFill>
                  <a:srgbClr val="DDF0F2"/>
                </a:solidFill>
              </a:rPr>
              <a:t>COMPUTER NETWORKS · SEMESTER 1 · WEEK 4</a:t>
            </a:r>
            <a:endParaRPr lang="en-US" sz="1400" dirty="0"/>
          </a:p>
        </p:txBody>
      </p:sp>
      <p:sp>
        <p:nvSpPr>
          <p:cNvPr id="3" name="Text 0"/>
          <p:cNvSpPr/>
          <p:nvPr>
            <p:ph idx="100" type="title" hasCustomPrompt="1"/>
          </p:nvPr>
        </p:nvSpPr>
        <p:spPr>
          <a:xfrm>
            <a:off x="731520" y="1645920"/>
            <a:ext cx="10698480" cy="17373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The application layer II in schemes</a:t>
            </a:r>
            <a:endParaRPr lang="en-US" sz="4000" dirty="0"/>
          </a:p>
        </p:txBody>
      </p:sp>
      <p:sp>
        <p:nvSpPr>
          <p:cNvPr id="4" name="Text 0"/>
          <p:cNvSpPr/>
          <p:nvPr>
            <p:ph idx="101" type="body" hasCustomPrompt="1"/>
          </p:nvPr>
        </p:nvSpPr>
        <p:spPr>
          <a:xfrm>
            <a:off x="731520" y="3474720"/>
            <a:ext cx="10698480" cy="822960"/>
          </a:xfrm>
          <a:prstGeom prst="rect">
            <a:avLst/>
          </a:prstGeom>
          <a:noFill/>
          <a:ln/>
        </p:spPr>
        <p:txBody>
          <a:bodyPr wrap="square" rtlCol="0"/>
          <a:lstStyle/>
          <a:p>
            <a:pPr algn="l" indent="0" marL="0">
              <a:buNone/>
            </a:pPr>
            <a:r>
              <a:rPr lang="en-US" sz="2000" dirty="0">
                <a:solidFill>
                  <a:schemeClr val="accent5"/>
                </a:solidFill>
              </a:rPr>
              <a:t>Cookies, caches, HTTP/2 and HTTP/3, HTTPS, TELNET, SSH and FTP — lecture, seminar and laboratories</a:t>
            </a:r>
            <a:endParaRPr lang="en-US" sz="2000" dirty="0"/>
          </a:p>
        </p:txBody>
      </p:sp>
      <p:sp>
        <p:nvSpPr>
          <p:cNvPr id="5" name="Text 3"/>
          <p:cNvSpPr txBox="1"/>
          <p:nvPr/>
        </p:nvSpPr>
        <p:spPr>
          <a:xfrm>
            <a:off x="731520" y="5029200"/>
            <a:ext cx="10698480" cy="822960"/>
          </a:xfrm>
          <a:prstGeom prst="rect">
            <a:avLst/>
          </a:prstGeom>
          <a:noFill/>
          <a:ln/>
        </p:spPr>
        <p:txBody>
          <a:bodyPr wrap="square" lIns="0" tIns="0" rIns="0" bIns="0" rtlCol="0" anchor="ctr"/>
          <a:lstStyle/>
          <a:p>
            <a:pPr indent="0" marL="0">
              <a:buNone/>
            </a:pPr>
            <a:r>
              <a:rPr lang="en-US" sz="1600" b="1" dirty="0">
                <a:solidFill>
                  <a:srgbClr val="FFFFFF"/>
                </a:solidFill>
              </a:rPr>
              <a:t>Assoc. Prof. Nicolaie Popescu-Bodorin, PhD · 2026</a:t>
            </a:r>
            <a:endParaRPr lang="en-US" sz="1600" dirty="0"/>
          </a:p>
          <a:p>
            <a:pPr indent="0" marL="0">
              <a:buNone/>
            </a:pPr>
            <a:r>
              <a:rPr lang="en-US" sz="1600" dirty="0">
                <a:solidFill>
                  <a:srgbClr val="FFFFFF"/>
                </a:solidFill>
              </a:rPr>
              <a:t>+40722882471 · bodorin(on)live.com · https://lmrec.org/bodorin/</a:t>
            </a:r>
            <a:endParaRPr lang="en-US" sz="1600" dirty="0"/>
          </a:p>
        </p:txBody>
      </p:sp>
      <p:sp>
        <p:nvSpPr>
          <p:cNvPr id="7" name="Text 4"/>
          <p:cNvSpPr txBox="1"/>
          <p:nvPr/>
        </p:nvSpPr>
        <p:spPr>
          <a:xfrm>
            <a:off x="731520" y="6172200"/>
            <a:ext cx="10698480" cy="457200"/>
          </a:xfrm>
          <a:prstGeom prst="rect">
            <a:avLst/>
          </a:prstGeom>
          <a:noFill/>
          <a:ln/>
        </p:spPr>
        <p:txBody>
          <a:bodyPr wrap="square" lIns="0" tIns="0" rIns="0" bIns="0" rtlCol="0" anchor="t"/>
          <a:lstStyle/>
          <a:p>
            <a:pPr indent="0" marL="0">
              <a:buNone/>
            </a:pPr>
            <a:r>
              <a:rPr lang="en-US" sz="1100" dirty="0">
                <a:solidFill>
                  <a:srgbClr val="C9D6E3"/>
                </a:solidFill>
              </a:rPr>
              <a:t>HTTPS (HyperText Transfer Protocol Secure) · HTTP (HyperText Transfer Protocol) · SSH (Secure Shell) · FTP (File Transfer Protocol)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this week is organised</a:t>
            </a:r>
            <a:endParaRPr lang="en-US" sz="3000" dirty="0"/>
          </a:p>
        </p:txBody>
      </p:sp>
      <p:sp>
        <p:nvSpPr>
          <p:cNvPr id="4" name="box"/>
          <p:cNvSpPr/>
          <p:nvPr/>
        </p:nvSpPr>
        <p:spPr>
          <a:xfrm>
            <a:off x="731520" y="1463040"/>
            <a:ext cx="2514600" cy="1371600"/>
          </a:xfrm>
          <a:prstGeom prst="roundRect">
            <a:avLst>
              <a:gd name="adj" fmla="val 5333"/>
            </a:avLst>
          </a:prstGeom>
          <a:solidFill>
            <a:srgbClr val="2B4A70"/>
          </a:solidFill>
          <a:ln w="12700">
            <a:solidFill>
              <a:srgbClr val="2B4A70"/>
            </a:solidFill>
            <a:prstDash val="solid"/>
          </a:ln>
        </p:spPr>
      </p:sp>
      <p:sp>
        <p:nvSpPr>
          <p:cNvPr id="5" name="Text 2"/>
          <p:cNvSpPr txBox="1"/>
          <p:nvPr/>
        </p:nvSpPr>
        <p:spPr>
          <a:xfrm>
            <a:off x="731520" y="146304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A · Lecture 4</a:t>
            </a:r>
            <a:endParaRPr lang="en-US" sz="1500" dirty="0"/>
          </a:p>
          <a:p>
            <a:pPr algn="ctr" indent="0" marL="0">
              <a:spcAft>
                <a:spcPts val="400"/>
              </a:spcAft>
              <a:buNone/>
            </a:pPr>
            <a:r>
              <a:rPr lang="en-US" sz="1500" dirty="0">
                <a:solidFill>
                  <a:srgbClr val="FFFFFF"/>
                </a:solidFill>
              </a:rPr>
              <a:t>Sessions, speed, security</a:t>
            </a:r>
            <a:endParaRPr lang="en-US" sz="1500" dirty="0"/>
          </a:p>
        </p:txBody>
      </p:sp>
      <p:sp>
        <p:nvSpPr>
          <p:cNvPr id="6" name="Shape 3"/>
          <p:cNvSpPr/>
          <p:nvPr/>
        </p:nvSpPr>
        <p:spPr>
          <a:xfrm>
            <a:off x="3273552" y="2148840"/>
            <a:ext cx="219456" cy="914"/>
          </a:xfrm>
          <a:prstGeom prst="line">
            <a:avLst/>
          </a:prstGeom>
          <a:noFill/>
          <a:ln w="25400">
            <a:solidFill>
              <a:srgbClr val="9FB3C8"/>
            </a:solidFill>
            <a:prstDash val="solid"/>
            <a:tailEnd type="triangle"/>
          </a:ln>
        </p:spPr>
      </p:sp>
      <p:sp>
        <p:nvSpPr>
          <p:cNvPr id="7" name="box"/>
          <p:cNvSpPr/>
          <p:nvPr/>
        </p:nvSpPr>
        <p:spPr>
          <a:xfrm>
            <a:off x="3520440" y="1463040"/>
            <a:ext cx="2514600" cy="1371600"/>
          </a:xfrm>
          <a:prstGeom prst="roundRect">
            <a:avLst>
              <a:gd name="adj" fmla="val 5333"/>
            </a:avLst>
          </a:prstGeom>
          <a:solidFill>
            <a:srgbClr val="2B4A70"/>
          </a:solidFill>
          <a:ln w="12700">
            <a:solidFill>
              <a:srgbClr val="2B4A70"/>
            </a:solidFill>
            <a:prstDash val="solid"/>
          </a:ln>
        </p:spPr>
      </p:sp>
      <p:sp>
        <p:nvSpPr>
          <p:cNvPr id="8" name="Text 5"/>
          <p:cNvSpPr txBox="1"/>
          <p:nvPr/>
        </p:nvSpPr>
        <p:spPr>
          <a:xfrm>
            <a:off x="3520440" y="146304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B · Seminar 4</a:t>
            </a:r>
            <a:endParaRPr lang="en-US" sz="1500" dirty="0"/>
          </a:p>
          <a:p>
            <a:pPr algn="ctr" indent="0" marL="0">
              <a:spcAft>
                <a:spcPts val="400"/>
              </a:spcAft>
              <a:buNone/>
            </a:pPr>
            <a:r>
              <a:rPr lang="en-US" sz="1500" dirty="0">
                <a:solidFill>
                  <a:srgbClr val="FFFFFF"/>
                </a:solidFill>
              </a:rPr>
              <a:t>Problems with solutions</a:t>
            </a:r>
            <a:endParaRPr lang="en-US" sz="1500" dirty="0"/>
          </a:p>
        </p:txBody>
      </p:sp>
      <p:sp>
        <p:nvSpPr>
          <p:cNvPr id="9" name="Shape 6"/>
          <p:cNvSpPr/>
          <p:nvPr/>
        </p:nvSpPr>
        <p:spPr>
          <a:xfrm>
            <a:off x="6062472" y="2148840"/>
            <a:ext cx="219456" cy="914"/>
          </a:xfrm>
          <a:prstGeom prst="line">
            <a:avLst/>
          </a:prstGeom>
          <a:noFill/>
          <a:ln w="25400">
            <a:solidFill>
              <a:srgbClr val="9FB3C8"/>
            </a:solidFill>
            <a:prstDash val="solid"/>
            <a:tailEnd type="triangle"/>
          </a:ln>
        </p:spPr>
      </p:sp>
      <p:sp>
        <p:nvSpPr>
          <p:cNvPr id="10" name="box"/>
          <p:cNvSpPr/>
          <p:nvPr/>
        </p:nvSpPr>
        <p:spPr>
          <a:xfrm>
            <a:off x="6309360" y="1463040"/>
            <a:ext cx="2514600" cy="1371600"/>
          </a:xfrm>
          <a:prstGeom prst="roundRect">
            <a:avLst>
              <a:gd name="adj" fmla="val 5333"/>
            </a:avLst>
          </a:prstGeom>
          <a:solidFill>
            <a:srgbClr val="2B4A70"/>
          </a:solidFill>
          <a:ln w="12700">
            <a:solidFill>
              <a:srgbClr val="2B4A70"/>
            </a:solidFill>
            <a:prstDash val="solid"/>
          </a:ln>
        </p:spPr>
      </p:sp>
      <p:sp>
        <p:nvSpPr>
          <p:cNvPr id="11" name="Text 8"/>
          <p:cNvSpPr txBox="1"/>
          <p:nvPr/>
        </p:nvSpPr>
        <p:spPr>
          <a:xfrm>
            <a:off x="6309360" y="146304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C · Laboratory 4 · Linux</a:t>
            </a:r>
            <a:endParaRPr lang="en-US" sz="1500" dirty="0"/>
          </a:p>
          <a:p>
            <a:pPr algn="ctr" indent="0" marL="0">
              <a:spcAft>
                <a:spcPts val="400"/>
              </a:spcAft>
              <a:buNone/>
            </a:pPr>
            <a:r>
              <a:rPr lang="en-US" sz="1500" dirty="0">
                <a:solidFill>
                  <a:srgbClr val="FFFFFF"/>
                </a:solidFill>
              </a:rPr>
              <a:t>curl, openssl, ssh, ftp, C</a:t>
            </a:r>
            <a:endParaRPr lang="en-US" sz="1500" dirty="0"/>
          </a:p>
        </p:txBody>
      </p:sp>
      <p:sp>
        <p:nvSpPr>
          <p:cNvPr id="12" name="Shape 9"/>
          <p:cNvSpPr/>
          <p:nvPr/>
        </p:nvSpPr>
        <p:spPr>
          <a:xfrm>
            <a:off x="8851392" y="2148840"/>
            <a:ext cx="219456" cy="914"/>
          </a:xfrm>
          <a:prstGeom prst="line">
            <a:avLst/>
          </a:prstGeom>
          <a:noFill/>
          <a:ln w="25400">
            <a:solidFill>
              <a:srgbClr val="9FB3C8"/>
            </a:solidFill>
            <a:prstDash val="solid"/>
            <a:tailEnd type="triangle"/>
          </a:ln>
        </p:spPr>
      </p:sp>
      <p:sp>
        <p:nvSpPr>
          <p:cNvPr id="13" name="box"/>
          <p:cNvSpPr/>
          <p:nvPr/>
        </p:nvSpPr>
        <p:spPr>
          <a:xfrm>
            <a:off x="9098280" y="1463040"/>
            <a:ext cx="2514600" cy="1371600"/>
          </a:xfrm>
          <a:prstGeom prst="roundRect">
            <a:avLst>
              <a:gd name="adj" fmla="val 5333"/>
            </a:avLst>
          </a:prstGeom>
          <a:solidFill>
            <a:srgbClr val="2B4A70"/>
          </a:solidFill>
          <a:ln w="12700">
            <a:solidFill>
              <a:srgbClr val="2B4A70"/>
            </a:solidFill>
            <a:prstDash val="solid"/>
          </a:ln>
        </p:spPr>
      </p:sp>
      <p:sp>
        <p:nvSpPr>
          <p:cNvPr id="14" name="Text 11"/>
          <p:cNvSpPr txBox="1"/>
          <p:nvPr/>
        </p:nvSpPr>
        <p:spPr>
          <a:xfrm>
            <a:off x="9098280" y="146304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D · Laboratory 4 · Windows</a:t>
            </a:r>
            <a:endParaRPr lang="en-US" sz="1500" dirty="0"/>
          </a:p>
          <a:p>
            <a:pPr algn="ctr" indent="0" marL="0">
              <a:spcAft>
                <a:spcPts val="400"/>
              </a:spcAft>
              <a:buNone/>
            </a:pPr>
            <a:r>
              <a:rPr lang="en-US" sz="1500" dirty="0">
                <a:solidFill>
                  <a:srgbClr val="FFFFFF"/>
                </a:solidFill>
              </a:rPr>
              <a:t>PowerShell, OpenSSH, Winsock</a:t>
            </a:r>
            <a:endParaRPr lang="en-US" sz="1500" dirty="0"/>
          </a:p>
        </p:txBody>
      </p:sp>
      <p:sp>
        <p:nvSpPr>
          <p:cNvPr id="15" name="Shape 12"/>
          <p:cNvSpPr/>
          <p:nvPr/>
        </p:nvSpPr>
        <p:spPr>
          <a:xfrm>
            <a:off x="1984248" y="2880360"/>
            <a:ext cx="914" cy="365760"/>
          </a:xfrm>
          <a:prstGeom prst="line">
            <a:avLst/>
          </a:prstGeom>
          <a:noFill/>
          <a:ln w="22225">
            <a:solidFill>
              <a:srgbClr val="9AA5AE"/>
            </a:solidFill>
            <a:prstDash val="solid"/>
            <a:tailEnd type="triangle"/>
          </a:ln>
        </p:spPr>
      </p:sp>
      <p:sp>
        <p:nvSpPr>
          <p:cNvPr id="16" name="box"/>
          <p:cNvSpPr/>
          <p:nvPr/>
        </p:nvSpPr>
        <p:spPr>
          <a:xfrm>
            <a:off x="731520" y="3291840"/>
            <a:ext cx="2514600" cy="2194560"/>
          </a:xfrm>
          <a:prstGeom prst="roundRect">
            <a:avLst>
              <a:gd name="adj" fmla="val 3333"/>
            </a:avLst>
          </a:prstGeom>
          <a:solidFill>
            <a:srgbClr val="EEF2F6"/>
          </a:solidFill>
          <a:ln w="12700">
            <a:solidFill>
              <a:srgbClr val="EEF2F6"/>
            </a:solidFill>
            <a:prstDash val="solid"/>
          </a:ln>
        </p:spPr>
      </p:sp>
      <p:sp>
        <p:nvSpPr>
          <p:cNvPr id="17" name="Text 14"/>
          <p:cNvSpPr txBox="1"/>
          <p:nvPr/>
        </p:nvSpPr>
        <p:spPr>
          <a:xfrm>
            <a:off x="731520" y="3291840"/>
            <a:ext cx="2514600" cy="2194560"/>
          </a:xfrm>
          <a:prstGeom prst="rect">
            <a:avLst/>
          </a:prstGeom>
          <a:noFill/>
          <a:ln/>
        </p:spPr>
        <p:txBody>
          <a:bodyPr wrap="square" lIns="1905" tIns="1905" rIns="1905" bIns="1905" rtlCol="0" anchor="t"/>
          <a:lstStyle/>
          <a:p>
            <a:pPr algn="ctr" indent="0" marL="0">
              <a:spcAft>
                <a:spcPts val="600"/>
              </a:spcAft>
              <a:buNone/>
            </a:pPr>
            <a:r>
              <a:rPr lang="en-US" sz="1400" b="1" dirty="0">
                <a:solidFill>
                  <a:srgbClr val="1B2430"/>
                </a:solidFill>
              </a:rPr>
              <a:t>Concepts</a:t>
            </a:r>
            <a:endParaRPr lang="en-US" sz="1400" dirty="0"/>
          </a:p>
          <a:p>
            <a:pPr algn="ctr" indent="0" marL="0">
              <a:spcAft>
                <a:spcPts val="600"/>
              </a:spcAft>
              <a:buNone/>
            </a:pPr>
            <a:r>
              <a:rPr lang="en-US" sz="1400" dirty="0">
                <a:solidFill>
                  <a:srgbClr val="1B2430"/>
                </a:solidFill>
              </a:rPr>
              <a:t>cookies, caches and CDNs, HTTP/2 and HTTP/3, TLS and certificates, TELNET, SSH, FTP</a:t>
            </a:r>
            <a:endParaRPr lang="en-US" sz="1400" dirty="0"/>
          </a:p>
        </p:txBody>
      </p:sp>
      <p:sp>
        <p:nvSpPr>
          <p:cNvPr id="18" name="Shape 15"/>
          <p:cNvSpPr/>
          <p:nvPr/>
        </p:nvSpPr>
        <p:spPr>
          <a:xfrm>
            <a:off x="4773168" y="2880360"/>
            <a:ext cx="914" cy="365760"/>
          </a:xfrm>
          <a:prstGeom prst="line">
            <a:avLst/>
          </a:prstGeom>
          <a:noFill/>
          <a:ln w="22225">
            <a:solidFill>
              <a:srgbClr val="9AA5AE"/>
            </a:solidFill>
            <a:prstDash val="solid"/>
            <a:tailEnd type="triangle"/>
          </a:ln>
        </p:spPr>
      </p:sp>
      <p:sp>
        <p:nvSpPr>
          <p:cNvPr id="19" name="box"/>
          <p:cNvSpPr/>
          <p:nvPr/>
        </p:nvSpPr>
        <p:spPr>
          <a:xfrm>
            <a:off x="3520440" y="3291840"/>
            <a:ext cx="2514600" cy="2194560"/>
          </a:xfrm>
          <a:prstGeom prst="roundRect">
            <a:avLst>
              <a:gd name="adj" fmla="val 3333"/>
            </a:avLst>
          </a:prstGeom>
          <a:solidFill>
            <a:srgbClr val="EEF2F6"/>
          </a:solidFill>
          <a:ln w="12700">
            <a:solidFill>
              <a:srgbClr val="EEF2F6"/>
            </a:solidFill>
            <a:prstDash val="solid"/>
          </a:ln>
        </p:spPr>
      </p:sp>
      <p:sp>
        <p:nvSpPr>
          <p:cNvPr id="20" name="Text 17"/>
          <p:cNvSpPr txBox="1"/>
          <p:nvPr/>
        </p:nvSpPr>
        <p:spPr>
          <a:xfrm>
            <a:off x="3520440" y="3291840"/>
            <a:ext cx="2514600" cy="2194560"/>
          </a:xfrm>
          <a:prstGeom prst="rect">
            <a:avLst/>
          </a:prstGeom>
          <a:noFill/>
          <a:ln/>
        </p:spPr>
        <p:txBody>
          <a:bodyPr wrap="square" lIns="1905" tIns="1905" rIns="1905" bIns="1905" rtlCol="0" anchor="t"/>
          <a:lstStyle/>
          <a:p>
            <a:pPr algn="ctr" indent="0" marL="0">
              <a:spcAft>
                <a:spcPts val="600"/>
              </a:spcAft>
              <a:buNone/>
            </a:pPr>
            <a:r>
              <a:rPr lang="en-US" sz="1400" b="1" dirty="0">
                <a:solidFill>
                  <a:srgbClr val="1B2430"/>
                </a:solidFill>
              </a:rPr>
              <a:t>Calculations</a:t>
            </a:r>
            <a:endParaRPr lang="en-US" sz="1400" dirty="0"/>
          </a:p>
          <a:p>
            <a:pPr algn="ctr" indent="0" marL="0">
              <a:spcAft>
                <a:spcPts val="600"/>
              </a:spcAft>
              <a:buNone/>
            </a:pPr>
            <a:r>
              <a:rPr lang="en-US" sz="1400" dirty="0">
                <a:solidFill>
                  <a:srgbClr val="1B2430"/>
                </a:solidFill>
              </a:rPr>
              <a:t>cache effect, freshness, round trips, option bytes, PORT and PASV, ASCII vs binary</a:t>
            </a:r>
            <a:endParaRPr lang="en-US" sz="1400" dirty="0"/>
          </a:p>
        </p:txBody>
      </p:sp>
      <p:sp>
        <p:nvSpPr>
          <p:cNvPr id="21" name="Shape 18"/>
          <p:cNvSpPr/>
          <p:nvPr/>
        </p:nvSpPr>
        <p:spPr>
          <a:xfrm>
            <a:off x="7562088" y="2880360"/>
            <a:ext cx="914" cy="365760"/>
          </a:xfrm>
          <a:prstGeom prst="line">
            <a:avLst/>
          </a:prstGeom>
          <a:noFill/>
          <a:ln w="22225">
            <a:solidFill>
              <a:srgbClr val="9AA5AE"/>
            </a:solidFill>
            <a:prstDash val="solid"/>
            <a:tailEnd type="triangle"/>
          </a:ln>
        </p:spPr>
      </p:sp>
      <p:sp>
        <p:nvSpPr>
          <p:cNvPr id="22" name="box"/>
          <p:cNvSpPr/>
          <p:nvPr/>
        </p:nvSpPr>
        <p:spPr>
          <a:xfrm>
            <a:off x="6309360" y="3291840"/>
            <a:ext cx="2514600" cy="2194560"/>
          </a:xfrm>
          <a:prstGeom prst="roundRect">
            <a:avLst>
              <a:gd name="adj" fmla="val 3333"/>
            </a:avLst>
          </a:prstGeom>
          <a:solidFill>
            <a:srgbClr val="EEF2F6"/>
          </a:solidFill>
          <a:ln w="12700">
            <a:solidFill>
              <a:srgbClr val="EEF2F6"/>
            </a:solidFill>
            <a:prstDash val="solid"/>
          </a:ln>
        </p:spPr>
      </p:sp>
      <p:sp>
        <p:nvSpPr>
          <p:cNvPr id="23" name="Text 20"/>
          <p:cNvSpPr txBox="1"/>
          <p:nvPr/>
        </p:nvSpPr>
        <p:spPr>
          <a:xfrm>
            <a:off x="6309360" y="3291840"/>
            <a:ext cx="2514600" cy="2194560"/>
          </a:xfrm>
          <a:prstGeom prst="rect">
            <a:avLst/>
          </a:prstGeom>
          <a:noFill/>
          <a:ln/>
        </p:spPr>
        <p:txBody>
          <a:bodyPr wrap="square" lIns="1905" tIns="1905" rIns="1905" bIns="1905" rtlCol="0" anchor="t"/>
          <a:lstStyle/>
          <a:p>
            <a:pPr algn="ctr" indent="0" marL="0">
              <a:spcAft>
                <a:spcPts val="600"/>
              </a:spcAft>
              <a:buNone/>
            </a:pPr>
            <a:r>
              <a:rPr lang="en-US" sz="1400" b="1" dirty="0">
                <a:solidFill>
                  <a:srgbClr val="1B2430"/>
                </a:solidFill>
              </a:rPr>
              <a:t>Tools on Linux</a:t>
            </a:r>
            <a:endParaRPr lang="en-US" sz="1400" dirty="0"/>
          </a:p>
          <a:p>
            <a:pPr algn="ctr" indent="0" marL="0">
              <a:spcAft>
                <a:spcPts val="600"/>
              </a:spcAft>
              <a:buNone/>
            </a:pPr>
            <a:r>
              <a:rPr lang="en-US" sz="1400" dirty="0">
                <a:solidFill>
                  <a:srgbClr val="1B2430"/>
                </a:solidFill>
              </a:rPr>
              <a:t>curl, openssl, telnet, ssh, ftp, tcpdump — and an FTP client in C</a:t>
            </a:r>
            <a:endParaRPr lang="en-US" sz="1400" dirty="0"/>
          </a:p>
        </p:txBody>
      </p:sp>
      <p:sp>
        <p:nvSpPr>
          <p:cNvPr id="24" name="Shape 21"/>
          <p:cNvSpPr/>
          <p:nvPr/>
        </p:nvSpPr>
        <p:spPr>
          <a:xfrm>
            <a:off x="10351008" y="2880360"/>
            <a:ext cx="914" cy="365760"/>
          </a:xfrm>
          <a:prstGeom prst="line">
            <a:avLst/>
          </a:prstGeom>
          <a:noFill/>
          <a:ln w="22225">
            <a:solidFill>
              <a:srgbClr val="9AA5AE"/>
            </a:solidFill>
            <a:prstDash val="solid"/>
            <a:tailEnd type="triangle"/>
          </a:ln>
        </p:spPr>
      </p:sp>
      <p:sp>
        <p:nvSpPr>
          <p:cNvPr id="25" name="box"/>
          <p:cNvSpPr/>
          <p:nvPr/>
        </p:nvSpPr>
        <p:spPr>
          <a:xfrm>
            <a:off x="9098280" y="3291840"/>
            <a:ext cx="2514600" cy="2194560"/>
          </a:xfrm>
          <a:prstGeom prst="roundRect">
            <a:avLst>
              <a:gd name="adj" fmla="val 3333"/>
            </a:avLst>
          </a:prstGeom>
          <a:solidFill>
            <a:srgbClr val="EEF2F6"/>
          </a:solidFill>
          <a:ln w="12700">
            <a:solidFill>
              <a:srgbClr val="EEF2F6"/>
            </a:solidFill>
            <a:prstDash val="solid"/>
          </a:ln>
        </p:spPr>
      </p:sp>
      <p:sp>
        <p:nvSpPr>
          <p:cNvPr id="26" name="Text 23"/>
          <p:cNvSpPr txBox="1"/>
          <p:nvPr/>
        </p:nvSpPr>
        <p:spPr>
          <a:xfrm>
            <a:off x="9098280" y="3291840"/>
            <a:ext cx="2514600" cy="2194560"/>
          </a:xfrm>
          <a:prstGeom prst="rect">
            <a:avLst/>
          </a:prstGeom>
          <a:noFill/>
          <a:ln/>
        </p:spPr>
        <p:txBody>
          <a:bodyPr wrap="square" lIns="1905" tIns="1905" rIns="1905" bIns="1905" rtlCol="0" anchor="t"/>
          <a:lstStyle/>
          <a:p>
            <a:pPr algn="ctr" indent="0" marL="0">
              <a:spcAft>
                <a:spcPts val="600"/>
              </a:spcAft>
              <a:buNone/>
            </a:pPr>
            <a:r>
              <a:rPr lang="en-US" sz="1400" b="1" dirty="0">
                <a:solidFill>
                  <a:srgbClr val="1B2430"/>
                </a:solidFill>
              </a:rPr>
              <a:t>Tools on Windows</a:t>
            </a:r>
            <a:endParaRPr lang="en-US" sz="1400" dirty="0"/>
          </a:p>
          <a:p>
            <a:pPr algn="ctr" indent="0" marL="0">
              <a:spcAft>
                <a:spcPts val="600"/>
              </a:spcAft>
              <a:buNone/>
            </a:pPr>
            <a:r>
              <a:rPr lang="en-US" sz="1400" dirty="0">
                <a:solidFill>
                  <a:srgbClr val="1B2430"/>
                </a:solidFill>
              </a:rPr>
              <a:t>curl.exe, PowerShell, OpenSSH, ftp.exe, Wireshark — and Winsock</a:t>
            </a:r>
            <a:endParaRPr lang="en-US" sz="1400" dirty="0"/>
          </a:p>
        </p:txBody>
      </p:sp>
      <p:sp>
        <p:nvSpPr>
          <p:cNvPr id="2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8" name="Text 2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Week 3 built HTTP/1.1 and sockets; this week adds state, speed, security, remote login and file transfer.</a:t>
            </a:r>
            <a:endParaRPr lang="en-US" sz="1400" dirty="0"/>
          </a:p>
        </p:txBody>
      </p:sp>
      <p:sp>
        <p:nvSpPr>
          <p:cNvPr id="29" name="Text 26"/>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ASCII (American Standard Code for Information Interchange) · HTTP (HyperText Transfer Protocol) · PASV (passive) · TLS (Transport Layer Security) · SSH (Secure Shell) · FTP (File Transfer Protocol)</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Three weeks of the application layer</a:t>
            </a:r>
            <a:endParaRPr lang="en-US" sz="3000" dirty="0"/>
          </a:p>
        </p:txBody>
      </p:sp>
      <p:sp>
        <p:nvSpPr>
          <p:cNvPr id="4" name="box"/>
          <p:cNvSpPr/>
          <p:nvPr/>
        </p:nvSpPr>
        <p:spPr>
          <a:xfrm>
            <a:off x="548640" y="1234440"/>
            <a:ext cx="2240280" cy="411480"/>
          </a:xfrm>
          <a:prstGeom prst="rect">
            <a:avLst/>
          </a:prstGeom>
          <a:solidFill>
            <a:srgbClr val="1F3A5F"/>
          </a:solidFill>
          <a:ln w="12700">
            <a:solidFill>
              <a:srgbClr val="1F3A5F"/>
            </a:solidFill>
            <a:prstDash val="solid"/>
          </a:ln>
        </p:spPr>
      </p:sp>
      <p:sp>
        <p:nvSpPr>
          <p:cNvPr id="5" name="Text 2"/>
          <p:cNvSpPr txBox="1"/>
          <p:nvPr/>
        </p:nvSpPr>
        <p:spPr>
          <a:xfrm>
            <a:off x="548640" y="1234440"/>
            <a:ext cx="224028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Topic</a:t>
            </a:r>
            <a:endParaRPr lang="en-US" sz="1300" dirty="0"/>
          </a:p>
        </p:txBody>
      </p:sp>
      <p:sp>
        <p:nvSpPr>
          <p:cNvPr id="6" name="box"/>
          <p:cNvSpPr/>
          <p:nvPr/>
        </p:nvSpPr>
        <p:spPr>
          <a:xfrm>
            <a:off x="2834640" y="1234440"/>
            <a:ext cx="2880360" cy="411480"/>
          </a:xfrm>
          <a:prstGeom prst="rect">
            <a:avLst/>
          </a:prstGeom>
          <a:solidFill>
            <a:srgbClr val="1F3A5F"/>
          </a:solidFill>
          <a:ln w="12700">
            <a:solidFill>
              <a:srgbClr val="1F3A5F"/>
            </a:solidFill>
            <a:prstDash val="solid"/>
          </a:ln>
        </p:spPr>
      </p:sp>
      <p:sp>
        <p:nvSpPr>
          <p:cNvPr id="7" name="Text 4"/>
          <p:cNvSpPr txBox="1"/>
          <p:nvPr/>
        </p:nvSpPr>
        <p:spPr>
          <a:xfrm>
            <a:off x="2834640" y="1234440"/>
            <a:ext cx="288036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Week 3</a:t>
            </a:r>
            <a:endParaRPr lang="en-US" sz="1300" dirty="0"/>
          </a:p>
        </p:txBody>
      </p:sp>
      <p:sp>
        <p:nvSpPr>
          <p:cNvPr id="8" name="box"/>
          <p:cNvSpPr/>
          <p:nvPr/>
        </p:nvSpPr>
        <p:spPr>
          <a:xfrm>
            <a:off x="5760720" y="1234440"/>
            <a:ext cx="3063240" cy="411480"/>
          </a:xfrm>
          <a:prstGeom prst="rect">
            <a:avLst/>
          </a:prstGeom>
          <a:solidFill>
            <a:srgbClr val="1F3A5F"/>
          </a:solidFill>
          <a:ln w="12700">
            <a:solidFill>
              <a:srgbClr val="1F3A5F"/>
            </a:solidFill>
            <a:prstDash val="solid"/>
          </a:ln>
        </p:spPr>
      </p:sp>
      <p:sp>
        <p:nvSpPr>
          <p:cNvPr id="9" name="Text 6"/>
          <p:cNvSpPr txBox="1"/>
          <p:nvPr/>
        </p:nvSpPr>
        <p:spPr>
          <a:xfrm>
            <a:off x="5760720" y="1234440"/>
            <a:ext cx="30632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Week 4 (this week)</a:t>
            </a:r>
            <a:endParaRPr lang="en-US" sz="1300" dirty="0"/>
          </a:p>
        </p:txBody>
      </p:sp>
      <p:sp>
        <p:nvSpPr>
          <p:cNvPr id="10" name="box"/>
          <p:cNvSpPr/>
          <p:nvPr/>
        </p:nvSpPr>
        <p:spPr>
          <a:xfrm>
            <a:off x="8869680" y="1234440"/>
            <a:ext cx="2697480" cy="411480"/>
          </a:xfrm>
          <a:prstGeom prst="rect">
            <a:avLst/>
          </a:prstGeom>
          <a:solidFill>
            <a:srgbClr val="1F3A5F"/>
          </a:solidFill>
          <a:ln w="12700">
            <a:solidFill>
              <a:srgbClr val="1F3A5F"/>
            </a:solidFill>
            <a:prstDash val="solid"/>
          </a:ln>
        </p:spPr>
      </p:sp>
      <p:sp>
        <p:nvSpPr>
          <p:cNvPr id="11" name="Text 8"/>
          <p:cNvSpPr txBox="1"/>
          <p:nvPr/>
        </p:nvSpPr>
        <p:spPr>
          <a:xfrm>
            <a:off x="8869680" y="1234440"/>
            <a:ext cx="269748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Week 5</a:t>
            </a:r>
            <a:endParaRPr lang="en-US" sz="1300" dirty="0"/>
          </a:p>
        </p:txBody>
      </p:sp>
      <p:sp>
        <p:nvSpPr>
          <p:cNvPr id="12" name="box"/>
          <p:cNvSpPr/>
          <p:nvPr/>
        </p:nvSpPr>
        <p:spPr>
          <a:xfrm>
            <a:off x="548640" y="1691640"/>
            <a:ext cx="2240280" cy="402336"/>
          </a:xfrm>
          <a:prstGeom prst="rect">
            <a:avLst/>
          </a:prstGeom>
          <a:solidFill>
            <a:srgbClr val="EEF2F6"/>
          </a:solidFill>
          <a:ln w="12700">
            <a:solidFill>
              <a:srgbClr val="EEF2F6"/>
            </a:solidFill>
            <a:prstDash val="solid"/>
          </a:ln>
        </p:spPr>
      </p:sp>
      <p:sp>
        <p:nvSpPr>
          <p:cNvPr id="13" name="Text 10"/>
          <p:cNvSpPr txBox="1"/>
          <p:nvPr/>
        </p:nvSpPr>
        <p:spPr>
          <a:xfrm>
            <a:off x="548640" y="1691640"/>
            <a:ext cx="2240280" cy="402336"/>
          </a:xfrm>
          <a:prstGeom prst="rect">
            <a:avLst/>
          </a:prstGeom>
          <a:noFill/>
          <a:ln/>
        </p:spPr>
        <p:txBody>
          <a:bodyPr wrap="square" lIns="1270" tIns="1270" rIns="1270" bIns="1270" rtlCol="0" anchor="ctr"/>
          <a:lstStyle/>
          <a:p>
            <a:pPr algn="ctr" indent="0" marL="0">
              <a:buNone/>
            </a:pPr>
            <a:r>
              <a:rPr lang="en-US" sz="1200" dirty="0">
                <a:solidFill>
                  <a:srgbClr val="1B2430"/>
                </a:solidFill>
              </a:rPr>
              <a:t>HTTP</a:t>
            </a:r>
            <a:endParaRPr lang="en-US" sz="1200" dirty="0"/>
          </a:p>
        </p:txBody>
      </p:sp>
      <p:sp>
        <p:nvSpPr>
          <p:cNvPr id="14" name="box"/>
          <p:cNvSpPr/>
          <p:nvPr/>
        </p:nvSpPr>
        <p:spPr>
          <a:xfrm>
            <a:off x="2834640" y="1691640"/>
            <a:ext cx="2880360" cy="402336"/>
          </a:xfrm>
          <a:prstGeom prst="rect">
            <a:avLst/>
          </a:prstGeom>
          <a:solidFill>
            <a:srgbClr val="F7F9FB"/>
          </a:solidFill>
          <a:ln w="12700">
            <a:solidFill>
              <a:srgbClr val="F7F9FB"/>
            </a:solidFill>
            <a:prstDash val="solid"/>
          </a:ln>
        </p:spPr>
      </p:sp>
      <p:sp>
        <p:nvSpPr>
          <p:cNvPr id="15" name="Text 12"/>
          <p:cNvSpPr txBox="1"/>
          <p:nvPr/>
        </p:nvSpPr>
        <p:spPr>
          <a:xfrm>
            <a:off x="2834640" y="1691640"/>
            <a:ext cx="288036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objects, URLs, HTTP/1.1, framing</a:t>
            </a:r>
            <a:endParaRPr lang="en-US" sz="1200" dirty="0"/>
          </a:p>
        </p:txBody>
      </p:sp>
      <p:sp>
        <p:nvSpPr>
          <p:cNvPr id="16" name="box"/>
          <p:cNvSpPr/>
          <p:nvPr/>
        </p:nvSpPr>
        <p:spPr>
          <a:xfrm>
            <a:off x="5760720" y="1691640"/>
            <a:ext cx="3063240" cy="402336"/>
          </a:xfrm>
          <a:prstGeom prst="rect">
            <a:avLst/>
          </a:prstGeom>
          <a:solidFill>
            <a:srgbClr val="D7EBDD"/>
          </a:solidFill>
          <a:ln w="12700">
            <a:solidFill>
              <a:srgbClr val="D7EBDD"/>
            </a:solidFill>
            <a:prstDash val="solid"/>
          </a:ln>
        </p:spPr>
      </p:sp>
      <p:sp>
        <p:nvSpPr>
          <p:cNvPr id="17" name="Text 14"/>
          <p:cNvSpPr txBox="1"/>
          <p:nvPr/>
        </p:nvSpPr>
        <p:spPr>
          <a:xfrm>
            <a:off x="5760720" y="1691640"/>
            <a:ext cx="306324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cookies, caching, HTTP/2, HTTP/3</a:t>
            </a:r>
            <a:endParaRPr lang="en-US" sz="1200" dirty="0"/>
          </a:p>
        </p:txBody>
      </p:sp>
      <p:sp>
        <p:nvSpPr>
          <p:cNvPr id="18" name="box"/>
          <p:cNvSpPr/>
          <p:nvPr/>
        </p:nvSpPr>
        <p:spPr>
          <a:xfrm>
            <a:off x="8869680" y="1691640"/>
            <a:ext cx="2697480" cy="402336"/>
          </a:xfrm>
          <a:prstGeom prst="rect">
            <a:avLst/>
          </a:prstGeom>
          <a:solidFill>
            <a:srgbClr val="F7F9FB"/>
          </a:solidFill>
          <a:ln w="12700">
            <a:solidFill>
              <a:srgbClr val="F7F9FB"/>
            </a:solidFill>
            <a:prstDash val="solid"/>
          </a:ln>
        </p:spPr>
      </p:sp>
      <p:sp>
        <p:nvSpPr>
          <p:cNvPr id="19" name="Text 16"/>
          <p:cNvSpPr txBox="1"/>
          <p:nvPr/>
        </p:nvSpPr>
        <p:spPr>
          <a:xfrm>
            <a:off x="8869680" y="1691640"/>
            <a:ext cx="269748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CDN steering by DNS</a:t>
            </a:r>
            <a:endParaRPr lang="en-US" sz="1200" dirty="0"/>
          </a:p>
        </p:txBody>
      </p:sp>
      <p:sp>
        <p:nvSpPr>
          <p:cNvPr id="20" name="box"/>
          <p:cNvSpPr/>
          <p:nvPr/>
        </p:nvSpPr>
        <p:spPr>
          <a:xfrm>
            <a:off x="548640" y="2139696"/>
            <a:ext cx="2240280" cy="402336"/>
          </a:xfrm>
          <a:prstGeom prst="rect">
            <a:avLst/>
          </a:prstGeom>
          <a:solidFill>
            <a:srgbClr val="EEF2F6"/>
          </a:solidFill>
          <a:ln w="12700">
            <a:solidFill>
              <a:srgbClr val="EEF2F6"/>
            </a:solidFill>
            <a:prstDash val="solid"/>
          </a:ln>
        </p:spPr>
      </p:sp>
      <p:sp>
        <p:nvSpPr>
          <p:cNvPr id="21" name="Text 18"/>
          <p:cNvSpPr txBox="1"/>
          <p:nvPr/>
        </p:nvSpPr>
        <p:spPr>
          <a:xfrm>
            <a:off x="548640" y="2139696"/>
            <a:ext cx="2240280" cy="402336"/>
          </a:xfrm>
          <a:prstGeom prst="rect">
            <a:avLst/>
          </a:prstGeom>
          <a:noFill/>
          <a:ln/>
        </p:spPr>
        <p:txBody>
          <a:bodyPr wrap="square" lIns="1270" tIns="1270" rIns="1270" bIns="1270" rtlCol="0" anchor="ctr"/>
          <a:lstStyle/>
          <a:p>
            <a:pPr algn="ctr" indent="0" marL="0">
              <a:buNone/>
            </a:pPr>
            <a:r>
              <a:rPr lang="en-US" sz="1200" dirty="0">
                <a:solidFill>
                  <a:srgbClr val="1B2430"/>
                </a:solidFill>
              </a:rPr>
              <a:t>HTTPS</a:t>
            </a:r>
            <a:endParaRPr lang="en-US" sz="1200" dirty="0"/>
          </a:p>
        </p:txBody>
      </p:sp>
      <p:sp>
        <p:nvSpPr>
          <p:cNvPr id="22" name="box"/>
          <p:cNvSpPr/>
          <p:nvPr/>
        </p:nvSpPr>
        <p:spPr>
          <a:xfrm>
            <a:off x="2834640" y="2139696"/>
            <a:ext cx="2880360" cy="402336"/>
          </a:xfrm>
          <a:prstGeom prst="rect">
            <a:avLst/>
          </a:prstGeom>
          <a:solidFill>
            <a:srgbClr val="F7F9FB"/>
          </a:solidFill>
          <a:ln w="12700">
            <a:solidFill>
              <a:srgbClr val="F7F9FB"/>
            </a:solidFill>
            <a:prstDash val="solid"/>
          </a:ln>
        </p:spPr>
      </p:sp>
      <p:sp>
        <p:nvSpPr>
          <p:cNvPr id="23" name="Text 20"/>
          <p:cNvSpPr txBox="1"/>
          <p:nvPr/>
        </p:nvSpPr>
        <p:spPr>
          <a:xfrm>
            <a:off x="2834640" y="2139696"/>
            <a:ext cx="288036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TLS named</a:t>
            </a:r>
            <a:endParaRPr lang="en-US" sz="1200" dirty="0"/>
          </a:p>
        </p:txBody>
      </p:sp>
      <p:sp>
        <p:nvSpPr>
          <p:cNvPr id="24" name="box"/>
          <p:cNvSpPr/>
          <p:nvPr/>
        </p:nvSpPr>
        <p:spPr>
          <a:xfrm>
            <a:off x="5760720" y="2139696"/>
            <a:ext cx="3063240" cy="402336"/>
          </a:xfrm>
          <a:prstGeom prst="rect">
            <a:avLst/>
          </a:prstGeom>
          <a:solidFill>
            <a:srgbClr val="D7EBDD"/>
          </a:solidFill>
          <a:ln w="12700">
            <a:solidFill>
              <a:srgbClr val="D7EBDD"/>
            </a:solidFill>
            <a:prstDash val="solid"/>
          </a:ln>
        </p:spPr>
      </p:sp>
      <p:sp>
        <p:nvSpPr>
          <p:cNvPr id="25" name="Text 22"/>
          <p:cNvSpPr txBox="1"/>
          <p:nvPr/>
        </p:nvSpPr>
        <p:spPr>
          <a:xfrm>
            <a:off x="5760720" y="2139696"/>
            <a:ext cx="306324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TLS handshake, certificates</a:t>
            </a:r>
            <a:endParaRPr lang="en-US" sz="1200" dirty="0"/>
          </a:p>
        </p:txBody>
      </p:sp>
      <p:sp>
        <p:nvSpPr>
          <p:cNvPr id="26" name="box"/>
          <p:cNvSpPr/>
          <p:nvPr/>
        </p:nvSpPr>
        <p:spPr>
          <a:xfrm>
            <a:off x="8869680" y="2139696"/>
            <a:ext cx="2697480" cy="402336"/>
          </a:xfrm>
          <a:prstGeom prst="rect">
            <a:avLst/>
          </a:prstGeom>
          <a:solidFill>
            <a:srgbClr val="F7F9FB"/>
          </a:solidFill>
          <a:ln w="12700">
            <a:solidFill>
              <a:srgbClr val="F7F9FB"/>
            </a:solidFill>
            <a:prstDash val="solid"/>
          </a:ln>
        </p:spPr>
      </p:sp>
      <p:sp>
        <p:nvSpPr>
          <p:cNvPr id="27" name="Text 24"/>
          <p:cNvSpPr txBox="1"/>
          <p:nvPr/>
        </p:nvSpPr>
        <p:spPr>
          <a:xfrm>
            <a:off x="8869680" y="2139696"/>
            <a:ext cx="269748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DNS over HTTPS</a:t>
            </a:r>
            <a:endParaRPr lang="en-US" sz="1200" dirty="0"/>
          </a:p>
        </p:txBody>
      </p:sp>
      <p:sp>
        <p:nvSpPr>
          <p:cNvPr id="28" name="box"/>
          <p:cNvSpPr/>
          <p:nvPr/>
        </p:nvSpPr>
        <p:spPr>
          <a:xfrm>
            <a:off x="548640" y="2587752"/>
            <a:ext cx="2240280" cy="402336"/>
          </a:xfrm>
          <a:prstGeom prst="rect">
            <a:avLst/>
          </a:prstGeom>
          <a:solidFill>
            <a:srgbClr val="EEF2F6"/>
          </a:solidFill>
          <a:ln w="12700">
            <a:solidFill>
              <a:srgbClr val="EEF2F6"/>
            </a:solidFill>
            <a:prstDash val="solid"/>
          </a:ln>
        </p:spPr>
      </p:sp>
      <p:sp>
        <p:nvSpPr>
          <p:cNvPr id="29" name="Text 26"/>
          <p:cNvSpPr txBox="1"/>
          <p:nvPr/>
        </p:nvSpPr>
        <p:spPr>
          <a:xfrm>
            <a:off x="548640" y="2587752"/>
            <a:ext cx="2240280" cy="402336"/>
          </a:xfrm>
          <a:prstGeom prst="rect">
            <a:avLst/>
          </a:prstGeom>
          <a:noFill/>
          <a:ln/>
        </p:spPr>
        <p:txBody>
          <a:bodyPr wrap="square" lIns="1270" tIns="1270" rIns="1270" bIns="1270" rtlCol="0" anchor="ctr"/>
          <a:lstStyle/>
          <a:p>
            <a:pPr algn="ctr" indent="0" marL="0">
              <a:buNone/>
            </a:pPr>
            <a:r>
              <a:rPr lang="en-US" sz="1200" dirty="0">
                <a:solidFill>
                  <a:srgbClr val="1B2430"/>
                </a:solidFill>
              </a:rPr>
              <a:t>TELNET</a:t>
            </a:r>
            <a:endParaRPr lang="en-US" sz="1200" dirty="0"/>
          </a:p>
        </p:txBody>
      </p:sp>
      <p:sp>
        <p:nvSpPr>
          <p:cNvPr id="30" name="box"/>
          <p:cNvSpPr/>
          <p:nvPr/>
        </p:nvSpPr>
        <p:spPr>
          <a:xfrm>
            <a:off x="2834640" y="2587752"/>
            <a:ext cx="2880360" cy="402336"/>
          </a:xfrm>
          <a:prstGeom prst="rect">
            <a:avLst/>
          </a:prstGeom>
          <a:solidFill>
            <a:srgbClr val="F7F9FB"/>
          </a:solidFill>
          <a:ln w="12700">
            <a:solidFill>
              <a:srgbClr val="F7F9FB"/>
            </a:solidFill>
            <a:prstDash val="solid"/>
          </a:ln>
        </p:spPr>
      </p:sp>
      <p:sp>
        <p:nvSpPr>
          <p:cNvPr id="31" name="Text 28"/>
          <p:cNvSpPr txBox="1"/>
          <p:nvPr/>
        </p:nvSpPr>
        <p:spPr>
          <a:xfrm>
            <a:off x="2834640" y="2587752"/>
            <a:ext cx="288036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a:t>
            </a:r>
            <a:endParaRPr lang="en-US" sz="1200" dirty="0"/>
          </a:p>
        </p:txBody>
      </p:sp>
      <p:sp>
        <p:nvSpPr>
          <p:cNvPr id="32" name="box"/>
          <p:cNvSpPr/>
          <p:nvPr/>
        </p:nvSpPr>
        <p:spPr>
          <a:xfrm>
            <a:off x="5760720" y="2587752"/>
            <a:ext cx="3063240" cy="402336"/>
          </a:xfrm>
          <a:prstGeom prst="rect">
            <a:avLst/>
          </a:prstGeom>
          <a:solidFill>
            <a:srgbClr val="D7EBDD"/>
          </a:solidFill>
          <a:ln w="12700">
            <a:solidFill>
              <a:srgbClr val="D7EBDD"/>
            </a:solidFill>
            <a:prstDash val="solid"/>
          </a:ln>
        </p:spPr>
      </p:sp>
      <p:sp>
        <p:nvSpPr>
          <p:cNvPr id="33" name="Text 30"/>
          <p:cNvSpPr txBox="1"/>
          <p:nvPr/>
        </p:nvSpPr>
        <p:spPr>
          <a:xfrm>
            <a:off x="5760720" y="2587752"/>
            <a:ext cx="3063240" cy="402336"/>
          </a:xfrm>
          <a:prstGeom prst="rect">
            <a:avLst/>
          </a:prstGeom>
          <a:noFill/>
          <a:ln/>
        </p:spPr>
        <p:txBody>
          <a:bodyPr wrap="square" lIns="1270" tIns="1270" rIns="1270" bIns="1270" rtlCol="0" anchor="ctr"/>
          <a:lstStyle/>
          <a:p>
            <a:pPr algn="l" indent="0" marL="0">
              <a:buNone/>
            </a:pPr>
            <a:r>
              <a:rPr lang="en-US" sz="1200" b="1" dirty="0">
                <a:solidFill>
                  <a:srgbClr val="1B2430"/>
                </a:solidFill>
              </a:rPr>
              <a:t>full</a:t>
            </a:r>
            <a:endParaRPr lang="en-US" sz="1200" dirty="0"/>
          </a:p>
        </p:txBody>
      </p:sp>
      <p:sp>
        <p:nvSpPr>
          <p:cNvPr id="34" name="box"/>
          <p:cNvSpPr/>
          <p:nvPr/>
        </p:nvSpPr>
        <p:spPr>
          <a:xfrm>
            <a:off x="8869680" y="2587752"/>
            <a:ext cx="2697480" cy="402336"/>
          </a:xfrm>
          <a:prstGeom prst="rect">
            <a:avLst/>
          </a:prstGeom>
          <a:solidFill>
            <a:srgbClr val="F7F9FB"/>
          </a:solidFill>
          <a:ln w="12700">
            <a:solidFill>
              <a:srgbClr val="F7F9FB"/>
            </a:solidFill>
            <a:prstDash val="solid"/>
          </a:ln>
        </p:spPr>
      </p:sp>
      <p:sp>
        <p:nvSpPr>
          <p:cNvPr id="35" name="Text 32"/>
          <p:cNvSpPr txBox="1"/>
          <p:nvPr/>
        </p:nvSpPr>
        <p:spPr>
          <a:xfrm>
            <a:off x="8869680" y="2587752"/>
            <a:ext cx="269748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a:t>
            </a:r>
            <a:endParaRPr lang="en-US" sz="1200" dirty="0"/>
          </a:p>
        </p:txBody>
      </p:sp>
      <p:sp>
        <p:nvSpPr>
          <p:cNvPr id="36" name="box"/>
          <p:cNvSpPr/>
          <p:nvPr/>
        </p:nvSpPr>
        <p:spPr>
          <a:xfrm>
            <a:off x="548640" y="3035808"/>
            <a:ext cx="2240280" cy="402336"/>
          </a:xfrm>
          <a:prstGeom prst="rect">
            <a:avLst/>
          </a:prstGeom>
          <a:solidFill>
            <a:srgbClr val="EEF2F6"/>
          </a:solidFill>
          <a:ln w="12700">
            <a:solidFill>
              <a:srgbClr val="EEF2F6"/>
            </a:solidFill>
            <a:prstDash val="solid"/>
          </a:ln>
        </p:spPr>
      </p:sp>
      <p:sp>
        <p:nvSpPr>
          <p:cNvPr id="37" name="Text 34"/>
          <p:cNvSpPr txBox="1"/>
          <p:nvPr/>
        </p:nvSpPr>
        <p:spPr>
          <a:xfrm>
            <a:off x="548640" y="3035808"/>
            <a:ext cx="2240280" cy="402336"/>
          </a:xfrm>
          <a:prstGeom prst="rect">
            <a:avLst/>
          </a:prstGeom>
          <a:noFill/>
          <a:ln/>
        </p:spPr>
        <p:txBody>
          <a:bodyPr wrap="square" lIns="1270" tIns="1270" rIns="1270" bIns="1270" rtlCol="0" anchor="ctr"/>
          <a:lstStyle/>
          <a:p>
            <a:pPr algn="ctr" indent="0" marL="0">
              <a:buNone/>
            </a:pPr>
            <a:r>
              <a:rPr lang="en-US" sz="1200" dirty="0">
                <a:solidFill>
                  <a:srgbClr val="1B2430"/>
                </a:solidFill>
              </a:rPr>
              <a:t>SSH</a:t>
            </a:r>
            <a:endParaRPr lang="en-US" sz="1200" dirty="0"/>
          </a:p>
        </p:txBody>
      </p:sp>
      <p:sp>
        <p:nvSpPr>
          <p:cNvPr id="38" name="box"/>
          <p:cNvSpPr/>
          <p:nvPr/>
        </p:nvSpPr>
        <p:spPr>
          <a:xfrm>
            <a:off x="2834640" y="3035808"/>
            <a:ext cx="2880360" cy="402336"/>
          </a:xfrm>
          <a:prstGeom prst="rect">
            <a:avLst/>
          </a:prstGeom>
          <a:solidFill>
            <a:srgbClr val="F7F9FB"/>
          </a:solidFill>
          <a:ln w="12700">
            <a:solidFill>
              <a:srgbClr val="F7F9FB"/>
            </a:solidFill>
            <a:prstDash val="solid"/>
          </a:ln>
        </p:spPr>
      </p:sp>
      <p:sp>
        <p:nvSpPr>
          <p:cNvPr id="39" name="Text 36"/>
          <p:cNvSpPr txBox="1"/>
          <p:nvPr/>
        </p:nvSpPr>
        <p:spPr>
          <a:xfrm>
            <a:off x="2834640" y="3035808"/>
            <a:ext cx="288036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a:t>
            </a:r>
            <a:endParaRPr lang="en-US" sz="1200" dirty="0"/>
          </a:p>
        </p:txBody>
      </p:sp>
      <p:sp>
        <p:nvSpPr>
          <p:cNvPr id="40" name="box"/>
          <p:cNvSpPr/>
          <p:nvPr/>
        </p:nvSpPr>
        <p:spPr>
          <a:xfrm>
            <a:off x="5760720" y="3035808"/>
            <a:ext cx="3063240" cy="402336"/>
          </a:xfrm>
          <a:prstGeom prst="rect">
            <a:avLst/>
          </a:prstGeom>
          <a:solidFill>
            <a:srgbClr val="D7EBDD"/>
          </a:solidFill>
          <a:ln w="12700">
            <a:solidFill>
              <a:srgbClr val="D7EBDD"/>
            </a:solidFill>
            <a:prstDash val="solid"/>
          </a:ln>
        </p:spPr>
      </p:sp>
      <p:sp>
        <p:nvSpPr>
          <p:cNvPr id="41" name="Text 38"/>
          <p:cNvSpPr txBox="1"/>
          <p:nvPr/>
        </p:nvSpPr>
        <p:spPr>
          <a:xfrm>
            <a:off x="5760720" y="3035808"/>
            <a:ext cx="3063240" cy="402336"/>
          </a:xfrm>
          <a:prstGeom prst="rect">
            <a:avLst/>
          </a:prstGeom>
          <a:noFill/>
          <a:ln/>
        </p:spPr>
        <p:txBody>
          <a:bodyPr wrap="square" lIns="1270" tIns="1270" rIns="1270" bIns="1270" rtlCol="0" anchor="ctr"/>
          <a:lstStyle/>
          <a:p>
            <a:pPr algn="l" indent="0" marL="0">
              <a:buNone/>
            </a:pPr>
            <a:r>
              <a:rPr lang="en-US" sz="1200" b="1" dirty="0">
                <a:solidFill>
                  <a:srgbClr val="1B2430"/>
                </a:solidFill>
              </a:rPr>
              <a:t>full</a:t>
            </a:r>
            <a:endParaRPr lang="en-US" sz="1200" dirty="0"/>
          </a:p>
        </p:txBody>
      </p:sp>
      <p:sp>
        <p:nvSpPr>
          <p:cNvPr id="42" name="box"/>
          <p:cNvSpPr/>
          <p:nvPr/>
        </p:nvSpPr>
        <p:spPr>
          <a:xfrm>
            <a:off x="8869680" y="3035808"/>
            <a:ext cx="2697480" cy="402336"/>
          </a:xfrm>
          <a:prstGeom prst="rect">
            <a:avLst/>
          </a:prstGeom>
          <a:solidFill>
            <a:srgbClr val="F7F9FB"/>
          </a:solidFill>
          <a:ln w="12700">
            <a:solidFill>
              <a:srgbClr val="F7F9FB"/>
            </a:solidFill>
            <a:prstDash val="solid"/>
          </a:ln>
        </p:spPr>
      </p:sp>
      <p:sp>
        <p:nvSpPr>
          <p:cNvPr id="43" name="Text 40"/>
          <p:cNvSpPr txBox="1"/>
          <p:nvPr/>
        </p:nvSpPr>
        <p:spPr>
          <a:xfrm>
            <a:off x="8869680" y="3035808"/>
            <a:ext cx="269748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a:t>
            </a:r>
            <a:endParaRPr lang="en-US" sz="1200" dirty="0"/>
          </a:p>
        </p:txBody>
      </p:sp>
      <p:sp>
        <p:nvSpPr>
          <p:cNvPr id="44" name="box"/>
          <p:cNvSpPr/>
          <p:nvPr/>
        </p:nvSpPr>
        <p:spPr>
          <a:xfrm>
            <a:off x="548640" y="3483864"/>
            <a:ext cx="2240280" cy="402336"/>
          </a:xfrm>
          <a:prstGeom prst="rect">
            <a:avLst/>
          </a:prstGeom>
          <a:solidFill>
            <a:srgbClr val="EEF2F6"/>
          </a:solidFill>
          <a:ln w="12700">
            <a:solidFill>
              <a:srgbClr val="EEF2F6"/>
            </a:solidFill>
            <a:prstDash val="solid"/>
          </a:ln>
        </p:spPr>
      </p:sp>
      <p:sp>
        <p:nvSpPr>
          <p:cNvPr id="45" name="Text 42"/>
          <p:cNvSpPr txBox="1"/>
          <p:nvPr/>
        </p:nvSpPr>
        <p:spPr>
          <a:xfrm>
            <a:off x="548640" y="3483864"/>
            <a:ext cx="2240280" cy="402336"/>
          </a:xfrm>
          <a:prstGeom prst="rect">
            <a:avLst/>
          </a:prstGeom>
          <a:noFill/>
          <a:ln/>
        </p:spPr>
        <p:txBody>
          <a:bodyPr wrap="square" lIns="1270" tIns="1270" rIns="1270" bIns="1270" rtlCol="0" anchor="ctr"/>
          <a:lstStyle/>
          <a:p>
            <a:pPr algn="ctr" indent="0" marL="0">
              <a:buNone/>
            </a:pPr>
            <a:r>
              <a:rPr lang="en-US" sz="1200" dirty="0">
                <a:solidFill>
                  <a:srgbClr val="1B2430"/>
                </a:solidFill>
              </a:rPr>
              <a:t>FTP</a:t>
            </a:r>
            <a:endParaRPr lang="en-US" sz="1200" dirty="0"/>
          </a:p>
        </p:txBody>
      </p:sp>
      <p:sp>
        <p:nvSpPr>
          <p:cNvPr id="46" name="box"/>
          <p:cNvSpPr/>
          <p:nvPr/>
        </p:nvSpPr>
        <p:spPr>
          <a:xfrm>
            <a:off x="2834640" y="3483864"/>
            <a:ext cx="2880360" cy="402336"/>
          </a:xfrm>
          <a:prstGeom prst="rect">
            <a:avLst/>
          </a:prstGeom>
          <a:solidFill>
            <a:srgbClr val="F7F9FB"/>
          </a:solidFill>
          <a:ln w="12700">
            <a:solidFill>
              <a:srgbClr val="F7F9FB"/>
            </a:solidFill>
            <a:prstDash val="solid"/>
          </a:ln>
        </p:spPr>
      </p:sp>
      <p:sp>
        <p:nvSpPr>
          <p:cNvPr id="47" name="Text 44"/>
          <p:cNvSpPr txBox="1"/>
          <p:nvPr/>
        </p:nvSpPr>
        <p:spPr>
          <a:xfrm>
            <a:off x="2834640" y="3483864"/>
            <a:ext cx="288036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a:t>
            </a:r>
            <a:endParaRPr lang="en-US" sz="1200" dirty="0"/>
          </a:p>
        </p:txBody>
      </p:sp>
      <p:sp>
        <p:nvSpPr>
          <p:cNvPr id="48" name="box"/>
          <p:cNvSpPr/>
          <p:nvPr/>
        </p:nvSpPr>
        <p:spPr>
          <a:xfrm>
            <a:off x="5760720" y="3483864"/>
            <a:ext cx="3063240" cy="402336"/>
          </a:xfrm>
          <a:prstGeom prst="rect">
            <a:avLst/>
          </a:prstGeom>
          <a:solidFill>
            <a:srgbClr val="D7EBDD"/>
          </a:solidFill>
          <a:ln w="12700">
            <a:solidFill>
              <a:srgbClr val="D7EBDD"/>
            </a:solidFill>
            <a:prstDash val="solid"/>
          </a:ln>
        </p:spPr>
      </p:sp>
      <p:sp>
        <p:nvSpPr>
          <p:cNvPr id="49" name="Text 46"/>
          <p:cNvSpPr txBox="1"/>
          <p:nvPr/>
        </p:nvSpPr>
        <p:spPr>
          <a:xfrm>
            <a:off x="5760720" y="3483864"/>
            <a:ext cx="3063240" cy="402336"/>
          </a:xfrm>
          <a:prstGeom prst="rect">
            <a:avLst/>
          </a:prstGeom>
          <a:noFill/>
          <a:ln/>
        </p:spPr>
        <p:txBody>
          <a:bodyPr wrap="square" lIns="1270" tIns="1270" rIns="1270" bIns="1270" rtlCol="0" anchor="ctr"/>
          <a:lstStyle/>
          <a:p>
            <a:pPr algn="l" indent="0" marL="0">
              <a:buNone/>
            </a:pPr>
            <a:r>
              <a:rPr lang="en-US" sz="1200" b="1" dirty="0">
                <a:solidFill>
                  <a:srgbClr val="1B2430"/>
                </a:solidFill>
              </a:rPr>
              <a:t>full</a:t>
            </a:r>
            <a:r>
              <a:rPr lang="en-US" sz="1200" dirty="0">
                <a:solidFill>
                  <a:srgbClr val="1B2430"/>
                </a:solidFill>
              </a:rPr>
              <a:t>: data organisation, connections</a:t>
            </a:r>
            <a:endParaRPr lang="en-US" sz="1200" dirty="0"/>
          </a:p>
        </p:txBody>
      </p:sp>
      <p:sp>
        <p:nvSpPr>
          <p:cNvPr id="50" name="box"/>
          <p:cNvSpPr/>
          <p:nvPr/>
        </p:nvSpPr>
        <p:spPr>
          <a:xfrm>
            <a:off x="8869680" y="3483864"/>
            <a:ext cx="2697480" cy="402336"/>
          </a:xfrm>
          <a:prstGeom prst="rect">
            <a:avLst/>
          </a:prstGeom>
          <a:solidFill>
            <a:srgbClr val="F7F9FB"/>
          </a:solidFill>
          <a:ln w="12700">
            <a:solidFill>
              <a:srgbClr val="F7F9FB"/>
            </a:solidFill>
            <a:prstDash val="solid"/>
          </a:ln>
        </p:spPr>
      </p:sp>
      <p:sp>
        <p:nvSpPr>
          <p:cNvPr id="51" name="Text 48"/>
          <p:cNvSpPr txBox="1"/>
          <p:nvPr/>
        </p:nvSpPr>
        <p:spPr>
          <a:xfrm>
            <a:off x="8869680" y="3483864"/>
            <a:ext cx="269748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FTP through NAT</a:t>
            </a:r>
            <a:endParaRPr lang="en-US" sz="1200" dirty="0"/>
          </a:p>
        </p:txBody>
      </p:sp>
      <p:sp>
        <p:nvSpPr>
          <p:cNvPr id="52" name="box"/>
          <p:cNvSpPr/>
          <p:nvPr/>
        </p:nvSpPr>
        <p:spPr>
          <a:xfrm>
            <a:off x="548640" y="3931920"/>
            <a:ext cx="2240280" cy="402336"/>
          </a:xfrm>
          <a:prstGeom prst="rect">
            <a:avLst/>
          </a:prstGeom>
          <a:solidFill>
            <a:srgbClr val="EEF2F6"/>
          </a:solidFill>
          <a:ln w="12700">
            <a:solidFill>
              <a:srgbClr val="EEF2F6"/>
            </a:solidFill>
            <a:prstDash val="solid"/>
          </a:ln>
        </p:spPr>
      </p:sp>
      <p:sp>
        <p:nvSpPr>
          <p:cNvPr id="53" name="Text 50"/>
          <p:cNvSpPr txBox="1"/>
          <p:nvPr/>
        </p:nvSpPr>
        <p:spPr>
          <a:xfrm>
            <a:off x="548640" y="3931920"/>
            <a:ext cx="2240280" cy="402336"/>
          </a:xfrm>
          <a:prstGeom prst="rect">
            <a:avLst/>
          </a:prstGeom>
          <a:noFill/>
          <a:ln/>
        </p:spPr>
        <p:txBody>
          <a:bodyPr wrap="square" lIns="1270" tIns="1270" rIns="1270" bIns="1270" rtlCol="0" anchor="ctr"/>
          <a:lstStyle/>
          <a:p>
            <a:pPr algn="ctr" indent="0" marL="0">
              <a:buNone/>
            </a:pPr>
            <a:r>
              <a:rPr lang="en-US" sz="1200" dirty="0">
                <a:solidFill>
                  <a:srgbClr val="1B2430"/>
                </a:solidFill>
              </a:rPr>
              <a:t>SMTP · POP · IMAP</a:t>
            </a:r>
            <a:endParaRPr lang="en-US" sz="1200" dirty="0"/>
          </a:p>
        </p:txBody>
      </p:sp>
      <p:sp>
        <p:nvSpPr>
          <p:cNvPr id="54" name="box"/>
          <p:cNvSpPr/>
          <p:nvPr/>
        </p:nvSpPr>
        <p:spPr>
          <a:xfrm>
            <a:off x="2834640" y="3931920"/>
            <a:ext cx="2880360" cy="402336"/>
          </a:xfrm>
          <a:prstGeom prst="rect">
            <a:avLst/>
          </a:prstGeom>
          <a:solidFill>
            <a:srgbClr val="F7F9FB"/>
          </a:solidFill>
          <a:ln w="12700">
            <a:solidFill>
              <a:srgbClr val="F7F9FB"/>
            </a:solidFill>
            <a:prstDash val="solid"/>
          </a:ln>
        </p:spPr>
      </p:sp>
      <p:sp>
        <p:nvSpPr>
          <p:cNvPr id="55" name="Text 52"/>
          <p:cNvSpPr txBox="1"/>
          <p:nvPr/>
        </p:nvSpPr>
        <p:spPr>
          <a:xfrm>
            <a:off x="2834640" y="3931920"/>
            <a:ext cx="288036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a:t>
            </a:r>
            <a:endParaRPr lang="en-US" sz="1200" dirty="0"/>
          </a:p>
        </p:txBody>
      </p:sp>
      <p:sp>
        <p:nvSpPr>
          <p:cNvPr id="56" name="box"/>
          <p:cNvSpPr/>
          <p:nvPr/>
        </p:nvSpPr>
        <p:spPr>
          <a:xfrm>
            <a:off x="5760720" y="3931920"/>
            <a:ext cx="3063240" cy="402336"/>
          </a:xfrm>
          <a:prstGeom prst="rect">
            <a:avLst/>
          </a:prstGeom>
          <a:solidFill>
            <a:srgbClr val="F7F9FB"/>
          </a:solidFill>
          <a:ln w="12700">
            <a:solidFill>
              <a:srgbClr val="F7F9FB"/>
            </a:solidFill>
            <a:prstDash val="solid"/>
          </a:ln>
        </p:spPr>
      </p:sp>
      <p:sp>
        <p:nvSpPr>
          <p:cNvPr id="57" name="Text 54"/>
          <p:cNvSpPr txBox="1"/>
          <p:nvPr/>
        </p:nvSpPr>
        <p:spPr>
          <a:xfrm>
            <a:off x="5760720" y="3931920"/>
            <a:ext cx="306324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a:t>
            </a:r>
            <a:endParaRPr lang="en-US" sz="1200" dirty="0"/>
          </a:p>
        </p:txBody>
      </p:sp>
      <p:sp>
        <p:nvSpPr>
          <p:cNvPr id="58" name="box"/>
          <p:cNvSpPr/>
          <p:nvPr/>
        </p:nvSpPr>
        <p:spPr>
          <a:xfrm>
            <a:off x="8869680" y="3931920"/>
            <a:ext cx="2697480" cy="402336"/>
          </a:xfrm>
          <a:prstGeom prst="rect">
            <a:avLst/>
          </a:prstGeom>
          <a:solidFill>
            <a:srgbClr val="DDF0F2"/>
          </a:solidFill>
          <a:ln w="12700">
            <a:solidFill>
              <a:srgbClr val="DDF0F2"/>
            </a:solidFill>
            <a:prstDash val="solid"/>
          </a:ln>
        </p:spPr>
      </p:sp>
      <p:sp>
        <p:nvSpPr>
          <p:cNvPr id="59" name="Text 56"/>
          <p:cNvSpPr txBox="1"/>
          <p:nvPr/>
        </p:nvSpPr>
        <p:spPr>
          <a:xfrm>
            <a:off x="8869680" y="3931920"/>
            <a:ext cx="2697480" cy="402336"/>
          </a:xfrm>
          <a:prstGeom prst="rect">
            <a:avLst/>
          </a:prstGeom>
          <a:noFill/>
          <a:ln/>
        </p:spPr>
        <p:txBody>
          <a:bodyPr wrap="square" lIns="1270" tIns="1270" rIns="1270" bIns="1270" rtlCol="0" anchor="ctr"/>
          <a:lstStyle/>
          <a:p>
            <a:pPr algn="l" indent="0" marL="0">
              <a:buNone/>
            </a:pPr>
            <a:r>
              <a:rPr lang="en-US" sz="1200" b="1" dirty="0">
                <a:solidFill>
                  <a:srgbClr val="1B2430"/>
                </a:solidFill>
              </a:rPr>
              <a:t>full</a:t>
            </a:r>
            <a:endParaRPr lang="en-US" sz="1200" dirty="0"/>
          </a:p>
        </p:txBody>
      </p:sp>
      <p:sp>
        <p:nvSpPr>
          <p:cNvPr id="60" name="box"/>
          <p:cNvSpPr/>
          <p:nvPr/>
        </p:nvSpPr>
        <p:spPr>
          <a:xfrm>
            <a:off x="548640" y="4379976"/>
            <a:ext cx="2240280" cy="402336"/>
          </a:xfrm>
          <a:prstGeom prst="rect">
            <a:avLst/>
          </a:prstGeom>
          <a:solidFill>
            <a:srgbClr val="EEF2F6"/>
          </a:solidFill>
          <a:ln w="12700">
            <a:solidFill>
              <a:srgbClr val="EEF2F6"/>
            </a:solidFill>
            <a:prstDash val="solid"/>
          </a:ln>
        </p:spPr>
      </p:sp>
      <p:sp>
        <p:nvSpPr>
          <p:cNvPr id="61" name="Text 58"/>
          <p:cNvSpPr txBox="1"/>
          <p:nvPr/>
        </p:nvSpPr>
        <p:spPr>
          <a:xfrm>
            <a:off x="548640" y="4379976"/>
            <a:ext cx="2240280" cy="402336"/>
          </a:xfrm>
          <a:prstGeom prst="rect">
            <a:avLst/>
          </a:prstGeom>
          <a:noFill/>
          <a:ln/>
        </p:spPr>
        <p:txBody>
          <a:bodyPr wrap="square" lIns="1270" tIns="1270" rIns="1270" bIns="1270" rtlCol="0" anchor="ctr"/>
          <a:lstStyle/>
          <a:p>
            <a:pPr algn="ctr" indent="0" marL="0">
              <a:buNone/>
            </a:pPr>
            <a:r>
              <a:rPr lang="en-US" sz="1200" dirty="0">
                <a:solidFill>
                  <a:srgbClr val="1B2430"/>
                </a:solidFill>
              </a:rPr>
              <a:t>Usenet</a:t>
            </a:r>
            <a:endParaRPr lang="en-US" sz="1200" dirty="0"/>
          </a:p>
        </p:txBody>
      </p:sp>
      <p:sp>
        <p:nvSpPr>
          <p:cNvPr id="62" name="box"/>
          <p:cNvSpPr/>
          <p:nvPr/>
        </p:nvSpPr>
        <p:spPr>
          <a:xfrm>
            <a:off x="2834640" y="4379976"/>
            <a:ext cx="2880360" cy="402336"/>
          </a:xfrm>
          <a:prstGeom prst="rect">
            <a:avLst/>
          </a:prstGeom>
          <a:solidFill>
            <a:srgbClr val="F7F9FB"/>
          </a:solidFill>
          <a:ln w="12700">
            <a:solidFill>
              <a:srgbClr val="F7F9FB"/>
            </a:solidFill>
            <a:prstDash val="solid"/>
          </a:ln>
        </p:spPr>
      </p:sp>
      <p:sp>
        <p:nvSpPr>
          <p:cNvPr id="63" name="Text 60"/>
          <p:cNvSpPr txBox="1"/>
          <p:nvPr/>
        </p:nvSpPr>
        <p:spPr>
          <a:xfrm>
            <a:off x="2834640" y="4379976"/>
            <a:ext cx="288036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a:t>
            </a:r>
            <a:endParaRPr lang="en-US" sz="1200" dirty="0"/>
          </a:p>
        </p:txBody>
      </p:sp>
      <p:sp>
        <p:nvSpPr>
          <p:cNvPr id="64" name="box"/>
          <p:cNvSpPr/>
          <p:nvPr/>
        </p:nvSpPr>
        <p:spPr>
          <a:xfrm>
            <a:off x="5760720" y="4379976"/>
            <a:ext cx="3063240" cy="402336"/>
          </a:xfrm>
          <a:prstGeom prst="rect">
            <a:avLst/>
          </a:prstGeom>
          <a:solidFill>
            <a:srgbClr val="F7F9FB"/>
          </a:solidFill>
          <a:ln w="12700">
            <a:solidFill>
              <a:srgbClr val="F7F9FB"/>
            </a:solidFill>
            <a:prstDash val="solid"/>
          </a:ln>
        </p:spPr>
      </p:sp>
      <p:sp>
        <p:nvSpPr>
          <p:cNvPr id="65" name="Text 62"/>
          <p:cNvSpPr txBox="1"/>
          <p:nvPr/>
        </p:nvSpPr>
        <p:spPr>
          <a:xfrm>
            <a:off x="5760720" y="4379976"/>
            <a:ext cx="306324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a:t>
            </a:r>
            <a:endParaRPr lang="en-US" sz="1200" dirty="0"/>
          </a:p>
        </p:txBody>
      </p:sp>
      <p:sp>
        <p:nvSpPr>
          <p:cNvPr id="66" name="box"/>
          <p:cNvSpPr/>
          <p:nvPr/>
        </p:nvSpPr>
        <p:spPr>
          <a:xfrm>
            <a:off x="8869680" y="4379976"/>
            <a:ext cx="2697480" cy="402336"/>
          </a:xfrm>
          <a:prstGeom prst="rect">
            <a:avLst/>
          </a:prstGeom>
          <a:solidFill>
            <a:srgbClr val="DDF0F2"/>
          </a:solidFill>
          <a:ln w="12700">
            <a:solidFill>
              <a:srgbClr val="DDF0F2"/>
            </a:solidFill>
            <a:prstDash val="solid"/>
          </a:ln>
        </p:spPr>
      </p:sp>
      <p:sp>
        <p:nvSpPr>
          <p:cNvPr id="67" name="Text 64"/>
          <p:cNvSpPr txBox="1"/>
          <p:nvPr/>
        </p:nvSpPr>
        <p:spPr>
          <a:xfrm>
            <a:off x="8869680" y="4379976"/>
            <a:ext cx="2697480" cy="402336"/>
          </a:xfrm>
          <a:prstGeom prst="rect">
            <a:avLst/>
          </a:prstGeom>
          <a:noFill/>
          <a:ln/>
        </p:spPr>
        <p:txBody>
          <a:bodyPr wrap="square" lIns="1270" tIns="1270" rIns="1270" bIns="1270" rtlCol="0" anchor="ctr"/>
          <a:lstStyle/>
          <a:p>
            <a:pPr algn="l" indent="0" marL="0">
              <a:buNone/>
            </a:pPr>
            <a:r>
              <a:rPr lang="en-US" sz="1200" b="1" dirty="0">
                <a:solidFill>
                  <a:srgbClr val="1B2430"/>
                </a:solidFill>
              </a:rPr>
              <a:t>full</a:t>
            </a:r>
            <a:endParaRPr lang="en-US" sz="1200" dirty="0"/>
          </a:p>
        </p:txBody>
      </p:sp>
      <p:sp>
        <p:nvSpPr>
          <p:cNvPr id="68" name="box"/>
          <p:cNvSpPr/>
          <p:nvPr/>
        </p:nvSpPr>
        <p:spPr>
          <a:xfrm>
            <a:off x="548640" y="4828032"/>
            <a:ext cx="2240280" cy="402336"/>
          </a:xfrm>
          <a:prstGeom prst="rect">
            <a:avLst/>
          </a:prstGeom>
          <a:solidFill>
            <a:srgbClr val="EEF2F6"/>
          </a:solidFill>
          <a:ln w="12700">
            <a:solidFill>
              <a:srgbClr val="EEF2F6"/>
            </a:solidFill>
            <a:prstDash val="solid"/>
          </a:ln>
        </p:spPr>
      </p:sp>
      <p:sp>
        <p:nvSpPr>
          <p:cNvPr id="69" name="Text 66"/>
          <p:cNvSpPr txBox="1"/>
          <p:nvPr/>
        </p:nvSpPr>
        <p:spPr>
          <a:xfrm>
            <a:off x="548640" y="4828032"/>
            <a:ext cx="2240280" cy="402336"/>
          </a:xfrm>
          <a:prstGeom prst="rect">
            <a:avLst/>
          </a:prstGeom>
          <a:noFill/>
          <a:ln/>
        </p:spPr>
        <p:txBody>
          <a:bodyPr wrap="square" lIns="1270" tIns="1270" rIns="1270" bIns="1270" rtlCol="0" anchor="ctr"/>
          <a:lstStyle/>
          <a:p>
            <a:pPr algn="ctr" indent="0" marL="0">
              <a:buNone/>
            </a:pPr>
            <a:r>
              <a:rPr lang="en-US" sz="1200" dirty="0">
                <a:solidFill>
                  <a:srgbClr val="1B2430"/>
                </a:solidFill>
              </a:rPr>
              <a:t>DNS</a:t>
            </a:r>
            <a:endParaRPr lang="en-US" sz="1200" dirty="0"/>
          </a:p>
        </p:txBody>
      </p:sp>
      <p:sp>
        <p:nvSpPr>
          <p:cNvPr id="70" name="box"/>
          <p:cNvSpPr/>
          <p:nvPr/>
        </p:nvSpPr>
        <p:spPr>
          <a:xfrm>
            <a:off x="2834640" y="4828032"/>
            <a:ext cx="2880360" cy="402336"/>
          </a:xfrm>
          <a:prstGeom prst="rect">
            <a:avLst/>
          </a:prstGeom>
          <a:solidFill>
            <a:srgbClr val="F7F9FB"/>
          </a:solidFill>
          <a:ln w="12700">
            <a:solidFill>
              <a:srgbClr val="F7F9FB"/>
            </a:solidFill>
            <a:prstDash val="solid"/>
          </a:ln>
        </p:spPr>
      </p:sp>
      <p:sp>
        <p:nvSpPr>
          <p:cNvPr id="71" name="Text 68"/>
          <p:cNvSpPr txBox="1"/>
          <p:nvPr/>
        </p:nvSpPr>
        <p:spPr>
          <a:xfrm>
            <a:off x="2834640" y="4828032"/>
            <a:ext cx="288036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names resolved before connecting</a:t>
            </a:r>
            <a:endParaRPr lang="en-US" sz="1200" dirty="0"/>
          </a:p>
        </p:txBody>
      </p:sp>
      <p:sp>
        <p:nvSpPr>
          <p:cNvPr id="72" name="box"/>
          <p:cNvSpPr/>
          <p:nvPr/>
        </p:nvSpPr>
        <p:spPr>
          <a:xfrm>
            <a:off x="5760720" y="4828032"/>
            <a:ext cx="3063240" cy="402336"/>
          </a:xfrm>
          <a:prstGeom prst="rect">
            <a:avLst/>
          </a:prstGeom>
          <a:solidFill>
            <a:srgbClr val="F7F9FB"/>
          </a:solidFill>
          <a:ln w="12700">
            <a:solidFill>
              <a:srgbClr val="F7F9FB"/>
            </a:solidFill>
            <a:prstDash val="solid"/>
          </a:ln>
        </p:spPr>
      </p:sp>
      <p:sp>
        <p:nvSpPr>
          <p:cNvPr id="73" name="Text 70"/>
          <p:cNvSpPr txBox="1"/>
          <p:nvPr/>
        </p:nvSpPr>
        <p:spPr>
          <a:xfrm>
            <a:off x="5760720" y="4828032"/>
            <a:ext cx="306324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a:t>
            </a:r>
            <a:endParaRPr lang="en-US" sz="1200" dirty="0"/>
          </a:p>
        </p:txBody>
      </p:sp>
      <p:sp>
        <p:nvSpPr>
          <p:cNvPr id="74" name="box"/>
          <p:cNvSpPr/>
          <p:nvPr/>
        </p:nvSpPr>
        <p:spPr>
          <a:xfrm>
            <a:off x="8869680" y="4828032"/>
            <a:ext cx="2697480" cy="402336"/>
          </a:xfrm>
          <a:prstGeom prst="rect">
            <a:avLst/>
          </a:prstGeom>
          <a:solidFill>
            <a:srgbClr val="DDF0F2"/>
          </a:solidFill>
          <a:ln w="12700">
            <a:solidFill>
              <a:srgbClr val="DDF0F2"/>
            </a:solidFill>
            <a:prstDash val="solid"/>
          </a:ln>
        </p:spPr>
      </p:sp>
      <p:sp>
        <p:nvSpPr>
          <p:cNvPr id="75" name="Text 72"/>
          <p:cNvSpPr txBox="1"/>
          <p:nvPr/>
        </p:nvSpPr>
        <p:spPr>
          <a:xfrm>
            <a:off x="8869680" y="4828032"/>
            <a:ext cx="2697480" cy="402336"/>
          </a:xfrm>
          <a:prstGeom prst="rect">
            <a:avLst/>
          </a:prstGeom>
          <a:noFill/>
          <a:ln/>
        </p:spPr>
        <p:txBody>
          <a:bodyPr wrap="square" lIns="1270" tIns="1270" rIns="1270" bIns="1270" rtlCol="0" anchor="ctr"/>
          <a:lstStyle/>
          <a:p>
            <a:pPr algn="l" indent="0" marL="0">
              <a:buNone/>
            </a:pPr>
            <a:r>
              <a:rPr lang="en-US" sz="1200" b="1" dirty="0">
                <a:solidFill>
                  <a:srgbClr val="1B2430"/>
                </a:solidFill>
              </a:rPr>
              <a:t>full</a:t>
            </a:r>
            <a:endParaRPr lang="en-US" sz="1200" dirty="0"/>
          </a:p>
        </p:txBody>
      </p:sp>
      <p:sp>
        <p:nvSpPr>
          <p:cNvPr id="76" name="box"/>
          <p:cNvSpPr/>
          <p:nvPr/>
        </p:nvSpPr>
        <p:spPr>
          <a:xfrm>
            <a:off x="548640" y="5276088"/>
            <a:ext cx="2240280" cy="402336"/>
          </a:xfrm>
          <a:prstGeom prst="rect">
            <a:avLst/>
          </a:prstGeom>
          <a:solidFill>
            <a:srgbClr val="EEF2F6"/>
          </a:solidFill>
          <a:ln w="12700">
            <a:solidFill>
              <a:srgbClr val="EEF2F6"/>
            </a:solidFill>
            <a:prstDash val="solid"/>
          </a:ln>
        </p:spPr>
      </p:sp>
      <p:sp>
        <p:nvSpPr>
          <p:cNvPr id="77" name="Text 74"/>
          <p:cNvSpPr txBox="1"/>
          <p:nvPr/>
        </p:nvSpPr>
        <p:spPr>
          <a:xfrm>
            <a:off x="548640" y="5276088"/>
            <a:ext cx="2240280" cy="402336"/>
          </a:xfrm>
          <a:prstGeom prst="rect">
            <a:avLst/>
          </a:prstGeom>
          <a:noFill/>
          <a:ln/>
        </p:spPr>
        <p:txBody>
          <a:bodyPr wrap="square" lIns="1270" tIns="1270" rIns="1270" bIns="1270" rtlCol="0" anchor="ctr"/>
          <a:lstStyle/>
          <a:p>
            <a:pPr algn="ctr" indent="0" marL="0">
              <a:buNone/>
            </a:pPr>
            <a:r>
              <a:rPr lang="en-US" sz="1200" dirty="0">
                <a:solidFill>
                  <a:srgbClr val="1B2430"/>
                </a:solidFill>
              </a:rPr>
              <a:t>NAT</a:t>
            </a:r>
            <a:endParaRPr lang="en-US" sz="1200" dirty="0"/>
          </a:p>
        </p:txBody>
      </p:sp>
      <p:sp>
        <p:nvSpPr>
          <p:cNvPr id="78" name="box"/>
          <p:cNvSpPr/>
          <p:nvPr/>
        </p:nvSpPr>
        <p:spPr>
          <a:xfrm>
            <a:off x="2834640" y="5276088"/>
            <a:ext cx="2880360" cy="402336"/>
          </a:xfrm>
          <a:prstGeom prst="rect">
            <a:avLst/>
          </a:prstGeom>
          <a:solidFill>
            <a:srgbClr val="F7F9FB"/>
          </a:solidFill>
          <a:ln w="12700">
            <a:solidFill>
              <a:srgbClr val="F7F9FB"/>
            </a:solidFill>
            <a:prstDash val="solid"/>
          </a:ln>
        </p:spPr>
      </p:sp>
      <p:sp>
        <p:nvSpPr>
          <p:cNvPr id="79" name="Text 76"/>
          <p:cNvSpPr txBox="1"/>
          <p:nvPr/>
        </p:nvSpPr>
        <p:spPr>
          <a:xfrm>
            <a:off x="2834640" y="5276088"/>
            <a:ext cx="288036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peers behind NAT</a:t>
            </a:r>
            <a:endParaRPr lang="en-US" sz="1200" dirty="0"/>
          </a:p>
        </p:txBody>
      </p:sp>
      <p:sp>
        <p:nvSpPr>
          <p:cNvPr id="80" name="box"/>
          <p:cNvSpPr/>
          <p:nvPr/>
        </p:nvSpPr>
        <p:spPr>
          <a:xfrm>
            <a:off x="5760720" y="5276088"/>
            <a:ext cx="3063240" cy="402336"/>
          </a:xfrm>
          <a:prstGeom prst="rect">
            <a:avLst/>
          </a:prstGeom>
          <a:solidFill>
            <a:srgbClr val="D7EBDD"/>
          </a:solidFill>
          <a:ln w="12700">
            <a:solidFill>
              <a:srgbClr val="D7EBDD"/>
            </a:solidFill>
            <a:prstDash val="solid"/>
          </a:ln>
        </p:spPr>
      </p:sp>
      <p:sp>
        <p:nvSpPr>
          <p:cNvPr id="81" name="Text 78"/>
          <p:cNvSpPr txBox="1"/>
          <p:nvPr/>
        </p:nvSpPr>
        <p:spPr>
          <a:xfrm>
            <a:off x="5760720" y="5276088"/>
            <a:ext cx="3063240" cy="402336"/>
          </a:xfrm>
          <a:prstGeom prst="rect">
            <a:avLst/>
          </a:prstGeom>
          <a:noFill/>
          <a:ln/>
        </p:spPr>
        <p:txBody>
          <a:bodyPr wrap="square" lIns="1270" tIns="1270" rIns="1270" bIns="1270" rtlCol="0" anchor="ctr"/>
          <a:lstStyle/>
          <a:p>
            <a:pPr algn="l" indent="0" marL="0">
              <a:buNone/>
            </a:pPr>
            <a:r>
              <a:rPr lang="en-US" sz="1200" dirty="0">
                <a:solidFill>
                  <a:srgbClr val="1B2430"/>
                </a:solidFill>
              </a:rPr>
              <a:t>why active FTP breaks</a:t>
            </a:r>
            <a:endParaRPr lang="en-US" sz="1200" dirty="0"/>
          </a:p>
        </p:txBody>
      </p:sp>
      <p:sp>
        <p:nvSpPr>
          <p:cNvPr id="82" name="box"/>
          <p:cNvSpPr/>
          <p:nvPr/>
        </p:nvSpPr>
        <p:spPr>
          <a:xfrm>
            <a:off x="8869680" y="5276088"/>
            <a:ext cx="2697480" cy="402336"/>
          </a:xfrm>
          <a:prstGeom prst="rect">
            <a:avLst/>
          </a:prstGeom>
          <a:solidFill>
            <a:srgbClr val="DDF0F2"/>
          </a:solidFill>
          <a:ln w="12700">
            <a:solidFill>
              <a:srgbClr val="DDF0F2"/>
            </a:solidFill>
            <a:prstDash val="solid"/>
          </a:ln>
        </p:spPr>
      </p:sp>
      <p:sp>
        <p:nvSpPr>
          <p:cNvPr id="83" name="Text 80"/>
          <p:cNvSpPr txBox="1"/>
          <p:nvPr/>
        </p:nvSpPr>
        <p:spPr>
          <a:xfrm>
            <a:off x="8869680" y="5276088"/>
            <a:ext cx="2697480" cy="402336"/>
          </a:xfrm>
          <a:prstGeom prst="rect">
            <a:avLst/>
          </a:prstGeom>
          <a:noFill/>
          <a:ln/>
        </p:spPr>
        <p:txBody>
          <a:bodyPr wrap="square" lIns="1270" tIns="1270" rIns="1270" bIns="1270" rtlCol="0" anchor="ctr"/>
          <a:lstStyle/>
          <a:p>
            <a:pPr algn="l" indent="0" marL="0">
              <a:buNone/>
            </a:pPr>
            <a:r>
              <a:rPr lang="en-US" sz="1200" b="1" dirty="0">
                <a:solidFill>
                  <a:srgbClr val="1B2430"/>
                </a:solidFill>
              </a:rPr>
              <a:t>full</a:t>
            </a:r>
            <a:endParaRPr lang="en-US" sz="1200" dirty="0"/>
          </a:p>
        </p:txBody>
      </p:sp>
      <p:sp>
        <p:nvSpPr>
          <p:cNvPr id="8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85" name="Text 8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This week: HTTP completed, HTTPS, TELNET, SSH and FTP. Next week: e-mail, Usenet, DNS and NAT.</a:t>
            </a:r>
            <a:endParaRPr lang="en-US" sz="1400" dirty="0"/>
          </a:p>
        </p:txBody>
      </p:sp>
      <p:sp>
        <p:nvSpPr>
          <p:cNvPr id="86" name="Text 83"/>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HTTPS (HyperText Transfer Protocol Secure) · HTTP (HyperText Transfer Protocol) · SMTP (Simple Mail Transfer Protocol) · TLS (Transport Layer Security) · DNS (Domain Name System) · SSH (Secure Shell) · NAT (network address translation) · CDN (content distribution network) · FTP (File Transfer Protocol)</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Part A · Lecture 4: the application layer II</a:t>
            </a:r>
            <a:endParaRPr lang="en-US" sz="3600" dirty="0"/>
          </a:p>
        </p:txBody>
      </p:sp>
      <p:sp>
        <p:nvSpPr>
          <p:cNvPr id="3" name="box"/>
          <p:cNvSpPr/>
          <p:nvPr/>
        </p:nvSpPr>
        <p:spPr>
          <a:xfrm>
            <a:off x="731520" y="1645920"/>
            <a:ext cx="2514600" cy="1371600"/>
          </a:xfrm>
          <a:prstGeom prst="roundRect">
            <a:avLst>
              <a:gd name="adj" fmla="val 5333"/>
            </a:avLst>
          </a:prstGeom>
          <a:solidFill>
            <a:srgbClr val="2A7F8E"/>
          </a:solidFill>
          <a:ln w="12700">
            <a:solidFill>
              <a:srgbClr val="2A7F8E"/>
            </a:solidFill>
            <a:prstDash val="solid"/>
          </a:ln>
        </p:spPr>
      </p:sp>
      <p:sp>
        <p:nvSpPr>
          <p:cNvPr id="4" name="Text 2"/>
          <p:cNvSpPr txBox="1"/>
          <p:nvPr/>
        </p:nvSpPr>
        <p:spPr>
          <a:xfrm>
            <a:off x="73152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A · Lecture 4</a:t>
            </a:r>
            <a:endParaRPr lang="en-US" sz="1500" dirty="0"/>
          </a:p>
          <a:p>
            <a:pPr algn="ctr" indent="0" marL="0">
              <a:spcAft>
                <a:spcPts val="400"/>
              </a:spcAft>
              <a:buNone/>
            </a:pPr>
            <a:r>
              <a:rPr lang="en-US" sz="1500" dirty="0">
                <a:solidFill>
                  <a:srgbClr val="FFFFFF"/>
                </a:solidFill>
              </a:rPr>
              <a:t>Sessions, speed, security</a:t>
            </a:r>
            <a:endParaRPr lang="en-US" sz="1500" dirty="0"/>
          </a:p>
        </p:txBody>
      </p:sp>
      <p:sp>
        <p:nvSpPr>
          <p:cNvPr id="5" name="Shape 3"/>
          <p:cNvSpPr/>
          <p:nvPr/>
        </p:nvSpPr>
        <p:spPr>
          <a:xfrm>
            <a:off x="3273552" y="2331720"/>
            <a:ext cx="219456" cy="914"/>
          </a:xfrm>
          <a:prstGeom prst="line">
            <a:avLst/>
          </a:prstGeom>
          <a:noFill/>
          <a:ln w="25400">
            <a:solidFill>
              <a:srgbClr val="9FB3C8"/>
            </a:solidFill>
            <a:prstDash val="solid"/>
            <a:tailEnd type="triangle"/>
          </a:ln>
        </p:spPr>
      </p:sp>
      <p:sp>
        <p:nvSpPr>
          <p:cNvPr id="6" name="box"/>
          <p:cNvSpPr/>
          <p:nvPr/>
        </p:nvSpPr>
        <p:spPr>
          <a:xfrm>
            <a:off x="3520440" y="1645920"/>
            <a:ext cx="2514600" cy="1371600"/>
          </a:xfrm>
          <a:prstGeom prst="roundRect">
            <a:avLst>
              <a:gd name="adj" fmla="val 5333"/>
            </a:avLst>
          </a:prstGeom>
          <a:solidFill>
            <a:srgbClr val="2B4A70"/>
          </a:solidFill>
          <a:ln w="12700">
            <a:solidFill>
              <a:srgbClr val="2B4A70"/>
            </a:solidFill>
            <a:prstDash val="solid"/>
          </a:ln>
        </p:spPr>
      </p:sp>
      <p:sp>
        <p:nvSpPr>
          <p:cNvPr id="7" name="Text 5"/>
          <p:cNvSpPr txBox="1"/>
          <p:nvPr/>
        </p:nvSpPr>
        <p:spPr>
          <a:xfrm>
            <a:off x="352044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B · Seminar 4</a:t>
            </a:r>
            <a:endParaRPr lang="en-US" sz="1500" dirty="0"/>
          </a:p>
          <a:p>
            <a:pPr algn="ctr" indent="0" marL="0">
              <a:spcAft>
                <a:spcPts val="400"/>
              </a:spcAft>
              <a:buNone/>
            </a:pPr>
            <a:r>
              <a:rPr lang="en-US" sz="1500" dirty="0">
                <a:solidFill>
                  <a:srgbClr val="FFFFFF"/>
                </a:solidFill>
              </a:rPr>
              <a:t>Problems with solutions</a:t>
            </a:r>
            <a:endParaRPr lang="en-US" sz="1500" dirty="0"/>
          </a:p>
        </p:txBody>
      </p:sp>
      <p:sp>
        <p:nvSpPr>
          <p:cNvPr id="8" name="Shape 6"/>
          <p:cNvSpPr/>
          <p:nvPr/>
        </p:nvSpPr>
        <p:spPr>
          <a:xfrm>
            <a:off x="6062472" y="2331720"/>
            <a:ext cx="219456" cy="914"/>
          </a:xfrm>
          <a:prstGeom prst="line">
            <a:avLst/>
          </a:prstGeom>
          <a:noFill/>
          <a:ln w="25400">
            <a:solidFill>
              <a:srgbClr val="9FB3C8"/>
            </a:solidFill>
            <a:prstDash val="solid"/>
            <a:tailEnd type="triangle"/>
          </a:ln>
        </p:spPr>
      </p:sp>
      <p:sp>
        <p:nvSpPr>
          <p:cNvPr id="9" name="box"/>
          <p:cNvSpPr/>
          <p:nvPr/>
        </p:nvSpPr>
        <p:spPr>
          <a:xfrm>
            <a:off x="6309360" y="1645920"/>
            <a:ext cx="2514600" cy="1371600"/>
          </a:xfrm>
          <a:prstGeom prst="roundRect">
            <a:avLst>
              <a:gd name="adj" fmla="val 5333"/>
            </a:avLst>
          </a:prstGeom>
          <a:solidFill>
            <a:srgbClr val="2B4A70"/>
          </a:solidFill>
          <a:ln w="12700">
            <a:solidFill>
              <a:srgbClr val="2B4A70"/>
            </a:solidFill>
            <a:prstDash val="solid"/>
          </a:ln>
        </p:spPr>
      </p:sp>
      <p:sp>
        <p:nvSpPr>
          <p:cNvPr id="10" name="Text 8"/>
          <p:cNvSpPr txBox="1"/>
          <p:nvPr/>
        </p:nvSpPr>
        <p:spPr>
          <a:xfrm>
            <a:off x="630936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C · Laboratory 4 · Linux</a:t>
            </a:r>
            <a:endParaRPr lang="en-US" sz="1500" dirty="0"/>
          </a:p>
          <a:p>
            <a:pPr algn="ctr" indent="0" marL="0">
              <a:spcAft>
                <a:spcPts val="400"/>
              </a:spcAft>
              <a:buNone/>
            </a:pPr>
            <a:r>
              <a:rPr lang="en-US" sz="1500" dirty="0">
                <a:solidFill>
                  <a:srgbClr val="FFFFFF"/>
                </a:solidFill>
              </a:rPr>
              <a:t>curl, openssl, ssh, ftp, C</a:t>
            </a:r>
            <a:endParaRPr lang="en-US" sz="1500" dirty="0"/>
          </a:p>
        </p:txBody>
      </p:sp>
      <p:sp>
        <p:nvSpPr>
          <p:cNvPr id="11" name="Shape 9"/>
          <p:cNvSpPr/>
          <p:nvPr/>
        </p:nvSpPr>
        <p:spPr>
          <a:xfrm>
            <a:off x="8851392" y="2331720"/>
            <a:ext cx="219456" cy="914"/>
          </a:xfrm>
          <a:prstGeom prst="line">
            <a:avLst/>
          </a:prstGeom>
          <a:noFill/>
          <a:ln w="25400">
            <a:solidFill>
              <a:srgbClr val="9FB3C8"/>
            </a:solidFill>
            <a:prstDash val="solid"/>
            <a:tailEnd type="triangle"/>
          </a:ln>
        </p:spPr>
      </p:sp>
      <p:sp>
        <p:nvSpPr>
          <p:cNvPr id="12" name="box"/>
          <p:cNvSpPr/>
          <p:nvPr/>
        </p:nvSpPr>
        <p:spPr>
          <a:xfrm>
            <a:off x="9098280" y="1645920"/>
            <a:ext cx="2514600" cy="1371600"/>
          </a:xfrm>
          <a:prstGeom prst="roundRect">
            <a:avLst>
              <a:gd name="adj" fmla="val 5333"/>
            </a:avLst>
          </a:prstGeom>
          <a:solidFill>
            <a:srgbClr val="2B4A70"/>
          </a:solidFill>
          <a:ln w="12700">
            <a:solidFill>
              <a:srgbClr val="2B4A70"/>
            </a:solidFill>
            <a:prstDash val="solid"/>
          </a:ln>
        </p:spPr>
      </p:sp>
      <p:sp>
        <p:nvSpPr>
          <p:cNvPr id="13" name="Text 11"/>
          <p:cNvSpPr txBox="1"/>
          <p:nvPr/>
        </p:nvSpPr>
        <p:spPr>
          <a:xfrm>
            <a:off x="909828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D · Laboratory 4 · Windows</a:t>
            </a:r>
            <a:endParaRPr lang="en-US" sz="1500" dirty="0"/>
          </a:p>
          <a:p>
            <a:pPr algn="ctr" indent="0" marL="0">
              <a:spcAft>
                <a:spcPts val="400"/>
              </a:spcAft>
              <a:buNone/>
            </a:pPr>
            <a:r>
              <a:rPr lang="en-US" sz="1500" dirty="0">
                <a:solidFill>
                  <a:srgbClr val="FFFFFF"/>
                </a:solidFill>
              </a:rPr>
              <a:t>PowerShell, OpenSSH, Winsock</a:t>
            </a:r>
            <a:endParaRPr lang="en-US" sz="1500" dirty="0"/>
          </a:p>
        </p:txBody>
      </p:sp>
      <p:sp>
        <p:nvSpPr>
          <p:cNvPr id="14" name="Text 12"/>
          <p:cNvSpPr txBox="1"/>
          <p:nvPr/>
        </p:nvSpPr>
        <p:spPr>
          <a:xfrm>
            <a:off x="731520" y="3429000"/>
            <a:ext cx="10698480" cy="365760"/>
          </a:xfrm>
          <a:prstGeom prst="rect">
            <a:avLst/>
          </a:prstGeom>
          <a:noFill/>
          <a:ln/>
        </p:spPr>
        <p:txBody>
          <a:bodyPr wrap="square" lIns="0" tIns="0" rIns="0" bIns="0" rtlCol="0" anchor="ctr"/>
          <a:lstStyle/>
          <a:p>
            <a:pPr indent="0" marL="0">
              <a:buNone/>
            </a:pPr>
            <a:r>
              <a:rPr lang="en-US" sz="1600" b="1" dirty="0">
                <a:solidFill>
                  <a:srgbClr val="DDF0F2"/>
                </a:solidFill>
              </a:rPr>
              <a:t>In this part</a:t>
            </a:r>
            <a:endParaRPr lang="en-US" sz="1600" dirty="0"/>
          </a:p>
        </p:txBody>
      </p:sp>
      <p:sp>
        <p:nvSpPr>
          <p:cNvPr id="15" name="Text 13"/>
          <p:cNvSpPr txBox="1"/>
          <p:nvPr/>
        </p:nvSpPr>
        <p:spPr>
          <a:xfrm>
            <a:off x="7315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1 · Where we are</a:t>
            </a:r>
            <a:endParaRPr lang="en-US" sz="1500" dirty="0"/>
          </a:p>
        </p:txBody>
      </p:sp>
      <p:sp>
        <p:nvSpPr>
          <p:cNvPr id="16" name="Text 14"/>
          <p:cNvSpPr txBox="1"/>
          <p:nvPr/>
        </p:nvSpPr>
        <p:spPr>
          <a:xfrm>
            <a:off x="62179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2 · Cookies: state on a stateless protocol</a:t>
            </a:r>
            <a:endParaRPr lang="en-US" sz="1500" dirty="0"/>
          </a:p>
        </p:txBody>
      </p:sp>
      <p:sp>
        <p:nvSpPr>
          <p:cNvPr id="17" name="Text 15"/>
          <p:cNvSpPr txBox="1"/>
          <p:nvPr/>
        </p:nvSpPr>
        <p:spPr>
          <a:xfrm>
            <a:off x="7315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3 · Caches, conditional GET, CDN</a:t>
            </a:r>
            <a:endParaRPr lang="en-US" sz="1500" dirty="0"/>
          </a:p>
        </p:txBody>
      </p:sp>
      <p:sp>
        <p:nvSpPr>
          <p:cNvPr id="18" name="Text 16"/>
          <p:cNvSpPr txBox="1"/>
          <p:nvPr/>
        </p:nvSpPr>
        <p:spPr>
          <a:xfrm>
            <a:off x="62179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4 · HTTP/2 and HTTP/3</a:t>
            </a:r>
            <a:endParaRPr lang="en-US" sz="1500" dirty="0"/>
          </a:p>
        </p:txBody>
      </p:sp>
      <p:sp>
        <p:nvSpPr>
          <p:cNvPr id="19" name="Text 17"/>
          <p:cNvSpPr txBox="1"/>
          <p:nvPr/>
        </p:nvSpPr>
        <p:spPr>
          <a:xfrm>
            <a:off x="7315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5 · HTTPS: HTTP over TLS</a:t>
            </a:r>
            <a:endParaRPr lang="en-US" sz="1500" dirty="0"/>
          </a:p>
        </p:txBody>
      </p:sp>
      <p:sp>
        <p:nvSpPr>
          <p:cNvPr id="20" name="Text 18"/>
          <p:cNvSpPr txBox="1"/>
          <p:nvPr/>
        </p:nvSpPr>
        <p:spPr>
          <a:xfrm>
            <a:off x="62179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6 · TELNET: remote login in clear</a:t>
            </a:r>
            <a:endParaRPr lang="en-US" sz="1500" dirty="0"/>
          </a:p>
        </p:txBody>
      </p:sp>
      <p:sp>
        <p:nvSpPr>
          <p:cNvPr id="21" name="Text 19"/>
          <p:cNvSpPr txBox="1"/>
          <p:nvPr/>
        </p:nvSpPr>
        <p:spPr>
          <a:xfrm>
            <a:off x="731520" y="52120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7 · SSH: secure shell, tunnels</a:t>
            </a:r>
            <a:endParaRPr lang="en-US" sz="1500" dirty="0"/>
          </a:p>
        </p:txBody>
      </p:sp>
      <p:sp>
        <p:nvSpPr>
          <p:cNvPr id="22" name="Text 20"/>
          <p:cNvSpPr txBox="1"/>
          <p:nvPr/>
        </p:nvSpPr>
        <p:spPr>
          <a:xfrm>
            <a:off x="6217920" y="52120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8 · FTP: two connections</a:t>
            </a:r>
            <a:endParaRPr lang="en-US" sz="1500" dirty="0"/>
          </a:p>
        </p:txBody>
      </p:sp>
      <p:sp>
        <p:nvSpPr>
          <p:cNvPr id="24" name="Text 21"/>
          <p:cNvSpPr txBox="1"/>
          <p:nvPr/>
        </p:nvSpPr>
        <p:spPr>
          <a:xfrm>
            <a:off x="731520" y="6172200"/>
            <a:ext cx="10698480" cy="457200"/>
          </a:xfrm>
          <a:prstGeom prst="rect">
            <a:avLst/>
          </a:prstGeom>
          <a:noFill/>
          <a:ln/>
        </p:spPr>
        <p:txBody>
          <a:bodyPr wrap="square" lIns="0" tIns="0" rIns="0" bIns="0" rtlCol="0" anchor="t"/>
          <a:lstStyle/>
          <a:p>
            <a:pPr indent="0" marL="0">
              <a:buNone/>
            </a:pPr>
            <a:r>
              <a:rPr lang="en-US" sz="1100" dirty="0">
                <a:solidFill>
                  <a:srgbClr val="C9D6E3"/>
                </a:solidFill>
              </a:rPr>
              <a:t>HTTPS (HyperText Transfer Protocol Secure) · HTTP (HyperText Transfer Protocol) · TLS (Transport Layer Security) · CDN (content distribution network) · FTP (File Transfer Protocol)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 HTTP is stateless — cookies add state at the ends</a:t>
            </a:r>
            <a:endParaRPr lang="en-US" sz="3000" dirty="0"/>
          </a:p>
        </p:txBody>
      </p:sp>
      <p:sp>
        <p:nvSpPr>
          <p:cNvPr id="4" name="box"/>
          <p:cNvSpPr/>
          <p:nvPr/>
        </p:nvSpPr>
        <p:spPr>
          <a:xfrm>
            <a:off x="914400" y="1325880"/>
            <a:ext cx="1645920" cy="384048"/>
          </a:xfrm>
          <a:prstGeom prst="roundRect">
            <a:avLst>
              <a:gd name="adj" fmla="val 19048"/>
            </a:avLst>
          </a:prstGeom>
          <a:solidFill>
            <a:srgbClr val="1F3A5F"/>
          </a:solidFill>
          <a:ln w="12700">
            <a:solidFill>
              <a:srgbClr val="1F3A5F"/>
            </a:solidFill>
            <a:prstDash val="solid"/>
          </a:ln>
        </p:spPr>
      </p:sp>
      <p:sp>
        <p:nvSpPr>
          <p:cNvPr id="5" name="Text 2"/>
          <p:cNvSpPr txBox="1"/>
          <p:nvPr/>
        </p:nvSpPr>
        <p:spPr>
          <a:xfrm>
            <a:off x="91440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browser</a:t>
            </a:r>
            <a:endParaRPr lang="en-US" sz="1300" dirty="0"/>
          </a:p>
        </p:txBody>
      </p:sp>
      <p:sp>
        <p:nvSpPr>
          <p:cNvPr id="6" name="Shape 3"/>
          <p:cNvSpPr/>
          <p:nvPr/>
        </p:nvSpPr>
        <p:spPr>
          <a:xfrm>
            <a:off x="1737360" y="1783080"/>
            <a:ext cx="914" cy="2880360"/>
          </a:xfrm>
          <a:prstGeom prst="line">
            <a:avLst/>
          </a:prstGeom>
          <a:noFill/>
          <a:ln w="25400">
            <a:solidFill>
              <a:srgbClr val="1F3A5F"/>
            </a:solidFill>
            <a:prstDash val="solid"/>
          </a:ln>
        </p:spPr>
      </p:sp>
      <p:sp>
        <p:nvSpPr>
          <p:cNvPr id="7" name="box"/>
          <p:cNvSpPr/>
          <p:nvPr/>
        </p:nvSpPr>
        <p:spPr>
          <a:xfrm>
            <a:off x="5852160" y="1325880"/>
            <a:ext cx="1645920" cy="384048"/>
          </a:xfrm>
          <a:prstGeom prst="roundRect">
            <a:avLst>
              <a:gd name="adj" fmla="val 19048"/>
            </a:avLst>
          </a:prstGeom>
          <a:solidFill>
            <a:srgbClr val="2A7F8E"/>
          </a:solidFill>
          <a:ln w="12700">
            <a:solidFill>
              <a:srgbClr val="2A7F8E"/>
            </a:solidFill>
            <a:prstDash val="solid"/>
          </a:ln>
        </p:spPr>
      </p:sp>
      <p:sp>
        <p:nvSpPr>
          <p:cNvPr id="8" name="Text 5"/>
          <p:cNvSpPr txBox="1"/>
          <p:nvPr/>
        </p:nvSpPr>
        <p:spPr>
          <a:xfrm>
            <a:off x="585216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shop server</a:t>
            </a:r>
            <a:endParaRPr lang="en-US" sz="1300" dirty="0"/>
          </a:p>
        </p:txBody>
      </p:sp>
      <p:sp>
        <p:nvSpPr>
          <p:cNvPr id="9" name="Shape 6"/>
          <p:cNvSpPr/>
          <p:nvPr/>
        </p:nvSpPr>
        <p:spPr>
          <a:xfrm>
            <a:off x="6675120" y="1783080"/>
            <a:ext cx="914" cy="2880360"/>
          </a:xfrm>
          <a:prstGeom prst="line">
            <a:avLst/>
          </a:prstGeom>
          <a:noFill/>
          <a:ln w="25400">
            <a:solidFill>
              <a:srgbClr val="1F3A5F"/>
            </a:solidFill>
            <a:prstDash val="solid"/>
          </a:ln>
        </p:spPr>
      </p:sp>
      <p:sp>
        <p:nvSpPr>
          <p:cNvPr id="10" name="Shape 7"/>
          <p:cNvSpPr/>
          <p:nvPr/>
        </p:nvSpPr>
        <p:spPr>
          <a:xfrm>
            <a:off x="1737360" y="1920240"/>
            <a:ext cx="4937760" cy="274320"/>
          </a:xfrm>
          <a:prstGeom prst="line">
            <a:avLst/>
          </a:prstGeom>
          <a:noFill/>
          <a:ln w="25400">
            <a:solidFill>
              <a:srgbClr val="5B6770"/>
            </a:solidFill>
            <a:prstDash val="solid"/>
            <a:tailEnd type="triangle"/>
          </a:ln>
        </p:spPr>
      </p:sp>
      <p:sp>
        <p:nvSpPr>
          <p:cNvPr id="11" name="Text 8"/>
          <p:cNvSpPr txBox="1"/>
          <p:nvPr/>
        </p:nvSpPr>
        <p:spPr>
          <a:xfrm>
            <a:off x="1920240" y="1609344"/>
            <a:ext cx="45720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5B6770"/>
                </a:solidFill>
              </a:rPr>
              <a:t>GET /  (no cookie yet)</a:t>
            </a:r>
            <a:endParaRPr lang="en-US" sz="1200" dirty="0"/>
          </a:p>
        </p:txBody>
      </p:sp>
      <p:sp>
        <p:nvSpPr>
          <p:cNvPr id="12" name="Shape 9"/>
          <p:cNvSpPr/>
          <p:nvPr/>
        </p:nvSpPr>
        <p:spPr>
          <a:xfrm flipH="1">
            <a:off x="1737360" y="2423160"/>
            <a:ext cx="4937760" cy="274320"/>
          </a:xfrm>
          <a:prstGeom prst="line">
            <a:avLst/>
          </a:prstGeom>
          <a:noFill/>
          <a:ln w="25400">
            <a:solidFill>
              <a:srgbClr val="2A7F8E"/>
            </a:solidFill>
            <a:prstDash val="solid"/>
            <a:tailEnd type="triangle"/>
          </a:ln>
        </p:spPr>
      </p:sp>
      <p:sp>
        <p:nvSpPr>
          <p:cNvPr id="13" name="Text 10"/>
          <p:cNvSpPr txBox="1"/>
          <p:nvPr/>
        </p:nvSpPr>
        <p:spPr>
          <a:xfrm>
            <a:off x="1920240" y="2112264"/>
            <a:ext cx="45720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2A7F8E"/>
                </a:solidFill>
              </a:rPr>
              <a:t>200 OK · Set-Cookie: session=7f3a9c</a:t>
            </a:r>
            <a:endParaRPr lang="en-US" sz="1200" dirty="0"/>
          </a:p>
        </p:txBody>
      </p:sp>
      <p:sp>
        <p:nvSpPr>
          <p:cNvPr id="14" name="Shape 11"/>
          <p:cNvSpPr/>
          <p:nvPr/>
        </p:nvSpPr>
        <p:spPr>
          <a:xfrm>
            <a:off x="1737360" y="3063240"/>
            <a:ext cx="4937760" cy="274320"/>
          </a:xfrm>
          <a:prstGeom prst="line">
            <a:avLst/>
          </a:prstGeom>
          <a:noFill/>
          <a:ln w="25400">
            <a:solidFill>
              <a:srgbClr val="1F3A5F"/>
            </a:solidFill>
            <a:prstDash val="solid"/>
            <a:tailEnd type="triangle"/>
          </a:ln>
        </p:spPr>
      </p:sp>
      <p:sp>
        <p:nvSpPr>
          <p:cNvPr id="15" name="Text 12"/>
          <p:cNvSpPr txBox="1"/>
          <p:nvPr/>
        </p:nvSpPr>
        <p:spPr>
          <a:xfrm>
            <a:off x="1920240" y="2752344"/>
            <a:ext cx="45720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GET /cart · Cookie: session=7f3a9c</a:t>
            </a:r>
            <a:endParaRPr lang="en-US" sz="1200" dirty="0"/>
          </a:p>
        </p:txBody>
      </p:sp>
      <p:sp>
        <p:nvSpPr>
          <p:cNvPr id="16" name="Shape 13"/>
          <p:cNvSpPr/>
          <p:nvPr/>
        </p:nvSpPr>
        <p:spPr>
          <a:xfrm flipH="1">
            <a:off x="1737360" y="3611880"/>
            <a:ext cx="4937760" cy="274320"/>
          </a:xfrm>
          <a:prstGeom prst="line">
            <a:avLst/>
          </a:prstGeom>
          <a:noFill/>
          <a:ln w="25400">
            <a:solidFill>
              <a:srgbClr val="2A7F8E"/>
            </a:solidFill>
            <a:prstDash val="solid"/>
            <a:tailEnd type="triangle"/>
          </a:ln>
        </p:spPr>
      </p:sp>
      <p:sp>
        <p:nvSpPr>
          <p:cNvPr id="17" name="Text 14"/>
          <p:cNvSpPr txBox="1"/>
          <p:nvPr/>
        </p:nvSpPr>
        <p:spPr>
          <a:xfrm>
            <a:off x="1920240" y="3300984"/>
            <a:ext cx="45720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2A7F8E"/>
                </a:solidFill>
              </a:rPr>
              <a:t>200 OK · the basket of 7f3a9c</a:t>
            </a:r>
            <a:endParaRPr lang="en-US" sz="1200" dirty="0"/>
          </a:p>
        </p:txBody>
      </p:sp>
      <p:sp>
        <p:nvSpPr>
          <p:cNvPr id="18" name="box"/>
          <p:cNvSpPr/>
          <p:nvPr/>
        </p:nvSpPr>
        <p:spPr>
          <a:xfrm>
            <a:off x="8412480" y="2103120"/>
            <a:ext cx="3200400" cy="1371600"/>
          </a:xfrm>
          <a:prstGeom prst="roundRect">
            <a:avLst>
              <a:gd name="adj" fmla="val 5333"/>
            </a:avLst>
          </a:prstGeom>
          <a:solidFill>
            <a:srgbClr val="F3EAD7"/>
          </a:solidFill>
          <a:ln w="12700">
            <a:solidFill>
              <a:srgbClr val="F3EAD7"/>
            </a:solidFill>
            <a:prstDash val="solid"/>
          </a:ln>
        </p:spPr>
      </p:sp>
      <p:sp>
        <p:nvSpPr>
          <p:cNvPr id="19" name="Text 16"/>
          <p:cNvSpPr txBox="1"/>
          <p:nvPr/>
        </p:nvSpPr>
        <p:spPr>
          <a:xfrm>
            <a:off x="8412480" y="2103120"/>
            <a:ext cx="3200400" cy="1371600"/>
          </a:xfrm>
          <a:prstGeom prst="rect">
            <a:avLst/>
          </a:prstGeom>
          <a:noFill/>
          <a:ln/>
        </p:spPr>
        <p:txBody>
          <a:bodyPr wrap="square" lIns="635" tIns="635" rIns="635" bIns="635" rtlCol="0" anchor="ctr"/>
          <a:lstStyle/>
          <a:p>
            <a:pPr algn="ctr" indent="0" marL="0">
              <a:buNone/>
            </a:pPr>
            <a:r>
              <a:rPr lang="en-US" sz="1300" b="1" dirty="0">
                <a:solidFill>
                  <a:srgbClr val="1B2430"/>
                </a:solidFill>
              </a:rPr>
              <a:t>server database</a:t>
            </a:r>
            <a:endParaRPr lang="en-US" sz="1300" dirty="0"/>
          </a:p>
          <a:p>
            <a:pPr algn="ctr" indent="0" marL="0">
              <a:buNone/>
            </a:pPr>
            <a:r>
              <a:rPr lang="en-US" sz="1300" dirty="0">
                <a:solidFill>
                  <a:srgbClr val="1B2430"/>
                </a:solidFill>
              </a:rPr>
              <a:t>7f3a9c → Ana</a:t>
            </a:r>
            <a:endParaRPr lang="en-US" sz="1300" dirty="0"/>
          </a:p>
          <a:p>
            <a:pPr algn="ctr" indent="0" marL="0">
              <a:buNone/>
            </a:pPr>
            <a:r>
              <a:rPr lang="en-US" sz="1300" dirty="0">
                <a:solidFill>
                  <a:srgbClr val="1B2430"/>
                </a:solidFill>
              </a:rPr>
              <a:t>basket: 2 items</a:t>
            </a:r>
            <a:endParaRPr lang="en-US" sz="1300" dirty="0"/>
          </a:p>
        </p:txBody>
      </p:sp>
      <p:sp>
        <p:nvSpPr>
          <p:cNvPr id="20" name="Shape 17"/>
          <p:cNvSpPr/>
          <p:nvPr/>
        </p:nvSpPr>
        <p:spPr>
          <a:xfrm flipV="1">
            <a:off x="6720840" y="2926080"/>
            <a:ext cx="1691640" cy="365760"/>
          </a:xfrm>
          <a:prstGeom prst="line">
            <a:avLst/>
          </a:prstGeom>
          <a:noFill/>
          <a:ln w="19050">
            <a:solidFill>
              <a:srgbClr val="B9772A"/>
            </a:solidFill>
            <a:prstDash val="solid"/>
            <a:headEnd type="triangle"/>
            <a:tailEnd type="triangle"/>
          </a:ln>
        </p:spPr>
      </p:sp>
      <p:sp>
        <p:nvSpPr>
          <p:cNvPr id="21" name="box"/>
          <p:cNvSpPr/>
          <p:nvPr/>
        </p:nvSpPr>
        <p:spPr>
          <a:xfrm>
            <a:off x="548640" y="4800600"/>
            <a:ext cx="3840480" cy="777240"/>
          </a:xfrm>
          <a:prstGeom prst="roundRect">
            <a:avLst>
              <a:gd name="adj" fmla="val 9412"/>
            </a:avLst>
          </a:prstGeom>
          <a:solidFill>
            <a:srgbClr val="DDF0F2"/>
          </a:solidFill>
          <a:ln w="12700">
            <a:solidFill>
              <a:srgbClr val="DDF0F2"/>
            </a:solidFill>
            <a:prstDash val="solid"/>
          </a:ln>
        </p:spPr>
      </p:sp>
      <p:sp>
        <p:nvSpPr>
          <p:cNvPr id="22" name="Text 19"/>
          <p:cNvSpPr txBox="1"/>
          <p:nvPr/>
        </p:nvSpPr>
        <p:spPr>
          <a:xfrm>
            <a:off x="548640" y="4800600"/>
            <a:ext cx="3840480" cy="777240"/>
          </a:xfrm>
          <a:prstGeom prst="rect">
            <a:avLst/>
          </a:prstGeom>
          <a:noFill/>
          <a:ln/>
        </p:spPr>
        <p:txBody>
          <a:bodyPr wrap="square" lIns="635" tIns="635" rIns="635" bIns="635" rtlCol="0" anchor="ctr"/>
          <a:lstStyle/>
          <a:p>
            <a:pPr algn="ctr" indent="0" marL="0">
              <a:buNone/>
            </a:pPr>
            <a:r>
              <a:rPr lang="en-US" sz="1200" b="1" dirty="0">
                <a:solidFill>
                  <a:srgbClr val="1B2430"/>
                </a:solidFill>
              </a:rPr>
              <a:t>cookie jar</a:t>
            </a:r>
            <a:r>
              <a:rPr lang="en-US" sz="1200" dirty="0">
                <a:solidFill>
                  <a:srgbClr val="1B2430"/>
                </a:solidFill>
              </a:rPr>
              <a:t> (browser)</a:t>
            </a:r>
            <a:endParaRPr lang="en-US" sz="1200" dirty="0"/>
          </a:p>
          <a:p>
            <a:pPr algn="ctr" indent="0" marL="0">
              <a:buNone/>
            </a:pPr>
            <a:r>
              <a:rPr lang="en-US" sz="1200" dirty="0">
                <a:solidFill>
                  <a:srgbClr val="1B2430"/>
                </a:solidFill>
              </a:rPr>
              <a:t>shop.ro: session=7f3a9c</a:t>
            </a:r>
            <a:endParaRPr lang="en-US" sz="1200" dirty="0"/>
          </a:p>
        </p:txBody>
      </p:sp>
      <p:sp>
        <p:nvSpPr>
          <p:cNvPr id="23" name="Shape 20"/>
          <p:cNvSpPr/>
          <p:nvPr/>
        </p:nvSpPr>
        <p:spPr>
          <a:xfrm flipH="1">
            <a:off x="1188720" y="2743200"/>
            <a:ext cx="548640" cy="2057400"/>
          </a:xfrm>
          <a:prstGeom prst="line">
            <a:avLst/>
          </a:prstGeom>
          <a:noFill/>
          <a:ln w="15875">
            <a:solidFill>
              <a:srgbClr val="B9772A"/>
            </a:solidFill>
            <a:prstDash val="dash"/>
            <a:tailEnd type="triangle"/>
          </a:ln>
        </p:spPr>
      </p:sp>
      <p:sp>
        <p:nvSpPr>
          <p:cNvPr id="24" name="Shape 21"/>
          <p:cNvSpPr/>
          <p:nvPr/>
        </p:nvSpPr>
        <p:spPr>
          <a:xfrm>
            <a:off x="8412480" y="3767328"/>
            <a:ext cx="384048" cy="384048"/>
          </a:xfrm>
          <a:prstGeom prst="ellipse">
            <a:avLst/>
          </a:prstGeom>
          <a:solidFill>
            <a:srgbClr val="B9772A"/>
          </a:solidFill>
          <a:ln w="12700">
            <a:solidFill>
              <a:srgbClr val="B9772A"/>
            </a:solidFill>
            <a:prstDash val="solid"/>
          </a:ln>
        </p:spPr>
      </p:sp>
      <p:sp>
        <p:nvSpPr>
          <p:cNvPr id="25" name="Text 22"/>
          <p:cNvSpPr txBox="1"/>
          <p:nvPr/>
        </p:nvSpPr>
        <p:spPr>
          <a:xfrm>
            <a:off x="8412480" y="3767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6" name="Text 23"/>
          <p:cNvSpPr txBox="1"/>
          <p:nvPr/>
        </p:nvSpPr>
        <p:spPr>
          <a:xfrm>
            <a:off x="8915400" y="3749040"/>
            <a:ext cx="2697480" cy="18288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The </a:t>
            </a:r>
            <a:r>
              <a:rPr lang="en-US" sz="1200" b="1" dirty="0">
                <a:solidFill>
                  <a:srgbClr val="1B2430"/>
                </a:solidFill>
              </a:rPr>
              <a:t>state lives at the ends</a:t>
            </a:r>
            <a:r>
              <a:rPr lang="en-US" sz="1200" dirty="0">
                <a:solidFill>
                  <a:srgbClr val="1B2430"/>
                </a:solidFill>
              </a:rPr>
              <a:t>; the protocol itself stays stateless (RFC 6265).</a:t>
            </a:r>
            <a:endParaRPr lang="en-US" sz="1200" dirty="0"/>
          </a:p>
        </p:txBody>
      </p:sp>
      <p:sp>
        <p:nvSpPr>
          <p:cNvPr id="2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8" name="Text 2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 cookie is only a key: the browser sends it back, the server looks up the real state in its database.</a:t>
            </a:r>
            <a:endParaRPr lang="en-US" sz="1400" dirty="0"/>
          </a:p>
        </p:txBody>
      </p:sp>
      <p:sp>
        <p:nvSpPr>
          <p:cNvPr id="29" name="Text 26"/>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HTTP (HyperText Transfer Protocol) · RFC (Request for Comments)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 Anatomy of a Set-Cookie header</a:t>
            </a:r>
            <a:endParaRPr lang="en-US" sz="3000" dirty="0"/>
          </a:p>
        </p:txBody>
      </p:sp>
      <p:sp>
        <p:nvSpPr>
          <p:cNvPr id="4" name="Text 1"/>
          <p:cNvSpPr txBox="1"/>
          <p:nvPr/>
        </p:nvSpPr>
        <p:spPr>
          <a:xfrm>
            <a:off x="548640" y="1143000"/>
            <a:ext cx="3657600" cy="320040"/>
          </a:xfrm>
          <a:prstGeom prst="rect">
            <a:avLst/>
          </a:prstGeom>
          <a:noFill/>
          <a:ln/>
        </p:spPr>
        <p:txBody>
          <a:bodyPr wrap="square" lIns="0" tIns="0" rIns="0" bIns="0" rtlCol="0" anchor="t"/>
          <a:lstStyle/>
          <a:p>
            <a:pPr algn="l" indent="0" marL="0">
              <a:spcAft>
                <a:spcPts val="400"/>
              </a:spcAft>
              <a:buNone/>
            </a:pPr>
            <a:r>
              <a:rPr lang="en-US" sz="1500" dirty="0">
                <a:solidFill>
                  <a:srgbClr val="1B2430"/>
                </a:solidFill>
                <a:latin typeface="Consolas" pitchFamily="34" charset="0"/>
                <a:ea typeface="Consolas" pitchFamily="34" charset="-122"/>
                <a:cs typeface="Consolas" pitchFamily="34" charset="-120"/>
              </a:rPr>
              <a:t>Set-Cookie:</a:t>
            </a:r>
            <a:endParaRPr lang="en-US" sz="1500" dirty="0"/>
          </a:p>
        </p:txBody>
      </p:sp>
      <p:sp>
        <p:nvSpPr>
          <p:cNvPr id="5" name="box"/>
          <p:cNvSpPr/>
          <p:nvPr/>
        </p:nvSpPr>
        <p:spPr>
          <a:xfrm>
            <a:off x="411480" y="1508760"/>
            <a:ext cx="2331720" cy="640080"/>
          </a:xfrm>
          <a:prstGeom prst="rect">
            <a:avLst/>
          </a:prstGeom>
          <a:solidFill>
            <a:srgbClr val="1F3A5F"/>
          </a:solidFill>
          <a:ln w="12700">
            <a:solidFill>
              <a:srgbClr val="1F3A5F"/>
            </a:solidFill>
            <a:prstDash val="solid"/>
          </a:ln>
        </p:spPr>
      </p:sp>
      <p:sp>
        <p:nvSpPr>
          <p:cNvPr id="6" name="Text 3"/>
          <p:cNvSpPr txBox="1"/>
          <p:nvPr/>
        </p:nvSpPr>
        <p:spPr>
          <a:xfrm>
            <a:off x="411480" y="1508760"/>
            <a:ext cx="2331720" cy="64008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session=7f3a9c</a:t>
            </a:r>
            <a:endParaRPr lang="en-US" sz="1200" dirty="0"/>
          </a:p>
        </p:txBody>
      </p:sp>
      <p:sp>
        <p:nvSpPr>
          <p:cNvPr id="7" name="Text 4"/>
          <p:cNvSpPr txBox="1"/>
          <p:nvPr/>
        </p:nvSpPr>
        <p:spPr>
          <a:xfrm>
            <a:off x="411480" y="2212848"/>
            <a:ext cx="2377440" cy="320040"/>
          </a:xfrm>
          <a:prstGeom prst="rect">
            <a:avLst/>
          </a:prstGeom>
          <a:noFill/>
          <a:ln/>
        </p:spPr>
        <p:txBody>
          <a:bodyPr wrap="square" lIns="0" tIns="0" rIns="0" bIns="0" rtlCol="0" anchor="t"/>
          <a:lstStyle/>
          <a:p>
            <a:pPr algn="ctr" indent="0" marL="0">
              <a:spcAft>
                <a:spcPts val="400"/>
              </a:spcAft>
              <a:buNone/>
            </a:pPr>
            <a:r>
              <a:rPr lang="en-US" sz="1200" b="1" dirty="0">
                <a:solidFill>
                  <a:srgbClr val="1F3A5F"/>
                </a:solidFill>
              </a:rPr>
              <a:t>name = value</a:t>
            </a:r>
            <a:endParaRPr lang="en-US" sz="1200" dirty="0"/>
          </a:p>
        </p:txBody>
      </p:sp>
      <p:sp>
        <p:nvSpPr>
          <p:cNvPr id="8" name="box"/>
          <p:cNvSpPr/>
          <p:nvPr/>
        </p:nvSpPr>
        <p:spPr>
          <a:xfrm>
            <a:off x="2788920" y="1508760"/>
            <a:ext cx="1417320" cy="640080"/>
          </a:xfrm>
          <a:prstGeom prst="rect">
            <a:avLst/>
          </a:prstGeom>
          <a:solidFill>
            <a:srgbClr val="2A7F8E"/>
          </a:solidFill>
          <a:ln w="12700">
            <a:solidFill>
              <a:srgbClr val="2A7F8E"/>
            </a:solidFill>
            <a:prstDash val="solid"/>
          </a:ln>
        </p:spPr>
      </p:sp>
      <p:sp>
        <p:nvSpPr>
          <p:cNvPr id="9" name="Text 6"/>
          <p:cNvSpPr txBox="1"/>
          <p:nvPr/>
        </p:nvSpPr>
        <p:spPr>
          <a:xfrm>
            <a:off x="2788920" y="1508760"/>
            <a:ext cx="1417320" cy="64008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 Path=/</a:t>
            </a:r>
            <a:endParaRPr lang="en-US" sz="1200" dirty="0"/>
          </a:p>
        </p:txBody>
      </p:sp>
      <p:sp>
        <p:nvSpPr>
          <p:cNvPr id="10" name="Text 7"/>
          <p:cNvSpPr txBox="1"/>
          <p:nvPr/>
        </p:nvSpPr>
        <p:spPr>
          <a:xfrm>
            <a:off x="2788920" y="2212848"/>
            <a:ext cx="1463040" cy="320040"/>
          </a:xfrm>
          <a:prstGeom prst="rect">
            <a:avLst/>
          </a:prstGeom>
          <a:noFill/>
          <a:ln/>
        </p:spPr>
        <p:txBody>
          <a:bodyPr wrap="square" lIns="0" tIns="0" rIns="0" bIns="0" rtlCol="0" anchor="t"/>
          <a:lstStyle/>
          <a:p>
            <a:pPr algn="ctr" indent="0" marL="0">
              <a:spcAft>
                <a:spcPts val="400"/>
              </a:spcAft>
              <a:buNone/>
            </a:pPr>
            <a:r>
              <a:rPr lang="en-US" sz="1200" b="1" dirty="0">
                <a:solidFill>
                  <a:srgbClr val="2A7F8E"/>
                </a:solidFill>
              </a:rPr>
              <a:t>where</a:t>
            </a:r>
            <a:endParaRPr lang="en-US" sz="1200" dirty="0"/>
          </a:p>
        </p:txBody>
      </p:sp>
      <p:sp>
        <p:nvSpPr>
          <p:cNvPr id="11" name="box"/>
          <p:cNvSpPr/>
          <p:nvPr/>
        </p:nvSpPr>
        <p:spPr>
          <a:xfrm>
            <a:off x="4251960" y="1508760"/>
            <a:ext cx="1965960" cy="640080"/>
          </a:xfrm>
          <a:prstGeom prst="rect">
            <a:avLst/>
          </a:prstGeom>
          <a:solidFill>
            <a:srgbClr val="B9772A"/>
          </a:solidFill>
          <a:ln w="12700">
            <a:solidFill>
              <a:srgbClr val="B9772A"/>
            </a:solidFill>
            <a:prstDash val="solid"/>
          </a:ln>
        </p:spPr>
      </p:sp>
      <p:sp>
        <p:nvSpPr>
          <p:cNvPr id="12" name="Text 9"/>
          <p:cNvSpPr txBox="1"/>
          <p:nvPr/>
        </p:nvSpPr>
        <p:spPr>
          <a:xfrm>
            <a:off x="4251960" y="1508760"/>
            <a:ext cx="1965960" cy="64008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 Max-Age=3600</a:t>
            </a:r>
            <a:endParaRPr lang="en-US" sz="1200" dirty="0"/>
          </a:p>
        </p:txBody>
      </p:sp>
      <p:sp>
        <p:nvSpPr>
          <p:cNvPr id="13" name="Text 10"/>
          <p:cNvSpPr txBox="1"/>
          <p:nvPr/>
        </p:nvSpPr>
        <p:spPr>
          <a:xfrm>
            <a:off x="4251960" y="2212848"/>
            <a:ext cx="2011680" cy="320040"/>
          </a:xfrm>
          <a:prstGeom prst="rect">
            <a:avLst/>
          </a:prstGeom>
          <a:noFill/>
          <a:ln/>
        </p:spPr>
        <p:txBody>
          <a:bodyPr wrap="square" lIns="0" tIns="0" rIns="0" bIns="0" rtlCol="0" anchor="t"/>
          <a:lstStyle/>
          <a:p>
            <a:pPr algn="ctr" indent="0" marL="0">
              <a:spcAft>
                <a:spcPts val="400"/>
              </a:spcAft>
              <a:buNone/>
            </a:pPr>
            <a:r>
              <a:rPr lang="en-US" sz="1200" b="1" dirty="0">
                <a:solidFill>
                  <a:srgbClr val="B9772A"/>
                </a:solidFill>
              </a:rPr>
              <a:t>how long</a:t>
            </a:r>
            <a:endParaRPr lang="en-US" sz="1200" dirty="0"/>
          </a:p>
        </p:txBody>
      </p:sp>
      <p:sp>
        <p:nvSpPr>
          <p:cNvPr id="14" name="box"/>
          <p:cNvSpPr/>
          <p:nvPr/>
        </p:nvSpPr>
        <p:spPr>
          <a:xfrm>
            <a:off x="6263640" y="1508760"/>
            <a:ext cx="1280160" cy="640080"/>
          </a:xfrm>
          <a:prstGeom prst="rect">
            <a:avLst/>
          </a:prstGeom>
          <a:solidFill>
            <a:srgbClr val="2E7D4F"/>
          </a:solidFill>
          <a:ln w="12700">
            <a:solidFill>
              <a:srgbClr val="2E7D4F"/>
            </a:solidFill>
            <a:prstDash val="solid"/>
          </a:ln>
        </p:spPr>
      </p:sp>
      <p:sp>
        <p:nvSpPr>
          <p:cNvPr id="15" name="Text 12"/>
          <p:cNvSpPr txBox="1"/>
          <p:nvPr/>
        </p:nvSpPr>
        <p:spPr>
          <a:xfrm>
            <a:off x="6263640" y="1508760"/>
            <a:ext cx="1280160" cy="64008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 Secure</a:t>
            </a:r>
            <a:endParaRPr lang="en-US" sz="1200" dirty="0"/>
          </a:p>
        </p:txBody>
      </p:sp>
      <p:sp>
        <p:nvSpPr>
          <p:cNvPr id="16" name="Text 13"/>
          <p:cNvSpPr txBox="1"/>
          <p:nvPr/>
        </p:nvSpPr>
        <p:spPr>
          <a:xfrm>
            <a:off x="6263640" y="2212848"/>
            <a:ext cx="1325880" cy="320040"/>
          </a:xfrm>
          <a:prstGeom prst="rect">
            <a:avLst/>
          </a:prstGeom>
          <a:noFill/>
          <a:ln/>
        </p:spPr>
        <p:txBody>
          <a:bodyPr wrap="square" lIns="0" tIns="0" rIns="0" bIns="0" rtlCol="0" anchor="t"/>
          <a:lstStyle/>
          <a:p>
            <a:pPr algn="ctr" indent="0" marL="0">
              <a:spcAft>
                <a:spcPts val="400"/>
              </a:spcAft>
              <a:buNone/>
            </a:pPr>
            <a:r>
              <a:rPr lang="en-US" sz="1200" b="1" dirty="0">
                <a:solidFill>
                  <a:srgbClr val="2E7D4F"/>
                </a:solidFill>
              </a:rPr>
              <a:t>HTTPS only</a:t>
            </a:r>
            <a:endParaRPr lang="en-US" sz="1200" dirty="0"/>
          </a:p>
        </p:txBody>
      </p:sp>
      <p:sp>
        <p:nvSpPr>
          <p:cNvPr id="17" name="box"/>
          <p:cNvSpPr/>
          <p:nvPr/>
        </p:nvSpPr>
        <p:spPr>
          <a:xfrm>
            <a:off x="7589520" y="1508760"/>
            <a:ext cx="1508760" cy="640080"/>
          </a:xfrm>
          <a:prstGeom prst="rect">
            <a:avLst/>
          </a:prstGeom>
          <a:solidFill>
            <a:srgbClr val="2E7D4F"/>
          </a:solidFill>
          <a:ln w="12700">
            <a:solidFill>
              <a:srgbClr val="2E7D4F"/>
            </a:solidFill>
            <a:prstDash val="solid"/>
          </a:ln>
        </p:spPr>
      </p:sp>
      <p:sp>
        <p:nvSpPr>
          <p:cNvPr id="18" name="Text 15"/>
          <p:cNvSpPr txBox="1"/>
          <p:nvPr/>
        </p:nvSpPr>
        <p:spPr>
          <a:xfrm>
            <a:off x="7589520" y="1508760"/>
            <a:ext cx="1508760" cy="64008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 HttpOnly</a:t>
            </a:r>
            <a:endParaRPr lang="en-US" sz="1200" dirty="0"/>
          </a:p>
        </p:txBody>
      </p:sp>
      <p:sp>
        <p:nvSpPr>
          <p:cNvPr id="19" name="Text 16"/>
          <p:cNvSpPr txBox="1"/>
          <p:nvPr/>
        </p:nvSpPr>
        <p:spPr>
          <a:xfrm>
            <a:off x="7589520" y="2212848"/>
            <a:ext cx="1554480" cy="320040"/>
          </a:xfrm>
          <a:prstGeom prst="rect">
            <a:avLst/>
          </a:prstGeom>
          <a:noFill/>
          <a:ln/>
        </p:spPr>
        <p:txBody>
          <a:bodyPr wrap="square" lIns="0" tIns="0" rIns="0" bIns="0" rtlCol="0" anchor="t"/>
          <a:lstStyle/>
          <a:p>
            <a:pPr algn="ctr" indent="0" marL="0">
              <a:spcAft>
                <a:spcPts val="400"/>
              </a:spcAft>
              <a:buNone/>
            </a:pPr>
            <a:r>
              <a:rPr lang="en-US" sz="1200" b="1" dirty="0">
                <a:solidFill>
                  <a:srgbClr val="2E7D4F"/>
                </a:solidFill>
              </a:rPr>
              <a:t>no JavaScript</a:t>
            </a:r>
            <a:endParaRPr lang="en-US" sz="1200" dirty="0"/>
          </a:p>
        </p:txBody>
      </p:sp>
      <p:sp>
        <p:nvSpPr>
          <p:cNvPr id="20" name="box"/>
          <p:cNvSpPr/>
          <p:nvPr/>
        </p:nvSpPr>
        <p:spPr>
          <a:xfrm>
            <a:off x="9144000" y="1508760"/>
            <a:ext cx="1965960" cy="640080"/>
          </a:xfrm>
          <a:prstGeom prst="rect">
            <a:avLst/>
          </a:prstGeom>
          <a:solidFill>
            <a:srgbClr val="A23B3B"/>
          </a:solidFill>
          <a:ln w="12700">
            <a:solidFill>
              <a:srgbClr val="A23B3B"/>
            </a:solidFill>
            <a:prstDash val="solid"/>
          </a:ln>
        </p:spPr>
      </p:sp>
      <p:sp>
        <p:nvSpPr>
          <p:cNvPr id="21" name="Text 18"/>
          <p:cNvSpPr txBox="1"/>
          <p:nvPr/>
        </p:nvSpPr>
        <p:spPr>
          <a:xfrm>
            <a:off x="9144000" y="1508760"/>
            <a:ext cx="1965960" cy="64008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 SameSite=Lax</a:t>
            </a:r>
            <a:endParaRPr lang="en-US" sz="1200" dirty="0"/>
          </a:p>
        </p:txBody>
      </p:sp>
      <p:sp>
        <p:nvSpPr>
          <p:cNvPr id="22" name="Text 19"/>
          <p:cNvSpPr txBox="1"/>
          <p:nvPr/>
        </p:nvSpPr>
        <p:spPr>
          <a:xfrm>
            <a:off x="9144000" y="2212848"/>
            <a:ext cx="2011680" cy="320040"/>
          </a:xfrm>
          <a:prstGeom prst="rect">
            <a:avLst/>
          </a:prstGeom>
          <a:noFill/>
          <a:ln/>
        </p:spPr>
        <p:txBody>
          <a:bodyPr wrap="square" lIns="0" tIns="0" rIns="0" bIns="0" rtlCol="0" anchor="t"/>
          <a:lstStyle/>
          <a:p>
            <a:pPr algn="ctr" indent="0" marL="0">
              <a:spcAft>
                <a:spcPts val="400"/>
              </a:spcAft>
              <a:buNone/>
            </a:pPr>
            <a:r>
              <a:rPr lang="en-US" sz="1200" b="1" dirty="0">
                <a:solidFill>
                  <a:srgbClr val="A23B3B"/>
                </a:solidFill>
              </a:rPr>
              <a:t>cross-site rule</a:t>
            </a:r>
            <a:endParaRPr lang="en-US" sz="1200" dirty="0"/>
          </a:p>
        </p:txBody>
      </p:sp>
      <p:sp>
        <p:nvSpPr>
          <p:cNvPr id="23" name="box"/>
          <p:cNvSpPr/>
          <p:nvPr/>
        </p:nvSpPr>
        <p:spPr>
          <a:xfrm>
            <a:off x="548640" y="2788920"/>
            <a:ext cx="2651760" cy="457200"/>
          </a:xfrm>
          <a:prstGeom prst="roundRect">
            <a:avLst>
              <a:gd name="adj" fmla="val 16000"/>
            </a:avLst>
          </a:prstGeom>
          <a:solidFill>
            <a:srgbClr val="EEF2F6"/>
          </a:solidFill>
          <a:ln w="12700">
            <a:solidFill>
              <a:srgbClr val="EEF2F6"/>
            </a:solidFill>
            <a:prstDash val="solid"/>
          </a:ln>
        </p:spPr>
      </p:sp>
      <p:sp>
        <p:nvSpPr>
          <p:cNvPr id="24" name="Text 21"/>
          <p:cNvSpPr txBox="1"/>
          <p:nvPr/>
        </p:nvSpPr>
        <p:spPr>
          <a:xfrm>
            <a:off x="548640" y="2788920"/>
            <a:ext cx="2651760" cy="457200"/>
          </a:xfrm>
          <a:prstGeom prst="rect">
            <a:avLst/>
          </a:prstGeom>
          <a:noFill/>
          <a:ln/>
        </p:spPr>
        <p:txBody>
          <a:bodyPr wrap="square" lIns="635" tIns="635" rIns="635" bIns="635" rtlCol="0" anchor="ctr"/>
          <a:lstStyle/>
          <a:p>
            <a:pPr algn="ctr" indent="0" marL="0">
              <a:buNone/>
            </a:pPr>
            <a:r>
              <a:rPr lang="en-US" sz="1300" b="1" dirty="0">
                <a:solidFill>
                  <a:srgbClr val="1B2430"/>
                </a:solidFill>
              </a:rPr>
              <a:t>Expires / Max-Age</a:t>
            </a:r>
            <a:endParaRPr lang="en-US" sz="1300" dirty="0"/>
          </a:p>
        </p:txBody>
      </p:sp>
      <p:sp>
        <p:nvSpPr>
          <p:cNvPr id="25" name="Text 22"/>
          <p:cNvSpPr txBox="1"/>
          <p:nvPr/>
        </p:nvSpPr>
        <p:spPr>
          <a:xfrm>
            <a:off x="3383280" y="2862072"/>
            <a:ext cx="8229600" cy="4114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missing → </a:t>
            </a:r>
            <a:r>
              <a:rPr lang="en-US" sz="1300" b="1" dirty="0">
                <a:solidFill>
                  <a:srgbClr val="1B2430"/>
                </a:solidFill>
              </a:rPr>
              <a:t>session cookie</a:t>
            </a:r>
            <a:r>
              <a:rPr lang="en-US" sz="1300" dirty="0">
                <a:solidFill>
                  <a:srgbClr val="1B2430"/>
                </a:solidFill>
              </a:rPr>
              <a:t>, deleted when the browser closes</a:t>
            </a:r>
            <a:endParaRPr lang="en-US" sz="1300" dirty="0"/>
          </a:p>
        </p:txBody>
      </p:sp>
      <p:sp>
        <p:nvSpPr>
          <p:cNvPr id="26" name="box"/>
          <p:cNvSpPr/>
          <p:nvPr/>
        </p:nvSpPr>
        <p:spPr>
          <a:xfrm>
            <a:off x="548640" y="3337560"/>
            <a:ext cx="2651760" cy="457200"/>
          </a:xfrm>
          <a:prstGeom prst="roundRect">
            <a:avLst>
              <a:gd name="adj" fmla="val 16000"/>
            </a:avLst>
          </a:prstGeom>
          <a:solidFill>
            <a:srgbClr val="EEF2F6"/>
          </a:solidFill>
          <a:ln w="12700">
            <a:solidFill>
              <a:srgbClr val="EEF2F6"/>
            </a:solidFill>
            <a:prstDash val="solid"/>
          </a:ln>
        </p:spPr>
      </p:sp>
      <p:sp>
        <p:nvSpPr>
          <p:cNvPr id="27" name="Text 24"/>
          <p:cNvSpPr txBox="1"/>
          <p:nvPr/>
        </p:nvSpPr>
        <p:spPr>
          <a:xfrm>
            <a:off x="548640" y="3337560"/>
            <a:ext cx="2651760" cy="457200"/>
          </a:xfrm>
          <a:prstGeom prst="rect">
            <a:avLst/>
          </a:prstGeom>
          <a:noFill/>
          <a:ln/>
        </p:spPr>
        <p:txBody>
          <a:bodyPr wrap="square" lIns="635" tIns="635" rIns="635" bIns="635" rtlCol="0" anchor="ctr"/>
          <a:lstStyle/>
          <a:p>
            <a:pPr algn="ctr" indent="0" marL="0">
              <a:buNone/>
            </a:pPr>
            <a:r>
              <a:rPr lang="en-US" sz="1300" b="1" dirty="0">
                <a:solidFill>
                  <a:srgbClr val="1B2430"/>
                </a:solidFill>
              </a:rPr>
              <a:t>Domain / Path</a:t>
            </a:r>
            <a:endParaRPr lang="en-US" sz="1300" dirty="0"/>
          </a:p>
        </p:txBody>
      </p:sp>
      <p:sp>
        <p:nvSpPr>
          <p:cNvPr id="28" name="Text 25"/>
          <p:cNvSpPr txBox="1"/>
          <p:nvPr/>
        </p:nvSpPr>
        <p:spPr>
          <a:xfrm>
            <a:off x="3383280" y="3410712"/>
            <a:ext cx="8229600" cy="4114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to which hosts and paths it is sent back</a:t>
            </a:r>
            <a:endParaRPr lang="en-US" sz="1300" dirty="0"/>
          </a:p>
        </p:txBody>
      </p:sp>
      <p:sp>
        <p:nvSpPr>
          <p:cNvPr id="29" name="box"/>
          <p:cNvSpPr/>
          <p:nvPr/>
        </p:nvSpPr>
        <p:spPr>
          <a:xfrm>
            <a:off x="548640" y="3886200"/>
            <a:ext cx="2651760" cy="457200"/>
          </a:xfrm>
          <a:prstGeom prst="roundRect">
            <a:avLst>
              <a:gd name="adj" fmla="val 16000"/>
            </a:avLst>
          </a:prstGeom>
          <a:solidFill>
            <a:srgbClr val="EEF2F6"/>
          </a:solidFill>
          <a:ln w="12700">
            <a:solidFill>
              <a:srgbClr val="EEF2F6"/>
            </a:solidFill>
            <a:prstDash val="solid"/>
          </a:ln>
        </p:spPr>
      </p:sp>
      <p:sp>
        <p:nvSpPr>
          <p:cNvPr id="30" name="Text 27"/>
          <p:cNvSpPr txBox="1"/>
          <p:nvPr/>
        </p:nvSpPr>
        <p:spPr>
          <a:xfrm>
            <a:off x="548640" y="3886200"/>
            <a:ext cx="2651760" cy="457200"/>
          </a:xfrm>
          <a:prstGeom prst="rect">
            <a:avLst/>
          </a:prstGeom>
          <a:noFill/>
          <a:ln/>
        </p:spPr>
        <p:txBody>
          <a:bodyPr wrap="square" lIns="635" tIns="635" rIns="635" bIns="635" rtlCol="0" anchor="ctr"/>
          <a:lstStyle/>
          <a:p>
            <a:pPr algn="ctr" indent="0" marL="0">
              <a:buNone/>
            </a:pPr>
            <a:r>
              <a:rPr lang="en-US" sz="1300" b="1" dirty="0">
                <a:solidFill>
                  <a:srgbClr val="1B2430"/>
                </a:solidFill>
              </a:rPr>
              <a:t>Secure</a:t>
            </a:r>
            <a:endParaRPr lang="en-US" sz="1300" dirty="0"/>
          </a:p>
        </p:txBody>
      </p:sp>
      <p:sp>
        <p:nvSpPr>
          <p:cNvPr id="31" name="Text 28"/>
          <p:cNvSpPr txBox="1"/>
          <p:nvPr/>
        </p:nvSpPr>
        <p:spPr>
          <a:xfrm>
            <a:off x="3383280" y="3959352"/>
            <a:ext cx="8229600" cy="4114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never sent over plain HTTP</a:t>
            </a:r>
            <a:endParaRPr lang="en-US" sz="1300" dirty="0"/>
          </a:p>
        </p:txBody>
      </p:sp>
      <p:sp>
        <p:nvSpPr>
          <p:cNvPr id="32" name="box"/>
          <p:cNvSpPr/>
          <p:nvPr/>
        </p:nvSpPr>
        <p:spPr>
          <a:xfrm>
            <a:off x="548640" y="4434840"/>
            <a:ext cx="2651760" cy="457200"/>
          </a:xfrm>
          <a:prstGeom prst="roundRect">
            <a:avLst>
              <a:gd name="adj" fmla="val 16000"/>
            </a:avLst>
          </a:prstGeom>
          <a:solidFill>
            <a:srgbClr val="EEF2F6"/>
          </a:solidFill>
          <a:ln w="12700">
            <a:solidFill>
              <a:srgbClr val="EEF2F6"/>
            </a:solidFill>
            <a:prstDash val="solid"/>
          </a:ln>
        </p:spPr>
      </p:sp>
      <p:sp>
        <p:nvSpPr>
          <p:cNvPr id="33" name="Text 30"/>
          <p:cNvSpPr txBox="1"/>
          <p:nvPr/>
        </p:nvSpPr>
        <p:spPr>
          <a:xfrm>
            <a:off x="548640" y="4434840"/>
            <a:ext cx="2651760" cy="457200"/>
          </a:xfrm>
          <a:prstGeom prst="rect">
            <a:avLst/>
          </a:prstGeom>
          <a:noFill/>
          <a:ln/>
        </p:spPr>
        <p:txBody>
          <a:bodyPr wrap="square" lIns="635" tIns="635" rIns="635" bIns="635" rtlCol="0" anchor="ctr"/>
          <a:lstStyle/>
          <a:p>
            <a:pPr algn="ctr" indent="0" marL="0">
              <a:buNone/>
            </a:pPr>
            <a:r>
              <a:rPr lang="en-US" sz="1300" b="1" dirty="0">
                <a:solidFill>
                  <a:srgbClr val="1B2430"/>
                </a:solidFill>
              </a:rPr>
              <a:t>HttpOnly</a:t>
            </a:r>
            <a:endParaRPr lang="en-US" sz="1300" dirty="0"/>
          </a:p>
        </p:txBody>
      </p:sp>
      <p:sp>
        <p:nvSpPr>
          <p:cNvPr id="34" name="Text 31"/>
          <p:cNvSpPr txBox="1"/>
          <p:nvPr/>
        </p:nvSpPr>
        <p:spPr>
          <a:xfrm>
            <a:off x="3383280" y="4507992"/>
            <a:ext cx="8229600" cy="4114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invisible to page scripts: an injected script cannot steal it</a:t>
            </a:r>
            <a:endParaRPr lang="en-US" sz="1300" dirty="0"/>
          </a:p>
        </p:txBody>
      </p:sp>
      <p:sp>
        <p:nvSpPr>
          <p:cNvPr id="35" name="box"/>
          <p:cNvSpPr/>
          <p:nvPr/>
        </p:nvSpPr>
        <p:spPr>
          <a:xfrm>
            <a:off x="548640" y="4983480"/>
            <a:ext cx="2651760" cy="457200"/>
          </a:xfrm>
          <a:prstGeom prst="roundRect">
            <a:avLst>
              <a:gd name="adj" fmla="val 16000"/>
            </a:avLst>
          </a:prstGeom>
          <a:solidFill>
            <a:srgbClr val="EEF2F6"/>
          </a:solidFill>
          <a:ln w="12700">
            <a:solidFill>
              <a:srgbClr val="EEF2F6"/>
            </a:solidFill>
            <a:prstDash val="solid"/>
          </a:ln>
        </p:spPr>
      </p:sp>
      <p:sp>
        <p:nvSpPr>
          <p:cNvPr id="36" name="Text 33"/>
          <p:cNvSpPr txBox="1"/>
          <p:nvPr/>
        </p:nvSpPr>
        <p:spPr>
          <a:xfrm>
            <a:off x="548640" y="4983480"/>
            <a:ext cx="2651760" cy="457200"/>
          </a:xfrm>
          <a:prstGeom prst="rect">
            <a:avLst/>
          </a:prstGeom>
          <a:noFill/>
          <a:ln/>
        </p:spPr>
        <p:txBody>
          <a:bodyPr wrap="square" lIns="635" tIns="635" rIns="635" bIns="635" rtlCol="0" anchor="ctr"/>
          <a:lstStyle/>
          <a:p>
            <a:pPr algn="ctr" indent="0" marL="0">
              <a:buNone/>
            </a:pPr>
            <a:r>
              <a:rPr lang="en-US" sz="1300" b="1" dirty="0">
                <a:solidFill>
                  <a:srgbClr val="1B2430"/>
                </a:solidFill>
              </a:rPr>
              <a:t>SameSite</a:t>
            </a:r>
            <a:endParaRPr lang="en-US" sz="1300" dirty="0"/>
          </a:p>
        </p:txBody>
      </p:sp>
      <p:sp>
        <p:nvSpPr>
          <p:cNvPr id="37" name="Text 34"/>
          <p:cNvSpPr txBox="1"/>
          <p:nvPr/>
        </p:nvSpPr>
        <p:spPr>
          <a:xfrm>
            <a:off x="3383280" y="5056632"/>
            <a:ext cx="8229600" cy="4114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Strict · Lax · None — whether other sites’ requests carry it (defence against forged cross-site requests)</a:t>
            </a:r>
            <a:endParaRPr lang="en-US" sz="1300" dirty="0"/>
          </a:p>
        </p:txBody>
      </p:sp>
      <p:sp>
        <p:nvSpPr>
          <p:cNvPr id="3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9" name="Text 3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Secure + HttpOnly + SameSite: the three attributes every session cookie should carry.</a:t>
            </a:r>
            <a:endParaRPr lang="en-US" sz="1400" dirty="0"/>
          </a:p>
        </p:txBody>
      </p:sp>
      <p:sp>
        <p:nvSpPr>
          <p:cNvPr id="40" name="Text 3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HTTPS (HyperText Transfer Protocol Secure) · HTTP (HyperText Transfer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 First-party and third-party cookies: tracking</a:t>
            </a:r>
            <a:endParaRPr lang="en-US" sz="3000" dirty="0"/>
          </a:p>
        </p:txBody>
      </p:sp>
      <p:sp>
        <p:nvSpPr>
          <p:cNvPr id="4" name="box"/>
          <p:cNvSpPr/>
          <p:nvPr/>
        </p:nvSpPr>
        <p:spPr>
          <a:xfrm>
            <a:off x="548640" y="1371600"/>
            <a:ext cx="3108960" cy="1005840"/>
          </a:xfrm>
          <a:prstGeom prst="roundRect">
            <a:avLst>
              <a:gd name="adj" fmla="val 7273"/>
            </a:avLst>
          </a:prstGeom>
          <a:solidFill>
            <a:srgbClr val="2A7F8E"/>
          </a:solidFill>
          <a:ln w="12700">
            <a:solidFill>
              <a:srgbClr val="2A7F8E"/>
            </a:solidFill>
            <a:prstDash val="solid"/>
          </a:ln>
        </p:spPr>
      </p:sp>
      <p:sp>
        <p:nvSpPr>
          <p:cNvPr id="5" name="Text 2"/>
          <p:cNvSpPr txBox="1"/>
          <p:nvPr/>
        </p:nvSpPr>
        <p:spPr>
          <a:xfrm>
            <a:off x="548640" y="1371600"/>
            <a:ext cx="3108960" cy="1005840"/>
          </a:xfrm>
          <a:prstGeom prst="rect">
            <a:avLst/>
          </a:prstGeom>
          <a:noFill/>
          <a:ln/>
        </p:spPr>
        <p:txBody>
          <a:bodyPr wrap="square" lIns="635" tIns="635" rIns="635" bIns="635" rtlCol="0" anchor="ctr"/>
          <a:lstStyle/>
          <a:p>
            <a:pPr algn="ctr" indent="0" marL="0">
              <a:buNone/>
            </a:pPr>
            <a:r>
              <a:rPr lang="en-US" sz="1300" b="1" dirty="0">
                <a:solidFill>
                  <a:srgbClr val="FFFFFF"/>
                </a:solidFill>
              </a:rPr>
              <a:t>shop.example.ro</a:t>
            </a:r>
            <a:endParaRPr lang="en-US" sz="1300" dirty="0"/>
          </a:p>
          <a:p>
            <a:pPr algn="ctr" indent="0" marL="0">
              <a:buNone/>
            </a:pPr>
            <a:r>
              <a:rPr lang="en-US" sz="1300" dirty="0">
                <a:solidFill>
                  <a:srgbClr val="FFFFFF"/>
                </a:solidFill>
              </a:rPr>
              <a:t>first-party cookie: sid</a:t>
            </a:r>
            <a:endParaRPr lang="en-US" sz="1300" dirty="0"/>
          </a:p>
        </p:txBody>
      </p:sp>
      <p:sp>
        <p:nvSpPr>
          <p:cNvPr id="6" name="box"/>
          <p:cNvSpPr/>
          <p:nvPr/>
        </p:nvSpPr>
        <p:spPr>
          <a:xfrm>
            <a:off x="548640" y="2834640"/>
            <a:ext cx="3108960" cy="1005840"/>
          </a:xfrm>
          <a:prstGeom prst="roundRect">
            <a:avLst>
              <a:gd name="adj" fmla="val 7273"/>
            </a:avLst>
          </a:prstGeom>
          <a:solidFill>
            <a:srgbClr val="2A7F8E"/>
          </a:solidFill>
          <a:ln w="12700">
            <a:solidFill>
              <a:srgbClr val="2A7F8E"/>
            </a:solidFill>
            <a:prstDash val="solid"/>
          </a:ln>
        </p:spPr>
      </p:sp>
      <p:sp>
        <p:nvSpPr>
          <p:cNvPr id="7" name="Text 4"/>
          <p:cNvSpPr txBox="1"/>
          <p:nvPr/>
        </p:nvSpPr>
        <p:spPr>
          <a:xfrm>
            <a:off x="548640" y="2834640"/>
            <a:ext cx="3108960" cy="1005840"/>
          </a:xfrm>
          <a:prstGeom prst="rect">
            <a:avLst/>
          </a:prstGeom>
          <a:noFill/>
          <a:ln/>
        </p:spPr>
        <p:txBody>
          <a:bodyPr wrap="square" lIns="635" tIns="635" rIns="635" bIns="635" rtlCol="0" anchor="ctr"/>
          <a:lstStyle/>
          <a:p>
            <a:pPr algn="ctr" indent="0" marL="0">
              <a:buNone/>
            </a:pPr>
            <a:r>
              <a:rPr lang="en-US" sz="1300" b="1" dirty="0">
                <a:solidFill>
                  <a:srgbClr val="FFFFFF"/>
                </a:solidFill>
              </a:rPr>
              <a:t>news.example.com</a:t>
            </a:r>
            <a:endParaRPr lang="en-US" sz="1300" dirty="0"/>
          </a:p>
          <a:p>
            <a:pPr algn="ctr" indent="0" marL="0">
              <a:buNone/>
            </a:pPr>
            <a:r>
              <a:rPr lang="en-US" sz="1300" dirty="0">
                <a:solidFill>
                  <a:srgbClr val="FFFFFF"/>
                </a:solidFill>
              </a:rPr>
              <a:t>first-party cookie: none</a:t>
            </a:r>
            <a:endParaRPr lang="en-US" sz="1300" dirty="0"/>
          </a:p>
        </p:txBody>
      </p:sp>
      <p:sp>
        <p:nvSpPr>
          <p:cNvPr id="8" name="box"/>
          <p:cNvSpPr/>
          <p:nvPr/>
        </p:nvSpPr>
        <p:spPr>
          <a:xfrm>
            <a:off x="548640" y="4297680"/>
            <a:ext cx="3108960" cy="1005840"/>
          </a:xfrm>
          <a:prstGeom prst="roundRect">
            <a:avLst>
              <a:gd name="adj" fmla="val 7273"/>
            </a:avLst>
          </a:prstGeom>
          <a:solidFill>
            <a:srgbClr val="2A7F8E"/>
          </a:solidFill>
          <a:ln w="12700">
            <a:solidFill>
              <a:srgbClr val="2A7F8E"/>
            </a:solidFill>
            <a:prstDash val="solid"/>
          </a:ln>
        </p:spPr>
      </p:sp>
      <p:sp>
        <p:nvSpPr>
          <p:cNvPr id="9" name="Text 6"/>
          <p:cNvSpPr txBox="1"/>
          <p:nvPr/>
        </p:nvSpPr>
        <p:spPr>
          <a:xfrm>
            <a:off x="548640" y="4297680"/>
            <a:ext cx="3108960" cy="1005840"/>
          </a:xfrm>
          <a:prstGeom prst="rect">
            <a:avLst/>
          </a:prstGeom>
          <a:noFill/>
          <a:ln/>
        </p:spPr>
        <p:txBody>
          <a:bodyPr wrap="square" lIns="635" tIns="635" rIns="635" bIns="635" rtlCol="0" anchor="ctr"/>
          <a:lstStyle/>
          <a:p>
            <a:pPr algn="ctr" indent="0" marL="0">
              <a:buNone/>
            </a:pPr>
            <a:r>
              <a:rPr lang="en-US" sz="1300" b="1" dirty="0">
                <a:solidFill>
                  <a:srgbClr val="FFFFFF"/>
                </a:solidFill>
              </a:rPr>
              <a:t>weather.example.org</a:t>
            </a:r>
            <a:endParaRPr lang="en-US" sz="1300" dirty="0"/>
          </a:p>
          <a:p>
            <a:pPr algn="ctr" indent="0" marL="0">
              <a:buNone/>
            </a:pPr>
            <a:r>
              <a:rPr lang="en-US" sz="1300" dirty="0">
                <a:solidFill>
                  <a:srgbClr val="FFFFFF"/>
                </a:solidFill>
              </a:rPr>
              <a:t>…and thousands more</a:t>
            </a:r>
            <a:endParaRPr lang="en-US" sz="1300" dirty="0"/>
          </a:p>
        </p:txBody>
      </p:sp>
      <p:sp>
        <p:nvSpPr>
          <p:cNvPr id="10" name="box"/>
          <p:cNvSpPr/>
          <p:nvPr/>
        </p:nvSpPr>
        <p:spPr>
          <a:xfrm>
            <a:off x="7863840" y="2377440"/>
            <a:ext cx="3749040" cy="2011680"/>
          </a:xfrm>
          <a:prstGeom prst="roundRect">
            <a:avLst>
              <a:gd name="adj" fmla="val 3636"/>
            </a:avLst>
          </a:prstGeom>
          <a:solidFill>
            <a:srgbClr val="A23B3B"/>
          </a:solidFill>
          <a:ln w="12700">
            <a:solidFill>
              <a:srgbClr val="A23B3B"/>
            </a:solidFill>
            <a:prstDash val="solid"/>
          </a:ln>
        </p:spPr>
      </p:sp>
      <p:sp>
        <p:nvSpPr>
          <p:cNvPr id="11" name="Text 8"/>
          <p:cNvSpPr txBox="1"/>
          <p:nvPr/>
        </p:nvSpPr>
        <p:spPr>
          <a:xfrm>
            <a:off x="7863840" y="2377440"/>
            <a:ext cx="3749040" cy="2011680"/>
          </a:xfrm>
          <a:prstGeom prst="rect">
            <a:avLst/>
          </a:prstGeom>
          <a:noFill/>
          <a:ln/>
        </p:spPr>
        <p:txBody>
          <a:bodyPr wrap="square" lIns="635" tIns="635" rIns="635" bIns="635" rtlCol="0" anchor="ctr"/>
          <a:lstStyle/>
          <a:p>
            <a:pPr algn="ctr" indent="0" marL="0">
              <a:spcAft>
                <a:spcPts val="300"/>
              </a:spcAft>
              <a:buNone/>
            </a:pPr>
            <a:r>
              <a:rPr lang="en-US" sz="1300" b="1" dirty="0">
                <a:solidFill>
                  <a:srgbClr val="FFFFFF"/>
                </a:solidFill>
              </a:rPr>
              <a:t>ads.tracker.net</a:t>
            </a:r>
            <a:endParaRPr lang="en-US" sz="1300" dirty="0"/>
          </a:p>
          <a:p>
            <a:pPr algn="ctr" indent="0" marL="0">
              <a:spcAft>
                <a:spcPts val="300"/>
              </a:spcAft>
              <a:buNone/>
            </a:pPr>
            <a:r>
              <a:rPr lang="en-US" sz="1300" dirty="0">
                <a:solidFill>
                  <a:srgbClr val="FFFFFF"/>
                </a:solidFill>
              </a:rPr>
              <a:t>third-party cookie uid=77c2</a:t>
            </a:r>
            <a:endParaRPr lang="en-US" sz="1300" dirty="0"/>
          </a:p>
          <a:p>
            <a:pPr algn="ctr" indent="0" marL="0">
              <a:spcAft>
                <a:spcPts val="300"/>
              </a:spcAft>
              <a:buNone/>
            </a:pPr>
            <a:r>
              <a:rPr lang="en-US" sz="1300" dirty="0">
                <a:solidFill>
                  <a:srgbClr val="FFFFFF"/>
                </a:solidFill>
              </a:rPr>
              <a:t>+ Referer of each page</a:t>
            </a:r>
            <a:endParaRPr lang="en-US" sz="1300" dirty="0"/>
          </a:p>
          <a:p>
            <a:pPr algn="ctr" indent="0" marL="0">
              <a:spcAft>
                <a:spcPts val="300"/>
              </a:spcAft>
              <a:buNone/>
            </a:pPr>
            <a:r>
              <a:rPr lang="en-US" sz="1300" dirty="0">
                <a:solidFill>
                  <a:srgbClr val="FFFFFF"/>
                </a:solidFill>
              </a:rPr>
              <a:t>→ one profile across sites</a:t>
            </a:r>
            <a:endParaRPr lang="en-US" sz="1300" dirty="0"/>
          </a:p>
        </p:txBody>
      </p:sp>
      <p:sp>
        <p:nvSpPr>
          <p:cNvPr id="12" name="Shape 9"/>
          <p:cNvSpPr/>
          <p:nvPr/>
        </p:nvSpPr>
        <p:spPr>
          <a:xfrm>
            <a:off x="3657600" y="1874520"/>
            <a:ext cx="4206240" cy="1508760"/>
          </a:xfrm>
          <a:prstGeom prst="line">
            <a:avLst/>
          </a:prstGeom>
          <a:noFill/>
          <a:ln w="19050">
            <a:solidFill>
              <a:srgbClr val="A23B3B"/>
            </a:solidFill>
            <a:prstDash val="dash"/>
            <a:tailEnd type="triangle"/>
          </a:ln>
        </p:spPr>
      </p:sp>
      <p:sp>
        <p:nvSpPr>
          <p:cNvPr id="13" name="Shape 10"/>
          <p:cNvSpPr/>
          <p:nvPr/>
        </p:nvSpPr>
        <p:spPr>
          <a:xfrm>
            <a:off x="3657600" y="3337560"/>
            <a:ext cx="4206240" cy="45720"/>
          </a:xfrm>
          <a:prstGeom prst="line">
            <a:avLst/>
          </a:prstGeom>
          <a:noFill/>
          <a:ln w="19050">
            <a:solidFill>
              <a:srgbClr val="A23B3B"/>
            </a:solidFill>
            <a:prstDash val="dash"/>
            <a:tailEnd type="triangle"/>
          </a:ln>
        </p:spPr>
      </p:sp>
      <p:sp>
        <p:nvSpPr>
          <p:cNvPr id="14" name="Shape 11"/>
          <p:cNvSpPr/>
          <p:nvPr/>
        </p:nvSpPr>
        <p:spPr>
          <a:xfrm flipV="1">
            <a:off x="3657600" y="3383280"/>
            <a:ext cx="4206240" cy="1417320"/>
          </a:xfrm>
          <a:prstGeom prst="line">
            <a:avLst/>
          </a:prstGeom>
          <a:noFill/>
          <a:ln w="19050">
            <a:solidFill>
              <a:srgbClr val="A23B3B"/>
            </a:solidFill>
            <a:prstDash val="dash"/>
            <a:tailEnd type="triangle"/>
          </a:ln>
        </p:spPr>
      </p:sp>
      <p:sp>
        <p:nvSpPr>
          <p:cNvPr id="15" name="Text 12"/>
          <p:cNvSpPr txBox="1"/>
          <p:nvPr/>
        </p:nvSpPr>
        <p:spPr>
          <a:xfrm>
            <a:off x="4114800" y="1325880"/>
            <a:ext cx="3566160" cy="822960"/>
          </a:xfrm>
          <a:prstGeom prst="rect">
            <a:avLst/>
          </a:prstGeom>
          <a:noFill/>
          <a:ln/>
        </p:spPr>
        <p:txBody>
          <a:bodyPr wrap="square" lIns="0" tIns="0" rIns="0" bIns="0" rtlCol="0" anchor="t"/>
          <a:lstStyle/>
          <a:p>
            <a:pPr algn="l" indent="0" marL="0">
              <a:spcAft>
                <a:spcPts val="400"/>
              </a:spcAft>
              <a:buNone/>
            </a:pPr>
            <a:r>
              <a:rPr lang="en-US" sz="1200" dirty="0">
                <a:solidFill>
                  <a:srgbClr val="A23B3B"/>
                </a:solidFill>
              </a:rPr>
              <a:t>each page loads </a:t>
            </a:r>
            <a:r>
              <a:rPr lang="en-US" sz="1200" dirty="0">
                <a:solidFill>
                  <a:srgbClr val="A23B3B"/>
                </a:solidFill>
                <a:latin typeface="Consolas" pitchFamily="34" charset="0"/>
                <a:ea typeface="Consolas" pitchFamily="34" charset="-122"/>
                <a:cs typeface="Consolas" pitchFamily="34" charset="-120"/>
              </a:rPr>
              <a:t>pixel.gif</a:t>
            </a:r>
            <a:r>
              <a:rPr lang="en-US" sz="1200" dirty="0">
                <a:solidFill>
                  <a:srgbClr val="A23B3B"/>
                </a:solidFill>
              </a:rPr>
              <a:t> from the tracker → </a:t>
            </a:r>
            <a:r>
              <a:rPr lang="en-US" sz="1200" dirty="0">
                <a:solidFill>
                  <a:srgbClr val="A23B3B"/>
                </a:solidFill>
                <a:latin typeface="Consolas" pitchFamily="34" charset="0"/>
                <a:ea typeface="Consolas" pitchFamily="34" charset="-122"/>
                <a:cs typeface="Consolas" pitchFamily="34" charset="-120"/>
              </a:rPr>
              <a:t>Cookie: uid=77c2</a:t>
            </a:r>
            <a:endParaRPr lang="en-US" sz="1200" dirty="0"/>
          </a:p>
        </p:txBody>
      </p:sp>
      <p:sp>
        <p:nvSpPr>
          <p:cNvPr id="16" name="Shape 13"/>
          <p:cNvSpPr/>
          <p:nvPr/>
        </p:nvSpPr>
        <p:spPr>
          <a:xfrm>
            <a:off x="4023360" y="4590288"/>
            <a:ext cx="384048" cy="384048"/>
          </a:xfrm>
          <a:prstGeom prst="ellipse">
            <a:avLst/>
          </a:prstGeom>
          <a:solidFill>
            <a:srgbClr val="B9772A"/>
          </a:solidFill>
          <a:ln w="12700">
            <a:solidFill>
              <a:srgbClr val="B9772A"/>
            </a:solidFill>
            <a:prstDash val="solid"/>
          </a:ln>
        </p:spPr>
      </p:sp>
      <p:sp>
        <p:nvSpPr>
          <p:cNvPr id="17" name="Text 14"/>
          <p:cNvSpPr txBox="1"/>
          <p:nvPr/>
        </p:nvSpPr>
        <p:spPr>
          <a:xfrm>
            <a:off x="4023360" y="4590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8" name="Text 15"/>
          <p:cNvSpPr txBox="1"/>
          <p:nvPr/>
        </p:nvSpPr>
        <p:spPr>
          <a:xfrm>
            <a:off x="4526280" y="4572000"/>
            <a:ext cx="7086600" cy="10058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Hence consent banners (ePrivacy Directive, GDPR) and browsers that </a:t>
            </a:r>
            <a:r>
              <a:rPr lang="en-US" sz="1200" b="1" dirty="0">
                <a:solidFill>
                  <a:srgbClr val="1B2430"/>
                </a:solidFill>
              </a:rPr>
              <a:t>block third-party cookies</a:t>
            </a:r>
            <a:r>
              <a:rPr lang="en-US" sz="1200" dirty="0">
                <a:solidFill>
                  <a:srgbClr val="1B2430"/>
                </a:solidFill>
              </a:rPr>
              <a:t> (Safari, Firefox).</a:t>
            </a:r>
            <a:endParaRPr lang="en-US" sz="1200" dirty="0"/>
          </a:p>
        </p:txBody>
      </p:sp>
      <p:sp>
        <p:nvSpPr>
          <p:cNvPr id="19"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0" name="Text 17"/>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 third-party cookie is the same identifier arriving from many sites — that is what makes tracking possible.</a:t>
            </a:r>
            <a:endParaRPr lang="en-US" sz="1400" dirty="0"/>
          </a:p>
        </p:txBody>
      </p:sp>
      <p:sp>
        <p:nvSpPr>
          <p:cNvPr id="21" name="Text 18"/>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GDPR (General Data Protection Regulation)</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 Web caches: copies close to the users</a:t>
            </a:r>
            <a:endParaRPr lang="en-US" sz="3000" dirty="0"/>
          </a:p>
        </p:txBody>
      </p:sp>
      <p:sp>
        <p:nvSpPr>
          <p:cNvPr id="4" name="box"/>
          <p:cNvSpPr/>
          <p:nvPr/>
        </p:nvSpPr>
        <p:spPr>
          <a:xfrm>
            <a:off x="548640" y="1325880"/>
            <a:ext cx="5120640" cy="4206240"/>
          </a:xfrm>
          <a:prstGeom prst="roundRect">
            <a:avLst>
              <a:gd name="adj" fmla="val 1739"/>
            </a:avLst>
          </a:prstGeom>
          <a:solidFill>
            <a:srgbClr val="FFFFFF"/>
          </a:solidFill>
          <a:ln w="19050">
            <a:solidFill>
              <a:srgbClr val="9AA5AE"/>
            </a:solidFill>
            <a:prstDash val="solid"/>
          </a:ln>
        </p:spPr>
      </p:sp>
      <p:sp>
        <p:nvSpPr>
          <p:cNvPr id="5" name="Text 2"/>
          <p:cNvSpPr txBox="1"/>
          <p:nvPr/>
        </p:nvSpPr>
        <p:spPr>
          <a:xfrm>
            <a:off x="731520" y="1389888"/>
            <a:ext cx="4754880" cy="365760"/>
          </a:xfrm>
          <a:prstGeom prst="rect">
            <a:avLst/>
          </a:prstGeom>
          <a:noFill/>
          <a:ln/>
        </p:spPr>
        <p:txBody>
          <a:bodyPr wrap="square" lIns="0" tIns="0" rIns="0" bIns="0" rtlCol="0" anchor="t"/>
          <a:lstStyle/>
          <a:p>
            <a:pPr algn="l" indent="0" marL="0">
              <a:spcAft>
                <a:spcPts val="400"/>
              </a:spcAft>
              <a:buNone/>
            </a:pPr>
            <a:r>
              <a:rPr lang="en-US" sz="1300" b="1" dirty="0">
                <a:solidFill>
                  <a:srgbClr val="1F3A5F"/>
                </a:solidFill>
              </a:rPr>
              <a:t>Institutional network (1 Gbit/s LAN)</a:t>
            </a:r>
            <a:endParaRPr lang="en-US" sz="1300" dirty="0"/>
          </a:p>
        </p:txBody>
      </p:sp>
      <p:sp>
        <p:nvSpPr>
          <p:cNvPr id="6" name="box"/>
          <p:cNvSpPr/>
          <p:nvPr/>
        </p:nvSpPr>
        <p:spPr>
          <a:xfrm>
            <a:off x="822960" y="1920240"/>
            <a:ext cx="1371600" cy="640080"/>
          </a:xfrm>
          <a:prstGeom prst="roundRect">
            <a:avLst>
              <a:gd name="adj" fmla="val 11429"/>
            </a:avLst>
          </a:prstGeom>
          <a:solidFill>
            <a:srgbClr val="EEF2F6"/>
          </a:solidFill>
          <a:ln w="12700">
            <a:solidFill>
              <a:srgbClr val="EEF2F6"/>
            </a:solidFill>
            <a:prstDash val="solid"/>
          </a:ln>
        </p:spPr>
      </p:sp>
      <p:sp>
        <p:nvSpPr>
          <p:cNvPr id="7" name="Text 4"/>
          <p:cNvSpPr txBox="1"/>
          <p:nvPr/>
        </p:nvSpPr>
        <p:spPr>
          <a:xfrm>
            <a:off x="822960" y="1920240"/>
            <a:ext cx="137160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client 1</a:t>
            </a:r>
            <a:endParaRPr lang="en-US" sz="1200" dirty="0"/>
          </a:p>
        </p:txBody>
      </p:sp>
      <p:sp>
        <p:nvSpPr>
          <p:cNvPr id="8" name="box"/>
          <p:cNvSpPr/>
          <p:nvPr/>
        </p:nvSpPr>
        <p:spPr>
          <a:xfrm>
            <a:off x="822960" y="2834640"/>
            <a:ext cx="1371600" cy="640080"/>
          </a:xfrm>
          <a:prstGeom prst="roundRect">
            <a:avLst>
              <a:gd name="adj" fmla="val 11429"/>
            </a:avLst>
          </a:prstGeom>
          <a:solidFill>
            <a:srgbClr val="EEF2F6"/>
          </a:solidFill>
          <a:ln w="12700">
            <a:solidFill>
              <a:srgbClr val="EEF2F6"/>
            </a:solidFill>
            <a:prstDash val="solid"/>
          </a:ln>
        </p:spPr>
      </p:sp>
      <p:sp>
        <p:nvSpPr>
          <p:cNvPr id="9" name="Text 6"/>
          <p:cNvSpPr txBox="1"/>
          <p:nvPr/>
        </p:nvSpPr>
        <p:spPr>
          <a:xfrm>
            <a:off x="822960" y="2834640"/>
            <a:ext cx="137160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client 2</a:t>
            </a:r>
            <a:endParaRPr lang="en-US" sz="1200" dirty="0"/>
          </a:p>
        </p:txBody>
      </p:sp>
      <p:sp>
        <p:nvSpPr>
          <p:cNvPr id="10" name="box"/>
          <p:cNvSpPr/>
          <p:nvPr/>
        </p:nvSpPr>
        <p:spPr>
          <a:xfrm>
            <a:off x="822960" y="3749040"/>
            <a:ext cx="1371600" cy="640080"/>
          </a:xfrm>
          <a:prstGeom prst="roundRect">
            <a:avLst>
              <a:gd name="adj" fmla="val 11429"/>
            </a:avLst>
          </a:prstGeom>
          <a:solidFill>
            <a:srgbClr val="EEF2F6"/>
          </a:solidFill>
          <a:ln w="12700">
            <a:solidFill>
              <a:srgbClr val="EEF2F6"/>
            </a:solidFill>
            <a:prstDash val="solid"/>
          </a:ln>
        </p:spPr>
      </p:sp>
      <p:sp>
        <p:nvSpPr>
          <p:cNvPr id="11" name="Text 8"/>
          <p:cNvSpPr txBox="1"/>
          <p:nvPr/>
        </p:nvSpPr>
        <p:spPr>
          <a:xfrm>
            <a:off x="822960" y="3749040"/>
            <a:ext cx="137160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client 3</a:t>
            </a:r>
            <a:endParaRPr lang="en-US" sz="1200" dirty="0"/>
          </a:p>
        </p:txBody>
      </p:sp>
      <p:sp>
        <p:nvSpPr>
          <p:cNvPr id="12" name="box"/>
          <p:cNvSpPr/>
          <p:nvPr/>
        </p:nvSpPr>
        <p:spPr>
          <a:xfrm>
            <a:off x="3108960" y="2377440"/>
            <a:ext cx="2194560" cy="1280160"/>
          </a:xfrm>
          <a:prstGeom prst="roundRect">
            <a:avLst>
              <a:gd name="adj" fmla="val 5714"/>
            </a:avLst>
          </a:prstGeom>
          <a:solidFill>
            <a:srgbClr val="B9772A"/>
          </a:solidFill>
          <a:ln w="12700">
            <a:solidFill>
              <a:srgbClr val="B9772A"/>
            </a:solidFill>
            <a:prstDash val="solid"/>
          </a:ln>
        </p:spPr>
      </p:sp>
      <p:sp>
        <p:nvSpPr>
          <p:cNvPr id="13" name="Text 10"/>
          <p:cNvSpPr txBox="1"/>
          <p:nvPr/>
        </p:nvSpPr>
        <p:spPr>
          <a:xfrm>
            <a:off x="3108960" y="2377440"/>
            <a:ext cx="2194560" cy="1280160"/>
          </a:xfrm>
          <a:prstGeom prst="rect">
            <a:avLst/>
          </a:prstGeom>
          <a:noFill/>
          <a:ln/>
        </p:spPr>
        <p:txBody>
          <a:bodyPr wrap="square" lIns="635" tIns="635" rIns="635" bIns="635" rtlCol="0" anchor="ctr"/>
          <a:lstStyle/>
          <a:p>
            <a:pPr algn="ctr" indent="0" marL="0">
              <a:buNone/>
            </a:pPr>
            <a:r>
              <a:rPr lang="en-US" sz="1200" b="1" dirty="0">
                <a:solidFill>
                  <a:srgbClr val="FFFFFF"/>
                </a:solidFill>
              </a:rPr>
              <a:t>proxy cache</a:t>
            </a:r>
            <a:endParaRPr lang="en-US" sz="1200" dirty="0"/>
          </a:p>
          <a:p>
            <a:pPr algn="ctr" indent="0" marL="0">
              <a:buNone/>
            </a:pPr>
            <a:r>
              <a:rPr lang="en-US" sz="1200" dirty="0">
                <a:solidFill>
                  <a:srgbClr val="FFFFFF"/>
                </a:solidFill>
              </a:rPr>
              <a:t>client to browsers,</a:t>
            </a:r>
            <a:endParaRPr lang="en-US" sz="1200" dirty="0"/>
          </a:p>
          <a:p>
            <a:pPr algn="ctr" indent="0" marL="0">
              <a:buNone/>
            </a:pPr>
            <a:r>
              <a:rPr lang="en-US" sz="1200" dirty="0">
                <a:solidFill>
                  <a:srgbClr val="FFFFFF"/>
                </a:solidFill>
              </a:rPr>
              <a:t>server to origins</a:t>
            </a:r>
            <a:endParaRPr lang="en-US" sz="1200" dirty="0"/>
          </a:p>
        </p:txBody>
      </p:sp>
      <p:sp>
        <p:nvSpPr>
          <p:cNvPr id="14" name="Shape 11"/>
          <p:cNvSpPr/>
          <p:nvPr/>
        </p:nvSpPr>
        <p:spPr>
          <a:xfrm>
            <a:off x="2194560" y="2240280"/>
            <a:ext cx="914400" cy="777240"/>
          </a:xfrm>
          <a:prstGeom prst="line">
            <a:avLst/>
          </a:prstGeom>
          <a:noFill/>
          <a:ln w="15875">
            <a:solidFill>
              <a:srgbClr val="5B6770"/>
            </a:solidFill>
            <a:prstDash val="solid"/>
            <a:headEnd type="triangle"/>
            <a:tailEnd type="triangle"/>
          </a:ln>
        </p:spPr>
      </p:sp>
      <p:sp>
        <p:nvSpPr>
          <p:cNvPr id="15" name="Shape 12"/>
          <p:cNvSpPr/>
          <p:nvPr/>
        </p:nvSpPr>
        <p:spPr>
          <a:xfrm flipV="1">
            <a:off x="2194560" y="3017520"/>
            <a:ext cx="914400" cy="137160"/>
          </a:xfrm>
          <a:prstGeom prst="line">
            <a:avLst/>
          </a:prstGeom>
          <a:noFill/>
          <a:ln w="15875">
            <a:solidFill>
              <a:srgbClr val="5B6770"/>
            </a:solidFill>
            <a:prstDash val="solid"/>
            <a:headEnd type="triangle"/>
            <a:tailEnd type="triangle"/>
          </a:ln>
        </p:spPr>
      </p:sp>
      <p:sp>
        <p:nvSpPr>
          <p:cNvPr id="16" name="Shape 13"/>
          <p:cNvSpPr/>
          <p:nvPr/>
        </p:nvSpPr>
        <p:spPr>
          <a:xfrm flipV="1">
            <a:off x="2194560" y="3017520"/>
            <a:ext cx="914400" cy="1051560"/>
          </a:xfrm>
          <a:prstGeom prst="line">
            <a:avLst/>
          </a:prstGeom>
          <a:noFill/>
          <a:ln w="15875">
            <a:solidFill>
              <a:srgbClr val="5B6770"/>
            </a:solidFill>
            <a:prstDash val="solid"/>
            <a:headEnd type="triangle"/>
            <a:tailEnd type="triangle"/>
          </a:ln>
        </p:spPr>
      </p:sp>
      <p:sp>
        <p:nvSpPr>
          <p:cNvPr id="17" name="box"/>
          <p:cNvSpPr/>
          <p:nvPr/>
        </p:nvSpPr>
        <p:spPr>
          <a:xfrm>
            <a:off x="2286000" y="4572000"/>
            <a:ext cx="3200400" cy="731520"/>
          </a:xfrm>
          <a:prstGeom prst="roundRect">
            <a:avLst>
              <a:gd name="adj" fmla="val 10000"/>
            </a:avLst>
          </a:prstGeom>
          <a:solidFill>
            <a:srgbClr val="EEF2F6"/>
          </a:solidFill>
          <a:ln w="12700">
            <a:solidFill>
              <a:srgbClr val="EEF2F6"/>
            </a:solidFill>
            <a:prstDash val="solid"/>
          </a:ln>
        </p:spPr>
      </p:sp>
      <p:sp>
        <p:nvSpPr>
          <p:cNvPr id="18" name="Text 15"/>
          <p:cNvSpPr txBox="1"/>
          <p:nvPr/>
        </p:nvSpPr>
        <p:spPr>
          <a:xfrm>
            <a:off x="2286000" y="4572000"/>
            <a:ext cx="3200400" cy="731520"/>
          </a:xfrm>
          <a:prstGeom prst="rect">
            <a:avLst/>
          </a:prstGeom>
          <a:noFill/>
          <a:ln/>
        </p:spPr>
        <p:txBody>
          <a:bodyPr wrap="square" lIns="635" tIns="635" rIns="635" bIns="635" rtlCol="0" anchor="ctr"/>
          <a:lstStyle/>
          <a:p>
            <a:pPr algn="ctr" indent="0" marL="0">
              <a:buNone/>
            </a:pPr>
            <a:r>
              <a:rPr lang="en-US" sz="1200" dirty="0">
                <a:solidFill>
                  <a:srgbClr val="1B2430"/>
                </a:solidFill>
              </a:rPr>
              <a:t>router</a:t>
            </a:r>
            <a:endParaRPr lang="en-US" sz="1200" dirty="0"/>
          </a:p>
        </p:txBody>
      </p:sp>
      <p:sp>
        <p:nvSpPr>
          <p:cNvPr id="19" name="Shape 16"/>
          <p:cNvSpPr/>
          <p:nvPr/>
        </p:nvSpPr>
        <p:spPr>
          <a:xfrm>
            <a:off x="4206240" y="3657600"/>
            <a:ext cx="914" cy="914400"/>
          </a:xfrm>
          <a:prstGeom prst="line">
            <a:avLst/>
          </a:prstGeom>
          <a:noFill/>
          <a:ln w="22225">
            <a:solidFill>
              <a:srgbClr val="5B6770"/>
            </a:solidFill>
            <a:prstDash val="solid"/>
            <a:headEnd type="triangle"/>
            <a:tailEnd type="triangle"/>
          </a:ln>
        </p:spPr>
      </p:sp>
      <p:sp>
        <p:nvSpPr>
          <p:cNvPr id="20" name="Shape 17"/>
          <p:cNvSpPr/>
          <p:nvPr/>
        </p:nvSpPr>
        <p:spPr>
          <a:xfrm>
            <a:off x="5486400" y="4937760"/>
            <a:ext cx="2377440" cy="914"/>
          </a:xfrm>
          <a:prstGeom prst="line">
            <a:avLst/>
          </a:prstGeom>
          <a:noFill/>
          <a:ln w="44450">
            <a:solidFill>
              <a:srgbClr val="A23B3B"/>
            </a:solidFill>
            <a:prstDash val="solid"/>
            <a:headEnd type="triangle"/>
            <a:tailEnd type="triangle"/>
          </a:ln>
        </p:spPr>
      </p:sp>
      <p:sp>
        <p:nvSpPr>
          <p:cNvPr id="21" name="Text 18"/>
          <p:cNvSpPr txBox="1"/>
          <p:nvPr/>
        </p:nvSpPr>
        <p:spPr>
          <a:xfrm>
            <a:off x="5303520" y="4617720"/>
            <a:ext cx="2743200" cy="310896"/>
          </a:xfrm>
          <a:prstGeom prst="rect">
            <a:avLst/>
          </a:prstGeom>
          <a:solidFill>
            <a:srgbClr val="FFFFFF"/>
          </a:solidFill>
          <a:ln/>
        </p:spPr>
        <p:txBody>
          <a:bodyPr wrap="square" lIns="0" tIns="0" rIns="0" bIns="0" rtlCol="0" anchor="ctr"/>
          <a:lstStyle/>
          <a:p>
            <a:pPr algn="ctr" indent="0" marL="0">
              <a:buNone/>
            </a:pPr>
            <a:r>
              <a:rPr lang="en-US" sz="1200" b="1" dirty="0">
                <a:solidFill>
                  <a:srgbClr val="A23B3B"/>
                </a:solidFill>
              </a:rPr>
              <a:t>access link 100 Mbit/s</a:t>
            </a:r>
            <a:endParaRPr lang="en-US" sz="1200" dirty="0"/>
          </a:p>
        </p:txBody>
      </p:sp>
      <p:sp>
        <p:nvSpPr>
          <p:cNvPr id="22" name="box"/>
          <p:cNvSpPr/>
          <p:nvPr/>
        </p:nvSpPr>
        <p:spPr>
          <a:xfrm>
            <a:off x="7863840" y="4206240"/>
            <a:ext cx="3749040" cy="1371600"/>
          </a:xfrm>
          <a:prstGeom prst="roundRect">
            <a:avLst>
              <a:gd name="adj" fmla="val 5333"/>
            </a:avLst>
          </a:prstGeom>
          <a:solidFill>
            <a:srgbClr val="DDF0F2"/>
          </a:solidFill>
          <a:ln w="12700">
            <a:solidFill>
              <a:srgbClr val="DDF0F2"/>
            </a:solidFill>
            <a:prstDash val="solid"/>
          </a:ln>
        </p:spPr>
      </p:sp>
      <p:sp>
        <p:nvSpPr>
          <p:cNvPr id="23" name="Text 20"/>
          <p:cNvSpPr txBox="1"/>
          <p:nvPr/>
        </p:nvSpPr>
        <p:spPr>
          <a:xfrm>
            <a:off x="7863840" y="4206240"/>
            <a:ext cx="3749040" cy="1371600"/>
          </a:xfrm>
          <a:prstGeom prst="rect">
            <a:avLst/>
          </a:prstGeom>
          <a:noFill/>
          <a:ln/>
        </p:spPr>
        <p:txBody>
          <a:bodyPr wrap="square" lIns="635" tIns="635" rIns="635" bIns="635" rtlCol="0" anchor="ctr"/>
          <a:lstStyle/>
          <a:p>
            <a:pPr algn="ctr" indent="0" marL="0">
              <a:buNone/>
            </a:pPr>
            <a:r>
              <a:rPr lang="en-US" sz="1300" b="1" dirty="0">
                <a:solidFill>
                  <a:srgbClr val="1B2430"/>
                </a:solidFill>
              </a:rPr>
              <a:t>Internet</a:t>
            </a:r>
            <a:endParaRPr lang="en-US" sz="1300" dirty="0"/>
          </a:p>
          <a:p>
            <a:pPr algn="ctr" indent="0" marL="0">
              <a:buNone/>
            </a:pPr>
            <a:r>
              <a:rPr lang="en-US" sz="1300" dirty="0">
                <a:solidFill>
                  <a:srgbClr val="1B2430"/>
                </a:solidFill>
              </a:rPr>
              <a:t>origin servers ≈ 1 s away</a:t>
            </a:r>
            <a:endParaRPr lang="en-US" sz="1300" dirty="0"/>
          </a:p>
        </p:txBody>
      </p:sp>
      <p:sp>
        <p:nvSpPr>
          <p:cNvPr id="24" name="Shape 21"/>
          <p:cNvSpPr/>
          <p:nvPr/>
        </p:nvSpPr>
        <p:spPr>
          <a:xfrm>
            <a:off x="6035040" y="1389888"/>
            <a:ext cx="384048" cy="384048"/>
          </a:xfrm>
          <a:prstGeom prst="ellipse">
            <a:avLst/>
          </a:prstGeom>
          <a:solidFill>
            <a:srgbClr val="B9772A"/>
          </a:solidFill>
          <a:ln w="12700">
            <a:solidFill>
              <a:srgbClr val="B9772A"/>
            </a:solidFill>
            <a:prstDash val="solid"/>
          </a:ln>
        </p:spPr>
      </p:sp>
      <p:sp>
        <p:nvSpPr>
          <p:cNvPr id="25" name="Text 22"/>
          <p:cNvSpPr txBox="1"/>
          <p:nvPr/>
        </p:nvSpPr>
        <p:spPr>
          <a:xfrm>
            <a:off x="6035040" y="1389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6" name="Text 23"/>
          <p:cNvSpPr txBox="1"/>
          <p:nvPr/>
        </p:nvSpPr>
        <p:spPr>
          <a:xfrm>
            <a:off x="6537960" y="1371600"/>
            <a:ext cx="5074920" cy="86868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Hit</a:t>
            </a:r>
            <a:r>
              <a:rPr lang="en-US" sz="1300" dirty="0">
                <a:solidFill>
                  <a:srgbClr val="1B2430"/>
                </a:solidFill>
              </a:rPr>
              <a:t>: answered on the LAN in a few ms.</a:t>
            </a:r>
            <a:endParaRPr lang="en-US" sz="1300" dirty="0"/>
          </a:p>
        </p:txBody>
      </p:sp>
      <p:sp>
        <p:nvSpPr>
          <p:cNvPr id="27" name="Shape 24"/>
          <p:cNvSpPr/>
          <p:nvPr/>
        </p:nvSpPr>
        <p:spPr>
          <a:xfrm>
            <a:off x="6035040" y="2304288"/>
            <a:ext cx="384048" cy="384048"/>
          </a:xfrm>
          <a:prstGeom prst="ellipse">
            <a:avLst/>
          </a:prstGeom>
          <a:solidFill>
            <a:srgbClr val="B9772A"/>
          </a:solidFill>
          <a:ln w="12700">
            <a:solidFill>
              <a:srgbClr val="B9772A"/>
            </a:solidFill>
            <a:prstDash val="solid"/>
          </a:ln>
        </p:spPr>
      </p:sp>
      <p:sp>
        <p:nvSpPr>
          <p:cNvPr id="28" name="Text 25"/>
          <p:cNvSpPr txBox="1"/>
          <p:nvPr/>
        </p:nvSpPr>
        <p:spPr>
          <a:xfrm>
            <a:off x="6035040" y="2304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9" name="Text 26"/>
          <p:cNvSpPr txBox="1"/>
          <p:nvPr/>
        </p:nvSpPr>
        <p:spPr>
          <a:xfrm>
            <a:off x="6537960" y="2286000"/>
            <a:ext cx="5074920" cy="86868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Miss</a:t>
            </a:r>
            <a:r>
              <a:rPr lang="en-US" sz="1300" dirty="0">
                <a:solidFill>
                  <a:srgbClr val="1B2430"/>
                </a:solidFill>
              </a:rPr>
              <a:t>: forwarded over the access link, copy kept.</a:t>
            </a:r>
            <a:endParaRPr lang="en-US" sz="1300" dirty="0"/>
          </a:p>
        </p:txBody>
      </p:sp>
      <p:sp>
        <p:nvSpPr>
          <p:cNvPr id="30" name="Shape 27"/>
          <p:cNvSpPr/>
          <p:nvPr/>
        </p:nvSpPr>
        <p:spPr>
          <a:xfrm>
            <a:off x="6035040" y="3218688"/>
            <a:ext cx="384048" cy="384048"/>
          </a:xfrm>
          <a:prstGeom prst="ellipse">
            <a:avLst/>
          </a:prstGeom>
          <a:solidFill>
            <a:srgbClr val="B9772A"/>
          </a:solidFill>
          <a:ln w="12700">
            <a:solidFill>
              <a:srgbClr val="B9772A"/>
            </a:solidFill>
            <a:prstDash val="solid"/>
          </a:ln>
        </p:spPr>
      </p:sp>
      <p:sp>
        <p:nvSpPr>
          <p:cNvPr id="31" name="Text 28"/>
          <p:cNvSpPr txBox="1"/>
          <p:nvPr/>
        </p:nvSpPr>
        <p:spPr>
          <a:xfrm>
            <a:off x="6035040" y="32186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2" name="Text 29"/>
          <p:cNvSpPr txBox="1"/>
          <p:nvPr/>
        </p:nvSpPr>
        <p:spPr>
          <a:xfrm>
            <a:off x="6537960" y="3200400"/>
            <a:ext cx="5074920" cy="8686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Caches also sit in browsers, in reverse proxies and in CDNs.</a:t>
            </a:r>
            <a:endParaRPr lang="en-US" sz="1300" dirty="0"/>
          </a:p>
        </p:txBody>
      </p:sp>
      <p:sp>
        <p:nvSpPr>
          <p:cNvPr id="33"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4" name="Text 31"/>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 cache saves response time, access-link traffic and origin-server load — all three at once.</a:t>
            </a:r>
            <a:endParaRPr lang="en-US" sz="1400" dirty="0"/>
          </a:p>
        </p:txBody>
      </p:sp>
      <p:sp>
        <p:nvSpPr>
          <p:cNvPr id="35" name="Text 32"/>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LAN (local area network)</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 Worked example: buy a faster link, or install a cache?</a:t>
            </a:r>
            <a:endParaRPr lang="en-US" sz="3000" dirty="0"/>
          </a:p>
        </p:txBody>
      </p:sp>
      <p:sp>
        <p:nvSpPr>
          <p:cNvPr id="4" name="Text 1"/>
          <p:cNvSpPr txBox="1"/>
          <p:nvPr/>
        </p:nvSpPr>
        <p:spPr>
          <a:xfrm>
            <a:off x="548640" y="1463040"/>
            <a:ext cx="2468880" cy="82296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No cache</a:t>
            </a:r>
            <a:endParaRPr lang="en-US" sz="1200" dirty="0"/>
          </a:p>
          <a:p>
            <a:pPr algn="l" indent="0" marL="0">
              <a:spcAft>
                <a:spcPts val="400"/>
              </a:spcAft>
              <a:buNone/>
            </a:pPr>
            <a:r>
              <a:rPr lang="en-US" sz="1200" dirty="0">
                <a:solidFill>
                  <a:srgbClr val="1B2430"/>
                </a:solidFill>
              </a:rPr>
              <a:t>ρ = 0.95 · link delay 10 ms / 0.05 = 200 ms</a:t>
            </a:r>
            <a:endParaRPr lang="en-US" sz="1200" dirty="0"/>
          </a:p>
        </p:txBody>
      </p:sp>
      <p:sp>
        <p:nvSpPr>
          <p:cNvPr id="5" name="box"/>
          <p:cNvSpPr/>
          <p:nvPr/>
        </p:nvSpPr>
        <p:spPr>
          <a:xfrm>
            <a:off x="3108960" y="1554480"/>
            <a:ext cx="7680960" cy="640080"/>
          </a:xfrm>
          <a:prstGeom prst="rect">
            <a:avLst/>
          </a:prstGeom>
          <a:solidFill>
            <a:srgbClr val="A23B3B"/>
          </a:solidFill>
          <a:ln w="12700">
            <a:solidFill>
              <a:srgbClr val="A23B3B"/>
            </a:solidFill>
            <a:prstDash val="solid"/>
          </a:ln>
        </p:spPr>
      </p:sp>
      <p:sp>
        <p:nvSpPr>
          <p:cNvPr id="6" name="Text 3"/>
          <p:cNvSpPr txBox="1"/>
          <p:nvPr/>
        </p:nvSpPr>
        <p:spPr>
          <a:xfrm>
            <a:off x="3108960" y="1554480"/>
            <a:ext cx="7680960" cy="640080"/>
          </a:xfrm>
          <a:prstGeom prst="rect">
            <a:avLst/>
          </a:prstGeom>
          <a:noFill/>
          <a:ln/>
        </p:spPr>
        <p:txBody>
          <a:bodyPr wrap="square" lIns="635" tIns="635" rIns="635" bIns="635" rtlCol="0" anchor="ctr"/>
          <a:lstStyle/>
          <a:p>
            <a:pPr algn="ctr" indent="0" marL="0">
              <a:buNone/>
            </a:pPr>
            <a:r>
              <a:rPr lang="en-US" sz="1500" b="1" dirty="0">
                <a:solidFill>
                  <a:srgbClr val="FFFFFF"/>
                </a:solidFill>
              </a:rPr>
              <a:t>≈ 1.2 s</a:t>
            </a:r>
            <a:endParaRPr lang="en-US" sz="1500" dirty="0"/>
          </a:p>
        </p:txBody>
      </p:sp>
      <p:sp>
        <p:nvSpPr>
          <p:cNvPr id="7" name="Text 4"/>
          <p:cNvSpPr txBox="1"/>
          <p:nvPr/>
        </p:nvSpPr>
        <p:spPr>
          <a:xfrm>
            <a:off x="548640" y="2926080"/>
            <a:ext cx="2468880" cy="82296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Cache, hit rate 40 %</a:t>
            </a:r>
            <a:endParaRPr lang="en-US" sz="1200" dirty="0"/>
          </a:p>
          <a:p>
            <a:pPr algn="l" indent="0" marL="0">
              <a:spcAft>
                <a:spcPts val="400"/>
              </a:spcAft>
              <a:buNone/>
            </a:pPr>
            <a:r>
              <a:rPr lang="en-US" sz="1200" dirty="0">
                <a:solidFill>
                  <a:srgbClr val="1B2430"/>
                </a:solidFill>
              </a:rPr>
              <a:t>ρ = 0.57 · link 23 ms · 0.4 × LAN + 0.6 × 1.023 s</a:t>
            </a:r>
            <a:endParaRPr lang="en-US" sz="1200" dirty="0"/>
          </a:p>
        </p:txBody>
      </p:sp>
      <p:sp>
        <p:nvSpPr>
          <p:cNvPr id="8" name="box"/>
          <p:cNvSpPr/>
          <p:nvPr/>
        </p:nvSpPr>
        <p:spPr>
          <a:xfrm>
            <a:off x="3108960" y="3017520"/>
            <a:ext cx="3968496" cy="640080"/>
          </a:xfrm>
          <a:prstGeom prst="rect">
            <a:avLst/>
          </a:prstGeom>
          <a:solidFill>
            <a:srgbClr val="2E7D4F"/>
          </a:solidFill>
          <a:ln w="12700">
            <a:solidFill>
              <a:srgbClr val="2E7D4F"/>
            </a:solidFill>
            <a:prstDash val="solid"/>
          </a:ln>
        </p:spPr>
      </p:sp>
      <p:sp>
        <p:nvSpPr>
          <p:cNvPr id="9" name="Text 6"/>
          <p:cNvSpPr txBox="1"/>
          <p:nvPr/>
        </p:nvSpPr>
        <p:spPr>
          <a:xfrm>
            <a:off x="3108960" y="3017520"/>
            <a:ext cx="3968496" cy="640080"/>
          </a:xfrm>
          <a:prstGeom prst="rect">
            <a:avLst/>
          </a:prstGeom>
          <a:noFill/>
          <a:ln/>
        </p:spPr>
        <p:txBody>
          <a:bodyPr wrap="square" lIns="635" tIns="635" rIns="635" bIns="635" rtlCol="0" anchor="ctr"/>
          <a:lstStyle/>
          <a:p>
            <a:pPr algn="ctr" indent="0" marL="0">
              <a:buNone/>
            </a:pPr>
            <a:r>
              <a:rPr lang="en-US" sz="1500" b="1" dirty="0">
                <a:solidFill>
                  <a:srgbClr val="FFFFFF"/>
                </a:solidFill>
              </a:rPr>
              <a:t>≈ 0.62 s</a:t>
            </a:r>
            <a:endParaRPr lang="en-US" sz="1500" dirty="0"/>
          </a:p>
        </p:txBody>
      </p:sp>
      <p:sp>
        <p:nvSpPr>
          <p:cNvPr id="10" name="Shape 7"/>
          <p:cNvSpPr/>
          <p:nvPr/>
        </p:nvSpPr>
        <p:spPr>
          <a:xfrm>
            <a:off x="3108960" y="1371600"/>
            <a:ext cx="914" cy="2926080"/>
          </a:xfrm>
          <a:prstGeom prst="line">
            <a:avLst/>
          </a:prstGeom>
          <a:noFill/>
          <a:ln w="12700">
            <a:solidFill>
              <a:srgbClr val="5B6770"/>
            </a:solidFill>
            <a:prstDash val="solid"/>
          </a:ln>
        </p:spPr>
      </p:sp>
      <p:sp>
        <p:nvSpPr>
          <p:cNvPr id="11" name="Text 8"/>
          <p:cNvSpPr txBox="1"/>
          <p:nvPr/>
        </p:nvSpPr>
        <p:spPr>
          <a:xfrm>
            <a:off x="2926080" y="4251960"/>
            <a:ext cx="548640" cy="274320"/>
          </a:xfrm>
          <a:prstGeom prst="rect">
            <a:avLst/>
          </a:prstGeom>
          <a:noFill/>
          <a:ln/>
        </p:spPr>
        <p:txBody>
          <a:bodyPr wrap="square" lIns="0" tIns="0" rIns="0" bIns="0" rtlCol="0" anchor="t"/>
          <a:lstStyle/>
          <a:p>
            <a:pPr algn="l" indent="0" marL="0">
              <a:spcAft>
                <a:spcPts val="400"/>
              </a:spcAft>
              <a:buNone/>
            </a:pPr>
            <a:r>
              <a:rPr lang="en-US" sz="1000" dirty="0">
                <a:solidFill>
                  <a:srgbClr val="5B6770"/>
                </a:solidFill>
              </a:rPr>
              <a:t>0 s</a:t>
            </a:r>
            <a:endParaRPr lang="en-US" sz="1000" dirty="0"/>
          </a:p>
        </p:txBody>
      </p:sp>
      <p:sp>
        <p:nvSpPr>
          <p:cNvPr id="12" name="Text 9"/>
          <p:cNvSpPr txBox="1"/>
          <p:nvPr/>
        </p:nvSpPr>
        <p:spPr>
          <a:xfrm>
            <a:off x="9326880" y="4251960"/>
            <a:ext cx="548640" cy="274320"/>
          </a:xfrm>
          <a:prstGeom prst="rect">
            <a:avLst/>
          </a:prstGeom>
          <a:noFill/>
          <a:ln/>
        </p:spPr>
        <p:txBody>
          <a:bodyPr wrap="square" lIns="0" tIns="0" rIns="0" bIns="0" rtlCol="0" anchor="t"/>
          <a:lstStyle/>
          <a:p>
            <a:pPr algn="l" indent="0" marL="0">
              <a:spcAft>
                <a:spcPts val="400"/>
              </a:spcAft>
              <a:buNone/>
            </a:pPr>
            <a:r>
              <a:rPr lang="en-US" sz="1000" dirty="0">
                <a:solidFill>
                  <a:srgbClr val="5B6770"/>
                </a:solidFill>
              </a:rPr>
              <a:t>1 s</a:t>
            </a:r>
            <a:endParaRPr lang="en-US" sz="1000" dirty="0"/>
          </a:p>
        </p:txBody>
      </p:sp>
      <p:sp>
        <p:nvSpPr>
          <p:cNvPr id="13" name="Shape 10"/>
          <p:cNvSpPr/>
          <p:nvPr/>
        </p:nvSpPr>
        <p:spPr>
          <a:xfrm>
            <a:off x="9509760" y="1371600"/>
            <a:ext cx="914" cy="2834640"/>
          </a:xfrm>
          <a:prstGeom prst="line">
            <a:avLst/>
          </a:prstGeom>
          <a:noFill/>
          <a:ln w="12700">
            <a:solidFill>
              <a:srgbClr val="9AA5AE"/>
            </a:solidFill>
            <a:prstDash val="dash"/>
          </a:ln>
        </p:spPr>
      </p:sp>
      <p:sp>
        <p:nvSpPr>
          <p:cNvPr id="14" name="Shape 11"/>
          <p:cNvSpPr/>
          <p:nvPr/>
        </p:nvSpPr>
        <p:spPr>
          <a:xfrm>
            <a:off x="548640" y="4636008"/>
            <a:ext cx="384048" cy="384048"/>
          </a:xfrm>
          <a:prstGeom prst="ellipse">
            <a:avLst/>
          </a:prstGeom>
          <a:solidFill>
            <a:srgbClr val="B9772A"/>
          </a:solidFill>
          <a:ln w="12700">
            <a:solidFill>
              <a:srgbClr val="B9772A"/>
            </a:solidFill>
            <a:prstDash val="solid"/>
          </a:ln>
        </p:spPr>
      </p:sp>
      <p:sp>
        <p:nvSpPr>
          <p:cNvPr id="15" name="Text 12"/>
          <p:cNvSpPr txBox="1"/>
          <p:nvPr/>
        </p:nvSpPr>
        <p:spPr>
          <a:xfrm>
            <a:off x="548640" y="4636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6" name="Text 13"/>
          <p:cNvSpPr txBox="1"/>
          <p:nvPr/>
        </p:nvSpPr>
        <p:spPr>
          <a:xfrm>
            <a:off x="1051560" y="4617720"/>
            <a:ext cx="4983480" cy="10058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At ρ = 0.95, </a:t>
            </a:r>
            <a:r>
              <a:rPr lang="en-US" sz="1300" b="1" dirty="0">
                <a:solidFill>
                  <a:srgbClr val="1B2430"/>
                </a:solidFill>
              </a:rPr>
              <a:t>5 % more traffic</a:t>
            </a:r>
            <a:r>
              <a:rPr lang="en-US" sz="1300" dirty="0">
                <a:solidFill>
                  <a:srgbClr val="1B2430"/>
                </a:solidFill>
              </a:rPr>
              <a:t> would make the queue explode.</a:t>
            </a:r>
            <a:endParaRPr lang="en-US" sz="1300" dirty="0"/>
          </a:p>
        </p:txBody>
      </p:sp>
      <p:sp>
        <p:nvSpPr>
          <p:cNvPr id="17" name="Shape 14"/>
          <p:cNvSpPr/>
          <p:nvPr/>
        </p:nvSpPr>
        <p:spPr>
          <a:xfrm>
            <a:off x="6217920" y="4636008"/>
            <a:ext cx="384048" cy="384048"/>
          </a:xfrm>
          <a:prstGeom prst="ellipse">
            <a:avLst/>
          </a:prstGeom>
          <a:solidFill>
            <a:srgbClr val="B9772A"/>
          </a:solidFill>
          <a:ln w="12700">
            <a:solidFill>
              <a:srgbClr val="B9772A"/>
            </a:solidFill>
            <a:prstDash val="solid"/>
          </a:ln>
        </p:spPr>
      </p:sp>
      <p:sp>
        <p:nvSpPr>
          <p:cNvPr id="18" name="Text 15"/>
          <p:cNvSpPr txBox="1"/>
          <p:nvPr/>
        </p:nvSpPr>
        <p:spPr>
          <a:xfrm>
            <a:off x="6217920" y="4636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9" name="Text 16"/>
          <p:cNvSpPr txBox="1"/>
          <p:nvPr/>
        </p:nvSpPr>
        <p:spPr>
          <a:xfrm>
            <a:off x="6720840" y="4617720"/>
            <a:ext cx="4892040" cy="10058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The cache </a:t>
            </a:r>
            <a:r>
              <a:rPr lang="en-US" sz="1300" b="1" dirty="0">
                <a:solidFill>
                  <a:srgbClr val="1B2430"/>
                </a:solidFill>
              </a:rPr>
              <a:t>halves</a:t>
            </a:r>
            <a:r>
              <a:rPr lang="en-US" sz="1300" dirty="0">
                <a:solidFill>
                  <a:srgbClr val="1B2430"/>
                </a:solidFill>
              </a:rPr>
              <a:t> the response time without a new link.</a:t>
            </a:r>
            <a:endParaRPr lang="en-US" sz="1300" dirty="0"/>
          </a:p>
        </p:txBody>
      </p:sp>
      <p:sp>
        <p:nvSpPr>
          <p:cNvPr id="2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1" name="Text 1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 hit avoids the distant server entirely — something no faster access link can do.</a:t>
            </a:r>
            <a:endParaRPr lang="en-US" sz="1400" dirty="0"/>
          </a:p>
        </p:txBody>
      </p:sp>
      <p:sp>
        <p:nvSpPr>
          <p:cNvPr id="22" name="Text 19"/>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LAN (local area network)</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 Freshness, then validation</a:t>
            </a:r>
            <a:endParaRPr lang="en-US" sz="3000" dirty="0"/>
          </a:p>
        </p:txBody>
      </p:sp>
      <p:sp>
        <p:nvSpPr>
          <p:cNvPr id="4" name="Shape 1"/>
          <p:cNvSpPr/>
          <p:nvPr/>
        </p:nvSpPr>
        <p:spPr>
          <a:xfrm>
            <a:off x="822960" y="2377440"/>
            <a:ext cx="10424160" cy="914"/>
          </a:xfrm>
          <a:prstGeom prst="line">
            <a:avLst/>
          </a:prstGeom>
          <a:noFill/>
          <a:ln w="31750">
            <a:solidFill>
              <a:srgbClr val="1F3A5F"/>
            </a:solidFill>
            <a:prstDash val="solid"/>
            <a:tailEnd type="triangle"/>
          </a:ln>
        </p:spPr>
      </p:sp>
      <p:sp>
        <p:nvSpPr>
          <p:cNvPr id="5" name="Text 2"/>
          <p:cNvSpPr txBox="1"/>
          <p:nvPr/>
        </p:nvSpPr>
        <p:spPr>
          <a:xfrm>
            <a:off x="457200" y="2468880"/>
            <a:ext cx="731520" cy="27432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10:00</a:t>
            </a:r>
            <a:endParaRPr lang="en-US" sz="1100" dirty="0"/>
          </a:p>
        </p:txBody>
      </p:sp>
      <p:sp>
        <p:nvSpPr>
          <p:cNvPr id="6" name="Text 3"/>
          <p:cNvSpPr txBox="1"/>
          <p:nvPr/>
        </p:nvSpPr>
        <p:spPr>
          <a:xfrm>
            <a:off x="3063240" y="2468880"/>
            <a:ext cx="731520" cy="27432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10:10</a:t>
            </a:r>
            <a:endParaRPr lang="en-US" sz="1100" dirty="0"/>
          </a:p>
        </p:txBody>
      </p:sp>
      <p:sp>
        <p:nvSpPr>
          <p:cNvPr id="7" name="Text 4"/>
          <p:cNvSpPr txBox="1"/>
          <p:nvPr/>
        </p:nvSpPr>
        <p:spPr>
          <a:xfrm>
            <a:off x="5669280" y="2468880"/>
            <a:ext cx="731520" cy="27432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10:20</a:t>
            </a:r>
            <a:endParaRPr lang="en-US" sz="1100" dirty="0"/>
          </a:p>
        </p:txBody>
      </p:sp>
      <p:sp>
        <p:nvSpPr>
          <p:cNvPr id="8" name="Text 5"/>
          <p:cNvSpPr txBox="1"/>
          <p:nvPr/>
        </p:nvSpPr>
        <p:spPr>
          <a:xfrm>
            <a:off x="8275320" y="2468880"/>
            <a:ext cx="731520" cy="27432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10:30</a:t>
            </a:r>
            <a:endParaRPr lang="en-US" sz="1100" dirty="0"/>
          </a:p>
        </p:txBody>
      </p:sp>
      <p:sp>
        <p:nvSpPr>
          <p:cNvPr id="9" name="box"/>
          <p:cNvSpPr/>
          <p:nvPr/>
        </p:nvSpPr>
        <p:spPr>
          <a:xfrm>
            <a:off x="822960" y="1600200"/>
            <a:ext cx="2606040" cy="548640"/>
          </a:xfrm>
          <a:prstGeom prst="rect">
            <a:avLst/>
          </a:prstGeom>
          <a:solidFill>
            <a:srgbClr val="D7EBDD"/>
          </a:solidFill>
          <a:ln w="12700">
            <a:solidFill>
              <a:srgbClr val="D7EBDD"/>
            </a:solidFill>
            <a:prstDash val="solid"/>
          </a:ln>
        </p:spPr>
      </p:sp>
      <p:sp>
        <p:nvSpPr>
          <p:cNvPr id="10" name="Text 7"/>
          <p:cNvSpPr txBox="1"/>
          <p:nvPr/>
        </p:nvSpPr>
        <p:spPr>
          <a:xfrm>
            <a:off x="822960" y="1600200"/>
            <a:ext cx="2606040" cy="548640"/>
          </a:xfrm>
          <a:prstGeom prst="rect">
            <a:avLst/>
          </a:prstGeom>
          <a:noFill/>
          <a:ln/>
        </p:spPr>
        <p:txBody>
          <a:bodyPr wrap="square" lIns="635" tIns="635" rIns="635" bIns="635" rtlCol="0" anchor="ctr"/>
          <a:lstStyle/>
          <a:p>
            <a:pPr algn="ctr" indent="0" marL="0">
              <a:buNone/>
            </a:pPr>
            <a:r>
              <a:rPr lang="en-US" sz="1200" b="1" dirty="0">
                <a:solidFill>
                  <a:srgbClr val="1B2430"/>
                </a:solidFill>
              </a:rPr>
              <a:t>fresh</a:t>
            </a:r>
            <a:r>
              <a:rPr lang="en-US" sz="1200" dirty="0">
                <a:solidFill>
                  <a:srgbClr val="1B2430"/>
                </a:solidFill>
              </a:rPr>
              <a:t>: max-age=600 s</a:t>
            </a:r>
            <a:endParaRPr lang="en-US" sz="1200" dirty="0"/>
          </a:p>
        </p:txBody>
      </p:sp>
      <p:sp>
        <p:nvSpPr>
          <p:cNvPr id="11" name="box"/>
          <p:cNvSpPr/>
          <p:nvPr/>
        </p:nvSpPr>
        <p:spPr>
          <a:xfrm>
            <a:off x="3429000" y="1600200"/>
            <a:ext cx="521208" cy="548640"/>
          </a:xfrm>
          <a:prstGeom prst="rect">
            <a:avLst/>
          </a:prstGeom>
          <a:solidFill>
            <a:srgbClr val="F3EAD7"/>
          </a:solidFill>
          <a:ln w="12700">
            <a:solidFill>
              <a:srgbClr val="F3EAD7"/>
            </a:solidFill>
            <a:prstDash val="solid"/>
          </a:ln>
        </p:spPr>
      </p:sp>
      <p:sp>
        <p:nvSpPr>
          <p:cNvPr id="12" name="Text 9"/>
          <p:cNvSpPr txBox="1"/>
          <p:nvPr/>
        </p:nvSpPr>
        <p:spPr>
          <a:xfrm>
            <a:off x="3429000" y="1600200"/>
            <a:ext cx="521208" cy="548640"/>
          </a:xfrm>
          <a:prstGeom prst="rect">
            <a:avLst/>
          </a:prstGeom>
          <a:noFill/>
          <a:ln/>
        </p:spPr>
        <p:txBody>
          <a:bodyPr wrap="square" lIns="635" tIns="635" rIns="635" bIns="635" rtlCol="0" anchor="ctr"/>
          <a:lstStyle/>
          <a:p>
            <a:pPr algn="ctr" indent="0" marL="0">
              <a:buNone/>
            </a:pPr>
            <a:r>
              <a:rPr lang="en-US" sz="1100" dirty="0">
                <a:solidFill>
                  <a:srgbClr val="1B2430"/>
                </a:solidFill>
              </a:rPr>
              <a:t>stale</a:t>
            </a:r>
            <a:endParaRPr lang="en-US" sz="1100" dirty="0"/>
          </a:p>
        </p:txBody>
      </p:sp>
      <p:sp>
        <p:nvSpPr>
          <p:cNvPr id="13" name="box"/>
          <p:cNvSpPr/>
          <p:nvPr/>
        </p:nvSpPr>
        <p:spPr>
          <a:xfrm>
            <a:off x="3950208" y="1600200"/>
            <a:ext cx="2606040" cy="548640"/>
          </a:xfrm>
          <a:prstGeom prst="rect">
            <a:avLst/>
          </a:prstGeom>
          <a:solidFill>
            <a:srgbClr val="D7EBDD"/>
          </a:solidFill>
          <a:ln w="12700">
            <a:solidFill>
              <a:srgbClr val="D7EBDD"/>
            </a:solidFill>
            <a:prstDash val="solid"/>
          </a:ln>
        </p:spPr>
      </p:sp>
      <p:sp>
        <p:nvSpPr>
          <p:cNvPr id="14" name="Text 11"/>
          <p:cNvSpPr txBox="1"/>
          <p:nvPr/>
        </p:nvSpPr>
        <p:spPr>
          <a:xfrm>
            <a:off x="3950208" y="1600200"/>
            <a:ext cx="2606040" cy="548640"/>
          </a:xfrm>
          <a:prstGeom prst="rect">
            <a:avLst/>
          </a:prstGeom>
          <a:noFill/>
          <a:ln/>
        </p:spPr>
        <p:txBody>
          <a:bodyPr wrap="square" lIns="635" tIns="635" rIns="635" bIns="635" rtlCol="0" anchor="ctr"/>
          <a:lstStyle/>
          <a:p>
            <a:pPr algn="ctr" indent="0" marL="0">
              <a:buNone/>
            </a:pPr>
            <a:r>
              <a:rPr lang="en-US" sz="1200" b="1" dirty="0">
                <a:solidFill>
                  <a:srgbClr val="1B2430"/>
                </a:solidFill>
              </a:rPr>
              <a:t>fresh again</a:t>
            </a:r>
            <a:r>
              <a:rPr lang="en-US" sz="1200" dirty="0">
                <a:solidFill>
                  <a:srgbClr val="1B2430"/>
                </a:solidFill>
              </a:rPr>
              <a:t> after 304</a:t>
            </a:r>
            <a:endParaRPr lang="en-US" sz="1200" dirty="0"/>
          </a:p>
        </p:txBody>
      </p:sp>
      <p:sp>
        <p:nvSpPr>
          <p:cNvPr id="15" name="Shape 12"/>
          <p:cNvSpPr/>
          <p:nvPr/>
        </p:nvSpPr>
        <p:spPr>
          <a:xfrm>
            <a:off x="822960" y="2788920"/>
            <a:ext cx="914" cy="411480"/>
          </a:xfrm>
          <a:prstGeom prst="line">
            <a:avLst/>
          </a:prstGeom>
          <a:noFill/>
          <a:ln w="25400">
            <a:solidFill>
              <a:srgbClr val="B9772A"/>
            </a:solidFill>
            <a:prstDash val="solid"/>
            <a:tailEnd type="triangle"/>
          </a:ln>
        </p:spPr>
      </p:sp>
      <p:sp>
        <p:nvSpPr>
          <p:cNvPr id="16" name="box"/>
          <p:cNvSpPr/>
          <p:nvPr/>
        </p:nvSpPr>
        <p:spPr>
          <a:xfrm>
            <a:off x="640080" y="3246120"/>
            <a:ext cx="2286000" cy="731520"/>
          </a:xfrm>
          <a:prstGeom prst="roundRect">
            <a:avLst>
              <a:gd name="adj" fmla="val 10000"/>
            </a:avLst>
          </a:prstGeom>
          <a:solidFill>
            <a:srgbClr val="EEF2F6"/>
          </a:solidFill>
          <a:ln w="12700">
            <a:solidFill>
              <a:srgbClr val="EEF2F6"/>
            </a:solidFill>
            <a:prstDash val="solid"/>
          </a:ln>
        </p:spPr>
      </p:sp>
      <p:sp>
        <p:nvSpPr>
          <p:cNvPr id="17" name="Text 14"/>
          <p:cNvSpPr txBox="1"/>
          <p:nvPr/>
        </p:nvSpPr>
        <p:spPr>
          <a:xfrm>
            <a:off x="640080" y="3246120"/>
            <a:ext cx="2286000" cy="731520"/>
          </a:xfrm>
          <a:prstGeom prst="rect">
            <a:avLst/>
          </a:prstGeom>
          <a:noFill/>
          <a:ln/>
        </p:spPr>
        <p:txBody>
          <a:bodyPr wrap="square" lIns="635" tIns="635" rIns="635" bIns="635" rtlCol="0" anchor="ctr"/>
          <a:lstStyle/>
          <a:p>
            <a:pPr algn="ctr" indent="0" marL="0">
              <a:buNone/>
            </a:pPr>
            <a:r>
              <a:rPr lang="en-US" sz="1100" dirty="0">
                <a:solidFill>
                  <a:srgbClr val="1B2430"/>
                </a:solidFill>
              </a:rPr>
              <a:t>200 OK + 40 KB</a:t>
            </a:r>
            <a:endParaRPr lang="en-US" sz="1100" dirty="0"/>
          </a:p>
          <a:p>
            <a:pPr algn="ctr" indent="0" marL="0">
              <a:buNone/>
            </a:pPr>
            <a:r>
              <a:rPr lang="en-US" sz="1100" dirty="0">
                <a:solidFill>
                  <a:srgbClr val="1B2430"/>
                </a:solidFill>
              </a:rPr>
              <a:t>ETag "v1"</a:t>
            </a:r>
            <a:endParaRPr lang="en-US" sz="1100" dirty="0"/>
          </a:p>
        </p:txBody>
      </p:sp>
      <p:sp>
        <p:nvSpPr>
          <p:cNvPr id="18" name="Shape 15"/>
          <p:cNvSpPr/>
          <p:nvPr/>
        </p:nvSpPr>
        <p:spPr>
          <a:xfrm>
            <a:off x="3950208" y="2788920"/>
            <a:ext cx="914" cy="411480"/>
          </a:xfrm>
          <a:prstGeom prst="line">
            <a:avLst/>
          </a:prstGeom>
          <a:noFill/>
          <a:ln w="25400">
            <a:solidFill>
              <a:srgbClr val="B9772A"/>
            </a:solidFill>
            <a:prstDash val="solid"/>
            <a:tailEnd type="triangle"/>
          </a:ln>
        </p:spPr>
      </p:sp>
      <p:sp>
        <p:nvSpPr>
          <p:cNvPr id="19" name="box"/>
          <p:cNvSpPr/>
          <p:nvPr/>
        </p:nvSpPr>
        <p:spPr>
          <a:xfrm>
            <a:off x="3767328" y="3246120"/>
            <a:ext cx="2286000" cy="731520"/>
          </a:xfrm>
          <a:prstGeom prst="roundRect">
            <a:avLst>
              <a:gd name="adj" fmla="val 10000"/>
            </a:avLst>
          </a:prstGeom>
          <a:solidFill>
            <a:srgbClr val="EEF2F6"/>
          </a:solidFill>
          <a:ln w="12700">
            <a:solidFill>
              <a:srgbClr val="EEF2F6"/>
            </a:solidFill>
            <a:prstDash val="solid"/>
          </a:ln>
        </p:spPr>
      </p:sp>
      <p:sp>
        <p:nvSpPr>
          <p:cNvPr id="20" name="Text 17"/>
          <p:cNvSpPr txBox="1"/>
          <p:nvPr/>
        </p:nvSpPr>
        <p:spPr>
          <a:xfrm>
            <a:off x="3767328" y="3246120"/>
            <a:ext cx="2286000" cy="731520"/>
          </a:xfrm>
          <a:prstGeom prst="rect">
            <a:avLst/>
          </a:prstGeom>
          <a:noFill/>
          <a:ln/>
        </p:spPr>
        <p:txBody>
          <a:bodyPr wrap="square" lIns="635" tIns="635" rIns="635" bIns="635" rtlCol="0" anchor="ctr"/>
          <a:lstStyle/>
          <a:p>
            <a:pPr algn="ctr" indent="0" marL="0">
              <a:buNone/>
            </a:pPr>
            <a:r>
              <a:rPr lang="en-US" sz="1100" dirty="0">
                <a:solidFill>
                  <a:srgbClr val="1B2430"/>
                </a:solidFill>
              </a:rPr>
              <a:t>If-None-Match "v1"</a:t>
            </a:r>
            <a:endParaRPr lang="en-US" sz="1100" dirty="0"/>
          </a:p>
          <a:p>
            <a:pPr algn="ctr" indent="0" marL="0">
              <a:buNone/>
            </a:pPr>
            <a:r>
              <a:rPr lang="en-US" sz="1100" dirty="0">
                <a:solidFill>
                  <a:srgbClr val="1B2430"/>
                </a:solidFill>
              </a:rPr>
              <a:t>→ 304, no body</a:t>
            </a:r>
            <a:endParaRPr lang="en-US" sz="1100" dirty="0"/>
          </a:p>
        </p:txBody>
      </p:sp>
      <p:sp>
        <p:nvSpPr>
          <p:cNvPr id="21" name="box"/>
          <p:cNvSpPr/>
          <p:nvPr/>
        </p:nvSpPr>
        <p:spPr>
          <a:xfrm>
            <a:off x="548640" y="4206240"/>
            <a:ext cx="2651760" cy="548640"/>
          </a:xfrm>
          <a:prstGeom prst="roundRect">
            <a:avLst>
              <a:gd name="adj" fmla="val 13333"/>
            </a:avLst>
          </a:prstGeom>
          <a:solidFill>
            <a:srgbClr val="F3EAD7"/>
          </a:solidFill>
          <a:ln w="12700">
            <a:solidFill>
              <a:srgbClr val="F3EAD7"/>
            </a:solidFill>
            <a:prstDash val="solid"/>
          </a:ln>
        </p:spPr>
      </p:sp>
      <p:sp>
        <p:nvSpPr>
          <p:cNvPr id="22" name="Text 19"/>
          <p:cNvSpPr txBox="1"/>
          <p:nvPr/>
        </p:nvSpPr>
        <p:spPr>
          <a:xfrm>
            <a:off x="548640" y="4206240"/>
            <a:ext cx="2651760" cy="548640"/>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Cache-Control: max-age=N</a:t>
            </a:r>
            <a:endParaRPr lang="en-US" sz="1100" dirty="0"/>
          </a:p>
        </p:txBody>
      </p:sp>
      <p:sp>
        <p:nvSpPr>
          <p:cNvPr id="23" name="Text 20"/>
          <p:cNvSpPr txBox="1"/>
          <p:nvPr/>
        </p:nvSpPr>
        <p:spPr>
          <a:xfrm>
            <a:off x="3337560" y="4297680"/>
            <a:ext cx="2743200" cy="4572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fresh for N seconds (older: Expires)</a:t>
            </a:r>
            <a:endParaRPr lang="en-US" sz="1200" dirty="0"/>
          </a:p>
        </p:txBody>
      </p:sp>
      <p:sp>
        <p:nvSpPr>
          <p:cNvPr id="24" name="box"/>
          <p:cNvSpPr/>
          <p:nvPr/>
        </p:nvSpPr>
        <p:spPr>
          <a:xfrm>
            <a:off x="6126480" y="4206240"/>
            <a:ext cx="2651760" cy="548640"/>
          </a:xfrm>
          <a:prstGeom prst="roundRect">
            <a:avLst>
              <a:gd name="adj" fmla="val 13333"/>
            </a:avLst>
          </a:prstGeom>
          <a:solidFill>
            <a:srgbClr val="F3EAD7"/>
          </a:solidFill>
          <a:ln w="12700">
            <a:solidFill>
              <a:srgbClr val="F3EAD7"/>
            </a:solidFill>
            <a:prstDash val="solid"/>
          </a:ln>
        </p:spPr>
      </p:sp>
      <p:sp>
        <p:nvSpPr>
          <p:cNvPr id="25" name="Text 22"/>
          <p:cNvSpPr txBox="1"/>
          <p:nvPr/>
        </p:nvSpPr>
        <p:spPr>
          <a:xfrm>
            <a:off x="6126480" y="4206240"/>
            <a:ext cx="2651760" cy="548640"/>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Age</a:t>
            </a:r>
            <a:endParaRPr lang="en-US" sz="1100" dirty="0"/>
          </a:p>
        </p:txBody>
      </p:sp>
      <p:sp>
        <p:nvSpPr>
          <p:cNvPr id="26" name="Text 23"/>
          <p:cNvSpPr txBox="1"/>
          <p:nvPr/>
        </p:nvSpPr>
        <p:spPr>
          <a:xfrm>
            <a:off x="8915400" y="4297680"/>
            <a:ext cx="2743200" cy="4572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how long a cache has held the copy</a:t>
            </a:r>
            <a:endParaRPr lang="en-US" sz="1200" dirty="0"/>
          </a:p>
        </p:txBody>
      </p:sp>
      <p:sp>
        <p:nvSpPr>
          <p:cNvPr id="27" name="box"/>
          <p:cNvSpPr/>
          <p:nvPr/>
        </p:nvSpPr>
        <p:spPr>
          <a:xfrm>
            <a:off x="548640" y="4864608"/>
            <a:ext cx="2651760" cy="548640"/>
          </a:xfrm>
          <a:prstGeom prst="roundRect">
            <a:avLst>
              <a:gd name="adj" fmla="val 13333"/>
            </a:avLst>
          </a:prstGeom>
          <a:solidFill>
            <a:srgbClr val="F3EAD7"/>
          </a:solidFill>
          <a:ln w="12700">
            <a:solidFill>
              <a:srgbClr val="F3EAD7"/>
            </a:solidFill>
            <a:prstDash val="solid"/>
          </a:ln>
        </p:spPr>
      </p:sp>
      <p:sp>
        <p:nvSpPr>
          <p:cNvPr id="28" name="Text 25"/>
          <p:cNvSpPr txBox="1"/>
          <p:nvPr/>
        </p:nvSpPr>
        <p:spPr>
          <a:xfrm>
            <a:off x="548640" y="4864608"/>
            <a:ext cx="2651760" cy="548640"/>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ETag</a:t>
            </a:r>
            <a:endParaRPr lang="en-US" sz="1100" dirty="0"/>
          </a:p>
        </p:txBody>
      </p:sp>
      <p:sp>
        <p:nvSpPr>
          <p:cNvPr id="29" name="Text 26"/>
          <p:cNvSpPr txBox="1"/>
          <p:nvPr/>
        </p:nvSpPr>
        <p:spPr>
          <a:xfrm>
            <a:off x="3337560" y="4956048"/>
            <a:ext cx="2743200" cy="4572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opaque version id → If-None-Match</a:t>
            </a:r>
            <a:endParaRPr lang="en-US" sz="1200" dirty="0"/>
          </a:p>
        </p:txBody>
      </p:sp>
      <p:sp>
        <p:nvSpPr>
          <p:cNvPr id="30" name="box"/>
          <p:cNvSpPr/>
          <p:nvPr/>
        </p:nvSpPr>
        <p:spPr>
          <a:xfrm>
            <a:off x="6126480" y="4864608"/>
            <a:ext cx="2651760" cy="548640"/>
          </a:xfrm>
          <a:prstGeom prst="roundRect">
            <a:avLst>
              <a:gd name="adj" fmla="val 13333"/>
            </a:avLst>
          </a:prstGeom>
          <a:solidFill>
            <a:srgbClr val="F3EAD7"/>
          </a:solidFill>
          <a:ln w="12700">
            <a:solidFill>
              <a:srgbClr val="F3EAD7"/>
            </a:solidFill>
            <a:prstDash val="solid"/>
          </a:ln>
        </p:spPr>
      </p:sp>
      <p:sp>
        <p:nvSpPr>
          <p:cNvPr id="31" name="Text 28"/>
          <p:cNvSpPr txBox="1"/>
          <p:nvPr/>
        </p:nvSpPr>
        <p:spPr>
          <a:xfrm>
            <a:off x="6126480" y="4864608"/>
            <a:ext cx="2651760" cy="548640"/>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Last-Modified</a:t>
            </a:r>
            <a:endParaRPr lang="en-US" sz="1100" dirty="0"/>
          </a:p>
        </p:txBody>
      </p:sp>
      <p:sp>
        <p:nvSpPr>
          <p:cNvPr id="32" name="Text 29"/>
          <p:cNvSpPr txBox="1"/>
          <p:nvPr/>
        </p:nvSpPr>
        <p:spPr>
          <a:xfrm>
            <a:off x="8915400" y="4956048"/>
            <a:ext cx="2743200" cy="4572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date → If-Modified-Since</a:t>
            </a:r>
            <a:endParaRPr lang="en-US" sz="1200" dirty="0"/>
          </a:p>
        </p:txBody>
      </p:sp>
      <p:sp>
        <p:nvSpPr>
          <p:cNvPr id="33"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4" name="Text 31"/>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Freshness avoids asking; validation (ETag / Last-Modified) avoids re-sending an unchanged object (RFC 9111).</a:t>
            </a:r>
            <a:endParaRPr lang="en-US" sz="1400" dirty="0"/>
          </a:p>
        </p:txBody>
      </p:sp>
      <p:sp>
        <p:nvSpPr>
          <p:cNvPr id="35" name="Text 32"/>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RFC (Request for Comments)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 The conditional GET, message by message</a:t>
            </a:r>
            <a:endParaRPr lang="en-US" sz="3000" dirty="0"/>
          </a:p>
        </p:txBody>
      </p:sp>
      <p:sp>
        <p:nvSpPr>
          <p:cNvPr id="4" name="box"/>
          <p:cNvSpPr/>
          <p:nvPr/>
        </p:nvSpPr>
        <p:spPr>
          <a:xfrm>
            <a:off x="1188720" y="1325880"/>
            <a:ext cx="1645920" cy="384048"/>
          </a:xfrm>
          <a:prstGeom prst="roundRect">
            <a:avLst>
              <a:gd name="adj" fmla="val 19048"/>
            </a:avLst>
          </a:prstGeom>
          <a:solidFill>
            <a:srgbClr val="1F3A5F"/>
          </a:solidFill>
          <a:ln w="12700">
            <a:solidFill>
              <a:srgbClr val="1F3A5F"/>
            </a:solidFill>
            <a:prstDash val="solid"/>
          </a:ln>
        </p:spPr>
      </p:sp>
      <p:sp>
        <p:nvSpPr>
          <p:cNvPr id="5" name="Text 2"/>
          <p:cNvSpPr txBox="1"/>
          <p:nvPr/>
        </p:nvSpPr>
        <p:spPr>
          <a:xfrm>
            <a:off x="118872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cache</a:t>
            </a:r>
            <a:endParaRPr lang="en-US" sz="1300" dirty="0"/>
          </a:p>
        </p:txBody>
      </p:sp>
      <p:sp>
        <p:nvSpPr>
          <p:cNvPr id="6" name="Shape 3"/>
          <p:cNvSpPr/>
          <p:nvPr/>
        </p:nvSpPr>
        <p:spPr>
          <a:xfrm>
            <a:off x="2011680" y="1783080"/>
            <a:ext cx="914" cy="3337560"/>
          </a:xfrm>
          <a:prstGeom prst="line">
            <a:avLst/>
          </a:prstGeom>
          <a:noFill/>
          <a:ln w="25400">
            <a:solidFill>
              <a:srgbClr val="1F3A5F"/>
            </a:solidFill>
            <a:prstDash val="solid"/>
          </a:ln>
        </p:spPr>
      </p:sp>
      <p:sp>
        <p:nvSpPr>
          <p:cNvPr id="7" name="box"/>
          <p:cNvSpPr/>
          <p:nvPr/>
        </p:nvSpPr>
        <p:spPr>
          <a:xfrm>
            <a:off x="8869680" y="1325880"/>
            <a:ext cx="1645920" cy="384048"/>
          </a:xfrm>
          <a:prstGeom prst="roundRect">
            <a:avLst>
              <a:gd name="adj" fmla="val 19048"/>
            </a:avLst>
          </a:prstGeom>
          <a:solidFill>
            <a:srgbClr val="2A7F8E"/>
          </a:solidFill>
          <a:ln w="12700">
            <a:solidFill>
              <a:srgbClr val="2A7F8E"/>
            </a:solidFill>
            <a:prstDash val="solid"/>
          </a:ln>
        </p:spPr>
      </p:sp>
      <p:sp>
        <p:nvSpPr>
          <p:cNvPr id="8" name="Text 5"/>
          <p:cNvSpPr txBox="1"/>
          <p:nvPr/>
        </p:nvSpPr>
        <p:spPr>
          <a:xfrm>
            <a:off x="886968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origin server</a:t>
            </a:r>
            <a:endParaRPr lang="en-US" sz="1300" dirty="0"/>
          </a:p>
        </p:txBody>
      </p:sp>
      <p:sp>
        <p:nvSpPr>
          <p:cNvPr id="9" name="Shape 6"/>
          <p:cNvSpPr/>
          <p:nvPr/>
        </p:nvSpPr>
        <p:spPr>
          <a:xfrm>
            <a:off x="9692640" y="1783080"/>
            <a:ext cx="914" cy="3337560"/>
          </a:xfrm>
          <a:prstGeom prst="line">
            <a:avLst/>
          </a:prstGeom>
          <a:noFill/>
          <a:ln w="25400">
            <a:solidFill>
              <a:srgbClr val="1F3A5F"/>
            </a:solidFill>
            <a:prstDash val="solid"/>
          </a:ln>
        </p:spPr>
      </p:sp>
      <p:sp>
        <p:nvSpPr>
          <p:cNvPr id="10" name="code"/>
          <p:cNvSpPr/>
          <p:nvPr/>
        </p:nvSpPr>
        <p:spPr>
          <a:xfrm>
            <a:off x="2743200" y="1874520"/>
            <a:ext cx="3657600" cy="960120"/>
          </a:xfrm>
          <a:prstGeom prst="rect">
            <a:avLst/>
          </a:prstGeom>
          <a:solidFill>
            <a:srgbClr val="1E2A38"/>
          </a:solidFill>
          <a:ln w="12700">
            <a:solidFill>
              <a:srgbClr val="1E2A38"/>
            </a:solidFill>
            <a:prstDash val="solid"/>
          </a:ln>
        </p:spPr>
      </p:sp>
      <p:sp>
        <p:nvSpPr>
          <p:cNvPr id="11" name="Text 8"/>
          <p:cNvSpPr txBox="1"/>
          <p:nvPr/>
        </p:nvSpPr>
        <p:spPr>
          <a:xfrm>
            <a:off x="2743200" y="1874520"/>
            <a:ext cx="3657600" cy="96012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GET /files/notes.pdf HTTP/1.1</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Host: cn.example.edu</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If-None-Match: "5f3a-1e2b4"</a:t>
            </a:r>
            <a:endParaRPr lang="en-US" sz="1100" dirty="0"/>
          </a:p>
        </p:txBody>
      </p:sp>
      <p:sp>
        <p:nvSpPr>
          <p:cNvPr id="12" name="Shape 9"/>
          <p:cNvSpPr/>
          <p:nvPr/>
        </p:nvSpPr>
        <p:spPr>
          <a:xfrm>
            <a:off x="2011680" y="2926080"/>
            <a:ext cx="7680960" cy="274320"/>
          </a:xfrm>
          <a:prstGeom prst="line">
            <a:avLst/>
          </a:prstGeom>
          <a:noFill/>
          <a:ln w="25400">
            <a:solidFill>
              <a:srgbClr val="1F3A5F"/>
            </a:solidFill>
            <a:prstDash val="solid"/>
            <a:tailEnd type="triangle"/>
          </a:ln>
        </p:spPr>
      </p:sp>
      <p:sp>
        <p:nvSpPr>
          <p:cNvPr id="13" name="box"/>
          <p:cNvSpPr/>
          <p:nvPr/>
        </p:nvSpPr>
        <p:spPr>
          <a:xfrm>
            <a:off x="6675120" y="3383280"/>
            <a:ext cx="2834640" cy="685800"/>
          </a:xfrm>
          <a:prstGeom prst="roundRect">
            <a:avLst>
              <a:gd name="adj" fmla="val 10667"/>
            </a:avLst>
          </a:prstGeom>
          <a:solidFill>
            <a:srgbClr val="F3EAD7"/>
          </a:solidFill>
          <a:ln w="12700">
            <a:solidFill>
              <a:srgbClr val="F3EAD7"/>
            </a:solidFill>
            <a:prstDash val="solid"/>
          </a:ln>
        </p:spPr>
      </p:sp>
      <p:sp>
        <p:nvSpPr>
          <p:cNvPr id="14" name="Text 11"/>
          <p:cNvSpPr txBox="1"/>
          <p:nvPr/>
        </p:nvSpPr>
        <p:spPr>
          <a:xfrm>
            <a:off x="6675120" y="3383280"/>
            <a:ext cx="2834640" cy="685800"/>
          </a:xfrm>
          <a:prstGeom prst="rect">
            <a:avLst/>
          </a:prstGeom>
          <a:noFill/>
          <a:ln/>
        </p:spPr>
        <p:txBody>
          <a:bodyPr wrap="square" lIns="635" tIns="635" rIns="635" bIns="635" rtlCol="0" anchor="ctr"/>
          <a:lstStyle/>
          <a:p>
            <a:pPr algn="ctr" indent="0" marL="0">
              <a:buNone/>
            </a:pPr>
            <a:r>
              <a:rPr lang="en-US" sz="1100" b="1" dirty="0">
                <a:solidFill>
                  <a:srgbClr val="1B2430"/>
                </a:solidFill>
              </a:rPr>
              <a:t>unchanged?</a:t>
            </a:r>
            <a:endParaRPr lang="en-US" sz="1100" dirty="0"/>
          </a:p>
          <a:p>
            <a:pPr algn="ctr" indent="0" marL="0">
              <a:buNone/>
            </a:pPr>
            <a:r>
              <a:rPr lang="en-US" sz="1100" dirty="0">
                <a:solidFill>
                  <a:srgbClr val="1B2430"/>
                </a:solidFill>
              </a:rPr>
              <a:t>compare with current ETag</a:t>
            </a:r>
            <a:endParaRPr lang="en-US" sz="1100" dirty="0"/>
          </a:p>
        </p:txBody>
      </p:sp>
      <p:sp>
        <p:nvSpPr>
          <p:cNvPr id="15" name="Shape 12"/>
          <p:cNvSpPr/>
          <p:nvPr/>
        </p:nvSpPr>
        <p:spPr>
          <a:xfrm flipH="1">
            <a:off x="2011680" y="4114800"/>
            <a:ext cx="7680960" cy="274320"/>
          </a:xfrm>
          <a:prstGeom prst="line">
            <a:avLst/>
          </a:prstGeom>
          <a:noFill/>
          <a:ln w="25400">
            <a:solidFill>
              <a:srgbClr val="2E7D4F"/>
            </a:solidFill>
            <a:prstDash val="solid"/>
            <a:tailEnd type="triangle"/>
          </a:ln>
        </p:spPr>
      </p:sp>
      <p:sp>
        <p:nvSpPr>
          <p:cNvPr id="16" name="code"/>
          <p:cNvSpPr/>
          <p:nvPr/>
        </p:nvSpPr>
        <p:spPr>
          <a:xfrm>
            <a:off x="2743200" y="4526280"/>
            <a:ext cx="3657600" cy="548640"/>
          </a:xfrm>
          <a:prstGeom prst="rect">
            <a:avLst/>
          </a:prstGeom>
          <a:solidFill>
            <a:srgbClr val="1E2A38"/>
          </a:solidFill>
          <a:ln w="12700">
            <a:solidFill>
              <a:srgbClr val="1E2A38"/>
            </a:solidFill>
            <a:prstDash val="solid"/>
          </a:ln>
        </p:spPr>
      </p:sp>
      <p:sp>
        <p:nvSpPr>
          <p:cNvPr id="17" name="Text 14"/>
          <p:cNvSpPr txBox="1"/>
          <p:nvPr/>
        </p:nvSpPr>
        <p:spPr>
          <a:xfrm>
            <a:off x="2743200" y="4526280"/>
            <a:ext cx="3657600" cy="54864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HTTP/1.1 304 Not Modified</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Cache-Control: max-age=3600</a:t>
            </a:r>
            <a:endParaRPr lang="en-US" sz="1100" dirty="0"/>
          </a:p>
        </p:txBody>
      </p:sp>
      <p:sp>
        <p:nvSpPr>
          <p:cNvPr id="18" name="box"/>
          <p:cNvSpPr/>
          <p:nvPr/>
        </p:nvSpPr>
        <p:spPr>
          <a:xfrm>
            <a:off x="6949440" y="4526280"/>
            <a:ext cx="2743200" cy="548640"/>
          </a:xfrm>
          <a:prstGeom prst="roundRect">
            <a:avLst>
              <a:gd name="adj" fmla="val 13333"/>
            </a:avLst>
          </a:prstGeom>
          <a:solidFill>
            <a:srgbClr val="F2D6D6"/>
          </a:solidFill>
          <a:ln w="12700">
            <a:solidFill>
              <a:srgbClr val="F2D6D6"/>
            </a:solidFill>
            <a:prstDash val="solid"/>
          </a:ln>
        </p:spPr>
      </p:sp>
      <p:sp>
        <p:nvSpPr>
          <p:cNvPr id="19" name="Text 16"/>
          <p:cNvSpPr txBox="1"/>
          <p:nvPr/>
        </p:nvSpPr>
        <p:spPr>
          <a:xfrm>
            <a:off x="6949440" y="4526280"/>
            <a:ext cx="2743200" cy="548640"/>
          </a:xfrm>
          <a:prstGeom prst="rect">
            <a:avLst/>
          </a:prstGeom>
          <a:noFill/>
          <a:ln/>
        </p:spPr>
        <p:txBody>
          <a:bodyPr wrap="square" lIns="635" tIns="635" rIns="635" bIns="635" rtlCol="0" anchor="ctr"/>
          <a:lstStyle/>
          <a:p>
            <a:pPr algn="ctr" indent="0" marL="0">
              <a:buNone/>
            </a:pPr>
            <a:r>
              <a:rPr lang="en-US" sz="1100" dirty="0">
                <a:solidFill>
                  <a:srgbClr val="1B2430"/>
                </a:solidFill>
              </a:rPr>
              <a:t>changed → 200 OK + new body</a:t>
            </a:r>
            <a:endParaRPr lang="en-US" sz="1100" dirty="0"/>
          </a:p>
        </p:txBody>
      </p:sp>
      <p:sp>
        <p:nvSpPr>
          <p:cNvPr id="2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1" name="Text 1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 small request and a small 304 replace a full transfer — and the copy becomes fresh again.</a:t>
            </a:r>
            <a:endParaRPr lang="en-US" sz="1400" dirty="0"/>
          </a:p>
        </p:txBody>
      </p:sp>
      <p:sp>
        <p:nvSpPr>
          <p:cNvPr id="22" name="Text 19"/>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HTTP (HyperText Transfer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 Cache-Control: what may be stored, and for how long</a:t>
            </a:r>
            <a:endParaRPr lang="en-US" sz="3000" dirty="0"/>
          </a:p>
        </p:txBody>
      </p:sp>
      <p:sp>
        <p:nvSpPr>
          <p:cNvPr id="4" name="box"/>
          <p:cNvSpPr/>
          <p:nvPr/>
        </p:nvSpPr>
        <p:spPr>
          <a:xfrm>
            <a:off x="548640" y="1325880"/>
            <a:ext cx="2697480" cy="411480"/>
          </a:xfrm>
          <a:prstGeom prst="rect">
            <a:avLst/>
          </a:prstGeom>
          <a:solidFill>
            <a:srgbClr val="1F3A5F"/>
          </a:solidFill>
          <a:ln w="12700">
            <a:solidFill>
              <a:srgbClr val="1F3A5F"/>
            </a:solidFill>
            <a:prstDash val="solid"/>
          </a:ln>
        </p:spPr>
      </p:sp>
      <p:sp>
        <p:nvSpPr>
          <p:cNvPr id="5" name="Text 2"/>
          <p:cNvSpPr txBox="1"/>
          <p:nvPr/>
        </p:nvSpPr>
        <p:spPr>
          <a:xfrm>
            <a:off x="548640" y="1325880"/>
            <a:ext cx="269748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Directive</a:t>
            </a:r>
            <a:endParaRPr lang="en-US" sz="1300" dirty="0"/>
          </a:p>
        </p:txBody>
      </p:sp>
      <p:sp>
        <p:nvSpPr>
          <p:cNvPr id="6" name="box"/>
          <p:cNvSpPr/>
          <p:nvPr/>
        </p:nvSpPr>
        <p:spPr>
          <a:xfrm>
            <a:off x="3291840" y="1325880"/>
            <a:ext cx="5440680" cy="411480"/>
          </a:xfrm>
          <a:prstGeom prst="rect">
            <a:avLst/>
          </a:prstGeom>
          <a:solidFill>
            <a:srgbClr val="1F3A5F"/>
          </a:solidFill>
          <a:ln w="12700">
            <a:solidFill>
              <a:srgbClr val="1F3A5F"/>
            </a:solidFill>
            <a:prstDash val="solid"/>
          </a:ln>
        </p:spPr>
      </p:sp>
      <p:sp>
        <p:nvSpPr>
          <p:cNvPr id="7" name="Text 4"/>
          <p:cNvSpPr txBox="1"/>
          <p:nvPr/>
        </p:nvSpPr>
        <p:spPr>
          <a:xfrm>
            <a:off x="3291840" y="1325880"/>
            <a:ext cx="544068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Meaning</a:t>
            </a:r>
            <a:endParaRPr lang="en-US" sz="1300" dirty="0"/>
          </a:p>
        </p:txBody>
      </p:sp>
      <p:sp>
        <p:nvSpPr>
          <p:cNvPr id="8" name="box"/>
          <p:cNvSpPr/>
          <p:nvPr/>
        </p:nvSpPr>
        <p:spPr>
          <a:xfrm>
            <a:off x="8778240" y="1325880"/>
            <a:ext cx="2788920" cy="411480"/>
          </a:xfrm>
          <a:prstGeom prst="rect">
            <a:avLst/>
          </a:prstGeom>
          <a:solidFill>
            <a:srgbClr val="1F3A5F"/>
          </a:solidFill>
          <a:ln w="12700">
            <a:solidFill>
              <a:srgbClr val="1F3A5F"/>
            </a:solidFill>
            <a:prstDash val="solid"/>
          </a:ln>
        </p:spPr>
      </p:sp>
      <p:sp>
        <p:nvSpPr>
          <p:cNvPr id="9" name="Text 6"/>
          <p:cNvSpPr txBox="1"/>
          <p:nvPr/>
        </p:nvSpPr>
        <p:spPr>
          <a:xfrm>
            <a:off x="8778240" y="1325880"/>
            <a:ext cx="278892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Typical use</a:t>
            </a:r>
            <a:endParaRPr lang="en-US" sz="1300" dirty="0"/>
          </a:p>
        </p:txBody>
      </p:sp>
      <p:sp>
        <p:nvSpPr>
          <p:cNvPr id="10" name="box"/>
          <p:cNvSpPr/>
          <p:nvPr/>
        </p:nvSpPr>
        <p:spPr>
          <a:xfrm>
            <a:off x="548640" y="1783080"/>
            <a:ext cx="2697480" cy="566928"/>
          </a:xfrm>
          <a:prstGeom prst="rect">
            <a:avLst/>
          </a:prstGeom>
          <a:solidFill>
            <a:srgbClr val="EEF2F6"/>
          </a:solidFill>
          <a:ln w="12700">
            <a:solidFill>
              <a:srgbClr val="EEF2F6"/>
            </a:solidFill>
            <a:prstDash val="solid"/>
          </a:ln>
        </p:spPr>
      </p:sp>
      <p:sp>
        <p:nvSpPr>
          <p:cNvPr id="11" name="Text 8"/>
          <p:cNvSpPr txBox="1"/>
          <p:nvPr/>
        </p:nvSpPr>
        <p:spPr>
          <a:xfrm>
            <a:off x="548640" y="1783080"/>
            <a:ext cx="2697480" cy="566928"/>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max-age=N</a:t>
            </a:r>
            <a:endParaRPr lang="en-US" sz="1300" dirty="0"/>
          </a:p>
        </p:txBody>
      </p:sp>
      <p:sp>
        <p:nvSpPr>
          <p:cNvPr id="12" name="box"/>
          <p:cNvSpPr/>
          <p:nvPr/>
        </p:nvSpPr>
        <p:spPr>
          <a:xfrm>
            <a:off x="3291840" y="1783080"/>
            <a:ext cx="5440680" cy="566928"/>
          </a:xfrm>
          <a:prstGeom prst="rect">
            <a:avLst/>
          </a:prstGeom>
          <a:solidFill>
            <a:srgbClr val="F7F9FB"/>
          </a:solidFill>
          <a:ln w="12700">
            <a:solidFill>
              <a:srgbClr val="F7F9FB"/>
            </a:solidFill>
            <a:prstDash val="solid"/>
          </a:ln>
        </p:spPr>
      </p:sp>
      <p:sp>
        <p:nvSpPr>
          <p:cNvPr id="13" name="Text 10"/>
          <p:cNvSpPr txBox="1"/>
          <p:nvPr/>
        </p:nvSpPr>
        <p:spPr>
          <a:xfrm>
            <a:off x="3291840" y="1783080"/>
            <a:ext cx="5440680" cy="566928"/>
          </a:xfrm>
          <a:prstGeom prst="rect">
            <a:avLst/>
          </a:prstGeom>
          <a:noFill/>
          <a:ln/>
        </p:spPr>
        <p:txBody>
          <a:bodyPr wrap="square" lIns="1270" tIns="1270" rIns="1270" bIns="1270" rtlCol="0" anchor="ctr"/>
          <a:lstStyle/>
          <a:p>
            <a:pPr algn="l" indent="0" marL="0">
              <a:buNone/>
            </a:pPr>
            <a:r>
              <a:rPr lang="en-US" sz="1300" dirty="0">
                <a:solidFill>
                  <a:srgbClr val="1B2430"/>
                </a:solidFill>
              </a:rPr>
              <a:t>fresh for N seconds</a:t>
            </a:r>
            <a:endParaRPr lang="en-US" sz="1300" dirty="0"/>
          </a:p>
        </p:txBody>
      </p:sp>
      <p:sp>
        <p:nvSpPr>
          <p:cNvPr id="14" name="box"/>
          <p:cNvSpPr/>
          <p:nvPr/>
        </p:nvSpPr>
        <p:spPr>
          <a:xfrm>
            <a:off x="8778240" y="1783080"/>
            <a:ext cx="2788920" cy="566928"/>
          </a:xfrm>
          <a:prstGeom prst="rect">
            <a:avLst/>
          </a:prstGeom>
          <a:solidFill>
            <a:srgbClr val="F7F9FB"/>
          </a:solidFill>
          <a:ln w="12700">
            <a:solidFill>
              <a:srgbClr val="F7F9FB"/>
            </a:solidFill>
            <a:prstDash val="solid"/>
          </a:ln>
        </p:spPr>
      </p:sp>
      <p:sp>
        <p:nvSpPr>
          <p:cNvPr id="15" name="Text 12"/>
          <p:cNvSpPr txBox="1"/>
          <p:nvPr/>
        </p:nvSpPr>
        <p:spPr>
          <a:xfrm>
            <a:off x="8778240" y="1783080"/>
            <a:ext cx="2788920" cy="566928"/>
          </a:xfrm>
          <a:prstGeom prst="rect">
            <a:avLst/>
          </a:prstGeom>
          <a:noFill/>
          <a:ln/>
        </p:spPr>
        <p:txBody>
          <a:bodyPr wrap="square" lIns="1270" tIns="1270" rIns="1270" bIns="1270" rtlCol="0" anchor="ctr"/>
          <a:lstStyle/>
          <a:p>
            <a:pPr algn="l" indent="0" marL="0">
              <a:buNone/>
            </a:pPr>
            <a:r>
              <a:rPr lang="en-US" sz="1300" dirty="0">
                <a:solidFill>
                  <a:srgbClr val="1B2430"/>
                </a:solidFill>
              </a:rPr>
              <a:t>images, scripts, CSS</a:t>
            </a:r>
            <a:endParaRPr lang="en-US" sz="1300" dirty="0"/>
          </a:p>
        </p:txBody>
      </p:sp>
      <p:sp>
        <p:nvSpPr>
          <p:cNvPr id="16" name="box"/>
          <p:cNvSpPr/>
          <p:nvPr/>
        </p:nvSpPr>
        <p:spPr>
          <a:xfrm>
            <a:off x="548640" y="2395728"/>
            <a:ext cx="2697480" cy="566928"/>
          </a:xfrm>
          <a:prstGeom prst="rect">
            <a:avLst/>
          </a:prstGeom>
          <a:solidFill>
            <a:srgbClr val="EEF2F6"/>
          </a:solidFill>
          <a:ln w="12700">
            <a:solidFill>
              <a:srgbClr val="EEF2F6"/>
            </a:solidFill>
            <a:prstDash val="solid"/>
          </a:ln>
        </p:spPr>
      </p:sp>
      <p:sp>
        <p:nvSpPr>
          <p:cNvPr id="17" name="Text 14"/>
          <p:cNvSpPr txBox="1"/>
          <p:nvPr/>
        </p:nvSpPr>
        <p:spPr>
          <a:xfrm>
            <a:off x="548640" y="2395728"/>
            <a:ext cx="2697480" cy="566928"/>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no-cache</a:t>
            </a:r>
            <a:endParaRPr lang="en-US" sz="1300" dirty="0"/>
          </a:p>
        </p:txBody>
      </p:sp>
      <p:sp>
        <p:nvSpPr>
          <p:cNvPr id="18" name="box"/>
          <p:cNvSpPr/>
          <p:nvPr/>
        </p:nvSpPr>
        <p:spPr>
          <a:xfrm>
            <a:off x="3291840" y="2395728"/>
            <a:ext cx="5440680" cy="566928"/>
          </a:xfrm>
          <a:prstGeom prst="rect">
            <a:avLst/>
          </a:prstGeom>
          <a:solidFill>
            <a:srgbClr val="F7F9FB"/>
          </a:solidFill>
          <a:ln w="12700">
            <a:solidFill>
              <a:srgbClr val="F7F9FB"/>
            </a:solidFill>
            <a:prstDash val="solid"/>
          </a:ln>
        </p:spPr>
      </p:sp>
      <p:sp>
        <p:nvSpPr>
          <p:cNvPr id="19" name="Text 16"/>
          <p:cNvSpPr txBox="1"/>
          <p:nvPr/>
        </p:nvSpPr>
        <p:spPr>
          <a:xfrm>
            <a:off x="3291840" y="2395728"/>
            <a:ext cx="5440680" cy="566928"/>
          </a:xfrm>
          <a:prstGeom prst="rect">
            <a:avLst/>
          </a:prstGeom>
          <a:noFill/>
          <a:ln/>
        </p:spPr>
        <p:txBody>
          <a:bodyPr wrap="square" lIns="1270" tIns="1270" rIns="1270" bIns="1270" rtlCol="0" anchor="ctr"/>
          <a:lstStyle/>
          <a:p>
            <a:pPr algn="l" indent="0" marL="0">
              <a:buNone/>
            </a:pPr>
            <a:r>
              <a:rPr lang="en-US" sz="1300" dirty="0">
                <a:solidFill>
                  <a:srgbClr val="1B2430"/>
                </a:solidFill>
              </a:rPr>
              <a:t>may be stored, but </a:t>
            </a:r>
            <a:r>
              <a:rPr lang="en-US" sz="1300" b="1" dirty="0">
                <a:solidFill>
                  <a:srgbClr val="1B2430"/>
                </a:solidFill>
              </a:rPr>
              <a:t>revalidate before every use</a:t>
            </a:r>
            <a:endParaRPr lang="en-US" sz="1300" dirty="0"/>
          </a:p>
        </p:txBody>
      </p:sp>
      <p:sp>
        <p:nvSpPr>
          <p:cNvPr id="20" name="box"/>
          <p:cNvSpPr/>
          <p:nvPr/>
        </p:nvSpPr>
        <p:spPr>
          <a:xfrm>
            <a:off x="8778240" y="2395728"/>
            <a:ext cx="2788920" cy="566928"/>
          </a:xfrm>
          <a:prstGeom prst="rect">
            <a:avLst/>
          </a:prstGeom>
          <a:solidFill>
            <a:srgbClr val="F7F9FB"/>
          </a:solidFill>
          <a:ln w="12700">
            <a:solidFill>
              <a:srgbClr val="F7F9FB"/>
            </a:solidFill>
            <a:prstDash val="solid"/>
          </a:ln>
        </p:spPr>
      </p:sp>
      <p:sp>
        <p:nvSpPr>
          <p:cNvPr id="21" name="Text 18"/>
          <p:cNvSpPr txBox="1"/>
          <p:nvPr/>
        </p:nvSpPr>
        <p:spPr>
          <a:xfrm>
            <a:off x="8778240" y="2395728"/>
            <a:ext cx="2788920" cy="566928"/>
          </a:xfrm>
          <a:prstGeom prst="rect">
            <a:avLst/>
          </a:prstGeom>
          <a:noFill/>
          <a:ln/>
        </p:spPr>
        <p:txBody>
          <a:bodyPr wrap="square" lIns="1270" tIns="1270" rIns="1270" bIns="1270" rtlCol="0" anchor="ctr"/>
          <a:lstStyle/>
          <a:p>
            <a:pPr algn="l" indent="0" marL="0">
              <a:buNone/>
            </a:pPr>
            <a:r>
              <a:rPr lang="en-US" sz="1300" dirty="0">
                <a:solidFill>
                  <a:srgbClr val="1B2430"/>
                </a:solidFill>
              </a:rPr>
              <a:t>timetables, news</a:t>
            </a:r>
            <a:endParaRPr lang="en-US" sz="1300" dirty="0"/>
          </a:p>
        </p:txBody>
      </p:sp>
      <p:sp>
        <p:nvSpPr>
          <p:cNvPr id="22" name="box"/>
          <p:cNvSpPr/>
          <p:nvPr/>
        </p:nvSpPr>
        <p:spPr>
          <a:xfrm>
            <a:off x="548640" y="3008376"/>
            <a:ext cx="2697480" cy="566928"/>
          </a:xfrm>
          <a:prstGeom prst="rect">
            <a:avLst/>
          </a:prstGeom>
          <a:solidFill>
            <a:srgbClr val="EEF2F6"/>
          </a:solidFill>
          <a:ln w="12700">
            <a:solidFill>
              <a:srgbClr val="EEF2F6"/>
            </a:solidFill>
            <a:prstDash val="solid"/>
          </a:ln>
        </p:spPr>
      </p:sp>
      <p:sp>
        <p:nvSpPr>
          <p:cNvPr id="23" name="Text 20"/>
          <p:cNvSpPr txBox="1"/>
          <p:nvPr/>
        </p:nvSpPr>
        <p:spPr>
          <a:xfrm>
            <a:off x="548640" y="3008376"/>
            <a:ext cx="2697480" cy="566928"/>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no-store</a:t>
            </a:r>
            <a:endParaRPr lang="en-US" sz="1300" dirty="0"/>
          </a:p>
        </p:txBody>
      </p:sp>
      <p:sp>
        <p:nvSpPr>
          <p:cNvPr id="24" name="box"/>
          <p:cNvSpPr/>
          <p:nvPr/>
        </p:nvSpPr>
        <p:spPr>
          <a:xfrm>
            <a:off x="3291840" y="3008376"/>
            <a:ext cx="5440680" cy="566928"/>
          </a:xfrm>
          <a:prstGeom prst="rect">
            <a:avLst/>
          </a:prstGeom>
          <a:solidFill>
            <a:srgbClr val="F7F9FB"/>
          </a:solidFill>
          <a:ln w="12700">
            <a:solidFill>
              <a:srgbClr val="F7F9FB"/>
            </a:solidFill>
            <a:prstDash val="solid"/>
          </a:ln>
        </p:spPr>
      </p:sp>
      <p:sp>
        <p:nvSpPr>
          <p:cNvPr id="25" name="Text 22"/>
          <p:cNvSpPr txBox="1"/>
          <p:nvPr/>
        </p:nvSpPr>
        <p:spPr>
          <a:xfrm>
            <a:off x="3291840" y="3008376"/>
            <a:ext cx="5440680" cy="566928"/>
          </a:xfrm>
          <a:prstGeom prst="rect">
            <a:avLst/>
          </a:prstGeom>
          <a:noFill/>
          <a:ln/>
        </p:spPr>
        <p:txBody>
          <a:bodyPr wrap="square" lIns="1270" tIns="1270" rIns="1270" bIns="1270" rtlCol="0" anchor="ctr"/>
          <a:lstStyle/>
          <a:p>
            <a:pPr algn="l" indent="0" marL="0">
              <a:buNone/>
            </a:pPr>
            <a:r>
              <a:rPr lang="en-US" sz="1300" b="1" dirty="0">
                <a:solidFill>
                  <a:srgbClr val="1B2430"/>
                </a:solidFill>
              </a:rPr>
              <a:t>never</a:t>
            </a:r>
            <a:r>
              <a:rPr lang="en-US" sz="1300" dirty="0">
                <a:solidFill>
                  <a:srgbClr val="1B2430"/>
                </a:solidFill>
              </a:rPr>
              <a:t> store</a:t>
            </a:r>
            <a:endParaRPr lang="en-US" sz="1300" dirty="0"/>
          </a:p>
        </p:txBody>
      </p:sp>
      <p:sp>
        <p:nvSpPr>
          <p:cNvPr id="26" name="box"/>
          <p:cNvSpPr/>
          <p:nvPr/>
        </p:nvSpPr>
        <p:spPr>
          <a:xfrm>
            <a:off x="8778240" y="3008376"/>
            <a:ext cx="2788920" cy="566928"/>
          </a:xfrm>
          <a:prstGeom prst="rect">
            <a:avLst/>
          </a:prstGeom>
          <a:solidFill>
            <a:srgbClr val="F7F9FB"/>
          </a:solidFill>
          <a:ln w="12700">
            <a:solidFill>
              <a:srgbClr val="F7F9FB"/>
            </a:solidFill>
            <a:prstDash val="solid"/>
          </a:ln>
        </p:spPr>
      </p:sp>
      <p:sp>
        <p:nvSpPr>
          <p:cNvPr id="27" name="Text 24"/>
          <p:cNvSpPr txBox="1"/>
          <p:nvPr/>
        </p:nvSpPr>
        <p:spPr>
          <a:xfrm>
            <a:off x="8778240" y="3008376"/>
            <a:ext cx="2788920" cy="566928"/>
          </a:xfrm>
          <a:prstGeom prst="rect">
            <a:avLst/>
          </a:prstGeom>
          <a:noFill/>
          <a:ln/>
        </p:spPr>
        <p:txBody>
          <a:bodyPr wrap="square" lIns="1270" tIns="1270" rIns="1270" bIns="1270" rtlCol="0" anchor="ctr"/>
          <a:lstStyle/>
          <a:p>
            <a:pPr algn="l" indent="0" marL="0">
              <a:buNone/>
            </a:pPr>
            <a:r>
              <a:rPr lang="en-US" sz="1300" dirty="0">
                <a:solidFill>
                  <a:srgbClr val="1B2430"/>
                </a:solidFill>
              </a:rPr>
              <a:t>banking, medical data</a:t>
            </a:r>
            <a:endParaRPr lang="en-US" sz="1300" dirty="0"/>
          </a:p>
        </p:txBody>
      </p:sp>
      <p:sp>
        <p:nvSpPr>
          <p:cNvPr id="28" name="box"/>
          <p:cNvSpPr/>
          <p:nvPr/>
        </p:nvSpPr>
        <p:spPr>
          <a:xfrm>
            <a:off x="548640" y="3621024"/>
            <a:ext cx="2697480" cy="566928"/>
          </a:xfrm>
          <a:prstGeom prst="rect">
            <a:avLst/>
          </a:prstGeom>
          <a:solidFill>
            <a:srgbClr val="EEF2F6"/>
          </a:solidFill>
          <a:ln w="12700">
            <a:solidFill>
              <a:srgbClr val="EEF2F6"/>
            </a:solidFill>
            <a:prstDash val="solid"/>
          </a:ln>
        </p:spPr>
      </p:sp>
      <p:sp>
        <p:nvSpPr>
          <p:cNvPr id="29" name="Text 26"/>
          <p:cNvSpPr txBox="1"/>
          <p:nvPr/>
        </p:nvSpPr>
        <p:spPr>
          <a:xfrm>
            <a:off x="548640" y="3621024"/>
            <a:ext cx="2697480" cy="566928"/>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private / public</a:t>
            </a:r>
            <a:endParaRPr lang="en-US" sz="1300" dirty="0"/>
          </a:p>
        </p:txBody>
      </p:sp>
      <p:sp>
        <p:nvSpPr>
          <p:cNvPr id="30" name="box"/>
          <p:cNvSpPr/>
          <p:nvPr/>
        </p:nvSpPr>
        <p:spPr>
          <a:xfrm>
            <a:off x="3291840" y="3621024"/>
            <a:ext cx="5440680" cy="566928"/>
          </a:xfrm>
          <a:prstGeom prst="rect">
            <a:avLst/>
          </a:prstGeom>
          <a:solidFill>
            <a:srgbClr val="F7F9FB"/>
          </a:solidFill>
          <a:ln w="12700">
            <a:solidFill>
              <a:srgbClr val="F7F9FB"/>
            </a:solidFill>
            <a:prstDash val="solid"/>
          </a:ln>
        </p:spPr>
      </p:sp>
      <p:sp>
        <p:nvSpPr>
          <p:cNvPr id="31" name="Text 28"/>
          <p:cNvSpPr txBox="1"/>
          <p:nvPr/>
        </p:nvSpPr>
        <p:spPr>
          <a:xfrm>
            <a:off x="3291840" y="3621024"/>
            <a:ext cx="5440680" cy="566928"/>
          </a:xfrm>
          <a:prstGeom prst="rect">
            <a:avLst/>
          </a:prstGeom>
          <a:noFill/>
          <a:ln/>
        </p:spPr>
        <p:txBody>
          <a:bodyPr wrap="square" lIns="1270" tIns="1270" rIns="1270" bIns="1270" rtlCol="0" anchor="ctr"/>
          <a:lstStyle/>
          <a:p>
            <a:pPr algn="l" indent="0" marL="0">
              <a:buNone/>
            </a:pPr>
            <a:r>
              <a:rPr lang="en-US" sz="1300" dirty="0">
                <a:solidFill>
                  <a:srgbClr val="1B2430"/>
                </a:solidFill>
              </a:rPr>
              <a:t>only the browser / shared caches too</a:t>
            </a:r>
            <a:endParaRPr lang="en-US" sz="1300" dirty="0"/>
          </a:p>
        </p:txBody>
      </p:sp>
      <p:sp>
        <p:nvSpPr>
          <p:cNvPr id="32" name="box"/>
          <p:cNvSpPr/>
          <p:nvPr/>
        </p:nvSpPr>
        <p:spPr>
          <a:xfrm>
            <a:off x="8778240" y="3621024"/>
            <a:ext cx="2788920" cy="566928"/>
          </a:xfrm>
          <a:prstGeom prst="rect">
            <a:avLst/>
          </a:prstGeom>
          <a:solidFill>
            <a:srgbClr val="F7F9FB"/>
          </a:solidFill>
          <a:ln w="12700">
            <a:solidFill>
              <a:srgbClr val="F7F9FB"/>
            </a:solidFill>
            <a:prstDash val="solid"/>
          </a:ln>
        </p:spPr>
      </p:sp>
      <p:sp>
        <p:nvSpPr>
          <p:cNvPr id="33" name="Text 30"/>
          <p:cNvSpPr txBox="1"/>
          <p:nvPr/>
        </p:nvSpPr>
        <p:spPr>
          <a:xfrm>
            <a:off x="8778240" y="3621024"/>
            <a:ext cx="2788920" cy="566928"/>
          </a:xfrm>
          <a:prstGeom prst="rect">
            <a:avLst/>
          </a:prstGeom>
          <a:noFill/>
          <a:ln/>
        </p:spPr>
        <p:txBody>
          <a:bodyPr wrap="square" lIns="1270" tIns="1270" rIns="1270" bIns="1270" rtlCol="0" anchor="ctr"/>
          <a:lstStyle/>
          <a:p>
            <a:pPr algn="l" indent="0" marL="0">
              <a:buNone/>
            </a:pPr>
            <a:r>
              <a:rPr lang="en-US" sz="1300" dirty="0">
                <a:solidFill>
                  <a:srgbClr val="1B2430"/>
                </a:solidFill>
              </a:rPr>
              <a:t>profile page / logo</a:t>
            </a:r>
            <a:endParaRPr lang="en-US" sz="1300" dirty="0"/>
          </a:p>
        </p:txBody>
      </p:sp>
      <p:sp>
        <p:nvSpPr>
          <p:cNvPr id="34" name="box"/>
          <p:cNvSpPr/>
          <p:nvPr/>
        </p:nvSpPr>
        <p:spPr>
          <a:xfrm>
            <a:off x="548640" y="4233672"/>
            <a:ext cx="2697480" cy="566928"/>
          </a:xfrm>
          <a:prstGeom prst="rect">
            <a:avLst/>
          </a:prstGeom>
          <a:solidFill>
            <a:srgbClr val="EEF2F6"/>
          </a:solidFill>
          <a:ln w="12700">
            <a:solidFill>
              <a:srgbClr val="EEF2F6"/>
            </a:solidFill>
            <a:prstDash val="solid"/>
          </a:ln>
        </p:spPr>
      </p:sp>
      <p:sp>
        <p:nvSpPr>
          <p:cNvPr id="35" name="Text 32"/>
          <p:cNvSpPr txBox="1"/>
          <p:nvPr/>
        </p:nvSpPr>
        <p:spPr>
          <a:xfrm>
            <a:off x="548640" y="4233672"/>
            <a:ext cx="2697480" cy="566928"/>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s-maxage=N</a:t>
            </a:r>
            <a:endParaRPr lang="en-US" sz="1300" dirty="0"/>
          </a:p>
        </p:txBody>
      </p:sp>
      <p:sp>
        <p:nvSpPr>
          <p:cNvPr id="36" name="box"/>
          <p:cNvSpPr/>
          <p:nvPr/>
        </p:nvSpPr>
        <p:spPr>
          <a:xfrm>
            <a:off x="3291840" y="4233672"/>
            <a:ext cx="5440680" cy="566928"/>
          </a:xfrm>
          <a:prstGeom prst="rect">
            <a:avLst/>
          </a:prstGeom>
          <a:solidFill>
            <a:srgbClr val="F7F9FB"/>
          </a:solidFill>
          <a:ln w="12700">
            <a:solidFill>
              <a:srgbClr val="F7F9FB"/>
            </a:solidFill>
            <a:prstDash val="solid"/>
          </a:ln>
        </p:spPr>
      </p:sp>
      <p:sp>
        <p:nvSpPr>
          <p:cNvPr id="37" name="Text 34"/>
          <p:cNvSpPr txBox="1"/>
          <p:nvPr/>
        </p:nvSpPr>
        <p:spPr>
          <a:xfrm>
            <a:off x="3291840" y="4233672"/>
            <a:ext cx="5440680" cy="566928"/>
          </a:xfrm>
          <a:prstGeom prst="rect">
            <a:avLst/>
          </a:prstGeom>
          <a:noFill/>
          <a:ln/>
        </p:spPr>
        <p:txBody>
          <a:bodyPr wrap="square" lIns="1270" tIns="1270" rIns="1270" bIns="1270" rtlCol="0" anchor="ctr"/>
          <a:lstStyle/>
          <a:p>
            <a:pPr algn="l" indent="0" marL="0">
              <a:buNone/>
            </a:pPr>
            <a:r>
              <a:rPr lang="en-US" sz="1300" dirty="0">
                <a:solidFill>
                  <a:srgbClr val="1B2430"/>
                </a:solidFill>
              </a:rPr>
              <a:t>a separate lifetime for shared caches (CDNs)</a:t>
            </a:r>
            <a:endParaRPr lang="en-US" sz="1300" dirty="0"/>
          </a:p>
        </p:txBody>
      </p:sp>
      <p:sp>
        <p:nvSpPr>
          <p:cNvPr id="38" name="box"/>
          <p:cNvSpPr/>
          <p:nvPr/>
        </p:nvSpPr>
        <p:spPr>
          <a:xfrm>
            <a:off x="8778240" y="4233672"/>
            <a:ext cx="2788920" cy="566928"/>
          </a:xfrm>
          <a:prstGeom prst="rect">
            <a:avLst/>
          </a:prstGeom>
          <a:solidFill>
            <a:srgbClr val="F7F9FB"/>
          </a:solidFill>
          <a:ln w="12700">
            <a:solidFill>
              <a:srgbClr val="F7F9FB"/>
            </a:solidFill>
            <a:prstDash val="solid"/>
          </a:ln>
        </p:spPr>
      </p:sp>
      <p:sp>
        <p:nvSpPr>
          <p:cNvPr id="39" name="Text 36"/>
          <p:cNvSpPr txBox="1"/>
          <p:nvPr/>
        </p:nvSpPr>
        <p:spPr>
          <a:xfrm>
            <a:off x="8778240" y="4233672"/>
            <a:ext cx="2788920" cy="566928"/>
          </a:xfrm>
          <a:prstGeom prst="rect">
            <a:avLst/>
          </a:prstGeom>
          <a:noFill/>
          <a:ln/>
        </p:spPr>
        <p:txBody>
          <a:bodyPr wrap="square" lIns="1270" tIns="1270" rIns="1270" bIns="1270" rtlCol="0" anchor="ctr"/>
          <a:lstStyle/>
          <a:p>
            <a:pPr algn="l" indent="0" marL="0">
              <a:buNone/>
            </a:pPr>
            <a:r>
              <a:rPr lang="en-US" sz="1300" dirty="0">
                <a:solidFill>
                  <a:srgbClr val="1B2430"/>
                </a:solidFill>
              </a:rPr>
              <a:t>CDN-served pages</a:t>
            </a:r>
            <a:endParaRPr lang="en-US" sz="1300" dirty="0"/>
          </a:p>
        </p:txBody>
      </p:sp>
      <p:sp>
        <p:nvSpPr>
          <p:cNvPr id="40" name="Shape 37"/>
          <p:cNvSpPr/>
          <p:nvPr/>
        </p:nvSpPr>
        <p:spPr>
          <a:xfrm>
            <a:off x="548640" y="5001768"/>
            <a:ext cx="384048" cy="384048"/>
          </a:xfrm>
          <a:prstGeom prst="ellipse">
            <a:avLst/>
          </a:prstGeom>
          <a:solidFill>
            <a:srgbClr val="B9772A"/>
          </a:solidFill>
          <a:ln w="12700">
            <a:solidFill>
              <a:srgbClr val="B9772A"/>
            </a:solidFill>
            <a:prstDash val="solid"/>
          </a:ln>
        </p:spPr>
      </p:sp>
      <p:sp>
        <p:nvSpPr>
          <p:cNvPr id="41" name="Text 38"/>
          <p:cNvSpPr txBox="1"/>
          <p:nvPr/>
        </p:nvSpPr>
        <p:spPr>
          <a:xfrm>
            <a:off x="548640" y="5001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42" name="Text 39"/>
          <p:cNvSpPr txBox="1"/>
          <p:nvPr/>
        </p:nvSpPr>
        <p:spPr>
          <a:xfrm>
            <a:off x="1051560" y="4983480"/>
            <a:ext cx="10561320" cy="685800"/>
          </a:xfrm>
          <a:prstGeom prst="rect">
            <a:avLst/>
          </a:prstGeom>
          <a:noFill/>
          <a:ln/>
        </p:spPr>
        <p:txBody>
          <a:bodyPr wrap="square" lIns="0" tIns="0" rIns="0" bIns="0" rtlCol="0" anchor="t"/>
          <a:lstStyle/>
          <a:p>
            <a:pPr algn="l" indent="0" marL="0">
              <a:spcAft>
                <a:spcPts val="400"/>
              </a:spcAft>
              <a:buNone/>
            </a:pPr>
            <a:r>
              <a:rPr lang="en-US" sz="1400" dirty="0">
                <a:solidFill>
                  <a:srgbClr val="1B2430"/>
                </a:solidFill>
              </a:rPr>
              <a:t>Careful: </a:t>
            </a:r>
            <a:r>
              <a:rPr lang="en-US" sz="1400" b="1" dirty="0">
                <a:solidFill>
                  <a:srgbClr val="1B2430"/>
                </a:solidFill>
              </a:rPr>
              <a:t>no-cache</a:t>
            </a:r>
            <a:r>
              <a:rPr lang="en-US" sz="1400" dirty="0">
                <a:solidFill>
                  <a:srgbClr val="1B2430"/>
                </a:solidFill>
              </a:rPr>
              <a:t> does </a:t>
            </a:r>
            <a:r>
              <a:rPr lang="en-US" sz="1400" i="1" dirty="0">
                <a:solidFill>
                  <a:srgbClr val="1B2430"/>
                </a:solidFill>
              </a:rPr>
              <a:t>not</a:t>
            </a:r>
            <a:r>
              <a:rPr lang="en-US" sz="1400" dirty="0">
                <a:solidFill>
                  <a:srgbClr val="1B2430"/>
                </a:solidFill>
              </a:rPr>
              <a:t> mean “do not cache” — that is </a:t>
            </a:r>
            <a:r>
              <a:rPr lang="en-US" sz="1400" b="1" dirty="0">
                <a:solidFill>
                  <a:srgbClr val="1B2430"/>
                </a:solidFill>
              </a:rPr>
              <a:t>no-store</a:t>
            </a:r>
            <a:r>
              <a:rPr lang="en-US" sz="1400" dirty="0">
                <a:solidFill>
                  <a:srgbClr val="1B2430"/>
                </a:solidFill>
              </a:rPr>
              <a:t>.</a:t>
            </a:r>
            <a:endParaRPr lang="en-US" sz="1400" dirty="0"/>
          </a:p>
        </p:txBody>
      </p:sp>
      <p:sp>
        <p:nvSpPr>
          <p:cNvPr id="43"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44" name="Text 41"/>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Cache-Control is the server’s contract with every cache on the path.</a:t>
            </a:r>
            <a:endParaRPr lang="en-US" sz="1400" dirty="0"/>
          </a:p>
        </p:txBody>
      </p:sp>
      <p:sp>
        <p:nvSpPr>
          <p:cNvPr id="45" name="Text 42"/>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CSS (Cascading Style Sheets) · CDN (content distribution network)</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 Content distribution networks</a:t>
            </a:r>
            <a:endParaRPr lang="en-US" sz="3000" dirty="0"/>
          </a:p>
        </p:txBody>
      </p:sp>
      <p:sp>
        <p:nvSpPr>
          <p:cNvPr id="4" name="box"/>
          <p:cNvSpPr/>
          <p:nvPr/>
        </p:nvSpPr>
        <p:spPr>
          <a:xfrm>
            <a:off x="4846320" y="1280160"/>
            <a:ext cx="2468880" cy="822960"/>
          </a:xfrm>
          <a:prstGeom prst="roundRect">
            <a:avLst>
              <a:gd name="adj" fmla="val 8889"/>
            </a:avLst>
          </a:prstGeom>
          <a:solidFill>
            <a:srgbClr val="1F3A5F"/>
          </a:solidFill>
          <a:ln w="12700">
            <a:solidFill>
              <a:srgbClr val="1F3A5F"/>
            </a:solidFill>
            <a:prstDash val="solid"/>
          </a:ln>
        </p:spPr>
      </p:sp>
      <p:sp>
        <p:nvSpPr>
          <p:cNvPr id="5" name="Text 2"/>
          <p:cNvSpPr txBox="1"/>
          <p:nvPr/>
        </p:nvSpPr>
        <p:spPr>
          <a:xfrm>
            <a:off x="4846320" y="1280160"/>
            <a:ext cx="2468880" cy="822960"/>
          </a:xfrm>
          <a:prstGeom prst="rect">
            <a:avLst/>
          </a:prstGeom>
          <a:noFill/>
          <a:ln/>
        </p:spPr>
        <p:txBody>
          <a:bodyPr wrap="square" lIns="635" tIns="635" rIns="635" bIns="635" rtlCol="0" anchor="ctr"/>
          <a:lstStyle/>
          <a:p>
            <a:pPr algn="ctr" indent="0" marL="0">
              <a:buNone/>
            </a:pPr>
            <a:r>
              <a:rPr lang="en-US" sz="1300" b="1" dirty="0">
                <a:solidFill>
                  <a:srgbClr val="FFFFFF"/>
                </a:solidFill>
              </a:rPr>
              <a:t>origin server</a:t>
            </a:r>
            <a:endParaRPr lang="en-US" sz="1300" dirty="0"/>
          </a:p>
          <a:p>
            <a:pPr algn="ctr" indent="0" marL="0">
              <a:buNone/>
            </a:pPr>
            <a:r>
              <a:rPr lang="en-US" sz="1300" dirty="0">
                <a:solidFill>
                  <a:srgbClr val="FFFFFF"/>
                </a:solidFill>
              </a:rPr>
              <a:t>the master copy</a:t>
            </a:r>
            <a:endParaRPr lang="en-US" sz="1300" dirty="0"/>
          </a:p>
        </p:txBody>
      </p:sp>
      <p:sp>
        <p:nvSpPr>
          <p:cNvPr id="6" name="box"/>
          <p:cNvSpPr/>
          <p:nvPr/>
        </p:nvSpPr>
        <p:spPr>
          <a:xfrm>
            <a:off x="731520" y="2743200"/>
            <a:ext cx="2194560" cy="731520"/>
          </a:xfrm>
          <a:prstGeom prst="roundRect">
            <a:avLst>
              <a:gd name="adj" fmla="val 10000"/>
            </a:avLst>
          </a:prstGeom>
          <a:solidFill>
            <a:srgbClr val="B9772A"/>
          </a:solidFill>
          <a:ln w="12700">
            <a:solidFill>
              <a:srgbClr val="B9772A"/>
            </a:solidFill>
            <a:prstDash val="solid"/>
          </a:ln>
        </p:spPr>
      </p:sp>
      <p:sp>
        <p:nvSpPr>
          <p:cNvPr id="7" name="Text 4"/>
          <p:cNvSpPr txBox="1"/>
          <p:nvPr/>
        </p:nvSpPr>
        <p:spPr>
          <a:xfrm>
            <a:off x="731520" y="2743200"/>
            <a:ext cx="2194560" cy="731520"/>
          </a:xfrm>
          <a:prstGeom prst="rect">
            <a:avLst/>
          </a:prstGeom>
          <a:noFill/>
          <a:ln/>
        </p:spPr>
        <p:txBody>
          <a:bodyPr wrap="square" lIns="635" tIns="635" rIns="635" bIns="635" rtlCol="0" anchor="ctr"/>
          <a:lstStyle/>
          <a:p>
            <a:pPr algn="ctr" indent="0" marL="0">
              <a:buNone/>
            </a:pPr>
            <a:r>
              <a:rPr lang="en-US" sz="1200" dirty="0">
                <a:solidFill>
                  <a:srgbClr val="FFFFFF"/>
                </a:solidFill>
              </a:rPr>
              <a:t>CDN · Bucharest</a:t>
            </a:r>
            <a:endParaRPr lang="en-US" sz="1200" dirty="0"/>
          </a:p>
        </p:txBody>
      </p:sp>
      <p:sp>
        <p:nvSpPr>
          <p:cNvPr id="8" name="Shape 5"/>
          <p:cNvSpPr/>
          <p:nvPr/>
        </p:nvSpPr>
        <p:spPr>
          <a:xfrm flipH="1">
            <a:off x="1828800" y="2103120"/>
            <a:ext cx="4251960" cy="640080"/>
          </a:xfrm>
          <a:prstGeom prst="line">
            <a:avLst/>
          </a:prstGeom>
          <a:noFill/>
          <a:ln w="15875">
            <a:solidFill>
              <a:srgbClr val="9AA5AE"/>
            </a:solidFill>
            <a:prstDash val="dash"/>
            <a:tailEnd type="triangle"/>
          </a:ln>
        </p:spPr>
      </p:sp>
      <p:sp>
        <p:nvSpPr>
          <p:cNvPr id="9" name="box"/>
          <p:cNvSpPr/>
          <p:nvPr/>
        </p:nvSpPr>
        <p:spPr>
          <a:xfrm>
            <a:off x="3657600" y="2743200"/>
            <a:ext cx="2194560" cy="731520"/>
          </a:xfrm>
          <a:prstGeom prst="roundRect">
            <a:avLst>
              <a:gd name="adj" fmla="val 10000"/>
            </a:avLst>
          </a:prstGeom>
          <a:solidFill>
            <a:srgbClr val="B9772A"/>
          </a:solidFill>
          <a:ln w="12700">
            <a:solidFill>
              <a:srgbClr val="B9772A"/>
            </a:solidFill>
            <a:prstDash val="solid"/>
          </a:ln>
        </p:spPr>
      </p:sp>
      <p:sp>
        <p:nvSpPr>
          <p:cNvPr id="10" name="Text 7"/>
          <p:cNvSpPr txBox="1"/>
          <p:nvPr/>
        </p:nvSpPr>
        <p:spPr>
          <a:xfrm>
            <a:off x="3657600" y="2743200"/>
            <a:ext cx="2194560" cy="731520"/>
          </a:xfrm>
          <a:prstGeom prst="rect">
            <a:avLst/>
          </a:prstGeom>
          <a:noFill/>
          <a:ln/>
        </p:spPr>
        <p:txBody>
          <a:bodyPr wrap="square" lIns="635" tIns="635" rIns="635" bIns="635" rtlCol="0" anchor="ctr"/>
          <a:lstStyle/>
          <a:p>
            <a:pPr algn="ctr" indent="0" marL="0">
              <a:buNone/>
            </a:pPr>
            <a:r>
              <a:rPr lang="en-US" sz="1200" dirty="0">
                <a:solidFill>
                  <a:srgbClr val="FFFFFF"/>
                </a:solidFill>
              </a:rPr>
              <a:t>CDN · Frankfurt</a:t>
            </a:r>
            <a:endParaRPr lang="en-US" sz="1200" dirty="0"/>
          </a:p>
        </p:txBody>
      </p:sp>
      <p:sp>
        <p:nvSpPr>
          <p:cNvPr id="11" name="Shape 8"/>
          <p:cNvSpPr/>
          <p:nvPr/>
        </p:nvSpPr>
        <p:spPr>
          <a:xfrm flipH="1">
            <a:off x="4754880" y="2103120"/>
            <a:ext cx="1325880" cy="640080"/>
          </a:xfrm>
          <a:prstGeom prst="line">
            <a:avLst/>
          </a:prstGeom>
          <a:noFill/>
          <a:ln w="15875">
            <a:solidFill>
              <a:srgbClr val="9AA5AE"/>
            </a:solidFill>
            <a:prstDash val="dash"/>
            <a:tailEnd type="triangle"/>
          </a:ln>
        </p:spPr>
      </p:sp>
      <p:sp>
        <p:nvSpPr>
          <p:cNvPr id="12" name="box"/>
          <p:cNvSpPr/>
          <p:nvPr/>
        </p:nvSpPr>
        <p:spPr>
          <a:xfrm>
            <a:off x="6583680" y="2743200"/>
            <a:ext cx="2194560" cy="731520"/>
          </a:xfrm>
          <a:prstGeom prst="roundRect">
            <a:avLst>
              <a:gd name="adj" fmla="val 10000"/>
            </a:avLst>
          </a:prstGeom>
          <a:solidFill>
            <a:srgbClr val="B9772A"/>
          </a:solidFill>
          <a:ln w="12700">
            <a:solidFill>
              <a:srgbClr val="B9772A"/>
            </a:solidFill>
            <a:prstDash val="solid"/>
          </a:ln>
        </p:spPr>
      </p:sp>
      <p:sp>
        <p:nvSpPr>
          <p:cNvPr id="13" name="Text 10"/>
          <p:cNvSpPr txBox="1"/>
          <p:nvPr/>
        </p:nvSpPr>
        <p:spPr>
          <a:xfrm>
            <a:off x="6583680" y="2743200"/>
            <a:ext cx="2194560" cy="731520"/>
          </a:xfrm>
          <a:prstGeom prst="rect">
            <a:avLst/>
          </a:prstGeom>
          <a:noFill/>
          <a:ln/>
        </p:spPr>
        <p:txBody>
          <a:bodyPr wrap="square" lIns="635" tIns="635" rIns="635" bIns="635" rtlCol="0" anchor="ctr"/>
          <a:lstStyle/>
          <a:p>
            <a:pPr algn="ctr" indent="0" marL="0">
              <a:buNone/>
            </a:pPr>
            <a:r>
              <a:rPr lang="en-US" sz="1200" dirty="0">
                <a:solidFill>
                  <a:srgbClr val="FFFFFF"/>
                </a:solidFill>
              </a:rPr>
              <a:t>CDN · Madrid</a:t>
            </a:r>
            <a:endParaRPr lang="en-US" sz="1200" dirty="0"/>
          </a:p>
        </p:txBody>
      </p:sp>
      <p:sp>
        <p:nvSpPr>
          <p:cNvPr id="14" name="Shape 11"/>
          <p:cNvSpPr/>
          <p:nvPr/>
        </p:nvSpPr>
        <p:spPr>
          <a:xfrm>
            <a:off x="6080760" y="2103120"/>
            <a:ext cx="1600200" cy="640080"/>
          </a:xfrm>
          <a:prstGeom prst="line">
            <a:avLst/>
          </a:prstGeom>
          <a:noFill/>
          <a:ln w="15875">
            <a:solidFill>
              <a:srgbClr val="9AA5AE"/>
            </a:solidFill>
            <a:prstDash val="dash"/>
            <a:tailEnd type="triangle"/>
          </a:ln>
        </p:spPr>
      </p:sp>
      <p:sp>
        <p:nvSpPr>
          <p:cNvPr id="15" name="box"/>
          <p:cNvSpPr/>
          <p:nvPr/>
        </p:nvSpPr>
        <p:spPr>
          <a:xfrm>
            <a:off x="9326880" y="2743200"/>
            <a:ext cx="2194560" cy="731520"/>
          </a:xfrm>
          <a:prstGeom prst="roundRect">
            <a:avLst>
              <a:gd name="adj" fmla="val 10000"/>
            </a:avLst>
          </a:prstGeom>
          <a:solidFill>
            <a:srgbClr val="B9772A"/>
          </a:solidFill>
          <a:ln w="12700">
            <a:solidFill>
              <a:srgbClr val="B9772A"/>
            </a:solidFill>
            <a:prstDash val="solid"/>
          </a:ln>
        </p:spPr>
      </p:sp>
      <p:sp>
        <p:nvSpPr>
          <p:cNvPr id="16" name="Text 13"/>
          <p:cNvSpPr txBox="1"/>
          <p:nvPr/>
        </p:nvSpPr>
        <p:spPr>
          <a:xfrm>
            <a:off x="9326880" y="2743200"/>
            <a:ext cx="2194560" cy="731520"/>
          </a:xfrm>
          <a:prstGeom prst="rect">
            <a:avLst/>
          </a:prstGeom>
          <a:noFill/>
          <a:ln/>
        </p:spPr>
        <p:txBody>
          <a:bodyPr wrap="square" lIns="635" tIns="635" rIns="635" bIns="635" rtlCol="0" anchor="ctr"/>
          <a:lstStyle/>
          <a:p>
            <a:pPr algn="ctr" indent="0" marL="0">
              <a:buNone/>
            </a:pPr>
            <a:r>
              <a:rPr lang="en-US" sz="1200" dirty="0">
                <a:solidFill>
                  <a:srgbClr val="FFFFFF"/>
                </a:solidFill>
              </a:rPr>
              <a:t>CDN · New York</a:t>
            </a:r>
            <a:endParaRPr lang="en-US" sz="1200" dirty="0"/>
          </a:p>
        </p:txBody>
      </p:sp>
      <p:sp>
        <p:nvSpPr>
          <p:cNvPr id="17" name="Shape 14"/>
          <p:cNvSpPr/>
          <p:nvPr/>
        </p:nvSpPr>
        <p:spPr>
          <a:xfrm>
            <a:off x="6080760" y="2103120"/>
            <a:ext cx="4343400" cy="640080"/>
          </a:xfrm>
          <a:prstGeom prst="line">
            <a:avLst/>
          </a:prstGeom>
          <a:noFill/>
          <a:ln w="15875">
            <a:solidFill>
              <a:srgbClr val="9AA5AE"/>
            </a:solidFill>
            <a:prstDash val="dash"/>
            <a:tailEnd type="triangle"/>
          </a:ln>
        </p:spPr>
      </p:sp>
      <p:sp>
        <p:nvSpPr>
          <p:cNvPr id="18" name="box"/>
          <p:cNvSpPr/>
          <p:nvPr/>
        </p:nvSpPr>
        <p:spPr>
          <a:xfrm>
            <a:off x="548640" y="4114800"/>
            <a:ext cx="2560320" cy="548640"/>
          </a:xfrm>
          <a:prstGeom prst="roundRect">
            <a:avLst>
              <a:gd name="adj" fmla="val 13333"/>
            </a:avLst>
          </a:prstGeom>
          <a:solidFill>
            <a:srgbClr val="EEF2F6"/>
          </a:solidFill>
          <a:ln w="12700">
            <a:solidFill>
              <a:srgbClr val="EEF2F6"/>
            </a:solidFill>
            <a:prstDash val="solid"/>
          </a:ln>
        </p:spPr>
      </p:sp>
      <p:sp>
        <p:nvSpPr>
          <p:cNvPr id="19" name="Text 16"/>
          <p:cNvSpPr txBox="1"/>
          <p:nvPr/>
        </p:nvSpPr>
        <p:spPr>
          <a:xfrm>
            <a:off x="548640" y="4114800"/>
            <a:ext cx="2560320" cy="548640"/>
          </a:xfrm>
          <a:prstGeom prst="rect">
            <a:avLst/>
          </a:prstGeom>
          <a:noFill/>
          <a:ln/>
        </p:spPr>
        <p:txBody>
          <a:bodyPr wrap="square" lIns="635" tIns="635" rIns="635" bIns="635" rtlCol="0" anchor="ctr"/>
          <a:lstStyle/>
          <a:p>
            <a:pPr algn="ctr" indent="0" marL="0">
              <a:buNone/>
            </a:pPr>
            <a:r>
              <a:rPr lang="en-US" sz="1200" dirty="0">
                <a:solidFill>
                  <a:srgbClr val="1B2430"/>
                </a:solidFill>
              </a:rPr>
              <a:t>users in Romania</a:t>
            </a:r>
            <a:endParaRPr lang="en-US" sz="1200" dirty="0"/>
          </a:p>
        </p:txBody>
      </p:sp>
      <p:sp>
        <p:nvSpPr>
          <p:cNvPr id="20" name="Shape 17"/>
          <p:cNvSpPr/>
          <p:nvPr/>
        </p:nvSpPr>
        <p:spPr>
          <a:xfrm flipV="1">
            <a:off x="1828800" y="3474720"/>
            <a:ext cx="914" cy="640080"/>
          </a:xfrm>
          <a:prstGeom prst="line">
            <a:avLst/>
          </a:prstGeom>
          <a:noFill/>
          <a:ln w="22225">
            <a:solidFill>
              <a:srgbClr val="2A7F8E"/>
            </a:solidFill>
            <a:prstDash val="solid"/>
            <a:headEnd type="triangle"/>
            <a:tailEnd type="triangle"/>
          </a:ln>
        </p:spPr>
      </p:sp>
      <p:sp>
        <p:nvSpPr>
          <p:cNvPr id="21" name="box"/>
          <p:cNvSpPr/>
          <p:nvPr/>
        </p:nvSpPr>
        <p:spPr>
          <a:xfrm>
            <a:off x="3474720" y="4114800"/>
            <a:ext cx="2560320" cy="548640"/>
          </a:xfrm>
          <a:prstGeom prst="roundRect">
            <a:avLst>
              <a:gd name="adj" fmla="val 13333"/>
            </a:avLst>
          </a:prstGeom>
          <a:solidFill>
            <a:srgbClr val="EEF2F6"/>
          </a:solidFill>
          <a:ln w="12700">
            <a:solidFill>
              <a:srgbClr val="EEF2F6"/>
            </a:solidFill>
            <a:prstDash val="solid"/>
          </a:ln>
        </p:spPr>
      </p:sp>
      <p:sp>
        <p:nvSpPr>
          <p:cNvPr id="22" name="Text 19"/>
          <p:cNvSpPr txBox="1"/>
          <p:nvPr/>
        </p:nvSpPr>
        <p:spPr>
          <a:xfrm>
            <a:off x="3474720" y="4114800"/>
            <a:ext cx="2560320" cy="548640"/>
          </a:xfrm>
          <a:prstGeom prst="rect">
            <a:avLst/>
          </a:prstGeom>
          <a:noFill/>
          <a:ln/>
        </p:spPr>
        <p:txBody>
          <a:bodyPr wrap="square" lIns="635" tIns="635" rIns="635" bIns="635" rtlCol="0" anchor="ctr"/>
          <a:lstStyle/>
          <a:p>
            <a:pPr algn="ctr" indent="0" marL="0">
              <a:buNone/>
            </a:pPr>
            <a:r>
              <a:rPr lang="en-US" sz="1200" dirty="0">
                <a:solidFill>
                  <a:srgbClr val="1B2430"/>
                </a:solidFill>
              </a:rPr>
              <a:t>users in Germany</a:t>
            </a:r>
            <a:endParaRPr lang="en-US" sz="1200" dirty="0"/>
          </a:p>
        </p:txBody>
      </p:sp>
      <p:sp>
        <p:nvSpPr>
          <p:cNvPr id="23" name="Shape 20"/>
          <p:cNvSpPr/>
          <p:nvPr/>
        </p:nvSpPr>
        <p:spPr>
          <a:xfrm flipV="1">
            <a:off x="4754880" y="3474720"/>
            <a:ext cx="914" cy="640080"/>
          </a:xfrm>
          <a:prstGeom prst="line">
            <a:avLst/>
          </a:prstGeom>
          <a:noFill/>
          <a:ln w="22225">
            <a:solidFill>
              <a:srgbClr val="2A7F8E"/>
            </a:solidFill>
            <a:prstDash val="solid"/>
            <a:headEnd type="triangle"/>
            <a:tailEnd type="triangle"/>
          </a:ln>
        </p:spPr>
      </p:sp>
      <p:sp>
        <p:nvSpPr>
          <p:cNvPr id="24" name="box"/>
          <p:cNvSpPr/>
          <p:nvPr/>
        </p:nvSpPr>
        <p:spPr>
          <a:xfrm>
            <a:off x="6400800" y="4114800"/>
            <a:ext cx="2560320" cy="548640"/>
          </a:xfrm>
          <a:prstGeom prst="roundRect">
            <a:avLst>
              <a:gd name="adj" fmla="val 13333"/>
            </a:avLst>
          </a:prstGeom>
          <a:solidFill>
            <a:srgbClr val="EEF2F6"/>
          </a:solidFill>
          <a:ln w="12700">
            <a:solidFill>
              <a:srgbClr val="EEF2F6"/>
            </a:solidFill>
            <a:prstDash val="solid"/>
          </a:ln>
        </p:spPr>
      </p:sp>
      <p:sp>
        <p:nvSpPr>
          <p:cNvPr id="25" name="Text 22"/>
          <p:cNvSpPr txBox="1"/>
          <p:nvPr/>
        </p:nvSpPr>
        <p:spPr>
          <a:xfrm>
            <a:off x="6400800" y="4114800"/>
            <a:ext cx="2560320" cy="548640"/>
          </a:xfrm>
          <a:prstGeom prst="rect">
            <a:avLst/>
          </a:prstGeom>
          <a:noFill/>
          <a:ln/>
        </p:spPr>
        <p:txBody>
          <a:bodyPr wrap="square" lIns="635" tIns="635" rIns="635" bIns="635" rtlCol="0" anchor="ctr"/>
          <a:lstStyle/>
          <a:p>
            <a:pPr algn="ctr" indent="0" marL="0">
              <a:buNone/>
            </a:pPr>
            <a:r>
              <a:rPr lang="en-US" sz="1200" dirty="0">
                <a:solidFill>
                  <a:srgbClr val="1B2430"/>
                </a:solidFill>
              </a:rPr>
              <a:t>users in Spain</a:t>
            </a:r>
            <a:endParaRPr lang="en-US" sz="1200" dirty="0"/>
          </a:p>
        </p:txBody>
      </p:sp>
      <p:sp>
        <p:nvSpPr>
          <p:cNvPr id="26" name="Shape 23"/>
          <p:cNvSpPr/>
          <p:nvPr/>
        </p:nvSpPr>
        <p:spPr>
          <a:xfrm flipV="1">
            <a:off x="7680960" y="3474720"/>
            <a:ext cx="914" cy="640080"/>
          </a:xfrm>
          <a:prstGeom prst="line">
            <a:avLst/>
          </a:prstGeom>
          <a:noFill/>
          <a:ln w="22225">
            <a:solidFill>
              <a:srgbClr val="2A7F8E"/>
            </a:solidFill>
            <a:prstDash val="solid"/>
            <a:headEnd type="triangle"/>
            <a:tailEnd type="triangle"/>
          </a:ln>
        </p:spPr>
      </p:sp>
      <p:sp>
        <p:nvSpPr>
          <p:cNvPr id="27" name="box"/>
          <p:cNvSpPr/>
          <p:nvPr/>
        </p:nvSpPr>
        <p:spPr>
          <a:xfrm>
            <a:off x="9144000" y="4114800"/>
            <a:ext cx="2560320" cy="548640"/>
          </a:xfrm>
          <a:prstGeom prst="roundRect">
            <a:avLst>
              <a:gd name="adj" fmla="val 13333"/>
            </a:avLst>
          </a:prstGeom>
          <a:solidFill>
            <a:srgbClr val="EEF2F6"/>
          </a:solidFill>
          <a:ln w="12700">
            <a:solidFill>
              <a:srgbClr val="EEF2F6"/>
            </a:solidFill>
            <a:prstDash val="solid"/>
          </a:ln>
        </p:spPr>
      </p:sp>
      <p:sp>
        <p:nvSpPr>
          <p:cNvPr id="28" name="Text 25"/>
          <p:cNvSpPr txBox="1"/>
          <p:nvPr/>
        </p:nvSpPr>
        <p:spPr>
          <a:xfrm>
            <a:off x="9144000" y="4114800"/>
            <a:ext cx="2560320" cy="548640"/>
          </a:xfrm>
          <a:prstGeom prst="rect">
            <a:avLst/>
          </a:prstGeom>
          <a:noFill/>
          <a:ln/>
        </p:spPr>
        <p:txBody>
          <a:bodyPr wrap="square" lIns="635" tIns="635" rIns="635" bIns="635" rtlCol="0" anchor="ctr"/>
          <a:lstStyle/>
          <a:p>
            <a:pPr algn="ctr" indent="0" marL="0">
              <a:buNone/>
            </a:pPr>
            <a:r>
              <a:rPr lang="en-US" sz="1200" dirty="0">
                <a:solidFill>
                  <a:srgbClr val="1B2430"/>
                </a:solidFill>
              </a:rPr>
              <a:t>users in the US</a:t>
            </a:r>
            <a:endParaRPr lang="en-US" sz="1200" dirty="0"/>
          </a:p>
        </p:txBody>
      </p:sp>
      <p:sp>
        <p:nvSpPr>
          <p:cNvPr id="29" name="Shape 26"/>
          <p:cNvSpPr/>
          <p:nvPr/>
        </p:nvSpPr>
        <p:spPr>
          <a:xfrm flipH="1" flipV="1">
            <a:off x="10424160" y="3474720"/>
            <a:ext cx="914" cy="640080"/>
          </a:xfrm>
          <a:prstGeom prst="line">
            <a:avLst/>
          </a:prstGeom>
          <a:noFill/>
          <a:ln w="22225">
            <a:solidFill>
              <a:srgbClr val="2A7F8E"/>
            </a:solidFill>
            <a:prstDash val="solid"/>
            <a:headEnd type="triangle"/>
            <a:tailEnd type="triangle"/>
          </a:ln>
        </p:spPr>
      </p:sp>
      <p:sp>
        <p:nvSpPr>
          <p:cNvPr id="30" name="Text 27"/>
          <p:cNvSpPr txBox="1"/>
          <p:nvPr/>
        </p:nvSpPr>
        <p:spPr>
          <a:xfrm>
            <a:off x="548640" y="4846320"/>
            <a:ext cx="11064240" cy="640080"/>
          </a:xfrm>
          <a:prstGeom prst="rect">
            <a:avLst/>
          </a:prstGeom>
          <a:noFill/>
          <a:ln/>
        </p:spPr>
        <p:txBody>
          <a:bodyPr wrap="square" lIns="0" tIns="0" rIns="0" bIns="0" rtlCol="0" anchor="t"/>
          <a:lstStyle/>
          <a:p>
            <a:pPr algn="l" indent="0" marL="0">
              <a:spcAft>
                <a:spcPts val="400"/>
              </a:spcAft>
              <a:buNone/>
            </a:pPr>
            <a:r>
              <a:rPr lang="en-US" sz="1300" dirty="0">
                <a:solidFill>
                  <a:srgbClr val="5B6770"/>
                </a:solidFill>
              </a:rPr>
              <a:t>Akamai, Cloudflare; private CDNs of Google, Netflix, Meta — inside access ISPs and at Internet exchange points: a few ms instead of crossing continents.</a:t>
            </a:r>
            <a:endParaRPr lang="en-US" sz="1300" dirty="0"/>
          </a:p>
        </p:txBody>
      </p:sp>
      <p:sp>
        <p:nvSpPr>
          <p:cNvPr id="31"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2" name="Text 29"/>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 CDN is a planet-wide cache: the same name, answered by a server near you.</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 Head-of-line blocking in HTTP/1.1</a:t>
            </a:r>
            <a:endParaRPr lang="en-US" sz="3000" dirty="0"/>
          </a:p>
        </p:txBody>
      </p:sp>
      <p:sp>
        <p:nvSpPr>
          <p:cNvPr id="4" name="Text 1"/>
          <p:cNvSpPr txBox="1"/>
          <p:nvPr/>
        </p:nvSpPr>
        <p:spPr>
          <a:xfrm>
            <a:off x="548640" y="1280160"/>
            <a:ext cx="10972800" cy="320040"/>
          </a:xfrm>
          <a:prstGeom prst="rect">
            <a:avLst/>
          </a:prstGeom>
          <a:noFill/>
          <a:ln/>
        </p:spPr>
        <p:txBody>
          <a:bodyPr wrap="square" lIns="0" tIns="0" rIns="0" bIns="0" rtlCol="0" anchor="t"/>
          <a:lstStyle/>
          <a:p>
            <a:pPr algn="l" indent="0" marL="0">
              <a:spcAft>
                <a:spcPts val="400"/>
              </a:spcAft>
              <a:buNone/>
            </a:pPr>
            <a:r>
              <a:rPr lang="en-US" sz="1400" b="1" dirty="0">
                <a:solidFill>
                  <a:srgbClr val="1B2430"/>
                </a:solidFill>
              </a:rPr>
              <a:t>One persistent connection</a:t>
            </a:r>
            <a:r>
              <a:rPr lang="en-US" sz="1400" dirty="0">
                <a:solidFill>
                  <a:srgbClr val="1B2430"/>
                </a:solidFill>
              </a:rPr>
              <a:t> — the video was asked for first:</a:t>
            </a:r>
            <a:endParaRPr lang="en-US" sz="1400" dirty="0"/>
          </a:p>
        </p:txBody>
      </p:sp>
      <p:sp>
        <p:nvSpPr>
          <p:cNvPr id="5" name="box"/>
          <p:cNvSpPr/>
          <p:nvPr/>
        </p:nvSpPr>
        <p:spPr>
          <a:xfrm>
            <a:off x="548640" y="1737360"/>
            <a:ext cx="7315200" cy="640080"/>
          </a:xfrm>
          <a:prstGeom prst="rect">
            <a:avLst/>
          </a:prstGeom>
          <a:solidFill>
            <a:srgbClr val="1F3A5F"/>
          </a:solidFill>
          <a:ln w="12700">
            <a:solidFill>
              <a:srgbClr val="1F3A5F"/>
            </a:solidFill>
            <a:prstDash val="solid"/>
          </a:ln>
        </p:spPr>
      </p:sp>
      <p:sp>
        <p:nvSpPr>
          <p:cNvPr id="6" name="Text 3"/>
          <p:cNvSpPr txBox="1"/>
          <p:nvPr/>
        </p:nvSpPr>
        <p:spPr>
          <a:xfrm>
            <a:off x="548640" y="1737360"/>
            <a:ext cx="7315200" cy="640080"/>
          </a:xfrm>
          <a:prstGeom prst="rect">
            <a:avLst/>
          </a:prstGeom>
          <a:noFill/>
          <a:ln/>
        </p:spPr>
        <p:txBody>
          <a:bodyPr wrap="square" lIns="635" tIns="635" rIns="635" bIns="635" rtlCol="0" anchor="ctr"/>
          <a:lstStyle/>
          <a:p>
            <a:pPr algn="ctr" indent="0" marL="0">
              <a:buNone/>
            </a:pPr>
            <a:r>
              <a:rPr lang="en-US" sz="1300" dirty="0">
                <a:solidFill>
                  <a:srgbClr val="FFFFFF"/>
                </a:solidFill>
              </a:rPr>
              <a:t>video.mp4 (1 MB)</a:t>
            </a:r>
            <a:endParaRPr lang="en-US" sz="1300" dirty="0"/>
          </a:p>
        </p:txBody>
      </p:sp>
      <p:sp>
        <p:nvSpPr>
          <p:cNvPr id="7" name="box"/>
          <p:cNvSpPr/>
          <p:nvPr/>
        </p:nvSpPr>
        <p:spPr>
          <a:xfrm>
            <a:off x="7909560" y="1737360"/>
            <a:ext cx="502920" cy="640080"/>
          </a:xfrm>
          <a:prstGeom prst="rect">
            <a:avLst/>
          </a:prstGeom>
          <a:solidFill>
            <a:srgbClr val="B9772A"/>
          </a:solidFill>
          <a:ln w="12700">
            <a:solidFill>
              <a:srgbClr val="B9772A"/>
            </a:solidFill>
            <a:prstDash val="solid"/>
          </a:ln>
        </p:spPr>
      </p:sp>
      <p:sp>
        <p:nvSpPr>
          <p:cNvPr id="8" name="Text 5"/>
          <p:cNvSpPr txBox="1"/>
          <p:nvPr/>
        </p:nvSpPr>
        <p:spPr>
          <a:xfrm>
            <a:off x="7909560" y="1737360"/>
            <a:ext cx="502920" cy="640080"/>
          </a:xfrm>
          <a:prstGeom prst="rect">
            <a:avLst/>
          </a:prstGeom>
          <a:noFill/>
          <a:ln/>
        </p:spPr>
        <p:txBody>
          <a:bodyPr wrap="square" lIns="635" tIns="635" rIns="635" bIns="635" rtlCol="0" anchor="ctr"/>
          <a:lstStyle/>
          <a:p>
            <a:pPr algn="ctr" indent="0" marL="0">
              <a:buNone/>
            </a:pPr>
            <a:r>
              <a:rPr lang="en-US" sz="1100" dirty="0">
                <a:solidFill>
                  <a:srgbClr val="FFFFFF"/>
                </a:solidFill>
              </a:rPr>
              <a:t>i1</a:t>
            </a:r>
            <a:endParaRPr lang="en-US" sz="1100" dirty="0"/>
          </a:p>
        </p:txBody>
      </p:sp>
      <p:sp>
        <p:nvSpPr>
          <p:cNvPr id="9" name="box"/>
          <p:cNvSpPr/>
          <p:nvPr/>
        </p:nvSpPr>
        <p:spPr>
          <a:xfrm>
            <a:off x="8458200" y="1737360"/>
            <a:ext cx="502920" cy="640080"/>
          </a:xfrm>
          <a:prstGeom prst="rect">
            <a:avLst/>
          </a:prstGeom>
          <a:solidFill>
            <a:srgbClr val="B9772A"/>
          </a:solidFill>
          <a:ln w="12700">
            <a:solidFill>
              <a:srgbClr val="B9772A"/>
            </a:solidFill>
            <a:prstDash val="solid"/>
          </a:ln>
        </p:spPr>
      </p:sp>
      <p:sp>
        <p:nvSpPr>
          <p:cNvPr id="10" name="Text 7"/>
          <p:cNvSpPr txBox="1"/>
          <p:nvPr/>
        </p:nvSpPr>
        <p:spPr>
          <a:xfrm>
            <a:off x="8458200" y="1737360"/>
            <a:ext cx="502920" cy="640080"/>
          </a:xfrm>
          <a:prstGeom prst="rect">
            <a:avLst/>
          </a:prstGeom>
          <a:noFill/>
          <a:ln/>
        </p:spPr>
        <p:txBody>
          <a:bodyPr wrap="square" lIns="635" tIns="635" rIns="635" bIns="635" rtlCol="0" anchor="ctr"/>
          <a:lstStyle/>
          <a:p>
            <a:pPr algn="ctr" indent="0" marL="0">
              <a:buNone/>
            </a:pPr>
            <a:r>
              <a:rPr lang="en-US" sz="1100" dirty="0">
                <a:solidFill>
                  <a:srgbClr val="FFFFFF"/>
                </a:solidFill>
              </a:rPr>
              <a:t>i2</a:t>
            </a:r>
            <a:endParaRPr lang="en-US" sz="1100" dirty="0"/>
          </a:p>
        </p:txBody>
      </p:sp>
      <p:sp>
        <p:nvSpPr>
          <p:cNvPr id="11" name="box"/>
          <p:cNvSpPr/>
          <p:nvPr/>
        </p:nvSpPr>
        <p:spPr>
          <a:xfrm>
            <a:off x="9006840" y="1737360"/>
            <a:ext cx="502920" cy="640080"/>
          </a:xfrm>
          <a:prstGeom prst="rect">
            <a:avLst/>
          </a:prstGeom>
          <a:solidFill>
            <a:srgbClr val="B9772A"/>
          </a:solidFill>
          <a:ln w="12700">
            <a:solidFill>
              <a:srgbClr val="B9772A"/>
            </a:solidFill>
            <a:prstDash val="solid"/>
          </a:ln>
        </p:spPr>
      </p:sp>
      <p:sp>
        <p:nvSpPr>
          <p:cNvPr id="12" name="Text 9"/>
          <p:cNvSpPr txBox="1"/>
          <p:nvPr/>
        </p:nvSpPr>
        <p:spPr>
          <a:xfrm>
            <a:off x="9006840" y="1737360"/>
            <a:ext cx="502920" cy="640080"/>
          </a:xfrm>
          <a:prstGeom prst="rect">
            <a:avLst/>
          </a:prstGeom>
          <a:noFill/>
          <a:ln/>
        </p:spPr>
        <p:txBody>
          <a:bodyPr wrap="square" lIns="635" tIns="635" rIns="635" bIns="635" rtlCol="0" anchor="ctr"/>
          <a:lstStyle/>
          <a:p>
            <a:pPr algn="ctr" indent="0" marL="0">
              <a:buNone/>
            </a:pPr>
            <a:r>
              <a:rPr lang="en-US" sz="1100" dirty="0">
                <a:solidFill>
                  <a:srgbClr val="FFFFFF"/>
                </a:solidFill>
              </a:rPr>
              <a:t>i3</a:t>
            </a:r>
            <a:endParaRPr lang="en-US" sz="1100" dirty="0"/>
          </a:p>
        </p:txBody>
      </p:sp>
      <p:sp>
        <p:nvSpPr>
          <p:cNvPr id="13" name="box"/>
          <p:cNvSpPr/>
          <p:nvPr/>
        </p:nvSpPr>
        <p:spPr>
          <a:xfrm>
            <a:off x="9555480" y="1737360"/>
            <a:ext cx="502920" cy="640080"/>
          </a:xfrm>
          <a:prstGeom prst="rect">
            <a:avLst/>
          </a:prstGeom>
          <a:solidFill>
            <a:srgbClr val="B9772A"/>
          </a:solidFill>
          <a:ln w="12700">
            <a:solidFill>
              <a:srgbClr val="B9772A"/>
            </a:solidFill>
            <a:prstDash val="solid"/>
          </a:ln>
        </p:spPr>
      </p:sp>
      <p:sp>
        <p:nvSpPr>
          <p:cNvPr id="14" name="Text 11"/>
          <p:cNvSpPr txBox="1"/>
          <p:nvPr/>
        </p:nvSpPr>
        <p:spPr>
          <a:xfrm>
            <a:off x="9555480" y="1737360"/>
            <a:ext cx="502920" cy="640080"/>
          </a:xfrm>
          <a:prstGeom prst="rect">
            <a:avLst/>
          </a:prstGeom>
          <a:noFill/>
          <a:ln/>
        </p:spPr>
        <p:txBody>
          <a:bodyPr wrap="square" lIns="635" tIns="635" rIns="635" bIns="635" rtlCol="0" anchor="ctr"/>
          <a:lstStyle/>
          <a:p>
            <a:pPr algn="ctr" indent="0" marL="0">
              <a:buNone/>
            </a:pPr>
            <a:r>
              <a:rPr lang="en-US" sz="1100" dirty="0">
                <a:solidFill>
                  <a:srgbClr val="FFFFFF"/>
                </a:solidFill>
              </a:rPr>
              <a:t>i4</a:t>
            </a:r>
            <a:endParaRPr lang="en-US" sz="1100" dirty="0"/>
          </a:p>
        </p:txBody>
      </p:sp>
      <p:sp>
        <p:nvSpPr>
          <p:cNvPr id="15" name="box"/>
          <p:cNvSpPr/>
          <p:nvPr/>
        </p:nvSpPr>
        <p:spPr>
          <a:xfrm>
            <a:off x="10104120" y="1737360"/>
            <a:ext cx="502920" cy="640080"/>
          </a:xfrm>
          <a:prstGeom prst="rect">
            <a:avLst/>
          </a:prstGeom>
          <a:solidFill>
            <a:srgbClr val="B9772A"/>
          </a:solidFill>
          <a:ln w="12700">
            <a:solidFill>
              <a:srgbClr val="B9772A"/>
            </a:solidFill>
            <a:prstDash val="solid"/>
          </a:ln>
        </p:spPr>
      </p:sp>
      <p:sp>
        <p:nvSpPr>
          <p:cNvPr id="16" name="Text 13"/>
          <p:cNvSpPr txBox="1"/>
          <p:nvPr/>
        </p:nvSpPr>
        <p:spPr>
          <a:xfrm>
            <a:off x="10104120" y="1737360"/>
            <a:ext cx="502920" cy="640080"/>
          </a:xfrm>
          <a:prstGeom prst="rect">
            <a:avLst/>
          </a:prstGeom>
          <a:noFill/>
          <a:ln/>
        </p:spPr>
        <p:txBody>
          <a:bodyPr wrap="square" lIns="635" tIns="635" rIns="635" bIns="635" rtlCol="0" anchor="ctr"/>
          <a:lstStyle/>
          <a:p>
            <a:pPr algn="ctr" indent="0" marL="0">
              <a:buNone/>
            </a:pPr>
            <a:r>
              <a:rPr lang="en-US" sz="1100" dirty="0">
                <a:solidFill>
                  <a:srgbClr val="FFFFFF"/>
                </a:solidFill>
              </a:rPr>
              <a:t>i5</a:t>
            </a:r>
            <a:endParaRPr lang="en-US" sz="1100" dirty="0"/>
          </a:p>
        </p:txBody>
      </p:sp>
      <p:sp>
        <p:nvSpPr>
          <p:cNvPr id="17" name="Text 14"/>
          <p:cNvSpPr txBox="1"/>
          <p:nvPr/>
        </p:nvSpPr>
        <p:spPr>
          <a:xfrm>
            <a:off x="7863840" y="2423160"/>
            <a:ext cx="3657600" cy="320040"/>
          </a:xfrm>
          <a:prstGeom prst="rect">
            <a:avLst/>
          </a:prstGeom>
          <a:noFill/>
          <a:ln/>
        </p:spPr>
        <p:txBody>
          <a:bodyPr wrap="square" lIns="0" tIns="0" rIns="0" bIns="0" rtlCol="0" anchor="t"/>
          <a:lstStyle/>
          <a:p>
            <a:pPr algn="l" indent="0" marL="0">
              <a:spcAft>
                <a:spcPts val="400"/>
              </a:spcAft>
              <a:buNone/>
            </a:pPr>
            <a:r>
              <a:rPr lang="en-US" sz="1200" dirty="0">
                <a:solidFill>
                  <a:srgbClr val="A23B3B"/>
                </a:solidFill>
              </a:rPr>
              <a:t>the icons wait ↑</a:t>
            </a:r>
            <a:endParaRPr lang="en-US" sz="1200" dirty="0"/>
          </a:p>
        </p:txBody>
      </p:sp>
      <p:sp>
        <p:nvSpPr>
          <p:cNvPr id="18" name="Text 15"/>
          <p:cNvSpPr txBox="1"/>
          <p:nvPr/>
        </p:nvSpPr>
        <p:spPr>
          <a:xfrm>
            <a:off x="548640" y="2880360"/>
            <a:ext cx="10972800" cy="320040"/>
          </a:xfrm>
          <a:prstGeom prst="rect">
            <a:avLst/>
          </a:prstGeom>
          <a:noFill/>
          <a:ln/>
        </p:spPr>
        <p:txBody>
          <a:bodyPr wrap="square" lIns="0" tIns="0" rIns="0" bIns="0" rtlCol="0" anchor="t"/>
          <a:lstStyle/>
          <a:p>
            <a:pPr algn="l" indent="0" marL="0">
              <a:spcAft>
                <a:spcPts val="400"/>
              </a:spcAft>
              <a:buNone/>
            </a:pPr>
            <a:r>
              <a:rPr lang="en-US" sz="1400" b="1" dirty="0">
                <a:solidFill>
                  <a:srgbClr val="1B2430"/>
                </a:solidFill>
              </a:rPr>
              <a:t>The browser’s workaround</a:t>
            </a:r>
            <a:r>
              <a:rPr lang="en-US" sz="1400" dirty="0">
                <a:solidFill>
                  <a:srgbClr val="1B2430"/>
                </a:solidFill>
              </a:rPr>
              <a:t> — six parallel connections:</a:t>
            </a:r>
            <a:endParaRPr lang="en-US" sz="1400" dirty="0"/>
          </a:p>
        </p:txBody>
      </p:sp>
      <p:sp>
        <p:nvSpPr>
          <p:cNvPr id="19" name="box"/>
          <p:cNvSpPr/>
          <p:nvPr/>
        </p:nvSpPr>
        <p:spPr>
          <a:xfrm>
            <a:off x="548640" y="3291840"/>
            <a:ext cx="822960" cy="292608"/>
          </a:xfrm>
          <a:prstGeom prst="rect">
            <a:avLst/>
          </a:prstGeom>
          <a:solidFill>
            <a:srgbClr val="EEF2F6"/>
          </a:solidFill>
          <a:ln w="12700">
            <a:solidFill>
              <a:srgbClr val="EEF2F6"/>
            </a:solidFill>
            <a:prstDash val="solid"/>
          </a:ln>
        </p:spPr>
      </p:sp>
      <p:sp>
        <p:nvSpPr>
          <p:cNvPr id="20" name="Text 17"/>
          <p:cNvSpPr txBox="1"/>
          <p:nvPr/>
        </p:nvSpPr>
        <p:spPr>
          <a:xfrm>
            <a:off x="548640" y="3291840"/>
            <a:ext cx="822960" cy="292608"/>
          </a:xfrm>
          <a:prstGeom prst="rect">
            <a:avLst/>
          </a:prstGeom>
          <a:noFill/>
          <a:ln/>
        </p:spPr>
        <p:txBody>
          <a:bodyPr wrap="square" lIns="635" tIns="635" rIns="635" bIns="635" rtlCol="0" anchor="ctr"/>
          <a:lstStyle/>
          <a:p>
            <a:pPr algn="ctr" indent="0" marL="0">
              <a:buNone/>
            </a:pPr>
            <a:r>
              <a:rPr lang="en-US" sz="1000" dirty="0">
                <a:solidFill>
                  <a:srgbClr val="1B2430"/>
                </a:solidFill>
              </a:rPr>
              <a:t>conn 1</a:t>
            </a:r>
            <a:endParaRPr lang="en-US" sz="1000" dirty="0"/>
          </a:p>
        </p:txBody>
      </p:sp>
      <p:sp>
        <p:nvSpPr>
          <p:cNvPr id="21" name="box"/>
          <p:cNvSpPr/>
          <p:nvPr/>
        </p:nvSpPr>
        <p:spPr>
          <a:xfrm>
            <a:off x="1463040" y="3291840"/>
            <a:ext cx="457200" cy="292608"/>
          </a:xfrm>
          <a:prstGeom prst="rect">
            <a:avLst/>
          </a:prstGeom>
          <a:solidFill>
            <a:srgbClr val="5B6770"/>
          </a:solidFill>
          <a:ln w="12700">
            <a:solidFill>
              <a:srgbClr val="5B6770"/>
            </a:solidFill>
            <a:prstDash val="solid"/>
          </a:ln>
        </p:spPr>
      </p:sp>
      <p:sp>
        <p:nvSpPr>
          <p:cNvPr id="22" name="Text 19"/>
          <p:cNvSpPr txBox="1"/>
          <p:nvPr/>
        </p:nvSpPr>
        <p:spPr>
          <a:xfrm>
            <a:off x="1463040" y="3291840"/>
            <a:ext cx="457200" cy="292608"/>
          </a:xfrm>
          <a:prstGeom prst="rect">
            <a:avLst/>
          </a:prstGeom>
          <a:noFill/>
          <a:ln/>
        </p:spPr>
        <p:txBody>
          <a:bodyPr wrap="square" lIns="635" tIns="635" rIns="635" bIns="635" rtlCol="0" anchor="ctr"/>
          <a:lstStyle/>
          <a:p>
            <a:pPr algn="ctr" indent="0" marL="0">
              <a:buNone/>
            </a:pPr>
            <a:r>
              <a:rPr lang="en-US" sz="900" dirty="0">
                <a:solidFill>
                  <a:srgbClr val="FFFFFF"/>
                </a:solidFill>
              </a:rPr>
              <a:t>SYN</a:t>
            </a:r>
            <a:endParaRPr lang="en-US" sz="900" dirty="0"/>
          </a:p>
        </p:txBody>
      </p:sp>
      <p:sp>
        <p:nvSpPr>
          <p:cNvPr id="23" name="box"/>
          <p:cNvSpPr/>
          <p:nvPr/>
        </p:nvSpPr>
        <p:spPr>
          <a:xfrm>
            <a:off x="1965960" y="3291840"/>
            <a:ext cx="5486400" cy="292608"/>
          </a:xfrm>
          <a:prstGeom prst="rect">
            <a:avLst/>
          </a:prstGeom>
          <a:solidFill>
            <a:srgbClr val="1F3A5F"/>
          </a:solidFill>
          <a:ln w="12700">
            <a:solidFill>
              <a:srgbClr val="1F3A5F"/>
            </a:solidFill>
            <a:prstDash val="solid"/>
          </a:ln>
        </p:spPr>
      </p:sp>
      <p:sp>
        <p:nvSpPr>
          <p:cNvPr id="24" name="Text 21"/>
          <p:cNvSpPr txBox="1"/>
          <p:nvPr/>
        </p:nvSpPr>
        <p:spPr>
          <a:xfrm>
            <a:off x="1965960" y="3291840"/>
            <a:ext cx="5486400" cy="292608"/>
          </a:xfrm>
          <a:prstGeom prst="rect">
            <a:avLst/>
          </a:prstGeom>
          <a:noFill/>
          <a:ln/>
        </p:spPr>
        <p:txBody>
          <a:bodyPr wrap="square" lIns="635" tIns="635" rIns="635" bIns="635" rtlCol="0" anchor="ctr"/>
          <a:lstStyle/>
          <a:p>
            <a:pPr algn="ctr" indent="0" marL="0">
              <a:buNone/>
            </a:pPr>
            <a:r>
              <a:rPr lang="en-US" sz="1000" dirty="0">
                <a:solidFill>
                  <a:srgbClr val="FFFFFF"/>
                </a:solidFill>
              </a:rPr>
              <a:t>video</a:t>
            </a:r>
            <a:endParaRPr lang="en-US" sz="1000" dirty="0"/>
          </a:p>
        </p:txBody>
      </p:sp>
      <p:sp>
        <p:nvSpPr>
          <p:cNvPr id="25" name="box"/>
          <p:cNvSpPr/>
          <p:nvPr/>
        </p:nvSpPr>
        <p:spPr>
          <a:xfrm>
            <a:off x="548640" y="3639312"/>
            <a:ext cx="822960" cy="292608"/>
          </a:xfrm>
          <a:prstGeom prst="rect">
            <a:avLst/>
          </a:prstGeom>
          <a:solidFill>
            <a:srgbClr val="EEF2F6"/>
          </a:solidFill>
          <a:ln w="12700">
            <a:solidFill>
              <a:srgbClr val="EEF2F6"/>
            </a:solidFill>
            <a:prstDash val="solid"/>
          </a:ln>
        </p:spPr>
      </p:sp>
      <p:sp>
        <p:nvSpPr>
          <p:cNvPr id="26" name="Text 23"/>
          <p:cNvSpPr txBox="1"/>
          <p:nvPr/>
        </p:nvSpPr>
        <p:spPr>
          <a:xfrm>
            <a:off x="548640" y="3639312"/>
            <a:ext cx="822960" cy="292608"/>
          </a:xfrm>
          <a:prstGeom prst="rect">
            <a:avLst/>
          </a:prstGeom>
          <a:noFill/>
          <a:ln/>
        </p:spPr>
        <p:txBody>
          <a:bodyPr wrap="square" lIns="635" tIns="635" rIns="635" bIns="635" rtlCol="0" anchor="ctr"/>
          <a:lstStyle/>
          <a:p>
            <a:pPr algn="ctr" indent="0" marL="0">
              <a:buNone/>
            </a:pPr>
            <a:r>
              <a:rPr lang="en-US" sz="1000" dirty="0">
                <a:solidFill>
                  <a:srgbClr val="1B2430"/>
                </a:solidFill>
              </a:rPr>
              <a:t>conn 2</a:t>
            </a:r>
            <a:endParaRPr lang="en-US" sz="1000" dirty="0"/>
          </a:p>
        </p:txBody>
      </p:sp>
      <p:sp>
        <p:nvSpPr>
          <p:cNvPr id="27" name="box"/>
          <p:cNvSpPr/>
          <p:nvPr/>
        </p:nvSpPr>
        <p:spPr>
          <a:xfrm>
            <a:off x="1463040" y="3639312"/>
            <a:ext cx="457200" cy="292608"/>
          </a:xfrm>
          <a:prstGeom prst="rect">
            <a:avLst/>
          </a:prstGeom>
          <a:solidFill>
            <a:srgbClr val="5B6770"/>
          </a:solidFill>
          <a:ln w="12700">
            <a:solidFill>
              <a:srgbClr val="5B6770"/>
            </a:solidFill>
            <a:prstDash val="solid"/>
          </a:ln>
        </p:spPr>
      </p:sp>
      <p:sp>
        <p:nvSpPr>
          <p:cNvPr id="28" name="Text 25"/>
          <p:cNvSpPr txBox="1"/>
          <p:nvPr/>
        </p:nvSpPr>
        <p:spPr>
          <a:xfrm>
            <a:off x="1463040" y="3639312"/>
            <a:ext cx="457200" cy="292608"/>
          </a:xfrm>
          <a:prstGeom prst="rect">
            <a:avLst/>
          </a:prstGeom>
          <a:noFill/>
          <a:ln/>
        </p:spPr>
        <p:txBody>
          <a:bodyPr wrap="square" lIns="635" tIns="635" rIns="635" bIns="635" rtlCol="0" anchor="ctr"/>
          <a:lstStyle/>
          <a:p>
            <a:pPr algn="ctr" indent="0" marL="0">
              <a:buNone/>
            </a:pPr>
            <a:r>
              <a:rPr lang="en-US" sz="900" dirty="0">
                <a:solidFill>
                  <a:srgbClr val="FFFFFF"/>
                </a:solidFill>
              </a:rPr>
              <a:t>SYN</a:t>
            </a:r>
            <a:endParaRPr lang="en-US" sz="900" dirty="0"/>
          </a:p>
        </p:txBody>
      </p:sp>
      <p:sp>
        <p:nvSpPr>
          <p:cNvPr id="29" name="box"/>
          <p:cNvSpPr/>
          <p:nvPr/>
        </p:nvSpPr>
        <p:spPr>
          <a:xfrm>
            <a:off x="1965960" y="3639312"/>
            <a:ext cx="822960" cy="292608"/>
          </a:xfrm>
          <a:prstGeom prst="rect">
            <a:avLst/>
          </a:prstGeom>
          <a:solidFill>
            <a:srgbClr val="B9772A"/>
          </a:solidFill>
          <a:ln w="12700">
            <a:solidFill>
              <a:srgbClr val="B9772A"/>
            </a:solidFill>
            <a:prstDash val="solid"/>
          </a:ln>
        </p:spPr>
      </p:sp>
      <p:sp>
        <p:nvSpPr>
          <p:cNvPr id="30" name="Text 27"/>
          <p:cNvSpPr txBox="1"/>
          <p:nvPr/>
        </p:nvSpPr>
        <p:spPr>
          <a:xfrm>
            <a:off x="1965960" y="3639312"/>
            <a:ext cx="822960" cy="292608"/>
          </a:xfrm>
          <a:prstGeom prst="rect">
            <a:avLst/>
          </a:prstGeom>
          <a:noFill/>
          <a:ln/>
        </p:spPr>
        <p:txBody>
          <a:bodyPr wrap="square" lIns="635" tIns="635" rIns="635" bIns="635" rtlCol="0" anchor="ctr"/>
          <a:lstStyle/>
          <a:p>
            <a:pPr algn="ctr" indent="0" marL="0">
              <a:buNone/>
            </a:pPr>
            <a:r>
              <a:rPr lang="en-US" sz="1000" dirty="0">
                <a:solidFill>
                  <a:srgbClr val="FFFFFF"/>
                </a:solidFill>
              </a:rPr>
              <a:t>icon</a:t>
            </a:r>
            <a:endParaRPr lang="en-US" sz="1000" dirty="0"/>
          </a:p>
        </p:txBody>
      </p:sp>
      <p:sp>
        <p:nvSpPr>
          <p:cNvPr id="31" name="box"/>
          <p:cNvSpPr/>
          <p:nvPr/>
        </p:nvSpPr>
        <p:spPr>
          <a:xfrm>
            <a:off x="548640" y="3986784"/>
            <a:ext cx="822960" cy="292608"/>
          </a:xfrm>
          <a:prstGeom prst="rect">
            <a:avLst/>
          </a:prstGeom>
          <a:solidFill>
            <a:srgbClr val="EEF2F6"/>
          </a:solidFill>
          <a:ln w="12700">
            <a:solidFill>
              <a:srgbClr val="EEF2F6"/>
            </a:solidFill>
            <a:prstDash val="solid"/>
          </a:ln>
        </p:spPr>
      </p:sp>
      <p:sp>
        <p:nvSpPr>
          <p:cNvPr id="32" name="Text 29"/>
          <p:cNvSpPr txBox="1"/>
          <p:nvPr/>
        </p:nvSpPr>
        <p:spPr>
          <a:xfrm>
            <a:off x="548640" y="3986784"/>
            <a:ext cx="822960" cy="292608"/>
          </a:xfrm>
          <a:prstGeom prst="rect">
            <a:avLst/>
          </a:prstGeom>
          <a:noFill/>
          <a:ln/>
        </p:spPr>
        <p:txBody>
          <a:bodyPr wrap="square" lIns="635" tIns="635" rIns="635" bIns="635" rtlCol="0" anchor="ctr"/>
          <a:lstStyle/>
          <a:p>
            <a:pPr algn="ctr" indent="0" marL="0">
              <a:buNone/>
            </a:pPr>
            <a:r>
              <a:rPr lang="en-US" sz="1000" dirty="0">
                <a:solidFill>
                  <a:srgbClr val="1B2430"/>
                </a:solidFill>
              </a:rPr>
              <a:t>conn 3</a:t>
            </a:r>
            <a:endParaRPr lang="en-US" sz="1000" dirty="0"/>
          </a:p>
        </p:txBody>
      </p:sp>
      <p:sp>
        <p:nvSpPr>
          <p:cNvPr id="33" name="box"/>
          <p:cNvSpPr/>
          <p:nvPr/>
        </p:nvSpPr>
        <p:spPr>
          <a:xfrm>
            <a:off x="1463040" y="3986784"/>
            <a:ext cx="457200" cy="292608"/>
          </a:xfrm>
          <a:prstGeom prst="rect">
            <a:avLst/>
          </a:prstGeom>
          <a:solidFill>
            <a:srgbClr val="5B6770"/>
          </a:solidFill>
          <a:ln w="12700">
            <a:solidFill>
              <a:srgbClr val="5B6770"/>
            </a:solidFill>
            <a:prstDash val="solid"/>
          </a:ln>
        </p:spPr>
      </p:sp>
      <p:sp>
        <p:nvSpPr>
          <p:cNvPr id="34" name="Text 31"/>
          <p:cNvSpPr txBox="1"/>
          <p:nvPr/>
        </p:nvSpPr>
        <p:spPr>
          <a:xfrm>
            <a:off x="1463040" y="3986784"/>
            <a:ext cx="457200" cy="292608"/>
          </a:xfrm>
          <a:prstGeom prst="rect">
            <a:avLst/>
          </a:prstGeom>
          <a:noFill/>
          <a:ln/>
        </p:spPr>
        <p:txBody>
          <a:bodyPr wrap="square" lIns="635" tIns="635" rIns="635" bIns="635" rtlCol="0" anchor="ctr"/>
          <a:lstStyle/>
          <a:p>
            <a:pPr algn="ctr" indent="0" marL="0">
              <a:buNone/>
            </a:pPr>
            <a:r>
              <a:rPr lang="en-US" sz="900" dirty="0">
                <a:solidFill>
                  <a:srgbClr val="FFFFFF"/>
                </a:solidFill>
              </a:rPr>
              <a:t>SYN</a:t>
            </a:r>
            <a:endParaRPr lang="en-US" sz="900" dirty="0"/>
          </a:p>
        </p:txBody>
      </p:sp>
      <p:sp>
        <p:nvSpPr>
          <p:cNvPr id="35" name="box"/>
          <p:cNvSpPr/>
          <p:nvPr/>
        </p:nvSpPr>
        <p:spPr>
          <a:xfrm>
            <a:off x="1965960" y="3986784"/>
            <a:ext cx="822960" cy="292608"/>
          </a:xfrm>
          <a:prstGeom prst="rect">
            <a:avLst/>
          </a:prstGeom>
          <a:solidFill>
            <a:srgbClr val="B9772A"/>
          </a:solidFill>
          <a:ln w="12700">
            <a:solidFill>
              <a:srgbClr val="B9772A"/>
            </a:solidFill>
            <a:prstDash val="solid"/>
          </a:ln>
        </p:spPr>
      </p:sp>
      <p:sp>
        <p:nvSpPr>
          <p:cNvPr id="36" name="Text 33"/>
          <p:cNvSpPr txBox="1"/>
          <p:nvPr/>
        </p:nvSpPr>
        <p:spPr>
          <a:xfrm>
            <a:off x="1965960" y="3986784"/>
            <a:ext cx="822960" cy="292608"/>
          </a:xfrm>
          <a:prstGeom prst="rect">
            <a:avLst/>
          </a:prstGeom>
          <a:noFill/>
          <a:ln/>
        </p:spPr>
        <p:txBody>
          <a:bodyPr wrap="square" lIns="635" tIns="635" rIns="635" bIns="635" rtlCol="0" anchor="ctr"/>
          <a:lstStyle/>
          <a:p>
            <a:pPr algn="ctr" indent="0" marL="0">
              <a:buNone/>
            </a:pPr>
            <a:r>
              <a:rPr lang="en-US" sz="1000" dirty="0">
                <a:solidFill>
                  <a:srgbClr val="FFFFFF"/>
                </a:solidFill>
              </a:rPr>
              <a:t>icon</a:t>
            </a:r>
            <a:endParaRPr lang="en-US" sz="1000" dirty="0"/>
          </a:p>
        </p:txBody>
      </p:sp>
      <p:sp>
        <p:nvSpPr>
          <p:cNvPr id="37" name="box"/>
          <p:cNvSpPr/>
          <p:nvPr/>
        </p:nvSpPr>
        <p:spPr>
          <a:xfrm>
            <a:off x="548640" y="4334256"/>
            <a:ext cx="822960" cy="292608"/>
          </a:xfrm>
          <a:prstGeom prst="rect">
            <a:avLst/>
          </a:prstGeom>
          <a:solidFill>
            <a:srgbClr val="EEF2F6"/>
          </a:solidFill>
          <a:ln w="12700">
            <a:solidFill>
              <a:srgbClr val="EEF2F6"/>
            </a:solidFill>
            <a:prstDash val="solid"/>
          </a:ln>
        </p:spPr>
      </p:sp>
      <p:sp>
        <p:nvSpPr>
          <p:cNvPr id="38" name="Text 35"/>
          <p:cNvSpPr txBox="1"/>
          <p:nvPr/>
        </p:nvSpPr>
        <p:spPr>
          <a:xfrm>
            <a:off x="548640" y="4334256"/>
            <a:ext cx="822960" cy="292608"/>
          </a:xfrm>
          <a:prstGeom prst="rect">
            <a:avLst/>
          </a:prstGeom>
          <a:noFill/>
          <a:ln/>
        </p:spPr>
        <p:txBody>
          <a:bodyPr wrap="square" lIns="635" tIns="635" rIns="635" bIns="635" rtlCol="0" anchor="ctr"/>
          <a:lstStyle/>
          <a:p>
            <a:pPr algn="ctr" indent="0" marL="0">
              <a:buNone/>
            </a:pPr>
            <a:r>
              <a:rPr lang="en-US" sz="1000" dirty="0">
                <a:solidFill>
                  <a:srgbClr val="1B2430"/>
                </a:solidFill>
              </a:rPr>
              <a:t>conn 4</a:t>
            </a:r>
            <a:endParaRPr lang="en-US" sz="1000" dirty="0"/>
          </a:p>
        </p:txBody>
      </p:sp>
      <p:sp>
        <p:nvSpPr>
          <p:cNvPr id="39" name="box"/>
          <p:cNvSpPr/>
          <p:nvPr/>
        </p:nvSpPr>
        <p:spPr>
          <a:xfrm>
            <a:off x="1463040" y="4334256"/>
            <a:ext cx="457200" cy="292608"/>
          </a:xfrm>
          <a:prstGeom prst="rect">
            <a:avLst/>
          </a:prstGeom>
          <a:solidFill>
            <a:srgbClr val="5B6770"/>
          </a:solidFill>
          <a:ln w="12700">
            <a:solidFill>
              <a:srgbClr val="5B6770"/>
            </a:solidFill>
            <a:prstDash val="solid"/>
          </a:ln>
        </p:spPr>
      </p:sp>
      <p:sp>
        <p:nvSpPr>
          <p:cNvPr id="40" name="Text 37"/>
          <p:cNvSpPr txBox="1"/>
          <p:nvPr/>
        </p:nvSpPr>
        <p:spPr>
          <a:xfrm>
            <a:off x="1463040" y="4334256"/>
            <a:ext cx="457200" cy="292608"/>
          </a:xfrm>
          <a:prstGeom prst="rect">
            <a:avLst/>
          </a:prstGeom>
          <a:noFill/>
          <a:ln/>
        </p:spPr>
        <p:txBody>
          <a:bodyPr wrap="square" lIns="635" tIns="635" rIns="635" bIns="635" rtlCol="0" anchor="ctr"/>
          <a:lstStyle/>
          <a:p>
            <a:pPr algn="ctr" indent="0" marL="0">
              <a:buNone/>
            </a:pPr>
            <a:r>
              <a:rPr lang="en-US" sz="900" dirty="0">
                <a:solidFill>
                  <a:srgbClr val="FFFFFF"/>
                </a:solidFill>
              </a:rPr>
              <a:t>SYN</a:t>
            </a:r>
            <a:endParaRPr lang="en-US" sz="900" dirty="0"/>
          </a:p>
        </p:txBody>
      </p:sp>
      <p:sp>
        <p:nvSpPr>
          <p:cNvPr id="41" name="box"/>
          <p:cNvSpPr/>
          <p:nvPr/>
        </p:nvSpPr>
        <p:spPr>
          <a:xfrm>
            <a:off x="1965960" y="4334256"/>
            <a:ext cx="822960" cy="292608"/>
          </a:xfrm>
          <a:prstGeom prst="rect">
            <a:avLst/>
          </a:prstGeom>
          <a:solidFill>
            <a:srgbClr val="B9772A"/>
          </a:solidFill>
          <a:ln w="12700">
            <a:solidFill>
              <a:srgbClr val="B9772A"/>
            </a:solidFill>
            <a:prstDash val="solid"/>
          </a:ln>
        </p:spPr>
      </p:sp>
      <p:sp>
        <p:nvSpPr>
          <p:cNvPr id="42" name="Text 39"/>
          <p:cNvSpPr txBox="1"/>
          <p:nvPr/>
        </p:nvSpPr>
        <p:spPr>
          <a:xfrm>
            <a:off x="1965960" y="4334256"/>
            <a:ext cx="822960" cy="292608"/>
          </a:xfrm>
          <a:prstGeom prst="rect">
            <a:avLst/>
          </a:prstGeom>
          <a:noFill/>
          <a:ln/>
        </p:spPr>
        <p:txBody>
          <a:bodyPr wrap="square" lIns="635" tIns="635" rIns="635" bIns="635" rtlCol="0" anchor="ctr"/>
          <a:lstStyle/>
          <a:p>
            <a:pPr algn="ctr" indent="0" marL="0">
              <a:buNone/>
            </a:pPr>
            <a:r>
              <a:rPr lang="en-US" sz="1000" dirty="0">
                <a:solidFill>
                  <a:srgbClr val="FFFFFF"/>
                </a:solidFill>
              </a:rPr>
              <a:t>icon</a:t>
            </a:r>
            <a:endParaRPr lang="en-US" sz="1000" dirty="0"/>
          </a:p>
        </p:txBody>
      </p:sp>
      <p:sp>
        <p:nvSpPr>
          <p:cNvPr id="43" name="box"/>
          <p:cNvSpPr/>
          <p:nvPr/>
        </p:nvSpPr>
        <p:spPr>
          <a:xfrm>
            <a:off x="548640" y="4681728"/>
            <a:ext cx="822960" cy="292608"/>
          </a:xfrm>
          <a:prstGeom prst="rect">
            <a:avLst/>
          </a:prstGeom>
          <a:solidFill>
            <a:srgbClr val="EEF2F6"/>
          </a:solidFill>
          <a:ln w="12700">
            <a:solidFill>
              <a:srgbClr val="EEF2F6"/>
            </a:solidFill>
            <a:prstDash val="solid"/>
          </a:ln>
        </p:spPr>
      </p:sp>
      <p:sp>
        <p:nvSpPr>
          <p:cNvPr id="44" name="Text 41"/>
          <p:cNvSpPr txBox="1"/>
          <p:nvPr/>
        </p:nvSpPr>
        <p:spPr>
          <a:xfrm>
            <a:off x="548640" y="4681728"/>
            <a:ext cx="822960" cy="292608"/>
          </a:xfrm>
          <a:prstGeom prst="rect">
            <a:avLst/>
          </a:prstGeom>
          <a:noFill/>
          <a:ln/>
        </p:spPr>
        <p:txBody>
          <a:bodyPr wrap="square" lIns="635" tIns="635" rIns="635" bIns="635" rtlCol="0" anchor="ctr"/>
          <a:lstStyle/>
          <a:p>
            <a:pPr algn="ctr" indent="0" marL="0">
              <a:buNone/>
            </a:pPr>
            <a:r>
              <a:rPr lang="en-US" sz="1000" dirty="0">
                <a:solidFill>
                  <a:srgbClr val="1B2430"/>
                </a:solidFill>
              </a:rPr>
              <a:t>conn 5</a:t>
            </a:r>
            <a:endParaRPr lang="en-US" sz="1000" dirty="0"/>
          </a:p>
        </p:txBody>
      </p:sp>
      <p:sp>
        <p:nvSpPr>
          <p:cNvPr id="45" name="box"/>
          <p:cNvSpPr/>
          <p:nvPr/>
        </p:nvSpPr>
        <p:spPr>
          <a:xfrm>
            <a:off x="1463040" y="4681728"/>
            <a:ext cx="457200" cy="292608"/>
          </a:xfrm>
          <a:prstGeom prst="rect">
            <a:avLst/>
          </a:prstGeom>
          <a:solidFill>
            <a:srgbClr val="5B6770"/>
          </a:solidFill>
          <a:ln w="12700">
            <a:solidFill>
              <a:srgbClr val="5B6770"/>
            </a:solidFill>
            <a:prstDash val="solid"/>
          </a:ln>
        </p:spPr>
      </p:sp>
      <p:sp>
        <p:nvSpPr>
          <p:cNvPr id="46" name="Text 43"/>
          <p:cNvSpPr txBox="1"/>
          <p:nvPr/>
        </p:nvSpPr>
        <p:spPr>
          <a:xfrm>
            <a:off x="1463040" y="4681728"/>
            <a:ext cx="457200" cy="292608"/>
          </a:xfrm>
          <a:prstGeom prst="rect">
            <a:avLst/>
          </a:prstGeom>
          <a:noFill/>
          <a:ln/>
        </p:spPr>
        <p:txBody>
          <a:bodyPr wrap="square" lIns="635" tIns="635" rIns="635" bIns="635" rtlCol="0" anchor="ctr"/>
          <a:lstStyle/>
          <a:p>
            <a:pPr algn="ctr" indent="0" marL="0">
              <a:buNone/>
            </a:pPr>
            <a:r>
              <a:rPr lang="en-US" sz="900" dirty="0">
                <a:solidFill>
                  <a:srgbClr val="FFFFFF"/>
                </a:solidFill>
              </a:rPr>
              <a:t>SYN</a:t>
            </a:r>
            <a:endParaRPr lang="en-US" sz="900" dirty="0"/>
          </a:p>
        </p:txBody>
      </p:sp>
      <p:sp>
        <p:nvSpPr>
          <p:cNvPr id="47" name="box"/>
          <p:cNvSpPr/>
          <p:nvPr/>
        </p:nvSpPr>
        <p:spPr>
          <a:xfrm>
            <a:off x="1965960" y="4681728"/>
            <a:ext cx="822960" cy="292608"/>
          </a:xfrm>
          <a:prstGeom prst="rect">
            <a:avLst/>
          </a:prstGeom>
          <a:solidFill>
            <a:srgbClr val="B9772A"/>
          </a:solidFill>
          <a:ln w="12700">
            <a:solidFill>
              <a:srgbClr val="B9772A"/>
            </a:solidFill>
            <a:prstDash val="solid"/>
          </a:ln>
        </p:spPr>
      </p:sp>
      <p:sp>
        <p:nvSpPr>
          <p:cNvPr id="48" name="Text 45"/>
          <p:cNvSpPr txBox="1"/>
          <p:nvPr/>
        </p:nvSpPr>
        <p:spPr>
          <a:xfrm>
            <a:off x="1965960" y="4681728"/>
            <a:ext cx="822960" cy="292608"/>
          </a:xfrm>
          <a:prstGeom prst="rect">
            <a:avLst/>
          </a:prstGeom>
          <a:noFill/>
          <a:ln/>
        </p:spPr>
        <p:txBody>
          <a:bodyPr wrap="square" lIns="635" tIns="635" rIns="635" bIns="635" rtlCol="0" anchor="ctr"/>
          <a:lstStyle/>
          <a:p>
            <a:pPr algn="ctr" indent="0" marL="0">
              <a:buNone/>
            </a:pPr>
            <a:r>
              <a:rPr lang="en-US" sz="1000" dirty="0">
                <a:solidFill>
                  <a:srgbClr val="FFFFFF"/>
                </a:solidFill>
              </a:rPr>
              <a:t>icon</a:t>
            </a:r>
            <a:endParaRPr lang="en-US" sz="1000" dirty="0"/>
          </a:p>
        </p:txBody>
      </p:sp>
      <p:sp>
        <p:nvSpPr>
          <p:cNvPr id="49" name="box"/>
          <p:cNvSpPr/>
          <p:nvPr/>
        </p:nvSpPr>
        <p:spPr>
          <a:xfrm>
            <a:off x="548640" y="5029200"/>
            <a:ext cx="822960" cy="292608"/>
          </a:xfrm>
          <a:prstGeom prst="rect">
            <a:avLst/>
          </a:prstGeom>
          <a:solidFill>
            <a:srgbClr val="EEF2F6"/>
          </a:solidFill>
          <a:ln w="12700">
            <a:solidFill>
              <a:srgbClr val="EEF2F6"/>
            </a:solidFill>
            <a:prstDash val="solid"/>
          </a:ln>
        </p:spPr>
      </p:sp>
      <p:sp>
        <p:nvSpPr>
          <p:cNvPr id="50" name="Text 47"/>
          <p:cNvSpPr txBox="1"/>
          <p:nvPr/>
        </p:nvSpPr>
        <p:spPr>
          <a:xfrm>
            <a:off x="548640" y="5029200"/>
            <a:ext cx="822960" cy="292608"/>
          </a:xfrm>
          <a:prstGeom prst="rect">
            <a:avLst/>
          </a:prstGeom>
          <a:noFill/>
          <a:ln/>
        </p:spPr>
        <p:txBody>
          <a:bodyPr wrap="square" lIns="635" tIns="635" rIns="635" bIns="635" rtlCol="0" anchor="ctr"/>
          <a:lstStyle/>
          <a:p>
            <a:pPr algn="ctr" indent="0" marL="0">
              <a:buNone/>
            </a:pPr>
            <a:r>
              <a:rPr lang="en-US" sz="1000" dirty="0">
                <a:solidFill>
                  <a:srgbClr val="1B2430"/>
                </a:solidFill>
              </a:rPr>
              <a:t>conn 6</a:t>
            </a:r>
            <a:endParaRPr lang="en-US" sz="1000" dirty="0"/>
          </a:p>
        </p:txBody>
      </p:sp>
      <p:sp>
        <p:nvSpPr>
          <p:cNvPr id="51" name="box"/>
          <p:cNvSpPr/>
          <p:nvPr/>
        </p:nvSpPr>
        <p:spPr>
          <a:xfrm>
            <a:off x="1463040" y="5029200"/>
            <a:ext cx="457200" cy="292608"/>
          </a:xfrm>
          <a:prstGeom prst="rect">
            <a:avLst/>
          </a:prstGeom>
          <a:solidFill>
            <a:srgbClr val="5B6770"/>
          </a:solidFill>
          <a:ln w="12700">
            <a:solidFill>
              <a:srgbClr val="5B6770"/>
            </a:solidFill>
            <a:prstDash val="solid"/>
          </a:ln>
        </p:spPr>
      </p:sp>
      <p:sp>
        <p:nvSpPr>
          <p:cNvPr id="52" name="Text 49"/>
          <p:cNvSpPr txBox="1"/>
          <p:nvPr/>
        </p:nvSpPr>
        <p:spPr>
          <a:xfrm>
            <a:off x="1463040" y="5029200"/>
            <a:ext cx="457200" cy="292608"/>
          </a:xfrm>
          <a:prstGeom prst="rect">
            <a:avLst/>
          </a:prstGeom>
          <a:noFill/>
          <a:ln/>
        </p:spPr>
        <p:txBody>
          <a:bodyPr wrap="square" lIns="635" tIns="635" rIns="635" bIns="635" rtlCol="0" anchor="ctr"/>
          <a:lstStyle/>
          <a:p>
            <a:pPr algn="ctr" indent="0" marL="0">
              <a:buNone/>
            </a:pPr>
            <a:r>
              <a:rPr lang="en-US" sz="900" dirty="0">
                <a:solidFill>
                  <a:srgbClr val="FFFFFF"/>
                </a:solidFill>
              </a:rPr>
              <a:t>SYN</a:t>
            </a:r>
            <a:endParaRPr lang="en-US" sz="900" dirty="0"/>
          </a:p>
        </p:txBody>
      </p:sp>
      <p:sp>
        <p:nvSpPr>
          <p:cNvPr id="53" name="box"/>
          <p:cNvSpPr/>
          <p:nvPr/>
        </p:nvSpPr>
        <p:spPr>
          <a:xfrm>
            <a:off x="1965960" y="5029200"/>
            <a:ext cx="822960" cy="292608"/>
          </a:xfrm>
          <a:prstGeom prst="rect">
            <a:avLst/>
          </a:prstGeom>
          <a:solidFill>
            <a:srgbClr val="B9772A"/>
          </a:solidFill>
          <a:ln w="12700">
            <a:solidFill>
              <a:srgbClr val="B9772A"/>
            </a:solidFill>
            <a:prstDash val="solid"/>
          </a:ln>
        </p:spPr>
      </p:sp>
      <p:sp>
        <p:nvSpPr>
          <p:cNvPr id="54" name="Text 51"/>
          <p:cNvSpPr txBox="1"/>
          <p:nvPr/>
        </p:nvSpPr>
        <p:spPr>
          <a:xfrm>
            <a:off x="1965960" y="5029200"/>
            <a:ext cx="822960" cy="292608"/>
          </a:xfrm>
          <a:prstGeom prst="rect">
            <a:avLst/>
          </a:prstGeom>
          <a:noFill/>
          <a:ln/>
        </p:spPr>
        <p:txBody>
          <a:bodyPr wrap="square" lIns="635" tIns="635" rIns="635" bIns="635" rtlCol="0" anchor="ctr"/>
          <a:lstStyle/>
          <a:p>
            <a:pPr algn="ctr" indent="0" marL="0">
              <a:buNone/>
            </a:pPr>
            <a:r>
              <a:rPr lang="en-US" sz="1000" dirty="0">
                <a:solidFill>
                  <a:srgbClr val="FFFFFF"/>
                </a:solidFill>
              </a:rPr>
              <a:t>icon</a:t>
            </a:r>
            <a:endParaRPr lang="en-US" sz="1000" dirty="0"/>
          </a:p>
        </p:txBody>
      </p:sp>
      <p:sp>
        <p:nvSpPr>
          <p:cNvPr id="55" name="Shape 52"/>
          <p:cNvSpPr/>
          <p:nvPr/>
        </p:nvSpPr>
        <p:spPr>
          <a:xfrm>
            <a:off x="7863840" y="3310128"/>
            <a:ext cx="384048" cy="384048"/>
          </a:xfrm>
          <a:prstGeom prst="ellipse">
            <a:avLst/>
          </a:prstGeom>
          <a:solidFill>
            <a:srgbClr val="B9772A"/>
          </a:solidFill>
          <a:ln w="12700">
            <a:solidFill>
              <a:srgbClr val="B9772A"/>
            </a:solidFill>
            <a:prstDash val="solid"/>
          </a:ln>
        </p:spPr>
      </p:sp>
      <p:sp>
        <p:nvSpPr>
          <p:cNvPr id="56" name="Text 53"/>
          <p:cNvSpPr txBox="1"/>
          <p:nvPr/>
        </p:nvSpPr>
        <p:spPr>
          <a:xfrm>
            <a:off x="7863840" y="3310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7" name="Text 54"/>
          <p:cNvSpPr txBox="1"/>
          <p:nvPr/>
        </p:nvSpPr>
        <p:spPr>
          <a:xfrm>
            <a:off x="8366760" y="3291840"/>
            <a:ext cx="3246120" cy="20116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Each connection pays its own handshake and slow start, and they compete with each other.</a:t>
            </a:r>
            <a:endParaRPr lang="en-US" sz="1300" dirty="0"/>
          </a:p>
        </p:txBody>
      </p:sp>
      <p:sp>
        <p:nvSpPr>
          <p:cNvPr id="5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59" name="Text 5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HTTP/1.1 is a queue: one slow response holds back the ones behind it.</a:t>
            </a:r>
            <a:endParaRPr lang="en-US" sz="1400" dirty="0"/>
          </a:p>
        </p:txBody>
      </p:sp>
      <p:sp>
        <p:nvSpPr>
          <p:cNvPr id="60" name="Text 5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HTTP (HyperText Transfer Protocol) · SYN (synchronize)</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 HTTP/2: streams and frames on one connection</a:t>
            </a:r>
            <a:endParaRPr lang="en-US" sz="3000" dirty="0"/>
          </a:p>
        </p:txBody>
      </p:sp>
      <p:sp>
        <p:nvSpPr>
          <p:cNvPr id="4" name="box"/>
          <p:cNvSpPr/>
          <p:nvPr/>
        </p:nvSpPr>
        <p:spPr>
          <a:xfrm>
            <a:off x="548640" y="1325880"/>
            <a:ext cx="4206240" cy="685800"/>
          </a:xfrm>
          <a:prstGeom prst="roundRect">
            <a:avLst>
              <a:gd name="adj" fmla="val 10667"/>
            </a:avLst>
          </a:prstGeom>
          <a:solidFill>
            <a:srgbClr val="1F3A5F"/>
          </a:solidFill>
          <a:ln w="12700">
            <a:solidFill>
              <a:srgbClr val="1F3A5F"/>
            </a:solidFill>
            <a:prstDash val="solid"/>
          </a:ln>
        </p:spPr>
      </p:sp>
      <p:sp>
        <p:nvSpPr>
          <p:cNvPr id="5" name="Text 2"/>
          <p:cNvSpPr txBox="1"/>
          <p:nvPr/>
        </p:nvSpPr>
        <p:spPr>
          <a:xfrm>
            <a:off x="548640" y="1325880"/>
            <a:ext cx="4206240" cy="685800"/>
          </a:xfrm>
          <a:prstGeom prst="rect">
            <a:avLst/>
          </a:prstGeom>
          <a:noFill/>
          <a:ln/>
        </p:spPr>
        <p:txBody>
          <a:bodyPr wrap="square" lIns="635" tIns="635" rIns="635" bIns="635" rtlCol="0" anchor="ctr"/>
          <a:lstStyle/>
          <a:p>
            <a:pPr algn="ctr" indent="0" marL="0">
              <a:buNone/>
            </a:pPr>
            <a:r>
              <a:rPr lang="en-US" sz="1200" b="1" dirty="0">
                <a:solidFill>
                  <a:srgbClr val="FFFFFF"/>
                </a:solidFill>
              </a:rPr>
              <a:t>frame header (9 bytes)</a:t>
            </a:r>
            <a:endParaRPr lang="en-US" sz="1200" dirty="0"/>
          </a:p>
          <a:p>
            <a:pPr algn="ctr" indent="0" marL="0">
              <a:buNone/>
            </a:pPr>
            <a:r>
              <a:rPr lang="en-US" sz="1200" dirty="0">
                <a:solidFill>
                  <a:srgbClr val="FFFFFF"/>
                </a:solidFill>
              </a:rPr>
              <a:t>length · type · flags · stream id</a:t>
            </a:r>
            <a:endParaRPr lang="en-US" sz="1200" dirty="0"/>
          </a:p>
        </p:txBody>
      </p:sp>
      <p:sp>
        <p:nvSpPr>
          <p:cNvPr id="6" name="box"/>
          <p:cNvSpPr/>
          <p:nvPr/>
        </p:nvSpPr>
        <p:spPr>
          <a:xfrm>
            <a:off x="4846320" y="1325880"/>
            <a:ext cx="2926080" cy="685800"/>
          </a:xfrm>
          <a:prstGeom prst="roundRect">
            <a:avLst>
              <a:gd name="adj" fmla="val 10667"/>
            </a:avLst>
          </a:prstGeom>
          <a:solidFill>
            <a:srgbClr val="EEF2F6"/>
          </a:solidFill>
          <a:ln w="12700">
            <a:solidFill>
              <a:srgbClr val="EEF2F6"/>
            </a:solidFill>
            <a:prstDash val="solid"/>
          </a:ln>
        </p:spPr>
      </p:sp>
      <p:sp>
        <p:nvSpPr>
          <p:cNvPr id="7" name="Text 4"/>
          <p:cNvSpPr txBox="1"/>
          <p:nvPr/>
        </p:nvSpPr>
        <p:spPr>
          <a:xfrm>
            <a:off x="4846320" y="1325880"/>
            <a:ext cx="2926080" cy="685800"/>
          </a:xfrm>
          <a:prstGeom prst="rect">
            <a:avLst/>
          </a:prstGeom>
          <a:noFill/>
          <a:ln/>
        </p:spPr>
        <p:txBody>
          <a:bodyPr wrap="square" lIns="635" tIns="635" rIns="635" bIns="635" rtlCol="0" anchor="ctr"/>
          <a:lstStyle/>
          <a:p>
            <a:pPr algn="ctr" indent="0" marL="0">
              <a:buNone/>
            </a:pPr>
            <a:r>
              <a:rPr lang="en-US" sz="1300" dirty="0">
                <a:solidFill>
                  <a:srgbClr val="1B2430"/>
                </a:solidFill>
              </a:rPr>
              <a:t>payload</a:t>
            </a:r>
            <a:endParaRPr lang="en-US" sz="1300" dirty="0"/>
          </a:p>
        </p:txBody>
      </p:sp>
      <p:sp>
        <p:nvSpPr>
          <p:cNvPr id="8" name="Text 5"/>
          <p:cNvSpPr txBox="1"/>
          <p:nvPr/>
        </p:nvSpPr>
        <p:spPr>
          <a:xfrm>
            <a:off x="8046720" y="1371600"/>
            <a:ext cx="3566160" cy="73152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HEADERS frames carry header fields; DATA frames carry the body.</a:t>
            </a:r>
            <a:endParaRPr lang="en-US" sz="1200" dirty="0"/>
          </a:p>
        </p:txBody>
      </p:sp>
      <p:sp>
        <p:nvSpPr>
          <p:cNvPr id="9" name="Text 6"/>
          <p:cNvSpPr txBox="1"/>
          <p:nvPr/>
        </p:nvSpPr>
        <p:spPr>
          <a:xfrm>
            <a:off x="548640" y="2331720"/>
            <a:ext cx="10972800" cy="320040"/>
          </a:xfrm>
          <a:prstGeom prst="rect">
            <a:avLst/>
          </a:prstGeom>
          <a:noFill/>
          <a:ln/>
        </p:spPr>
        <p:txBody>
          <a:bodyPr wrap="square" lIns="0" tIns="0" rIns="0" bIns="0" rtlCol="0" anchor="t"/>
          <a:lstStyle/>
          <a:p>
            <a:pPr algn="l" indent="0" marL="0">
              <a:spcAft>
                <a:spcPts val="400"/>
              </a:spcAft>
              <a:buNone/>
            </a:pPr>
            <a:r>
              <a:rPr lang="en-US" sz="1400" b="1" dirty="0">
                <a:solidFill>
                  <a:srgbClr val="1B2430"/>
                </a:solidFill>
              </a:rPr>
              <a:t>One TCP connection</a:t>
            </a:r>
            <a:r>
              <a:rPr lang="en-US" sz="1400" dirty="0">
                <a:solidFill>
                  <a:srgbClr val="1B2430"/>
                </a:solidFill>
              </a:rPr>
              <a:t>, frames interleaved:</a:t>
            </a:r>
            <a:endParaRPr lang="en-US" sz="1400" dirty="0"/>
          </a:p>
        </p:txBody>
      </p:sp>
      <p:sp>
        <p:nvSpPr>
          <p:cNvPr id="10" name="box"/>
          <p:cNvSpPr/>
          <p:nvPr/>
        </p:nvSpPr>
        <p:spPr>
          <a:xfrm>
            <a:off x="548640" y="2743200"/>
            <a:ext cx="731520" cy="640080"/>
          </a:xfrm>
          <a:prstGeom prst="rect">
            <a:avLst/>
          </a:prstGeom>
          <a:solidFill>
            <a:srgbClr val="1F3A5F"/>
          </a:solidFill>
          <a:ln w="12700">
            <a:solidFill>
              <a:srgbClr val="1F3A5F"/>
            </a:solidFill>
            <a:prstDash val="solid"/>
          </a:ln>
        </p:spPr>
      </p:sp>
      <p:sp>
        <p:nvSpPr>
          <p:cNvPr id="11" name="Text 8"/>
          <p:cNvSpPr txBox="1"/>
          <p:nvPr/>
        </p:nvSpPr>
        <p:spPr>
          <a:xfrm>
            <a:off x="548640"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s1</a:t>
            </a:r>
            <a:endParaRPr lang="en-US" sz="1200" dirty="0"/>
          </a:p>
        </p:txBody>
      </p:sp>
      <p:sp>
        <p:nvSpPr>
          <p:cNvPr id="12" name="box"/>
          <p:cNvSpPr/>
          <p:nvPr/>
        </p:nvSpPr>
        <p:spPr>
          <a:xfrm>
            <a:off x="1335024" y="2743200"/>
            <a:ext cx="731520" cy="640080"/>
          </a:xfrm>
          <a:prstGeom prst="rect">
            <a:avLst/>
          </a:prstGeom>
          <a:solidFill>
            <a:srgbClr val="B9772A"/>
          </a:solidFill>
          <a:ln w="12700">
            <a:solidFill>
              <a:srgbClr val="B9772A"/>
            </a:solidFill>
            <a:prstDash val="solid"/>
          </a:ln>
        </p:spPr>
      </p:sp>
      <p:sp>
        <p:nvSpPr>
          <p:cNvPr id="13" name="Text 10"/>
          <p:cNvSpPr txBox="1"/>
          <p:nvPr/>
        </p:nvSpPr>
        <p:spPr>
          <a:xfrm>
            <a:off x="1335024"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s3</a:t>
            </a:r>
            <a:endParaRPr lang="en-US" sz="1200" dirty="0"/>
          </a:p>
        </p:txBody>
      </p:sp>
      <p:sp>
        <p:nvSpPr>
          <p:cNvPr id="14" name="box"/>
          <p:cNvSpPr/>
          <p:nvPr/>
        </p:nvSpPr>
        <p:spPr>
          <a:xfrm>
            <a:off x="2121408" y="2743200"/>
            <a:ext cx="731520" cy="640080"/>
          </a:xfrm>
          <a:prstGeom prst="rect">
            <a:avLst/>
          </a:prstGeom>
          <a:solidFill>
            <a:srgbClr val="1F3A5F"/>
          </a:solidFill>
          <a:ln w="12700">
            <a:solidFill>
              <a:srgbClr val="1F3A5F"/>
            </a:solidFill>
            <a:prstDash val="solid"/>
          </a:ln>
        </p:spPr>
      </p:sp>
      <p:sp>
        <p:nvSpPr>
          <p:cNvPr id="15" name="Text 12"/>
          <p:cNvSpPr txBox="1"/>
          <p:nvPr/>
        </p:nvSpPr>
        <p:spPr>
          <a:xfrm>
            <a:off x="2121408"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s1</a:t>
            </a:r>
            <a:endParaRPr lang="en-US" sz="1200" dirty="0"/>
          </a:p>
        </p:txBody>
      </p:sp>
      <p:sp>
        <p:nvSpPr>
          <p:cNvPr id="16" name="box"/>
          <p:cNvSpPr/>
          <p:nvPr/>
        </p:nvSpPr>
        <p:spPr>
          <a:xfrm>
            <a:off x="2907792" y="2743200"/>
            <a:ext cx="731520" cy="640080"/>
          </a:xfrm>
          <a:prstGeom prst="rect">
            <a:avLst/>
          </a:prstGeom>
          <a:solidFill>
            <a:srgbClr val="2A7F8E"/>
          </a:solidFill>
          <a:ln w="12700">
            <a:solidFill>
              <a:srgbClr val="2A7F8E"/>
            </a:solidFill>
            <a:prstDash val="solid"/>
          </a:ln>
        </p:spPr>
      </p:sp>
      <p:sp>
        <p:nvSpPr>
          <p:cNvPr id="17" name="Text 14"/>
          <p:cNvSpPr txBox="1"/>
          <p:nvPr/>
        </p:nvSpPr>
        <p:spPr>
          <a:xfrm>
            <a:off x="2907792"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s5</a:t>
            </a:r>
            <a:endParaRPr lang="en-US" sz="1200" dirty="0"/>
          </a:p>
        </p:txBody>
      </p:sp>
      <p:sp>
        <p:nvSpPr>
          <p:cNvPr id="18" name="box"/>
          <p:cNvSpPr/>
          <p:nvPr/>
        </p:nvSpPr>
        <p:spPr>
          <a:xfrm>
            <a:off x="3694176" y="2743200"/>
            <a:ext cx="731520" cy="640080"/>
          </a:xfrm>
          <a:prstGeom prst="rect">
            <a:avLst/>
          </a:prstGeom>
          <a:solidFill>
            <a:srgbClr val="B9772A"/>
          </a:solidFill>
          <a:ln w="12700">
            <a:solidFill>
              <a:srgbClr val="B9772A"/>
            </a:solidFill>
            <a:prstDash val="solid"/>
          </a:ln>
        </p:spPr>
      </p:sp>
      <p:sp>
        <p:nvSpPr>
          <p:cNvPr id="19" name="Text 16"/>
          <p:cNvSpPr txBox="1"/>
          <p:nvPr/>
        </p:nvSpPr>
        <p:spPr>
          <a:xfrm>
            <a:off x="3694176"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s3</a:t>
            </a:r>
            <a:endParaRPr lang="en-US" sz="1200" dirty="0"/>
          </a:p>
        </p:txBody>
      </p:sp>
      <p:sp>
        <p:nvSpPr>
          <p:cNvPr id="20" name="box"/>
          <p:cNvSpPr/>
          <p:nvPr/>
        </p:nvSpPr>
        <p:spPr>
          <a:xfrm>
            <a:off x="4480560" y="2743200"/>
            <a:ext cx="731520" cy="640080"/>
          </a:xfrm>
          <a:prstGeom prst="rect">
            <a:avLst/>
          </a:prstGeom>
          <a:solidFill>
            <a:srgbClr val="1F3A5F"/>
          </a:solidFill>
          <a:ln w="12700">
            <a:solidFill>
              <a:srgbClr val="1F3A5F"/>
            </a:solidFill>
            <a:prstDash val="solid"/>
          </a:ln>
        </p:spPr>
      </p:sp>
      <p:sp>
        <p:nvSpPr>
          <p:cNvPr id="21" name="Text 18"/>
          <p:cNvSpPr txBox="1"/>
          <p:nvPr/>
        </p:nvSpPr>
        <p:spPr>
          <a:xfrm>
            <a:off x="4480560"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s1</a:t>
            </a:r>
            <a:endParaRPr lang="en-US" sz="1200" dirty="0"/>
          </a:p>
        </p:txBody>
      </p:sp>
      <p:sp>
        <p:nvSpPr>
          <p:cNvPr id="22" name="box"/>
          <p:cNvSpPr/>
          <p:nvPr/>
        </p:nvSpPr>
        <p:spPr>
          <a:xfrm>
            <a:off x="5266944" y="2743200"/>
            <a:ext cx="731520" cy="640080"/>
          </a:xfrm>
          <a:prstGeom prst="rect">
            <a:avLst/>
          </a:prstGeom>
          <a:solidFill>
            <a:srgbClr val="2E7D4F"/>
          </a:solidFill>
          <a:ln w="12700">
            <a:solidFill>
              <a:srgbClr val="2E7D4F"/>
            </a:solidFill>
            <a:prstDash val="solid"/>
          </a:ln>
        </p:spPr>
      </p:sp>
      <p:sp>
        <p:nvSpPr>
          <p:cNvPr id="23" name="Text 20"/>
          <p:cNvSpPr txBox="1"/>
          <p:nvPr/>
        </p:nvSpPr>
        <p:spPr>
          <a:xfrm>
            <a:off x="5266944"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s7</a:t>
            </a:r>
            <a:endParaRPr lang="en-US" sz="1200" dirty="0"/>
          </a:p>
        </p:txBody>
      </p:sp>
      <p:sp>
        <p:nvSpPr>
          <p:cNvPr id="24" name="box"/>
          <p:cNvSpPr/>
          <p:nvPr/>
        </p:nvSpPr>
        <p:spPr>
          <a:xfrm>
            <a:off x="6053328" y="2743200"/>
            <a:ext cx="731520" cy="640080"/>
          </a:xfrm>
          <a:prstGeom prst="rect">
            <a:avLst/>
          </a:prstGeom>
          <a:solidFill>
            <a:srgbClr val="2A7F8E"/>
          </a:solidFill>
          <a:ln w="12700">
            <a:solidFill>
              <a:srgbClr val="2A7F8E"/>
            </a:solidFill>
            <a:prstDash val="solid"/>
          </a:ln>
        </p:spPr>
      </p:sp>
      <p:sp>
        <p:nvSpPr>
          <p:cNvPr id="25" name="Text 22"/>
          <p:cNvSpPr txBox="1"/>
          <p:nvPr/>
        </p:nvSpPr>
        <p:spPr>
          <a:xfrm>
            <a:off x="6053328"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s5</a:t>
            </a:r>
            <a:endParaRPr lang="en-US" sz="1200" dirty="0"/>
          </a:p>
        </p:txBody>
      </p:sp>
      <p:sp>
        <p:nvSpPr>
          <p:cNvPr id="26" name="box"/>
          <p:cNvSpPr/>
          <p:nvPr/>
        </p:nvSpPr>
        <p:spPr>
          <a:xfrm>
            <a:off x="6839712" y="2743200"/>
            <a:ext cx="731520" cy="640080"/>
          </a:xfrm>
          <a:prstGeom prst="rect">
            <a:avLst/>
          </a:prstGeom>
          <a:solidFill>
            <a:srgbClr val="1F3A5F"/>
          </a:solidFill>
          <a:ln w="12700">
            <a:solidFill>
              <a:srgbClr val="1F3A5F"/>
            </a:solidFill>
            <a:prstDash val="solid"/>
          </a:ln>
        </p:spPr>
      </p:sp>
      <p:sp>
        <p:nvSpPr>
          <p:cNvPr id="27" name="Text 24"/>
          <p:cNvSpPr txBox="1"/>
          <p:nvPr/>
        </p:nvSpPr>
        <p:spPr>
          <a:xfrm>
            <a:off x="6839712"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s1</a:t>
            </a:r>
            <a:endParaRPr lang="en-US" sz="1200" dirty="0"/>
          </a:p>
        </p:txBody>
      </p:sp>
      <p:sp>
        <p:nvSpPr>
          <p:cNvPr id="28" name="box"/>
          <p:cNvSpPr/>
          <p:nvPr/>
        </p:nvSpPr>
        <p:spPr>
          <a:xfrm>
            <a:off x="7626096" y="2743200"/>
            <a:ext cx="731520" cy="640080"/>
          </a:xfrm>
          <a:prstGeom prst="rect">
            <a:avLst/>
          </a:prstGeom>
          <a:solidFill>
            <a:srgbClr val="B9772A"/>
          </a:solidFill>
          <a:ln w="12700">
            <a:solidFill>
              <a:srgbClr val="B9772A"/>
            </a:solidFill>
            <a:prstDash val="solid"/>
          </a:ln>
        </p:spPr>
      </p:sp>
      <p:sp>
        <p:nvSpPr>
          <p:cNvPr id="29" name="Text 26"/>
          <p:cNvSpPr txBox="1"/>
          <p:nvPr/>
        </p:nvSpPr>
        <p:spPr>
          <a:xfrm>
            <a:off x="7626096"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s3</a:t>
            </a:r>
            <a:endParaRPr lang="en-US" sz="1200" dirty="0"/>
          </a:p>
        </p:txBody>
      </p:sp>
      <p:sp>
        <p:nvSpPr>
          <p:cNvPr id="30" name="box"/>
          <p:cNvSpPr/>
          <p:nvPr/>
        </p:nvSpPr>
        <p:spPr>
          <a:xfrm>
            <a:off x="8412480" y="2743200"/>
            <a:ext cx="731520" cy="640080"/>
          </a:xfrm>
          <a:prstGeom prst="rect">
            <a:avLst/>
          </a:prstGeom>
          <a:solidFill>
            <a:srgbClr val="1F3A5F"/>
          </a:solidFill>
          <a:ln w="12700">
            <a:solidFill>
              <a:srgbClr val="1F3A5F"/>
            </a:solidFill>
            <a:prstDash val="solid"/>
          </a:ln>
        </p:spPr>
      </p:sp>
      <p:sp>
        <p:nvSpPr>
          <p:cNvPr id="31" name="Text 28"/>
          <p:cNvSpPr txBox="1"/>
          <p:nvPr/>
        </p:nvSpPr>
        <p:spPr>
          <a:xfrm>
            <a:off x="8412480"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s1</a:t>
            </a:r>
            <a:endParaRPr lang="en-US" sz="1200" dirty="0"/>
          </a:p>
        </p:txBody>
      </p:sp>
      <p:sp>
        <p:nvSpPr>
          <p:cNvPr id="32" name="box"/>
          <p:cNvSpPr/>
          <p:nvPr/>
        </p:nvSpPr>
        <p:spPr>
          <a:xfrm>
            <a:off x="9198864" y="2743200"/>
            <a:ext cx="731520" cy="640080"/>
          </a:xfrm>
          <a:prstGeom prst="rect">
            <a:avLst/>
          </a:prstGeom>
          <a:solidFill>
            <a:srgbClr val="A23B3B"/>
          </a:solidFill>
          <a:ln w="12700">
            <a:solidFill>
              <a:srgbClr val="A23B3B"/>
            </a:solidFill>
            <a:prstDash val="solid"/>
          </a:ln>
        </p:spPr>
      </p:sp>
      <p:sp>
        <p:nvSpPr>
          <p:cNvPr id="33" name="Text 30"/>
          <p:cNvSpPr txBox="1"/>
          <p:nvPr/>
        </p:nvSpPr>
        <p:spPr>
          <a:xfrm>
            <a:off x="9198864"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s9</a:t>
            </a:r>
            <a:endParaRPr lang="en-US" sz="1200" dirty="0"/>
          </a:p>
        </p:txBody>
      </p:sp>
      <p:sp>
        <p:nvSpPr>
          <p:cNvPr id="34" name="box"/>
          <p:cNvSpPr/>
          <p:nvPr/>
        </p:nvSpPr>
        <p:spPr>
          <a:xfrm>
            <a:off x="9985248" y="2743200"/>
            <a:ext cx="731520" cy="640080"/>
          </a:xfrm>
          <a:prstGeom prst="rect">
            <a:avLst/>
          </a:prstGeom>
          <a:solidFill>
            <a:srgbClr val="2E7D4F"/>
          </a:solidFill>
          <a:ln w="12700">
            <a:solidFill>
              <a:srgbClr val="2E7D4F"/>
            </a:solidFill>
            <a:prstDash val="solid"/>
          </a:ln>
        </p:spPr>
      </p:sp>
      <p:sp>
        <p:nvSpPr>
          <p:cNvPr id="35" name="Text 32"/>
          <p:cNvSpPr txBox="1"/>
          <p:nvPr/>
        </p:nvSpPr>
        <p:spPr>
          <a:xfrm>
            <a:off x="9985248"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s7</a:t>
            </a:r>
            <a:endParaRPr lang="en-US" sz="1200" dirty="0"/>
          </a:p>
        </p:txBody>
      </p:sp>
      <p:sp>
        <p:nvSpPr>
          <p:cNvPr id="36" name="box"/>
          <p:cNvSpPr/>
          <p:nvPr/>
        </p:nvSpPr>
        <p:spPr>
          <a:xfrm>
            <a:off x="10771632" y="2743200"/>
            <a:ext cx="731520" cy="640080"/>
          </a:xfrm>
          <a:prstGeom prst="rect">
            <a:avLst/>
          </a:prstGeom>
          <a:solidFill>
            <a:srgbClr val="1F3A5F"/>
          </a:solidFill>
          <a:ln w="12700">
            <a:solidFill>
              <a:srgbClr val="1F3A5F"/>
            </a:solidFill>
            <a:prstDash val="solid"/>
          </a:ln>
        </p:spPr>
      </p:sp>
      <p:sp>
        <p:nvSpPr>
          <p:cNvPr id="37" name="Text 34"/>
          <p:cNvSpPr txBox="1"/>
          <p:nvPr/>
        </p:nvSpPr>
        <p:spPr>
          <a:xfrm>
            <a:off x="10771632" y="2743200"/>
            <a:ext cx="73152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s1</a:t>
            </a:r>
            <a:endParaRPr lang="en-US" sz="1200" dirty="0"/>
          </a:p>
        </p:txBody>
      </p:sp>
      <p:sp>
        <p:nvSpPr>
          <p:cNvPr id="38" name="box"/>
          <p:cNvSpPr/>
          <p:nvPr/>
        </p:nvSpPr>
        <p:spPr>
          <a:xfrm>
            <a:off x="548640" y="3657600"/>
            <a:ext cx="457200" cy="384048"/>
          </a:xfrm>
          <a:prstGeom prst="rect">
            <a:avLst/>
          </a:prstGeom>
          <a:solidFill>
            <a:srgbClr val="1F3A5F"/>
          </a:solidFill>
          <a:ln w="12700">
            <a:solidFill>
              <a:srgbClr val="1F3A5F"/>
            </a:solidFill>
            <a:prstDash val="solid"/>
          </a:ln>
        </p:spPr>
      </p:sp>
      <p:sp>
        <p:nvSpPr>
          <p:cNvPr id="39" name="Text 36"/>
          <p:cNvSpPr txBox="1"/>
          <p:nvPr/>
        </p:nvSpPr>
        <p:spPr>
          <a:xfrm>
            <a:off x="1097280" y="3703320"/>
            <a:ext cx="1645920" cy="3657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stream 1: video</a:t>
            </a:r>
            <a:endParaRPr lang="en-US" sz="1200" dirty="0"/>
          </a:p>
        </p:txBody>
      </p:sp>
      <p:sp>
        <p:nvSpPr>
          <p:cNvPr id="40" name="box"/>
          <p:cNvSpPr/>
          <p:nvPr/>
        </p:nvSpPr>
        <p:spPr>
          <a:xfrm>
            <a:off x="2788920" y="3657600"/>
            <a:ext cx="457200" cy="384048"/>
          </a:xfrm>
          <a:prstGeom prst="rect">
            <a:avLst/>
          </a:prstGeom>
          <a:solidFill>
            <a:srgbClr val="B9772A"/>
          </a:solidFill>
          <a:ln w="12700">
            <a:solidFill>
              <a:srgbClr val="B9772A"/>
            </a:solidFill>
            <a:prstDash val="solid"/>
          </a:ln>
        </p:spPr>
      </p:sp>
      <p:sp>
        <p:nvSpPr>
          <p:cNvPr id="41" name="Text 38"/>
          <p:cNvSpPr txBox="1"/>
          <p:nvPr/>
        </p:nvSpPr>
        <p:spPr>
          <a:xfrm>
            <a:off x="3337560" y="3703320"/>
            <a:ext cx="1645920" cy="3657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stream 3: icon 1</a:t>
            </a:r>
            <a:endParaRPr lang="en-US" sz="1200" dirty="0"/>
          </a:p>
        </p:txBody>
      </p:sp>
      <p:sp>
        <p:nvSpPr>
          <p:cNvPr id="42" name="box"/>
          <p:cNvSpPr/>
          <p:nvPr/>
        </p:nvSpPr>
        <p:spPr>
          <a:xfrm>
            <a:off x="5029200" y="3657600"/>
            <a:ext cx="457200" cy="384048"/>
          </a:xfrm>
          <a:prstGeom prst="rect">
            <a:avLst/>
          </a:prstGeom>
          <a:solidFill>
            <a:srgbClr val="2A7F8E"/>
          </a:solidFill>
          <a:ln w="12700">
            <a:solidFill>
              <a:srgbClr val="2A7F8E"/>
            </a:solidFill>
            <a:prstDash val="solid"/>
          </a:ln>
        </p:spPr>
      </p:sp>
      <p:sp>
        <p:nvSpPr>
          <p:cNvPr id="43" name="Text 40"/>
          <p:cNvSpPr txBox="1"/>
          <p:nvPr/>
        </p:nvSpPr>
        <p:spPr>
          <a:xfrm>
            <a:off x="5577840" y="3703320"/>
            <a:ext cx="1645920" cy="3657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stream 5: script</a:t>
            </a:r>
            <a:endParaRPr lang="en-US" sz="1200" dirty="0"/>
          </a:p>
        </p:txBody>
      </p:sp>
      <p:sp>
        <p:nvSpPr>
          <p:cNvPr id="44" name="box"/>
          <p:cNvSpPr/>
          <p:nvPr/>
        </p:nvSpPr>
        <p:spPr>
          <a:xfrm>
            <a:off x="7269480" y="3657600"/>
            <a:ext cx="457200" cy="384048"/>
          </a:xfrm>
          <a:prstGeom prst="rect">
            <a:avLst/>
          </a:prstGeom>
          <a:solidFill>
            <a:srgbClr val="2E7D4F"/>
          </a:solidFill>
          <a:ln w="12700">
            <a:solidFill>
              <a:srgbClr val="2E7D4F"/>
            </a:solidFill>
            <a:prstDash val="solid"/>
          </a:ln>
        </p:spPr>
      </p:sp>
      <p:sp>
        <p:nvSpPr>
          <p:cNvPr id="45" name="Text 42"/>
          <p:cNvSpPr txBox="1"/>
          <p:nvPr/>
        </p:nvSpPr>
        <p:spPr>
          <a:xfrm>
            <a:off x="7818120" y="3703320"/>
            <a:ext cx="1645920" cy="3657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stream 7: icon 2</a:t>
            </a:r>
            <a:endParaRPr lang="en-US" sz="1200" dirty="0"/>
          </a:p>
        </p:txBody>
      </p:sp>
      <p:sp>
        <p:nvSpPr>
          <p:cNvPr id="46" name="box"/>
          <p:cNvSpPr/>
          <p:nvPr/>
        </p:nvSpPr>
        <p:spPr>
          <a:xfrm>
            <a:off x="9509760" y="3657600"/>
            <a:ext cx="457200" cy="384048"/>
          </a:xfrm>
          <a:prstGeom prst="rect">
            <a:avLst/>
          </a:prstGeom>
          <a:solidFill>
            <a:srgbClr val="A23B3B"/>
          </a:solidFill>
          <a:ln w="12700">
            <a:solidFill>
              <a:srgbClr val="A23B3B"/>
            </a:solidFill>
            <a:prstDash val="solid"/>
          </a:ln>
        </p:spPr>
      </p:sp>
      <p:sp>
        <p:nvSpPr>
          <p:cNvPr id="47" name="Text 44"/>
          <p:cNvSpPr txBox="1"/>
          <p:nvPr/>
        </p:nvSpPr>
        <p:spPr>
          <a:xfrm>
            <a:off x="10058400" y="3703320"/>
            <a:ext cx="1645920" cy="3657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stream 9: style</a:t>
            </a:r>
            <a:endParaRPr lang="en-US" sz="1200" dirty="0"/>
          </a:p>
        </p:txBody>
      </p:sp>
      <p:sp>
        <p:nvSpPr>
          <p:cNvPr id="48" name="Shape 45"/>
          <p:cNvSpPr/>
          <p:nvPr/>
        </p:nvSpPr>
        <p:spPr>
          <a:xfrm>
            <a:off x="548640" y="4361688"/>
            <a:ext cx="384048" cy="384048"/>
          </a:xfrm>
          <a:prstGeom prst="ellipse">
            <a:avLst/>
          </a:prstGeom>
          <a:solidFill>
            <a:srgbClr val="B9772A"/>
          </a:solidFill>
          <a:ln w="12700">
            <a:solidFill>
              <a:srgbClr val="B9772A"/>
            </a:solidFill>
            <a:prstDash val="solid"/>
          </a:ln>
        </p:spPr>
      </p:sp>
      <p:sp>
        <p:nvSpPr>
          <p:cNvPr id="49" name="Text 46"/>
          <p:cNvSpPr txBox="1"/>
          <p:nvPr/>
        </p:nvSpPr>
        <p:spPr>
          <a:xfrm>
            <a:off x="548640" y="43616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0" name="Text 47"/>
          <p:cNvSpPr txBox="1"/>
          <p:nvPr/>
        </p:nvSpPr>
        <p:spPr>
          <a:xfrm>
            <a:off x="1051560" y="4343400"/>
            <a:ext cx="4983480" cy="118872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 small object no longer waits for a big one; priorities can be given.</a:t>
            </a:r>
            <a:endParaRPr lang="en-US" sz="1300" dirty="0"/>
          </a:p>
        </p:txBody>
      </p:sp>
      <p:sp>
        <p:nvSpPr>
          <p:cNvPr id="51" name="Shape 48"/>
          <p:cNvSpPr/>
          <p:nvPr/>
        </p:nvSpPr>
        <p:spPr>
          <a:xfrm>
            <a:off x="6217920" y="4361688"/>
            <a:ext cx="384048" cy="384048"/>
          </a:xfrm>
          <a:prstGeom prst="ellipse">
            <a:avLst/>
          </a:prstGeom>
          <a:solidFill>
            <a:srgbClr val="B9772A"/>
          </a:solidFill>
          <a:ln w="12700">
            <a:solidFill>
              <a:srgbClr val="B9772A"/>
            </a:solidFill>
            <a:prstDash val="solid"/>
          </a:ln>
        </p:spPr>
      </p:sp>
      <p:sp>
        <p:nvSpPr>
          <p:cNvPr id="52" name="Text 49"/>
          <p:cNvSpPr txBox="1"/>
          <p:nvPr/>
        </p:nvSpPr>
        <p:spPr>
          <a:xfrm>
            <a:off x="6217920" y="43616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53" name="Text 50"/>
          <p:cNvSpPr txBox="1"/>
          <p:nvPr/>
        </p:nvSpPr>
        <p:spPr>
          <a:xfrm>
            <a:off x="6720840" y="4343400"/>
            <a:ext cx="4892040" cy="118872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Same methods, status codes, headers and URLs as HTTP/1.1 — only the </a:t>
            </a:r>
            <a:r>
              <a:rPr lang="en-US" sz="1300" b="1" dirty="0">
                <a:solidFill>
                  <a:srgbClr val="1B2430"/>
                </a:solidFill>
              </a:rPr>
              <a:t>carriage</a:t>
            </a:r>
            <a:r>
              <a:rPr lang="en-US" sz="1300" dirty="0">
                <a:solidFill>
                  <a:srgbClr val="1B2430"/>
                </a:solidFill>
              </a:rPr>
              <a:t> changes (RFC 9113).</a:t>
            </a:r>
            <a:endParaRPr lang="en-US" sz="1300" dirty="0"/>
          </a:p>
        </p:txBody>
      </p:sp>
      <p:sp>
        <p:nvSpPr>
          <p:cNvPr id="5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55" name="Text 5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HTTP/2 = one connection, many streams: the queue of HTTP/1.1 becomes a shared lane.</a:t>
            </a:r>
            <a:endParaRPr lang="en-US" sz="1400" dirty="0"/>
          </a:p>
        </p:txBody>
      </p:sp>
      <p:sp>
        <p:nvSpPr>
          <p:cNvPr id="56" name="Text 53"/>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HTTP (HyperText Transfer Protocol) · TCP (Transmission Control Protocol) · RFC (Request for Comments)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 HPACK: do not send the same headers twice</a:t>
            </a:r>
            <a:endParaRPr lang="en-US" sz="3000" dirty="0"/>
          </a:p>
        </p:txBody>
      </p:sp>
      <p:sp>
        <p:nvSpPr>
          <p:cNvPr id="4" name="code"/>
          <p:cNvSpPr/>
          <p:nvPr/>
        </p:nvSpPr>
        <p:spPr>
          <a:xfrm>
            <a:off x="548640" y="1325880"/>
            <a:ext cx="5120640" cy="1463040"/>
          </a:xfrm>
          <a:prstGeom prst="rect">
            <a:avLst/>
          </a:prstGeom>
          <a:solidFill>
            <a:srgbClr val="1E2A38"/>
          </a:solidFill>
          <a:ln w="12700">
            <a:solidFill>
              <a:srgbClr val="1E2A38"/>
            </a:solidFill>
            <a:prstDash val="solid"/>
          </a:ln>
        </p:spPr>
      </p:sp>
      <p:sp>
        <p:nvSpPr>
          <p:cNvPr id="5" name="Text 2"/>
          <p:cNvSpPr txBox="1"/>
          <p:nvPr/>
        </p:nvSpPr>
        <p:spPr>
          <a:xfrm>
            <a:off x="548640" y="1325880"/>
            <a:ext cx="5120640" cy="146304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request 1</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:method GET  :path /a.css</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user-agent: Mozilla/5.0 (X11; Linux …)</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cookie: session=7f3a9c…</a:t>
            </a:r>
            <a:endParaRPr lang="en-US" sz="1200" dirty="0"/>
          </a:p>
        </p:txBody>
      </p:sp>
      <p:sp>
        <p:nvSpPr>
          <p:cNvPr id="6" name="code"/>
          <p:cNvSpPr/>
          <p:nvPr/>
        </p:nvSpPr>
        <p:spPr>
          <a:xfrm>
            <a:off x="548640" y="3246120"/>
            <a:ext cx="5120640" cy="1463040"/>
          </a:xfrm>
          <a:prstGeom prst="rect">
            <a:avLst/>
          </a:prstGeom>
          <a:solidFill>
            <a:srgbClr val="1E2A38"/>
          </a:solidFill>
          <a:ln w="12700">
            <a:solidFill>
              <a:srgbClr val="1E2A38"/>
            </a:solidFill>
            <a:prstDash val="solid"/>
          </a:ln>
        </p:spPr>
      </p:sp>
      <p:sp>
        <p:nvSpPr>
          <p:cNvPr id="7" name="Text 4"/>
          <p:cNvSpPr txBox="1"/>
          <p:nvPr/>
        </p:nvSpPr>
        <p:spPr>
          <a:xfrm>
            <a:off x="548640" y="3246120"/>
            <a:ext cx="5120640" cy="146304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request 2</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:method GET  :path /b.js</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[index 62]   ← user-agent</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[index 63]   ← cookie</a:t>
            </a:r>
            <a:endParaRPr lang="en-US" sz="1200" dirty="0"/>
          </a:p>
        </p:txBody>
      </p:sp>
      <p:sp>
        <p:nvSpPr>
          <p:cNvPr id="8" name="Shape 5"/>
          <p:cNvSpPr/>
          <p:nvPr/>
        </p:nvSpPr>
        <p:spPr>
          <a:xfrm>
            <a:off x="3108960" y="2788920"/>
            <a:ext cx="914" cy="457200"/>
          </a:xfrm>
          <a:prstGeom prst="line">
            <a:avLst/>
          </a:prstGeom>
          <a:noFill/>
          <a:ln w="25400">
            <a:solidFill>
              <a:srgbClr val="B9772A"/>
            </a:solidFill>
            <a:prstDash val="solid"/>
            <a:tailEnd type="triangle"/>
          </a:ln>
        </p:spPr>
      </p:sp>
      <p:sp>
        <p:nvSpPr>
          <p:cNvPr id="9" name="box"/>
          <p:cNvSpPr/>
          <p:nvPr/>
        </p:nvSpPr>
        <p:spPr>
          <a:xfrm>
            <a:off x="6400800" y="1325880"/>
            <a:ext cx="5212080" cy="2377440"/>
          </a:xfrm>
          <a:prstGeom prst="roundRect">
            <a:avLst>
              <a:gd name="adj" fmla="val 3077"/>
            </a:avLst>
          </a:prstGeom>
          <a:solidFill>
            <a:srgbClr val="F3EAD7"/>
          </a:solidFill>
          <a:ln w="12700">
            <a:solidFill>
              <a:srgbClr val="F3EAD7"/>
            </a:solidFill>
            <a:prstDash val="solid"/>
          </a:ln>
        </p:spPr>
      </p:sp>
      <p:sp>
        <p:nvSpPr>
          <p:cNvPr id="10" name="Text 7"/>
          <p:cNvSpPr txBox="1"/>
          <p:nvPr/>
        </p:nvSpPr>
        <p:spPr>
          <a:xfrm>
            <a:off x="6400800" y="1325880"/>
            <a:ext cx="5212080" cy="2377440"/>
          </a:xfrm>
          <a:prstGeom prst="rect">
            <a:avLst/>
          </a:prstGeom>
          <a:noFill/>
          <a:ln/>
        </p:spPr>
        <p:txBody>
          <a:bodyPr wrap="square" lIns="635" tIns="635" rIns="635" bIns="635" rtlCol="0" anchor="ctr"/>
          <a:lstStyle/>
          <a:p>
            <a:pPr algn="ctr" indent="0" marL="0">
              <a:spcAft>
                <a:spcPts val="400"/>
              </a:spcAft>
              <a:buNone/>
            </a:pPr>
            <a:r>
              <a:rPr lang="en-US" sz="1300" b="1" dirty="0">
                <a:solidFill>
                  <a:srgbClr val="1B2430"/>
                </a:solidFill>
              </a:rPr>
              <a:t>dynamic table</a:t>
            </a:r>
            <a:r>
              <a:rPr lang="en-US" sz="1300" dirty="0">
                <a:solidFill>
                  <a:srgbClr val="1B2430"/>
                </a:solidFill>
              </a:rPr>
              <a:t> (both ends)</a:t>
            </a:r>
            <a:endParaRPr lang="en-US" sz="1300" dirty="0"/>
          </a:p>
          <a:p>
            <a:pPr algn="ctr" indent="0" marL="0">
              <a:spcAft>
                <a:spcPts val="400"/>
              </a:spcAft>
              <a:buNone/>
            </a:pPr>
            <a:r>
              <a:rPr lang="en-US" sz="1300" dirty="0">
                <a:solidFill>
                  <a:srgbClr val="1B2430"/>
                </a:solidFill>
              </a:rPr>
              <a:t>62 · user-agent: Mozilla/5.0 …</a:t>
            </a:r>
            <a:endParaRPr lang="en-US" sz="1300" dirty="0"/>
          </a:p>
          <a:p>
            <a:pPr algn="ctr" indent="0" marL="0">
              <a:spcAft>
                <a:spcPts val="400"/>
              </a:spcAft>
              <a:buNone/>
            </a:pPr>
            <a:r>
              <a:rPr lang="en-US" sz="1300" dirty="0">
                <a:solidFill>
                  <a:srgbClr val="1B2430"/>
                </a:solidFill>
              </a:rPr>
              <a:t>63 · cookie: session=7f3a9c…</a:t>
            </a:r>
            <a:endParaRPr lang="en-US" sz="1300" dirty="0"/>
          </a:p>
          <a:p>
            <a:pPr algn="ctr" indent="0" marL="0">
              <a:spcAft>
                <a:spcPts val="400"/>
              </a:spcAft>
              <a:buNone/>
            </a:pPr>
            <a:r>
              <a:rPr lang="en-US" sz="1300" dirty="0">
                <a:solidFill>
                  <a:srgbClr val="1B2430"/>
                </a:solidFill>
              </a:rPr>
              <a:t>+ a static table of 61 common fields</a:t>
            </a:r>
            <a:endParaRPr lang="en-US" sz="1300" dirty="0"/>
          </a:p>
        </p:txBody>
      </p:sp>
      <p:sp>
        <p:nvSpPr>
          <p:cNvPr id="11" name="Shape 8"/>
          <p:cNvSpPr/>
          <p:nvPr/>
        </p:nvSpPr>
        <p:spPr>
          <a:xfrm>
            <a:off x="6400800" y="3950208"/>
            <a:ext cx="384048" cy="384048"/>
          </a:xfrm>
          <a:prstGeom prst="ellipse">
            <a:avLst/>
          </a:prstGeom>
          <a:solidFill>
            <a:srgbClr val="B9772A"/>
          </a:solidFill>
          <a:ln w="12700">
            <a:solidFill>
              <a:srgbClr val="B9772A"/>
            </a:solidFill>
            <a:prstDash val="solid"/>
          </a:ln>
        </p:spPr>
      </p:sp>
      <p:sp>
        <p:nvSpPr>
          <p:cNvPr id="12" name="Text 9"/>
          <p:cNvSpPr txBox="1"/>
          <p:nvPr/>
        </p:nvSpPr>
        <p:spPr>
          <a:xfrm>
            <a:off x="6400800"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10"/>
          <p:cNvSpPr txBox="1"/>
          <p:nvPr/>
        </p:nvSpPr>
        <p:spPr>
          <a:xfrm>
            <a:off x="6903720" y="3931920"/>
            <a:ext cx="4709160" cy="13716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 few bytes replace hundreds: decisive on mobile links. HTTP/3 uses </a:t>
            </a:r>
            <a:r>
              <a:rPr lang="en-US" sz="1300" b="1" dirty="0">
                <a:solidFill>
                  <a:srgbClr val="1B2430"/>
                </a:solidFill>
              </a:rPr>
              <a:t>QPACK</a:t>
            </a:r>
            <a:r>
              <a:rPr lang="en-US" sz="1300" dirty="0">
                <a:solidFill>
                  <a:srgbClr val="1B2430"/>
                </a:solidFill>
              </a:rPr>
              <a:t>, the same idea for independent streams.</a:t>
            </a:r>
            <a:endParaRPr lang="en-US" sz="1300" dirty="0"/>
          </a:p>
        </p:txBody>
      </p:sp>
      <p:sp>
        <p:nvSpPr>
          <p:cNvPr id="1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5" name="Text 1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Header compression turns repeated header lines into table indexes.</a:t>
            </a:r>
            <a:endParaRPr lang="en-US" sz="1400" dirty="0"/>
          </a:p>
        </p:txBody>
      </p:sp>
      <p:sp>
        <p:nvSpPr>
          <p:cNvPr id="16" name="Text 13"/>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HPACK (header compression for HTTP/2) · QPACK (header compression for HTTP/3) · HTTP (HyperText Transfer Protocol) · X11 (X Window System, version 11)</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 One lost TCP segment stalls every HTTP/2 stream</a:t>
            </a:r>
            <a:endParaRPr lang="en-US" sz="3000" dirty="0"/>
          </a:p>
        </p:txBody>
      </p:sp>
      <p:sp>
        <p:nvSpPr>
          <p:cNvPr id="4" name="Text 1"/>
          <p:cNvSpPr txBox="1"/>
          <p:nvPr/>
        </p:nvSpPr>
        <p:spPr>
          <a:xfrm>
            <a:off x="548640" y="1280160"/>
            <a:ext cx="5486400" cy="320040"/>
          </a:xfrm>
          <a:prstGeom prst="rect">
            <a:avLst/>
          </a:prstGeom>
          <a:noFill/>
          <a:ln/>
        </p:spPr>
        <p:txBody>
          <a:bodyPr wrap="square" lIns="0" tIns="0" rIns="0" bIns="0" rtlCol="0" anchor="t"/>
          <a:lstStyle/>
          <a:p>
            <a:pPr algn="l" indent="0" marL="0">
              <a:spcAft>
                <a:spcPts val="400"/>
              </a:spcAft>
              <a:buNone/>
            </a:pPr>
            <a:r>
              <a:rPr lang="en-US" sz="1500" b="1" dirty="0">
                <a:solidFill>
                  <a:srgbClr val="1F3A5F"/>
                </a:solidFill>
              </a:rPr>
              <a:t>HTTP/2 over TCP</a:t>
            </a:r>
            <a:endParaRPr lang="en-US" sz="1500" dirty="0"/>
          </a:p>
        </p:txBody>
      </p:sp>
      <p:sp>
        <p:nvSpPr>
          <p:cNvPr id="5" name="box"/>
          <p:cNvSpPr/>
          <p:nvPr/>
        </p:nvSpPr>
        <p:spPr>
          <a:xfrm>
            <a:off x="548640" y="1737360"/>
            <a:ext cx="822960" cy="640080"/>
          </a:xfrm>
          <a:prstGeom prst="rect">
            <a:avLst/>
          </a:prstGeom>
          <a:solidFill>
            <a:srgbClr val="DDF0F2"/>
          </a:solidFill>
          <a:ln w="12700">
            <a:solidFill>
              <a:srgbClr val="DDF0F2"/>
            </a:solidFill>
            <a:prstDash val="solid"/>
          </a:ln>
        </p:spPr>
      </p:sp>
      <p:sp>
        <p:nvSpPr>
          <p:cNvPr id="6" name="Text 3"/>
          <p:cNvSpPr txBox="1"/>
          <p:nvPr/>
        </p:nvSpPr>
        <p:spPr>
          <a:xfrm>
            <a:off x="548640" y="1737360"/>
            <a:ext cx="82296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1: s1</a:t>
            </a:r>
            <a:endParaRPr lang="en-US" sz="1200" dirty="0"/>
          </a:p>
        </p:txBody>
      </p:sp>
      <p:sp>
        <p:nvSpPr>
          <p:cNvPr id="7" name="box"/>
          <p:cNvSpPr/>
          <p:nvPr/>
        </p:nvSpPr>
        <p:spPr>
          <a:xfrm>
            <a:off x="1463040" y="1737360"/>
            <a:ext cx="822960" cy="640080"/>
          </a:xfrm>
          <a:prstGeom prst="rect">
            <a:avLst/>
          </a:prstGeom>
          <a:solidFill>
            <a:srgbClr val="F2D6D6"/>
          </a:solidFill>
          <a:ln w="12700">
            <a:solidFill>
              <a:srgbClr val="A23B3B"/>
            </a:solidFill>
            <a:prstDash val="dash"/>
          </a:ln>
        </p:spPr>
      </p:sp>
      <p:sp>
        <p:nvSpPr>
          <p:cNvPr id="8" name="Text 5"/>
          <p:cNvSpPr txBox="1"/>
          <p:nvPr/>
        </p:nvSpPr>
        <p:spPr>
          <a:xfrm>
            <a:off x="1463040" y="1737360"/>
            <a:ext cx="82296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2: s3</a:t>
            </a:r>
            <a:endParaRPr lang="en-US" sz="1200" dirty="0"/>
          </a:p>
        </p:txBody>
      </p:sp>
      <p:sp>
        <p:nvSpPr>
          <p:cNvPr id="9" name="box"/>
          <p:cNvSpPr/>
          <p:nvPr/>
        </p:nvSpPr>
        <p:spPr>
          <a:xfrm>
            <a:off x="2377440" y="1737360"/>
            <a:ext cx="822960" cy="640080"/>
          </a:xfrm>
          <a:prstGeom prst="rect">
            <a:avLst/>
          </a:prstGeom>
          <a:solidFill>
            <a:srgbClr val="DDF0F2"/>
          </a:solidFill>
          <a:ln w="12700">
            <a:solidFill>
              <a:srgbClr val="DDF0F2"/>
            </a:solidFill>
            <a:prstDash val="solid"/>
          </a:ln>
        </p:spPr>
      </p:sp>
      <p:sp>
        <p:nvSpPr>
          <p:cNvPr id="10" name="Text 7"/>
          <p:cNvSpPr txBox="1"/>
          <p:nvPr/>
        </p:nvSpPr>
        <p:spPr>
          <a:xfrm>
            <a:off x="2377440" y="1737360"/>
            <a:ext cx="82296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3: s1</a:t>
            </a:r>
            <a:endParaRPr lang="en-US" sz="1200" dirty="0"/>
          </a:p>
        </p:txBody>
      </p:sp>
      <p:sp>
        <p:nvSpPr>
          <p:cNvPr id="11" name="box"/>
          <p:cNvSpPr/>
          <p:nvPr/>
        </p:nvSpPr>
        <p:spPr>
          <a:xfrm>
            <a:off x="3291840" y="1737360"/>
            <a:ext cx="822960" cy="640080"/>
          </a:xfrm>
          <a:prstGeom prst="rect">
            <a:avLst/>
          </a:prstGeom>
          <a:solidFill>
            <a:srgbClr val="DDF0F2"/>
          </a:solidFill>
          <a:ln w="12700">
            <a:solidFill>
              <a:srgbClr val="DDF0F2"/>
            </a:solidFill>
            <a:prstDash val="solid"/>
          </a:ln>
        </p:spPr>
      </p:sp>
      <p:sp>
        <p:nvSpPr>
          <p:cNvPr id="12" name="Text 9"/>
          <p:cNvSpPr txBox="1"/>
          <p:nvPr/>
        </p:nvSpPr>
        <p:spPr>
          <a:xfrm>
            <a:off x="3291840" y="1737360"/>
            <a:ext cx="82296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4: s5</a:t>
            </a:r>
            <a:endParaRPr lang="en-US" sz="1200" dirty="0"/>
          </a:p>
        </p:txBody>
      </p:sp>
      <p:sp>
        <p:nvSpPr>
          <p:cNvPr id="13" name="box"/>
          <p:cNvSpPr/>
          <p:nvPr/>
        </p:nvSpPr>
        <p:spPr>
          <a:xfrm>
            <a:off x="4206240" y="1737360"/>
            <a:ext cx="822960" cy="640080"/>
          </a:xfrm>
          <a:prstGeom prst="rect">
            <a:avLst/>
          </a:prstGeom>
          <a:solidFill>
            <a:srgbClr val="DDF0F2"/>
          </a:solidFill>
          <a:ln w="12700">
            <a:solidFill>
              <a:srgbClr val="DDF0F2"/>
            </a:solidFill>
            <a:prstDash val="solid"/>
          </a:ln>
        </p:spPr>
      </p:sp>
      <p:sp>
        <p:nvSpPr>
          <p:cNvPr id="14" name="Text 11"/>
          <p:cNvSpPr txBox="1"/>
          <p:nvPr/>
        </p:nvSpPr>
        <p:spPr>
          <a:xfrm>
            <a:off x="4206240" y="1737360"/>
            <a:ext cx="82296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5: s3</a:t>
            </a:r>
            <a:endParaRPr lang="en-US" sz="1200" dirty="0"/>
          </a:p>
        </p:txBody>
      </p:sp>
      <p:sp>
        <p:nvSpPr>
          <p:cNvPr id="15" name="box"/>
          <p:cNvSpPr/>
          <p:nvPr/>
        </p:nvSpPr>
        <p:spPr>
          <a:xfrm>
            <a:off x="5120640" y="1737360"/>
            <a:ext cx="822960" cy="640080"/>
          </a:xfrm>
          <a:prstGeom prst="rect">
            <a:avLst/>
          </a:prstGeom>
          <a:solidFill>
            <a:srgbClr val="DDF0F2"/>
          </a:solidFill>
          <a:ln w="12700">
            <a:solidFill>
              <a:srgbClr val="DDF0F2"/>
            </a:solidFill>
            <a:prstDash val="solid"/>
          </a:ln>
        </p:spPr>
      </p:sp>
      <p:sp>
        <p:nvSpPr>
          <p:cNvPr id="16" name="Text 13"/>
          <p:cNvSpPr txBox="1"/>
          <p:nvPr/>
        </p:nvSpPr>
        <p:spPr>
          <a:xfrm>
            <a:off x="5120640" y="1737360"/>
            <a:ext cx="82296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6: s1</a:t>
            </a:r>
            <a:endParaRPr lang="en-US" sz="1200" dirty="0"/>
          </a:p>
        </p:txBody>
      </p:sp>
      <p:sp>
        <p:nvSpPr>
          <p:cNvPr id="17" name="Text 14"/>
          <p:cNvSpPr txBox="1"/>
          <p:nvPr/>
        </p:nvSpPr>
        <p:spPr>
          <a:xfrm>
            <a:off x="548640" y="2468880"/>
            <a:ext cx="5486400" cy="548640"/>
          </a:xfrm>
          <a:prstGeom prst="rect">
            <a:avLst/>
          </a:prstGeom>
          <a:noFill/>
          <a:ln/>
        </p:spPr>
        <p:txBody>
          <a:bodyPr wrap="square" lIns="0" tIns="0" rIns="0" bIns="0" rtlCol="0" anchor="t"/>
          <a:lstStyle/>
          <a:p>
            <a:pPr algn="l" indent="0" marL="0">
              <a:spcAft>
                <a:spcPts val="400"/>
              </a:spcAft>
              <a:buNone/>
            </a:pPr>
            <a:r>
              <a:rPr lang="en-US" sz="1200" dirty="0">
                <a:solidFill>
                  <a:srgbClr val="A23B3B"/>
                </a:solidFill>
              </a:rPr>
              <a:t>segment 2 lost → 3, 4, 5, 6 wait, although only stream 3 lost data</a:t>
            </a:r>
            <a:endParaRPr lang="en-US" sz="1200" dirty="0"/>
          </a:p>
        </p:txBody>
      </p:sp>
      <p:sp>
        <p:nvSpPr>
          <p:cNvPr id="18" name="Text 15"/>
          <p:cNvSpPr txBox="1"/>
          <p:nvPr/>
        </p:nvSpPr>
        <p:spPr>
          <a:xfrm>
            <a:off x="6309360" y="1280160"/>
            <a:ext cx="5486400" cy="320040"/>
          </a:xfrm>
          <a:prstGeom prst="rect">
            <a:avLst/>
          </a:prstGeom>
          <a:noFill/>
          <a:ln/>
        </p:spPr>
        <p:txBody>
          <a:bodyPr wrap="square" lIns="0" tIns="0" rIns="0" bIns="0" rtlCol="0" anchor="t"/>
          <a:lstStyle/>
          <a:p>
            <a:pPr algn="l" indent="0" marL="0">
              <a:spcAft>
                <a:spcPts val="400"/>
              </a:spcAft>
              <a:buNone/>
            </a:pPr>
            <a:r>
              <a:rPr lang="en-US" sz="1500" b="1" dirty="0">
                <a:solidFill>
                  <a:srgbClr val="1F3A5F"/>
                </a:solidFill>
              </a:rPr>
              <a:t>HTTP/3 over QUIC</a:t>
            </a:r>
            <a:endParaRPr lang="en-US" sz="1500" dirty="0"/>
          </a:p>
        </p:txBody>
      </p:sp>
      <p:sp>
        <p:nvSpPr>
          <p:cNvPr id="19" name="box"/>
          <p:cNvSpPr/>
          <p:nvPr/>
        </p:nvSpPr>
        <p:spPr>
          <a:xfrm>
            <a:off x="6309360" y="1737360"/>
            <a:ext cx="822960" cy="640080"/>
          </a:xfrm>
          <a:prstGeom prst="rect">
            <a:avLst/>
          </a:prstGeom>
          <a:solidFill>
            <a:srgbClr val="D7EBDD"/>
          </a:solidFill>
          <a:ln w="12700">
            <a:solidFill>
              <a:srgbClr val="D7EBDD"/>
            </a:solidFill>
            <a:prstDash val="solid"/>
          </a:ln>
        </p:spPr>
      </p:sp>
      <p:sp>
        <p:nvSpPr>
          <p:cNvPr id="20" name="Text 17"/>
          <p:cNvSpPr txBox="1"/>
          <p:nvPr/>
        </p:nvSpPr>
        <p:spPr>
          <a:xfrm>
            <a:off x="6309360" y="1737360"/>
            <a:ext cx="82296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1: s1</a:t>
            </a:r>
            <a:endParaRPr lang="en-US" sz="1200" dirty="0"/>
          </a:p>
        </p:txBody>
      </p:sp>
      <p:sp>
        <p:nvSpPr>
          <p:cNvPr id="21" name="box"/>
          <p:cNvSpPr/>
          <p:nvPr/>
        </p:nvSpPr>
        <p:spPr>
          <a:xfrm>
            <a:off x="7223760" y="1737360"/>
            <a:ext cx="822960" cy="640080"/>
          </a:xfrm>
          <a:prstGeom prst="rect">
            <a:avLst/>
          </a:prstGeom>
          <a:solidFill>
            <a:srgbClr val="F2D6D6"/>
          </a:solidFill>
          <a:ln w="12700">
            <a:solidFill>
              <a:srgbClr val="A23B3B"/>
            </a:solidFill>
            <a:prstDash val="dash"/>
          </a:ln>
        </p:spPr>
      </p:sp>
      <p:sp>
        <p:nvSpPr>
          <p:cNvPr id="22" name="Text 19"/>
          <p:cNvSpPr txBox="1"/>
          <p:nvPr/>
        </p:nvSpPr>
        <p:spPr>
          <a:xfrm>
            <a:off x="7223760" y="1737360"/>
            <a:ext cx="82296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2: s3</a:t>
            </a:r>
            <a:endParaRPr lang="en-US" sz="1200" dirty="0"/>
          </a:p>
        </p:txBody>
      </p:sp>
      <p:sp>
        <p:nvSpPr>
          <p:cNvPr id="23" name="box"/>
          <p:cNvSpPr/>
          <p:nvPr/>
        </p:nvSpPr>
        <p:spPr>
          <a:xfrm>
            <a:off x="8138160" y="1737360"/>
            <a:ext cx="822960" cy="640080"/>
          </a:xfrm>
          <a:prstGeom prst="rect">
            <a:avLst/>
          </a:prstGeom>
          <a:solidFill>
            <a:srgbClr val="D7EBDD"/>
          </a:solidFill>
          <a:ln w="12700">
            <a:solidFill>
              <a:srgbClr val="D7EBDD"/>
            </a:solidFill>
            <a:prstDash val="solid"/>
          </a:ln>
        </p:spPr>
      </p:sp>
      <p:sp>
        <p:nvSpPr>
          <p:cNvPr id="24" name="Text 21"/>
          <p:cNvSpPr txBox="1"/>
          <p:nvPr/>
        </p:nvSpPr>
        <p:spPr>
          <a:xfrm>
            <a:off x="8138160" y="1737360"/>
            <a:ext cx="82296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3: s1</a:t>
            </a:r>
            <a:endParaRPr lang="en-US" sz="1200" dirty="0"/>
          </a:p>
        </p:txBody>
      </p:sp>
      <p:sp>
        <p:nvSpPr>
          <p:cNvPr id="25" name="box"/>
          <p:cNvSpPr/>
          <p:nvPr/>
        </p:nvSpPr>
        <p:spPr>
          <a:xfrm>
            <a:off x="9052560" y="1737360"/>
            <a:ext cx="822960" cy="640080"/>
          </a:xfrm>
          <a:prstGeom prst="rect">
            <a:avLst/>
          </a:prstGeom>
          <a:solidFill>
            <a:srgbClr val="D7EBDD"/>
          </a:solidFill>
          <a:ln w="12700">
            <a:solidFill>
              <a:srgbClr val="D7EBDD"/>
            </a:solidFill>
            <a:prstDash val="solid"/>
          </a:ln>
        </p:spPr>
      </p:sp>
      <p:sp>
        <p:nvSpPr>
          <p:cNvPr id="26" name="Text 23"/>
          <p:cNvSpPr txBox="1"/>
          <p:nvPr/>
        </p:nvSpPr>
        <p:spPr>
          <a:xfrm>
            <a:off x="9052560" y="1737360"/>
            <a:ext cx="82296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4: s5</a:t>
            </a:r>
            <a:endParaRPr lang="en-US" sz="1200" dirty="0"/>
          </a:p>
        </p:txBody>
      </p:sp>
      <p:sp>
        <p:nvSpPr>
          <p:cNvPr id="27" name="box"/>
          <p:cNvSpPr/>
          <p:nvPr/>
        </p:nvSpPr>
        <p:spPr>
          <a:xfrm>
            <a:off x="9966960" y="1737360"/>
            <a:ext cx="822960" cy="640080"/>
          </a:xfrm>
          <a:prstGeom prst="rect">
            <a:avLst/>
          </a:prstGeom>
          <a:solidFill>
            <a:srgbClr val="F3EAD7"/>
          </a:solidFill>
          <a:ln w="12700">
            <a:solidFill>
              <a:srgbClr val="F3EAD7"/>
            </a:solidFill>
            <a:prstDash val="solid"/>
          </a:ln>
        </p:spPr>
      </p:sp>
      <p:sp>
        <p:nvSpPr>
          <p:cNvPr id="28" name="Text 25"/>
          <p:cNvSpPr txBox="1"/>
          <p:nvPr/>
        </p:nvSpPr>
        <p:spPr>
          <a:xfrm>
            <a:off x="9966960" y="1737360"/>
            <a:ext cx="82296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5: s3</a:t>
            </a:r>
            <a:endParaRPr lang="en-US" sz="1200" dirty="0"/>
          </a:p>
        </p:txBody>
      </p:sp>
      <p:sp>
        <p:nvSpPr>
          <p:cNvPr id="29" name="box"/>
          <p:cNvSpPr/>
          <p:nvPr/>
        </p:nvSpPr>
        <p:spPr>
          <a:xfrm>
            <a:off x="10881360" y="1737360"/>
            <a:ext cx="822960" cy="640080"/>
          </a:xfrm>
          <a:prstGeom prst="rect">
            <a:avLst/>
          </a:prstGeom>
          <a:solidFill>
            <a:srgbClr val="D7EBDD"/>
          </a:solidFill>
          <a:ln w="12700">
            <a:solidFill>
              <a:srgbClr val="D7EBDD"/>
            </a:solidFill>
            <a:prstDash val="solid"/>
          </a:ln>
        </p:spPr>
      </p:sp>
      <p:sp>
        <p:nvSpPr>
          <p:cNvPr id="30" name="Text 27"/>
          <p:cNvSpPr txBox="1"/>
          <p:nvPr/>
        </p:nvSpPr>
        <p:spPr>
          <a:xfrm>
            <a:off x="10881360" y="1737360"/>
            <a:ext cx="82296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6: s1</a:t>
            </a:r>
            <a:endParaRPr lang="en-US" sz="1200" dirty="0"/>
          </a:p>
        </p:txBody>
      </p:sp>
      <p:sp>
        <p:nvSpPr>
          <p:cNvPr id="31" name="Text 28"/>
          <p:cNvSpPr txBox="1"/>
          <p:nvPr/>
        </p:nvSpPr>
        <p:spPr>
          <a:xfrm>
            <a:off x="6309360" y="2468880"/>
            <a:ext cx="5303520" cy="548640"/>
          </a:xfrm>
          <a:prstGeom prst="rect">
            <a:avLst/>
          </a:prstGeom>
          <a:noFill/>
          <a:ln/>
        </p:spPr>
        <p:txBody>
          <a:bodyPr wrap="square" lIns="0" tIns="0" rIns="0" bIns="0" rtlCol="0" anchor="t"/>
          <a:lstStyle/>
          <a:p>
            <a:pPr algn="l" indent="0" marL="0">
              <a:spcAft>
                <a:spcPts val="400"/>
              </a:spcAft>
              <a:buNone/>
            </a:pPr>
            <a:r>
              <a:rPr lang="en-US" sz="1200" dirty="0">
                <a:solidFill>
                  <a:srgbClr val="2E7D4F"/>
                </a:solidFill>
              </a:rPr>
              <a:t>only stream 3 waits; streams 1 and 5 are delivered at once</a:t>
            </a:r>
            <a:endParaRPr lang="en-US" sz="1200" dirty="0"/>
          </a:p>
        </p:txBody>
      </p:sp>
      <p:sp>
        <p:nvSpPr>
          <p:cNvPr id="32" name="box"/>
          <p:cNvSpPr/>
          <p:nvPr/>
        </p:nvSpPr>
        <p:spPr>
          <a:xfrm>
            <a:off x="1463040" y="3200400"/>
            <a:ext cx="3291840" cy="502920"/>
          </a:xfrm>
          <a:prstGeom prst="roundRect">
            <a:avLst>
              <a:gd name="adj" fmla="val 14545"/>
            </a:avLst>
          </a:prstGeom>
          <a:solidFill>
            <a:srgbClr val="2A7F8E"/>
          </a:solidFill>
          <a:ln w="12700">
            <a:solidFill>
              <a:srgbClr val="2A7F8E"/>
            </a:solidFill>
            <a:prstDash val="solid"/>
          </a:ln>
        </p:spPr>
      </p:sp>
      <p:sp>
        <p:nvSpPr>
          <p:cNvPr id="33" name="Text 30"/>
          <p:cNvSpPr txBox="1"/>
          <p:nvPr/>
        </p:nvSpPr>
        <p:spPr>
          <a:xfrm>
            <a:off x="1463040" y="3200400"/>
            <a:ext cx="3291840" cy="502920"/>
          </a:xfrm>
          <a:prstGeom prst="rect">
            <a:avLst/>
          </a:prstGeom>
          <a:noFill/>
          <a:ln/>
        </p:spPr>
        <p:txBody>
          <a:bodyPr wrap="square" lIns="635" tIns="635" rIns="635" bIns="635" rtlCol="0" anchor="ctr"/>
          <a:lstStyle/>
          <a:p>
            <a:pPr algn="ctr" indent="0" marL="0">
              <a:buNone/>
            </a:pPr>
            <a:r>
              <a:rPr lang="en-US" sz="1300" b="1" dirty="0">
                <a:solidFill>
                  <a:srgbClr val="FFFFFF"/>
                </a:solidFill>
              </a:rPr>
              <a:t>HTTP/2</a:t>
            </a:r>
            <a:endParaRPr lang="en-US" sz="1300" dirty="0"/>
          </a:p>
        </p:txBody>
      </p:sp>
      <p:sp>
        <p:nvSpPr>
          <p:cNvPr id="34" name="box"/>
          <p:cNvSpPr/>
          <p:nvPr/>
        </p:nvSpPr>
        <p:spPr>
          <a:xfrm>
            <a:off x="1463040" y="3767328"/>
            <a:ext cx="3291840" cy="502920"/>
          </a:xfrm>
          <a:prstGeom prst="roundRect">
            <a:avLst>
              <a:gd name="adj" fmla="val 14545"/>
            </a:avLst>
          </a:prstGeom>
          <a:solidFill>
            <a:srgbClr val="B9772A"/>
          </a:solidFill>
          <a:ln w="12700">
            <a:solidFill>
              <a:srgbClr val="B9772A"/>
            </a:solidFill>
            <a:prstDash val="solid"/>
          </a:ln>
        </p:spPr>
      </p:sp>
      <p:sp>
        <p:nvSpPr>
          <p:cNvPr id="35" name="Text 32"/>
          <p:cNvSpPr txBox="1"/>
          <p:nvPr/>
        </p:nvSpPr>
        <p:spPr>
          <a:xfrm>
            <a:off x="1463040" y="3767328"/>
            <a:ext cx="3291840" cy="502920"/>
          </a:xfrm>
          <a:prstGeom prst="rect">
            <a:avLst/>
          </a:prstGeom>
          <a:noFill/>
          <a:ln/>
        </p:spPr>
        <p:txBody>
          <a:bodyPr wrap="square" lIns="635" tIns="635" rIns="635" bIns="635" rtlCol="0" anchor="ctr"/>
          <a:lstStyle/>
          <a:p>
            <a:pPr algn="ctr" indent="0" marL="0">
              <a:buNone/>
            </a:pPr>
            <a:r>
              <a:rPr lang="en-US" sz="1300" b="1" dirty="0">
                <a:solidFill>
                  <a:srgbClr val="FFFFFF"/>
                </a:solidFill>
              </a:rPr>
              <a:t>TLS</a:t>
            </a:r>
            <a:endParaRPr lang="en-US" sz="1300" dirty="0"/>
          </a:p>
        </p:txBody>
      </p:sp>
      <p:sp>
        <p:nvSpPr>
          <p:cNvPr id="36" name="box"/>
          <p:cNvSpPr/>
          <p:nvPr/>
        </p:nvSpPr>
        <p:spPr>
          <a:xfrm>
            <a:off x="1463040" y="4334256"/>
            <a:ext cx="3291840" cy="502920"/>
          </a:xfrm>
          <a:prstGeom prst="roundRect">
            <a:avLst>
              <a:gd name="adj" fmla="val 14545"/>
            </a:avLst>
          </a:prstGeom>
          <a:solidFill>
            <a:srgbClr val="EEF2F6"/>
          </a:solidFill>
          <a:ln w="12700">
            <a:solidFill>
              <a:srgbClr val="EEF2F6"/>
            </a:solidFill>
            <a:prstDash val="solid"/>
          </a:ln>
        </p:spPr>
      </p:sp>
      <p:sp>
        <p:nvSpPr>
          <p:cNvPr id="37" name="Text 34"/>
          <p:cNvSpPr txBox="1"/>
          <p:nvPr/>
        </p:nvSpPr>
        <p:spPr>
          <a:xfrm>
            <a:off x="1463040" y="4334256"/>
            <a:ext cx="3291840" cy="502920"/>
          </a:xfrm>
          <a:prstGeom prst="rect">
            <a:avLst/>
          </a:prstGeom>
          <a:noFill/>
          <a:ln/>
        </p:spPr>
        <p:txBody>
          <a:bodyPr wrap="square" lIns="635" tIns="635" rIns="635" bIns="635" rtlCol="0" anchor="ctr"/>
          <a:lstStyle/>
          <a:p>
            <a:pPr algn="ctr" indent="0" marL="0">
              <a:buNone/>
            </a:pPr>
            <a:r>
              <a:rPr lang="en-US" sz="1300" b="1" dirty="0">
                <a:solidFill>
                  <a:srgbClr val="1B2430"/>
                </a:solidFill>
              </a:rPr>
              <a:t>TCP</a:t>
            </a:r>
            <a:endParaRPr lang="en-US" sz="1300" dirty="0"/>
          </a:p>
        </p:txBody>
      </p:sp>
      <p:sp>
        <p:nvSpPr>
          <p:cNvPr id="38" name="box"/>
          <p:cNvSpPr/>
          <p:nvPr/>
        </p:nvSpPr>
        <p:spPr>
          <a:xfrm>
            <a:off x="1463040" y="4901184"/>
            <a:ext cx="3291840" cy="502920"/>
          </a:xfrm>
          <a:prstGeom prst="roundRect">
            <a:avLst>
              <a:gd name="adj" fmla="val 14545"/>
            </a:avLst>
          </a:prstGeom>
          <a:solidFill>
            <a:srgbClr val="EEF2F6"/>
          </a:solidFill>
          <a:ln w="12700">
            <a:solidFill>
              <a:srgbClr val="EEF2F6"/>
            </a:solidFill>
            <a:prstDash val="solid"/>
          </a:ln>
        </p:spPr>
      </p:sp>
      <p:sp>
        <p:nvSpPr>
          <p:cNvPr id="39" name="Text 36"/>
          <p:cNvSpPr txBox="1"/>
          <p:nvPr/>
        </p:nvSpPr>
        <p:spPr>
          <a:xfrm>
            <a:off x="1463040" y="4901184"/>
            <a:ext cx="3291840" cy="502920"/>
          </a:xfrm>
          <a:prstGeom prst="rect">
            <a:avLst/>
          </a:prstGeom>
          <a:noFill/>
          <a:ln/>
        </p:spPr>
        <p:txBody>
          <a:bodyPr wrap="square" lIns="635" tIns="635" rIns="635" bIns="635" rtlCol="0" anchor="ctr"/>
          <a:lstStyle/>
          <a:p>
            <a:pPr algn="ctr" indent="0" marL="0">
              <a:buNone/>
            </a:pPr>
            <a:r>
              <a:rPr lang="en-US" sz="1300" b="1" dirty="0">
                <a:solidFill>
                  <a:srgbClr val="1B2430"/>
                </a:solidFill>
              </a:rPr>
              <a:t>IP</a:t>
            </a:r>
            <a:endParaRPr lang="en-US" sz="1300" dirty="0"/>
          </a:p>
        </p:txBody>
      </p:sp>
      <p:sp>
        <p:nvSpPr>
          <p:cNvPr id="40" name="box"/>
          <p:cNvSpPr/>
          <p:nvPr/>
        </p:nvSpPr>
        <p:spPr>
          <a:xfrm>
            <a:off x="7223760" y="3200400"/>
            <a:ext cx="3291840" cy="502920"/>
          </a:xfrm>
          <a:prstGeom prst="roundRect">
            <a:avLst>
              <a:gd name="adj" fmla="val 14545"/>
            </a:avLst>
          </a:prstGeom>
          <a:solidFill>
            <a:srgbClr val="2A7F8E"/>
          </a:solidFill>
          <a:ln w="12700">
            <a:solidFill>
              <a:srgbClr val="2A7F8E"/>
            </a:solidFill>
            <a:prstDash val="solid"/>
          </a:ln>
        </p:spPr>
      </p:sp>
      <p:sp>
        <p:nvSpPr>
          <p:cNvPr id="41" name="Text 38"/>
          <p:cNvSpPr txBox="1"/>
          <p:nvPr/>
        </p:nvSpPr>
        <p:spPr>
          <a:xfrm>
            <a:off x="7223760" y="3200400"/>
            <a:ext cx="3291840" cy="502920"/>
          </a:xfrm>
          <a:prstGeom prst="rect">
            <a:avLst/>
          </a:prstGeom>
          <a:noFill/>
          <a:ln/>
        </p:spPr>
        <p:txBody>
          <a:bodyPr wrap="square" lIns="635" tIns="635" rIns="635" bIns="635" rtlCol="0" anchor="ctr"/>
          <a:lstStyle/>
          <a:p>
            <a:pPr algn="ctr" indent="0" marL="0">
              <a:buNone/>
            </a:pPr>
            <a:r>
              <a:rPr lang="en-US" sz="1300" b="1" dirty="0">
                <a:solidFill>
                  <a:srgbClr val="FFFFFF"/>
                </a:solidFill>
              </a:rPr>
              <a:t>HTTP/3</a:t>
            </a:r>
            <a:endParaRPr lang="en-US" sz="1300" dirty="0"/>
          </a:p>
        </p:txBody>
      </p:sp>
      <p:sp>
        <p:nvSpPr>
          <p:cNvPr id="42" name="box"/>
          <p:cNvSpPr/>
          <p:nvPr/>
        </p:nvSpPr>
        <p:spPr>
          <a:xfrm>
            <a:off x="7223760" y="3767328"/>
            <a:ext cx="3291840" cy="502920"/>
          </a:xfrm>
          <a:prstGeom prst="roundRect">
            <a:avLst>
              <a:gd name="adj" fmla="val 14545"/>
            </a:avLst>
          </a:prstGeom>
          <a:solidFill>
            <a:srgbClr val="B9772A"/>
          </a:solidFill>
          <a:ln w="12700">
            <a:solidFill>
              <a:srgbClr val="B9772A"/>
            </a:solidFill>
            <a:prstDash val="solid"/>
          </a:ln>
        </p:spPr>
      </p:sp>
      <p:sp>
        <p:nvSpPr>
          <p:cNvPr id="43" name="Text 40"/>
          <p:cNvSpPr txBox="1"/>
          <p:nvPr/>
        </p:nvSpPr>
        <p:spPr>
          <a:xfrm>
            <a:off x="7223760" y="3767328"/>
            <a:ext cx="3291840" cy="502920"/>
          </a:xfrm>
          <a:prstGeom prst="rect">
            <a:avLst/>
          </a:prstGeom>
          <a:noFill/>
          <a:ln/>
        </p:spPr>
        <p:txBody>
          <a:bodyPr wrap="square" lIns="635" tIns="635" rIns="635" bIns="635" rtlCol="0" anchor="ctr"/>
          <a:lstStyle/>
          <a:p>
            <a:pPr algn="ctr" indent="0" marL="0">
              <a:buNone/>
            </a:pPr>
            <a:r>
              <a:rPr lang="en-US" sz="1300" b="1" dirty="0">
                <a:solidFill>
                  <a:srgbClr val="FFFFFF"/>
                </a:solidFill>
              </a:rPr>
              <a:t>QUIC (TLS 1.3 inside)</a:t>
            </a:r>
            <a:endParaRPr lang="en-US" sz="1300" dirty="0"/>
          </a:p>
        </p:txBody>
      </p:sp>
      <p:sp>
        <p:nvSpPr>
          <p:cNvPr id="44" name="box"/>
          <p:cNvSpPr/>
          <p:nvPr/>
        </p:nvSpPr>
        <p:spPr>
          <a:xfrm>
            <a:off x="7223760" y="4334256"/>
            <a:ext cx="3291840" cy="502920"/>
          </a:xfrm>
          <a:prstGeom prst="roundRect">
            <a:avLst>
              <a:gd name="adj" fmla="val 14545"/>
            </a:avLst>
          </a:prstGeom>
          <a:solidFill>
            <a:srgbClr val="EEF2F6"/>
          </a:solidFill>
          <a:ln w="12700">
            <a:solidFill>
              <a:srgbClr val="EEF2F6"/>
            </a:solidFill>
            <a:prstDash val="solid"/>
          </a:ln>
        </p:spPr>
      </p:sp>
      <p:sp>
        <p:nvSpPr>
          <p:cNvPr id="45" name="Text 42"/>
          <p:cNvSpPr txBox="1"/>
          <p:nvPr/>
        </p:nvSpPr>
        <p:spPr>
          <a:xfrm>
            <a:off x="7223760" y="4334256"/>
            <a:ext cx="3291840" cy="502920"/>
          </a:xfrm>
          <a:prstGeom prst="rect">
            <a:avLst/>
          </a:prstGeom>
          <a:noFill/>
          <a:ln/>
        </p:spPr>
        <p:txBody>
          <a:bodyPr wrap="square" lIns="635" tIns="635" rIns="635" bIns="635" rtlCol="0" anchor="ctr"/>
          <a:lstStyle/>
          <a:p>
            <a:pPr algn="ctr" indent="0" marL="0">
              <a:buNone/>
            </a:pPr>
            <a:r>
              <a:rPr lang="en-US" sz="1300" b="1" dirty="0">
                <a:solidFill>
                  <a:srgbClr val="1B2430"/>
                </a:solidFill>
              </a:rPr>
              <a:t>UDP</a:t>
            </a:r>
            <a:endParaRPr lang="en-US" sz="1300" dirty="0"/>
          </a:p>
        </p:txBody>
      </p:sp>
      <p:sp>
        <p:nvSpPr>
          <p:cNvPr id="46" name="box"/>
          <p:cNvSpPr/>
          <p:nvPr/>
        </p:nvSpPr>
        <p:spPr>
          <a:xfrm>
            <a:off x="7223760" y="4901184"/>
            <a:ext cx="3291840" cy="502920"/>
          </a:xfrm>
          <a:prstGeom prst="roundRect">
            <a:avLst>
              <a:gd name="adj" fmla="val 14545"/>
            </a:avLst>
          </a:prstGeom>
          <a:solidFill>
            <a:srgbClr val="EEF2F6"/>
          </a:solidFill>
          <a:ln w="12700">
            <a:solidFill>
              <a:srgbClr val="EEF2F6"/>
            </a:solidFill>
            <a:prstDash val="solid"/>
          </a:ln>
        </p:spPr>
      </p:sp>
      <p:sp>
        <p:nvSpPr>
          <p:cNvPr id="47" name="Text 44"/>
          <p:cNvSpPr txBox="1"/>
          <p:nvPr/>
        </p:nvSpPr>
        <p:spPr>
          <a:xfrm>
            <a:off x="7223760" y="4901184"/>
            <a:ext cx="3291840" cy="502920"/>
          </a:xfrm>
          <a:prstGeom prst="rect">
            <a:avLst/>
          </a:prstGeom>
          <a:noFill/>
          <a:ln/>
        </p:spPr>
        <p:txBody>
          <a:bodyPr wrap="square" lIns="635" tIns="635" rIns="635" bIns="635" rtlCol="0" anchor="ctr"/>
          <a:lstStyle/>
          <a:p>
            <a:pPr algn="ctr" indent="0" marL="0">
              <a:buNone/>
            </a:pPr>
            <a:r>
              <a:rPr lang="en-US" sz="1300" b="1" dirty="0">
                <a:solidFill>
                  <a:srgbClr val="1B2430"/>
                </a:solidFill>
              </a:rPr>
              <a:t>IP</a:t>
            </a:r>
            <a:endParaRPr lang="en-US" sz="1300" dirty="0"/>
          </a:p>
        </p:txBody>
      </p:sp>
      <p:sp>
        <p:nvSpPr>
          <p:cNvPr id="4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49" name="Text 4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HTTP/2 removed head-of-line blocking at the HTTP level; HTTP/3 removes it at the transport level too.</a:t>
            </a:r>
            <a:endParaRPr lang="en-US" sz="1400" dirty="0"/>
          </a:p>
        </p:txBody>
      </p:sp>
      <p:sp>
        <p:nvSpPr>
          <p:cNvPr id="50" name="Text 47"/>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HTTP (HyperText Transfer Protocol) · QUIC (a transport protocol over UDP, User Datagram Protocol; first named Quick UDP Internet Connections) · TCP (Transmission Control Protocol) · UDP (User Datagram Protocol) · TLS (Transport Layer Security) · IP (Internet Protocol)</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 QUIC: faster setup, connections that move</a:t>
            </a:r>
            <a:endParaRPr lang="en-US" sz="3000" dirty="0"/>
          </a:p>
        </p:txBody>
      </p:sp>
      <p:sp>
        <p:nvSpPr>
          <p:cNvPr id="4" name="box"/>
          <p:cNvSpPr/>
          <p:nvPr/>
        </p:nvSpPr>
        <p:spPr>
          <a:xfrm>
            <a:off x="548640" y="1325880"/>
            <a:ext cx="5440680" cy="1143000"/>
          </a:xfrm>
          <a:prstGeom prst="roundRect">
            <a:avLst>
              <a:gd name="adj" fmla="val 6400"/>
            </a:avLst>
          </a:prstGeom>
          <a:solidFill>
            <a:srgbClr val="EEF2F6"/>
          </a:solidFill>
          <a:ln w="12700">
            <a:solidFill>
              <a:srgbClr val="EEF2F6"/>
            </a:solidFill>
            <a:prstDash val="solid"/>
          </a:ln>
        </p:spPr>
      </p:sp>
      <p:sp>
        <p:nvSpPr>
          <p:cNvPr id="5" name="Text 2"/>
          <p:cNvSpPr txBox="1"/>
          <p:nvPr/>
        </p:nvSpPr>
        <p:spPr>
          <a:xfrm>
            <a:off x="548640" y="1325880"/>
            <a:ext cx="5440680" cy="1143000"/>
          </a:xfrm>
          <a:prstGeom prst="rect">
            <a:avLst/>
          </a:prstGeom>
          <a:noFill/>
          <a:ln/>
        </p:spPr>
        <p:txBody>
          <a:bodyPr wrap="square" lIns="635" tIns="635" rIns="635" bIns="635" rtlCol="0" anchor="ctr"/>
          <a:lstStyle/>
          <a:p>
            <a:pPr algn="ctr" indent="0" marL="0">
              <a:spcAft>
                <a:spcPts val="400"/>
              </a:spcAft>
              <a:buNone/>
            </a:pPr>
            <a:r>
              <a:rPr lang="en-US" sz="1400" b="1" dirty="0">
                <a:solidFill>
                  <a:srgbClr val="1B2430"/>
                </a:solidFill>
              </a:rPr>
              <a:t>1-RTT setup</a:t>
            </a:r>
            <a:endParaRPr lang="en-US" sz="1400" dirty="0"/>
          </a:p>
          <a:p>
            <a:pPr algn="ctr" indent="0" marL="0">
              <a:spcAft>
                <a:spcPts val="400"/>
              </a:spcAft>
              <a:buNone/>
            </a:pPr>
            <a:r>
              <a:rPr lang="en-US" sz="1400" dirty="0">
                <a:solidFill>
                  <a:srgbClr val="1B2430"/>
                </a:solidFill>
              </a:rPr>
              <a:t>transport + security handshake in one round trip</a:t>
            </a:r>
            <a:endParaRPr lang="en-US" sz="1400" dirty="0"/>
          </a:p>
        </p:txBody>
      </p:sp>
      <p:sp>
        <p:nvSpPr>
          <p:cNvPr id="6" name="box"/>
          <p:cNvSpPr/>
          <p:nvPr/>
        </p:nvSpPr>
        <p:spPr>
          <a:xfrm>
            <a:off x="6172200" y="1325880"/>
            <a:ext cx="5440680" cy="1143000"/>
          </a:xfrm>
          <a:prstGeom prst="roundRect">
            <a:avLst>
              <a:gd name="adj" fmla="val 6400"/>
            </a:avLst>
          </a:prstGeom>
          <a:solidFill>
            <a:srgbClr val="EEF2F6"/>
          </a:solidFill>
          <a:ln w="12700">
            <a:solidFill>
              <a:srgbClr val="EEF2F6"/>
            </a:solidFill>
            <a:prstDash val="solid"/>
          </a:ln>
        </p:spPr>
      </p:sp>
      <p:sp>
        <p:nvSpPr>
          <p:cNvPr id="7" name="Text 4"/>
          <p:cNvSpPr txBox="1"/>
          <p:nvPr/>
        </p:nvSpPr>
        <p:spPr>
          <a:xfrm>
            <a:off x="6172200" y="1325880"/>
            <a:ext cx="5440680" cy="1143000"/>
          </a:xfrm>
          <a:prstGeom prst="rect">
            <a:avLst/>
          </a:prstGeom>
          <a:noFill/>
          <a:ln/>
        </p:spPr>
        <p:txBody>
          <a:bodyPr wrap="square" lIns="635" tIns="635" rIns="635" bIns="635" rtlCol="0" anchor="ctr"/>
          <a:lstStyle/>
          <a:p>
            <a:pPr algn="ctr" indent="0" marL="0">
              <a:spcAft>
                <a:spcPts val="400"/>
              </a:spcAft>
              <a:buNone/>
            </a:pPr>
            <a:r>
              <a:rPr lang="en-US" sz="1400" b="1" dirty="0">
                <a:solidFill>
                  <a:srgbClr val="1B2430"/>
                </a:solidFill>
              </a:rPr>
              <a:t>0-RTT resumption</a:t>
            </a:r>
            <a:endParaRPr lang="en-US" sz="1400" dirty="0"/>
          </a:p>
          <a:p>
            <a:pPr algn="ctr" indent="0" marL="0">
              <a:spcAft>
                <a:spcPts val="400"/>
              </a:spcAft>
              <a:buNone/>
            </a:pPr>
            <a:r>
              <a:rPr lang="en-US" sz="1400" dirty="0">
                <a:solidFill>
                  <a:srgbClr val="1B2430"/>
                </a:solidFill>
              </a:rPr>
              <a:t>a returning client sends its request in the first packet</a:t>
            </a:r>
            <a:endParaRPr lang="en-US" sz="1400" dirty="0"/>
          </a:p>
        </p:txBody>
      </p:sp>
      <p:sp>
        <p:nvSpPr>
          <p:cNvPr id="8" name="box"/>
          <p:cNvSpPr/>
          <p:nvPr/>
        </p:nvSpPr>
        <p:spPr>
          <a:xfrm>
            <a:off x="548640" y="2651760"/>
            <a:ext cx="5440680" cy="1143000"/>
          </a:xfrm>
          <a:prstGeom prst="roundRect">
            <a:avLst>
              <a:gd name="adj" fmla="val 6400"/>
            </a:avLst>
          </a:prstGeom>
          <a:solidFill>
            <a:srgbClr val="F3EAD7"/>
          </a:solidFill>
          <a:ln w="12700">
            <a:solidFill>
              <a:srgbClr val="F3EAD7"/>
            </a:solidFill>
            <a:prstDash val="solid"/>
          </a:ln>
        </p:spPr>
      </p:sp>
      <p:sp>
        <p:nvSpPr>
          <p:cNvPr id="9" name="Text 6"/>
          <p:cNvSpPr txBox="1"/>
          <p:nvPr/>
        </p:nvSpPr>
        <p:spPr>
          <a:xfrm>
            <a:off x="548640" y="2651760"/>
            <a:ext cx="5440680" cy="1143000"/>
          </a:xfrm>
          <a:prstGeom prst="rect">
            <a:avLst/>
          </a:prstGeom>
          <a:noFill/>
          <a:ln/>
        </p:spPr>
        <p:txBody>
          <a:bodyPr wrap="square" lIns="635" tIns="635" rIns="635" bIns="635" rtlCol="0" anchor="ctr"/>
          <a:lstStyle/>
          <a:p>
            <a:pPr algn="ctr" indent="0" marL="0">
              <a:spcAft>
                <a:spcPts val="400"/>
              </a:spcAft>
              <a:buNone/>
            </a:pPr>
            <a:r>
              <a:rPr lang="en-US" sz="1400" b="1" dirty="0">
                <a:solidFill>
                  <a:srgbClr val="1B2430"/>
                </a:solidFill>
              </a:rPr>
              <a:t>connection IDs</a:t>
            </a:r>
            <a:endParaRPr lang="en-US" sz="1400" dirty="0"/>
          </a:p>
          <a:p>
            <a:pPr algn="ctr" indent="0" marL="0">
              <a:spcAft>
                <a:spcPts val="400"/>
              </a:spcAft>
              <a:buNone/>
            </a:pPr>
            <a:r>
              <a:rPr lang="en-US" sz="1400" dirty="0">
                <a:solidFill>
                  <a:srgbClr val="1B2430"/>
                </a:solidFill>
              </a:rPr>
              <a:t>Wi-Fi → mobile: new IP address, same connection</a:t>
            </a:r>
            <a:endParaRPr lang="en-US" sz="1400" dirty="0"/>
          </a:p>
        </p:txBody>
      </p:sp>
      <p:sp>
        <p:nvSpPr>
          <p:cNvPr id="10" name="box"/>
          <p:cNvSpPr/>
          <p:nvPr/>
        </p:nvSpPr>
        <p:spPr>
          <a:xfrm>
            <a:off x="6172200" y="2651760"/>
            <a:ext cx="5440680" cy="1143000"/>
          </a:xfrm>
          <a:prstGeom prst="roundRect">
            <a:avLst>
              <a:gd name="adj" fmla="val 6400"/>
            </a:avLst>
          </a:prstGeom>
          <a:solidFill>
            <a:srgbClr val="EEF2F6"/>
          </a:solidFill>
          <a:ln w="12700">
            <a:solidFill>
              <a:srgbClr val="EEF2F6"/>
            </a:solidFill>
            <a:prstDash val="solid"/>
          </a:ln>
        </p:spPr>
      </p:sp>
      <p:sp>
        <p:nvSpPr>
          <p:cNvPr id="11" name="Text 8"/>
          <p:cNvSpPr txBox="1"/>
          <p:nvPr/>
        </p:nvSpPr>
        <p:spPr>
          <a:xfrm>
            <a:off x="6172200" y="2651760"/>
            <a:ext cx="5440680" cy="1143000"/>
          </a:xfrm>
          <a:prstGeom prst="rect">
            <a:avLst/>
          </a:prstGeom>
          <a:noFill/>
          <a:ln/>
        </p:spPr>
        <p:txBody>
          <a:bodyPr wrap="square" lIns="635" tIns="635" rIns="635" bIns="635" rtlCol="0" anchor="ctr"/>
          <a:lstStyle/>
          <a:p>
            <a:pPr algn="ctr" indent="0" marL="0">
              <a:spcAft>
                <a:spcPts val="400"/>
              </a:spcAft>
              <a:buNone/>
            </a:pPr>
            <a:r>
              <a:rPr lang="en-US" sz="1400" b="1" dirty="0">
                <a:solidFill>
                  <a:srgbClr val="1B2430"/>
                </a:solidFill>
              </a:rPr>
              <a:t>independent streams</a:t>
            </a:r>
            <a:endParaRPr lang="en-US" sz="1400" dirty="0"/>
          </a:p>
          <a:p>
            <a:pPr algn="ctr" indent="0" marL="0">
              <a:spcAft>
                <a:spcPts val="400"/>
              </a:spcAft>
              <a:buNone/>
            </a:pPr>
            <a:r>
              <a:rPr lang="en-US" sz="1400" dirty="0">
                <a:solidFill>
                  <a:srgbClr val="1B2430"/>
                </a:solidFill>
              </a:rPr>
              <a:t>a loss stops only its own stream</a:t>
            </a:r>
            <a:endParaRPr lang="en-US" sz="1400" dirty="0"/>
          </a:p>
        </p:txBody>
      </p:sp>
      <p:sp>
        <p:nvSpPr>
          <p:cNvPr id="12" name="box"/>
          <p:cNvSpPr/>
          <p:nvPr/>
        </p:nvSpPr>
        <p:spPr>
          <a:xfrm>
            <a:off x="548640" y="4069080"/>
            <a:ext cx="3200400" cy="914400"/>
          </a:xfrm>
          <a:prstGeom prst="roundRect">
            <a:avLst>
              <a:gd name="adj" fmla="val 8000"/>
            </a:avLst>
          </a:prstGeom>
          <a:solidFill>
            <a:srgbClr val="DDF0F2"/>
          </a:solidFill>
          <a:ln w="12700">
            <a:solidFill>
              <a:srgbClr val="DDF0F2"/>
            </a:solidFill>
            <a:prstDash val="solid"/>
          </a:ln>
        </p:spPr>
      </p:sp>
      <p:sp>
        <p:nvSpPr>
          <p:cNvPr id="13" name="Text 10"/>
          <p:cNvSpPr txBox="1"/>
          <p:nvPr/>
        </p:nvSpPr>
        <p:spPr>
          <a:xfrm>
            <a:off x="548640" y="4069080"/>
            <a:ext cx="3200400" cy="914400"/>
          </a:xfrm>
          <a:prstGeom prst="rect">
            <a:avLst/>
          </a:prstGeom>
          <a:noFill/>
          <a:ln/>
        </p:spPr>
        <p:txBody>
          <a:bodyPr wrap="square" lIns="635" tIns="635" rIns="635" bIns="635" rtlCol="0" anchor="ctr"/>
          <a:lstStyle/>
          <a:p>
            <a:pPr algn="ctr" indent="0" marL="0">
              <a:buNone/>
            </a:pPr>
            <a:r>
              <a:rPr lang="en-US" sz="1200" dirty="0">
                <a:solidFill>
                  <a:srgbClr val="1B2430"/>
                </a:solidFill>
              </a:rPr>
              <a:t>phone on </a:t>
            </a:r>
            <a:r>
              <a:rPr lang="en-US" sz="1200" b="1" dirty="0">
                <a:solidFill>
                  <a:srgbClr val="1B2430"/>
                </a:solidFill>
              </a:rPr>
              <a:t>Wi-Fi</a:t>
            </a:r>
            <a:endParaRPr lang="en-US" sz="1200" dirty="0"/>
          </a:p>
          <a:p>
            <a:pPr algn="ctr" indent="0" marL="0">
              <a:buNone/>
            </a:pPr>
            <a:r>
              <a:rPr lang="en-US" sz="1200" dirty="0">
                <a:solidFill>
                  <a:srgbClr val="1B2430"/>
                </a:solidFill>
              </a:rPr>
              <a:t>192.168.1.23</a:t>
            </a:r>
            <a:endParaRPr lang="en-US" sz="1200" dirty="0"/>
          </a:p>
        </p:txBody>
      </p:sp>
      <p:sp>
        <p:nvSpPr>
          <p:cNvPr id="14" name="box"/>
          <p:cNvSpPr/>
          <p:nvPr/>
        </p:nvSpPr>
        <p:spPr>
          <a:xfrm>
            <a:off x="548640" y="5029200"/>
            <a:ext cx="3200400" cy="640080"/>
          </a:xfrm>
          <a:prstGeom prst="roundRect">
            <a:avLst>
              <a:gd name="adj" fmla="val 11429"/>
            </a:avLst>
          </a:prstGeom>
          <a:solidFill>
            <a:srgbClr val="DDF0F2"/>
          </a:solidFill>
          <a:ln w="12700">
            <a:solidFill>
              <a:srgbClr val="DDF0F2"/>
            </a:solidFill>
            <a:prstDash val="solid"/>
          </a:ln>
        </p:spPr>
      </p:sp>
      <p:sp>
        <p:nvSpPr>
          <p:cNvPr id="15" name="Text 12"/>
          <p:cNvSpPr txBox="1"/>
          <p:nvPr/>
        </p:nvSpPr>
        <p:spPr>
          <a:xfrm>
            <a:off x="548640" y="5029200"/>
            <a:ext cx="3200400" cy="640080"/>
          </a:xfrm>
          <a:prstGeom prst="rect">
            <a:avLst/>
          </a:prstGeom>
          <a:noFill/>
          <a:ln/>
        </p:spPr>
        <p:txBody>
          <a:bodyPr wrap="square" lIns="635" tIns="635" rIns="635" bIns="635" rtlCol="0" anchor="ctr"/>
          <a:lstStyle/>
          <a:p>
            <a:pPr algn="ctr" indent="0" marL="0">
              <a:buNone/>
            </a:pPr>
            <a:r>
              <a:rPr lang="en-US" sz="1200" dirty="0">
                <a:solidFill>
                  <a:srgbClr val="1B2430"/>
                </a:solidFill>
              </a:rPr>
              <a:t>phone on </a:t>
            </a:r>
            <a:r>
              <a:rPr lang="en-US" sz="1200" b="1" dirty="0">
                <a:solidFill>
                  <a:srgbClr val="1B2430"/>
                </a:solidFill>
              </a:rPr>
              <a:t>4G</a:t>
            </a:r>
            <a:r>
              <a:rPr lang="en-US" sz="1200" dirty="0">
                <a:solidFill>
                  <a:srgbClr val="1B2430"/>
                </a:solidFill>
              </a:rPr>
              <a:t>: 10.64.7.9</a:t>
            </a:r>
            <a:endParaRPr lang="en-US" sz="1200" dirty="0"/>
          </a:p>
        </p:txBody>
      </p:sp>
      <p:sp>
        <p:nvSpPr>
          <p:cNvPr id="16" name="box"/>
          <p:cNvSpPr/>
          <p:nvPr/>
        </p:nvSpPr>
        <p:spPr>
          <a:xfrm>
            <a:off x="8138160" y="4251960"/>
            <a:ext cx="3474720" cy="1188720"/>
          </a:xfrm>
          <a:prstGeom prst="roundRect">
            <a:avLst>
              <a:gd name="adj" fmla="val 6154"/>
            </a:avLst>
          </a:prstGeom>
          <a:solidFill>
            <a:srgbClr val="2A7F8E"/>
          </a:solidFill>
          <a:ln w="12700">
            <a:solidFill>
              <a:srgbClr val="2A7F8E"/>
            </a:solidFill>
            <a:prstDash val="solid"/>
          </a:ln>
        </p:spPr>
      </p:sp>
      <p:sp>
        <p:nvSpPr>
          <p:cNvPr id="17" name="Text 14"/>
          <p:cNvSpPr txBox="1"/>
          <p:nvPr/>
        </p:nvSpPr>
        <p:spPr>
          <a:xfrm>
            <a:off x="8138160" y="4251960"/>
            <a:ext cx="3474720" cy="1188720"/>
          </a:xfrm>
          <a:prstGeom prst="rect">
            <a:avLst/>
          </a:prstGeom>
          <a:noFill/>
          <a:ln/>
        </p:spPr>
        <p:txBody>
          <a:bodyPr wrap="square" lIns="635" tIns="635" rIns="635" bIns="635" rtlCol="0" anchor="ctr"/>
          <a:lstStyle/>
          <a:p>
            <a:pPr algn="ctr" indent="0" marL="0">
              <a:buNone/>
            </a:pPr>
            <a:r>
              <a:rPr lang="en-US" sz="1200" b="1" dirty="0">
                <a:solidFill>
                  <a:srgbClr val="FFFFFF"/>
                </a:solidFill>
              </a:rPr>
              <a:t>server</a:t>
            </a:r>
            <a:endParaRPr lang="en-US" sz="1200" dirty="0"/>
          </a:p>
          <a:p>
            <a:pPr algn="ctr" indent="0" marL="0">
              <a:buNone/>
            </a:pPr>
            <a:r>
              <a:rPr lang="en-US" sz="1200" dirty="0">
                <a:solidFill>
                  <a:srgbClr val="FFFFFF"/>
                </a:solidFill>
              </a:rPr>
              <a:t>connection ID 0x5c1e…</a:t>
            </a:r>
            <a:endParaRPr lang="en-US" sz="1200" dirty="0"/>
          </a:p>
          <a:p>
            <a:pPr algn="ctr" indent="0" marL="0">
              <a:buNone/>
            </a:pPr>
            <a:r>
              <a:rPr lang="en-US" sz="1200" dirty="0">
                <a:solidFill>
                  <a:srgbClr val="FFFFFF"/>
                </a:solidFill>
              </a:rPr>
              <a:t>→ same session</a:t>
            </a:r>
            <a:endParaRPr lang="en-US" sz="1200" dirty="0"/>
          </a:p>
        </p:txBody>
      </p:sp>
      <p:sp>
        <p:nvSpPr>
          <p:cNvPr id="18" name="Shape 15"/>
          <p:cNvSpPr/>
          <p:nvPr/>
        </p:nvSpPr>
        <p:spPr>
          <a:xfrm>
            <a:off x="3749040" y="4526280"/>
            <a:ext cx="4389120" cy="182880"/>
          </a:xfrm>
          <a:prstGeom prst="line">
            <a:avLst/>
          </a:prstGeom>
          <a:noFill/>
          <a:ln w="25400">
            <a:solidFill>
              <a:srgbClr val="2A7F8E"/>
            </a:solidFill>
            <a:prstDash val="solid"/>
            <a:tailEnd type="triangle"/>
          </a:ln>
        </p:spPr>
      </p:sp>
      <p:sp>
        <p:nvSpPr>
          <p:cNvPr id="19" name="Shape 16"/>
          <p:cNvSpPr/>
          <p:nvPr/>
        </p:nvSpPr>
        <p:spPr>
          <a:xfrm flipV="1">
            <a:off x="3749040" y="5029200"/>
            <a:ext cx="4389120" cy="320040"/>
          </a:xfrm>
          <a:prstGeom prst="line">
            <a:avLst/>
          </a:prstGeom>
          <a:noFill/>
          <a:ln w="25400">
            <a:solidFill>
              <a:srgbClr val="2A7F8E"/>
            </a:solidFill>
            <a:prstDash val="dash"/>
            <a:tailEnd type="triangle"/>
          </a:ln>
        </p:spPr>
      </p:sp>
      <p:sp>
        <p:nvSpPr>
          <p:cNvPr id="20" name="Text 17"/>
          <p:cNvSpPr txBox="1"/>
          <p:nvPr/>
        </p:nvSpPr>
        <p:spPr>
          <a:xfrm>
            <a:off x="4206240" y="4069080"/>
            <a:ext cx="3657600" cy="32004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Alt-Svc: h3=":443" — the server announces HTTP/3</a:t>
            </a:r>
            <a:endParaRPr lang="en-US" sz="1100" dirty="0"/>
          </a:p>
        </p:txBody>
      </p:sp>
      <p:sp>
        <p:nvSpPr>
          <p:cNvPr id="21"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2" name="Text 19"/>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QUIC moves reliability and security into one user-space protocol over UDP — hence HTTP/3.</a:t>
            </a:r>
            <a:endParaRPr lang="en-US" sz="1400" dirty="0"/>
          </a:p>
        </p:txBody>
      </p:sp>
      <p:sp>
        <p:nvSpPr>
          <p:cNvPr id="23" name="Text 20"/>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HTTP (HyperText Transfer Protocol) · QUIC (a transport protocol over UDP, User Datagram Protocol; first named Quick UDP Internet Connections) · UDP (User Datagram Protocol) · RTT (round-trip time) · IP (Internet Protocol)</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 HTTP/1.1, HTTP/2 and HTTP/3 compared</a:t>
            </a:r>
            <a:endParaRPr lang="en-US" sz="3000" dirty="0"/>
          </a:p>
        </p:txBody>
      </p:sp>
      <p:sp>
        <p:nvSpPr>
          <p:cNvPr id="4" name="box"/>
          <p:cNvSpPr/>
          <p:nvPr/>
        </p:nvSpPr>
        <p:spPr>
          <a:xfrm>
            <a:off x="548640" y="1280160"/>
            <a:ext cx="3246120" cy="411480"/>
          </a:xfrm>
          <a:prstGeom prst="rect">
            <a:avLst/>
          </a:prstGeom>
          <a:solidFill>
            <a:srgbClr val="1F3A5F"/>
          </a:solidFill>
          <a:ln w="12700">
            <a:solidFill>
              <a:srgbClr val="1F3A5F"/>
            </a:solidFill>
            <a:prstDash val="solid"/>
          </a:ln>
        </p:spPr>
      </p:sp>
      <p:sp>
        <p:nvSpPr>
          <p:cNvPr id="5" name="Text 2"/>
          <p:cNvSpPr txBox="1"/>
          <p:nvPr/>
        </p:nvSpPr>
        <p:spPr>
          <a:xfrm>
            <a:off x="548640" y="1280160"/>
            <a:ext cx="3246120" cy="411480"/>
          </a:xfrm>
          <a:prstGeom prst="rect">
            <a:avLst/>
          </a:prstGeom>
          <a:noFill/>
          <a:ln/>
        </p:spPr>
        <p:txBody>
          <a:bodyPr wrap="square" lIns="635" tIns="635" rIns="635" bIns="635" rtlCol="0" anchor="ctr"/>
          <a:lstStyle/>
          <a:p>
            <a:pPr algn="ctr" indent="0" marL="0">
              <a:buNone/>
            </a:pPr>
            <a:endParaRPr lang="en-US" sz="1300" dirty="0"/>
          </a:p>
        </p:txBody>
      </p:sp>
      <p:sp>
        <p:nvSpPr>
          <p:cNvPr id="6" name="box"/>
          <p:cNvSpPr/>
          <p:nvPr/>
        </p:nvSpPr>
        <p:spPr>
          <a:xfrm>
            <a:off x="3840480" y="1280160"/>
            <a:ext cx="2514600" cy="411480"/>
          </a:xfrm>
          <a:prstGeom prst="rect">
            <a:avLst/>
          </a:prstGeom>
          <a:solidFill>
            <a:srgbClr val="1F3A5F"/>
          </a:solidFill>
          <a:ln w="12700">
            <a:solidFill>
              <a:srgbClr val="1F3A5F"/>
            </a:solidFill>
            <a:prstDash val="solid"/>
          </a:ln>
        </p:spPr>
      </p:sp>
      <p:sp>
        <p:nvSpPr>
          <p:cNvPr id="7" name="Text 4"/>
          <p:cNvSpPr txBox="1"/>
          <p:nvPr/>
        </p:nvSpPr>
        <p:spPr>
          <a:xfrm>
            <a:off x="3840480" y="1280160"/>
            <a:ext cx="251460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HTTP/1.1</a:t>
            </a:r>
            <a:endParaRPr lang="en-US" sz="1300" dirty="0"/>
          </a:p>
        </p:txBody>
      </p:sp>
      <p:sp>
        <p:nvSpPr>
          <p:cNvPr id="8" name="box"/>
          <p:cNvSpPr/>
          <p:nvPr/>
        </p:nvSpPr>
        <p:spPr>
          <a:xfrm>
            <a:off x="6400800" y="1280160"/>
            <a:ext cx="2514600" cy="411480"/>
          </a:xfrm>
          <a:prstGeom prst="rect">
            <a:avLst/>
          </a:prstGeom>
          <a:solidFill>
            <a:srgbClr val="1F3A5F"/>
          </a:solidFill>
          <a:ln w="12700">
            <a:solidFill>
              <a:srgbClr val="1F3A5F"/>
            </a:solidFill>
            <a:prstDash val="solid"/>
          </a:ln>
        </p:spPr>
      </p:sp>
      <p:sp>
        <p:nvSpPr>
          <p:cNvPr id="9" name="Text 6"/>
          <p:cNvSpPr txBox="1"/>
          <p:nvPr/>
        </p:nvSpPr>
        <p:spPr>
          <a:xfrm>
            <a:off x="6400800" y="1280160"/>
            <a:ext cx="251460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HTTP/2</a:t>
            </a:r>
            <a:endParaRPr lang="en-US" sz="1300" dirty="0"/>
          </a:p>
        </p:txBody>
      </p:sp>
      <p:sp>
        <p:nvSpPr>
          <p:cNvPr id="10" name="box"/>
          <p:cNvSpPr/>
          <p:nvPr/>
        </p:nvSpPr>
        <p:spPr>
          <a:xfrm>
            <a:off x="8961120" y="1280160"/>
            <a:ext cx="2606040" cy="411480"/>
          </a:xfrm>
          <a:prstGeom prst="rect">
            <a:avLst/>
          </a:prstGeom>
          <a:solidFill>
            <a:srgbClr val="1F3A5F"/>
          </a:solidFill>
          <a:ln w="12700">
            <a:solidFill>
              <a:srgbClr val="1F3A5F"/>
            </a:solidFill>
            <a:prstDash val="solid"/>
          </a:ln>
        </p:spPr>
      </p:sp>
      <p:sp>
        <p:nvSpPr>
          <p:cNvPr id="11" name="Text 8"/>
          <p:cNvSpPr txBox="1"/>
          <p:nvPr/>
        </p:nvSpPr>
        <p:spPr>
          <a:xfrm>
            <a:off x="8961120" y="1280160"/>
            <a:ext cx="26060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HTTP/3</a:t>
            </a:r>
            <a:endParaRPr lang="en-US" sz="1300" dirty="0"/>
          </a:p>
        </p:txBody>
      </p:sp>
      <p:sp>
        <p:nvSpPr>
          <p:cNvPr id="12" name="box"/>
          <p:cNvSpPr/>
          <p:nvPr/>
        </p:nvSpPr>
        <p:spPr>
          <a:xfrm>
            <a:off x="548640" y="1737360"/>
            <a:ext cx="3246120" cy="502920"/>
          </a:xfrm>
          <a:prstGeom prst="rect">
            <a:avLst/>
          </a:prstGeom>
          <a:solidFill>
            <a:srgbClr val="EEF2F6"/>
          </a:solidFill>
          <a:ln w="12700">
            <a:solidFill>
              <a:srgbClr val="EEF2F6"/>
            </a:solidFill>
            <a:prstDash val="solid"/>
          </a:ln>
        </p:spPr>
      </p:sp>
      <p:sp>
        <p:nvSpPr>
          <p:cNvPr id="13" name="Text 10"/>
          <p:cNvSpPr txBox="1"/>
          <p:nvPr/>
        </p:nvSpPr>
        <p:spPr>
          <a:xfrm>
            <a:off x="548640" y="1737360"/>
            <a:ext cx="3246120" cy="502920"/>
          </a:xfrm>
          <a:prstGeom prst="rect">
            <a:avLst/>
          </a:prstGeom>
          <a:noFill/>
          <a:ln/>
        </p:spPr>
        <p:txBody>
          <a:bodyPr wrap="square" lIns="1270" tIns="1270" rIns="1270" bIns="1270" rtlCol="0" anchor="ctr"/>
          <a:lstStyle/>
          <a:p>
            <a:pPr algn="ctr" indent="0" marL="0">
              <a:buNone/>
            </a:pPr>
            <a:r>
              <a:rPr lang="en-US" sz="1300" dirty="0">
                <a:solidFill>
                  <a:srgbClr val="1B2430"/>
                </a:solidFill>
              </a:rPr>
              <a:t>Transport</a:t>
            </a:r>
            <a:endParaRPr lang="en-US" sz="1300" dirty="0"/>
          </a:p>
        </p:txBody>
      </p:sp>
      <p:sp>
        <p:nvSpPr>
          <p:cNvPr id="14" name="box"/>
          <p:cNvSpPr/>
          <p:nvPr/>
        </p:nvSpPr>
        <p:spPr>
          <a:xfrm>
            <a:off x="3840480" y="1737360"/>
            <a:ext cx="2514600" cy="502920"/>
          </a:xfrm>
          <a:prstGeom prst="rect">
            <a:avLst/>
          </a:prstGeom>
          <a:solidFill>
            <a:srgbClr val="F7F9FB"/>
          </a:solidFill>
          <a:ln w="12700">
            <a:solidFill>
              <a:srgbClr val="F7F9FB"/>
            </a:solidFill>
            <a:prstDash val="solid"/>
          </a:ln>
        </p:spPr>
      </p:sp>
      <p:sp>
        <p:nvSpPr>
          <p:cNvPr id="15" name="Text 12"/>
          <p:cNvSpPr txBox="1"/>
          <p:nvPr/>
        </p:nvSpPr>
        <p:spPr>
          <a:xfrm>
            <a:off x="3840480" y="1737360"/>
            <a:ext cx="251460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TCP (+ TLS)</a:t>
            </a:r>
            <a:endParaRPr lang="en-US" sz="1300" dirty="0"/>
          </a:p>
        </p:txBody>
      </p:sp>
      <p:sp>
        <p:nvSpPr>
          <p:cNvPr id="16" name="box"/>
          <p:cNvSpPr/>
          <p:nvPr/>
        </p:nvSpPr>
        <p:spPr>
          <a:xfrm>
            <a:off x="6400800" y="1737360"/>
            <a:ext cx="2514600" cy="502920"/>
          </a:xfrm>
          <a:prstGeom prst="rect">
            <a:avLst/>
          </a:prstGeom>
          <a:solidFill>
            <a:srgbClr val="F7F9FB"/>
          </a:solidFill>
          <a:ln w="12700">
            <a:solidFill>
              <a:srgbClr val="F7F9FB"/>
            </a:solidFill>
            <a:prstDash val="solid"/>
          </a:ln>
        </p:spPr>
      </p:sp>
      <p:sp>
        <p:nvSpPr>
          <p:cNvPr id="17" name="Text 14"/>
          <p:cNvSpPr txBox="1"/>
          <p:nvPr/>
        </p:nvSpPr>
        <p:spPr>
          <a:xfrm>
            <a:off x="6400800" y="1737360"/>
            <a:ext cx="251460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TCP + TLS</a:t>
            </a:r>
            <a:endParaRPr lang="en-US" sz="1300" dirty="0"/>
          </a:p>
        </p:txBody>
      </p:sp>
      <p:sp>
        <p:nvSpPr>
          <p:cNvPr id="18" name="box"/>
          <p:cNvSpPr/>
          <p:nvPr/>
        </p:nvSpPr>
        <p:spPr>
          <a:xfrm>
            <a:off x="8961120" y="1737360"/>
            <a:ext cx="2606040" cy="502920"/>
          </a:xfrm>
          <a:prstGeom prst="rect">
            <a:avLst/>
          </a:prstGeom>
          <a:solidFill>
            <a:srgbClr val="F7F9FB"/>
          </a:solidFill>
          <a:ln w="12700">
            <a:solidFill>
              <a:srgbClr val="F7F9FB"/>
            </a:solidFill>
            <a:prstDash val="solid"/>
          </a:ln>
        </p:spPr>
      </p:sp>
      <p:sp>
        <p:nvSpPr>
          <p:cNvPr id="19" name="Text 16"/>
          <p:cNvSpPr txBox="1"/>
          <p:nvPr/>
        </p:nvSpPr>
        <p:spPr>
          <a:xfrm>
            <a:off x="8961120" y="1737360"/>
            <a:ext cx="260604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QUIC over UDP</a:t>
            </a:r>
            <a:endParaRPr lang="en-US" sz="1300" dirty="0"/>
          </a:p>
        </p:txBody>
      </p:sp>
      <p:sp>
        <p:nvSpPr>
          <p:cNvPr id="20" name="box"/>
          <p:cNvSpPr/>
          <p:nvPr/>
        </p:nvSpPr>
        <p:spPr>
          <a:xfrm>
            <a:off x="548640" y="2286000"/>
            <a:ext cx="3246120" cy="502920"/>
          </a:xfrm>
          <a:prstGeom prst="rect">
            <a:avLst/>
          </a:prstGeom>
          <a:solidFill>
            <a:srgbClr val="EEF2F6"/>
          </a:solidFill>
          <a:ln w="12700">
            <a:solidFill>
              <a:srgbClr val="EEF2F6"/>
            </a:solidFill>
            <a:prstDash val="solid"/>
          </a:ln>
        </p:spPr>
      </p:sp>
      <p:sp>
        <p:nvSpPr>
          <p:cNvPr id="21" name="Text 18"/>
          <p:cNvSpPr txBox="1"/>
          <p:nvPr/>
        </p:nvSpPr>
        <p:spPr>
          <a:xfrm>
            <a:off x="548640" y="2286000"/>
            <a:ext cx="3246120" cy="502920"/>
          </a:xfrm>
          <a:prstGeom prst="rect">
            <a:avLst/>
          </a:prstGeom>
          <a:noFill/>
          <a:ln/>
        </p:spPr>
        <p:txBody>
          <a:bodyPr wrap="square" lIns="1270" tIns="1270" rIns="1270" bIns="1270" rtlCol="0" anchor="ctr"/>
          <a:lstStyle/>
          <a:p>
            <a:pPr algn="ctr" indent="0" marL="0">
              <a:buNone/>
            </a:pPr>
            <a:r>
              <a:rPr lang="en-US" sz="1300" dirty="0">
                <a:solidFill>
                  <a:srgbClr val="1B2430"/>
                </a:solidFill>
              </a:rPr>
              <a:t>Format</a:t>
            </a:r>
            <a:endParaRPr lang="en-US" sz="1300" dirty="0"/>
          </a:p>
        </p:txBody>
      </p:sp>
      <p:sp>
        <p:nvSpPr>
          <p:cNvPr id="22" name="box"/>
          <p:cNvSpPr/>
          <p:nvPr/>
        </p:nvSpPr>
        <p:spPr>
          <a:xfrm>
            <a:off x="3840480" y="2286000"/>
            <a:ext cx="2514600" cy="502920"/>
          </a:xfrm>
          <a:prstGeom prst="rect">
            <a:avLst/>
          </a:prstGeom>
          <a:solidFill>
            <a:srgbClr val="F7F9FB"/>
          </a:solidFill>
          <a:ln w="12700">
            <a:solidFill>
              <a:srgbClr val="F7F9FB"/>
            </a:solidFill>
            <a:prstDash val="solid"/>
          </a:ln>
        </p:spPr>
      </p:sp>
      <p:sp>
        <p:nvSpPr>
          <p:cNvPr id="23" name="Text 20"/>
          <p:cNvSpPr txBox="1"/>
          <p:nvPr/>
        </p:nvSpPr>
        <p:spPr>
          <a:xfrm>
            <a:off x="3840480" y="2286000"/>
            <a:ext cx="251460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text</a:t>
            </a:r>
            <a:endParaRPr lang="en-US" sz="1300" dirty="0"/>
          </a:p>
        </p:txBody>
      </p:sp>
      <p:sp>
        <p:nvSpPr>
          <p:cNvPr id="24" name="box"/>
          <p:cNvSpPr/>
          <p:nvPr/>
        </p:nvSpPr>
        <p:spPr>
          <a:xfrm>
            <a:off x="6400800" y="2286000"/>
            <a:ext cx="2514600" cy="502920"/>
          </a:xfrm>
          <a:prstGeom prst="rect">
            <a:avLst/>
          </a:prstGeom>
          <a:solidFill>
            <a:srgbClr val="F7F9FB"/>
          </a:solidFill>
          <a:ln w="12700">
            <a:solidFill>
              <a:srgbClr val="F7F9FB"/>
            </a:solidFill>
            <a:prstDash val="solid"/>
          </a:ln>
        </p:spPr>
      </p:sp>
      <p:sp>
        <p:nvSpPr>
          <p:cNvPr id="25" name="Text 22"/>
          <p:cNvSpPr txBox="1"/>
          <p:nvPr/>
        </p:nvSpPr>
        <p:spPr>
          <a:xfrm>
            <a:off x="6400800" y="2286000"/>
            <a:ext cx="251460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binary frames</a:t>
            </a:r>
            <a:endParaRPr lang="en-US" sz="1300" dirty="0"/>
          </a:p>
        </p:txBody>
      </p:sp>
      <p:sp>
        <p:nvSpPr>
          <p:cNvPr id="26" name="box"/>
          <p:cNvSpPr/>
          <p:nvPr/>
        </p:nvSpPr>
        <p:spPr>
          <a:xfrm>
            <a:off x="8961120" y="2286000"/>
            <a:ext cx="2606040" cy="502920"/>
          </a:xfrm>
          <a:prstGeom prst="rect">
            <a:avLst/>
          </a:prstGeom>
          <a:solidFill>
            <a:srgbClr val="D7EBDD"/>
          </a:solidFill>
          <a:ln w="12700">
            <a:solidFill>
              <a:srgbClr val="D7EBDD"/>
            </a:solidFill>
            <a:prstDash val="solid"/>
          </a:ln>
        </p:spPr>
      </p:sp>
      <p:sp>
        <p:nvSpPr>
          <p:cNvPr id="27" name="Text 24"/>
          <p:cNvSpPr txBox="1"/>
          <p:nvPr/>
        </p:nvSpPr>
        <p:spPr>
          <a:xfrm>
            <a:off x="8961120" y="2286000"/>
            <a:ext cx="260604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binary frames</a:t>
            </a:r>
            <a:endParaRPr lang="en-US" sz="1300" dirty="0"/>
          </a:p>
        </p:txBody>
      </p:sp>
      <p:sp>
        <p:nvSpPr>
          <p:cNvPr id="28" name="box"/>
          <p:cNvSpPr/>
          <p:nvPr/>
        </p:nvSpPr>
        <p:spPr>
          <a:xfrm>
            <a:off x="548640" y="2834640"/>
            <a:ext cx="3246120" cy="502920"/>
          </a:xfrm>
          <a:prstGeom prst="rect">
            <a:avLst/>
          </a:prstGeom>
          <a:solidFill>
            <a:srgbClr val="EEF2F6"/>
          </a:solidFill>
          <a:ln w="12700">
            <a:solidFill>
              <a:srgbClr val="EEF2F6"/>
            </a:solidFill>
            <a:prstDash val="solid"/>
          </a:ln>
        </p:spPr>
      </p:sp>
      <p:sp>
        <p:nvSpPr>
          <p:cNvPr id="29" name="Text 26"/>
          <p:cNvSpPr txBox="1"/>
          <p:nvPr/>
        </p:nvSpPr>
        <p:spPr>
          <a:xfrm>
            <a:off x="548640" y="2834640"/>
            <a:ext cx="3246120" cy="502920"/>
          </a:xfrm>
          <a:prstGeom prst="rect">
            <a:avLst/>
          </a:prstGeom>
          <a:noFill/>
          <a:ln/>
        </p:spPr>
        <p:txBody>
          <a:bodyPr wrap="square" lIns="1270" tIns="1270" rIns="1270" bIns="1270" rtlCol="0" anchor="ctr"/>
          <a:lstStyle/>
          <a:p>
            <a:pPr algn="ctr" indent="0" marL="0">
              <a:buNone/>
            </a:pPr>
            <a:r>
              <a:rPr lang="en-US" sz="1300" dirty="0">
                <a:solidFill>
                  <a:srgbClr val="1B2430"/>
                </a:solidFill>
              </a:rPr>
              <a:t>Concurrency</a:t>
            </a:r>
            <a:endParaRPr lang="en-US" sz="1300" dirty="0"/>
          </a:p>
        </p:txBody>
      </p:sp>
      <p:sp>
        <p:nvSpPr>
          <p:cNvPr id="30" name="box"/>
          <p:cNvSpPr/>
          <p:nvPr/>
        </p:nvSpPr>
        <p:spPr>
          <a:xfrm>
            <a:off x="3840480" y="2834640"/>
            <a:ext cx="2514600" cy="502920"/>
          </a:xfrm>
          <a:prstGeom prst="rect">
            <a:avLst/>
          </a:prstGeom>
          <a:solidFill>
            <a:srgbClr val="F7F9FB"/>
          </a:solidFill>
          <a:ln w="12700">
            <a:solidFill>
              <a:srgbClr val="F7F9FB"/>
            </a:solidFill>
            <a:prstDash val="solid"/>
          </a:ln>
        </p:spPr>
      </p:sp>
      <p:sp>
        <p:nvSpPr>
          <p:cNvPr id="31" name="Text 28"/>
          <p:cNvSpPr txBox="1"/>
          <p:nvPr/>
        </p:nvSpPr>
        <p:spPr>
          <a:xfrm>
            <a:off x="3840480" y="2834640"/>
            <a:ext cx="251460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parallel connections</a:t>
            </a:r>
            <a:endParaRPr lang="en-US" sz="1300" dirty="0"/>
          </a:p>
        </p:txBody>
      </p:sp>
      <p:sp>
        <p:nvSpPr>
          <p:cNvPr id="32" name="box"/>
          <p:cNvSpPr/>
          <p:nvPr/>
        </p:nvSpPr>
        <p:spPr>
          <a:xfrm>
            <a:off x="6400800" y="2834640"/>
            <a:ext cx="2514600" cy="502920"/>
          </a:xfrm>
          <a:prstGeom prst="rect">
            <a:avLst/>
          </a:prstGeom>
          <a:solidFill>
            <a:srgbClr val="F7F9FB"/>
          </a:solidFill>
          <a:ln w="12700">
            <a:solidFill>
              <a:srgbClr val="F7F9FB"/>
            </a:solidFill>
            <a:prstDash val="solid"/>
          </a:ln>
        </p:spPr>
      </p:sp>
      <p:sp>
        <p:nvSpPr>
          <p:cNvPr id="33" name="Text 30"/>
          <p:cNvSpPr txBox="1"/>
          <p:nvPr/>
        </p:nvSpPr>
        <p:spPr>
          <a:xfrm>
            <a:off x="6400800" y="2834640"/>
            <a:ext cx="251460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streams, one connection</a:t>
            </a:r>
            <a:endParaRPr lang="en-US" sz="1300" dirty="0"/>
          </a:p>
        </p:txBody>
      </p:sp>
      <p:sp>
        <p:nvSpPr>
          <p:cNvPr id="34" name="box"/>
          <p:cNvSpPr/>
          <p:nvPr/>
        </p:nvSpPr>
        <p:spPr>
          <a:xfrm>
            <a:off x="8961120" y="2834640"/>
            <a:ext cx="2606040" cy="502920"/>
          </a:xfrm>
          <a:prstGeom prst="rect">
            <a:avLst/>
          </a:prstGeom>
          <a:solidFill>
            <a:srgbClr val="D7EBDD"/>
          </a:solidFill>
          <a:ln w="12700">
            <a:solidFill>
              <a:srgbClr val="D7EBDD"/>
            </a:solidFill>
            <a:prstDash val="solid"/>
          </a:ln>
        </p:spPr>
      </p:sp>
      <p:sp>
        <p:nvSpPr>
          <p:cNvPr id="35" name="Text 32"/>
          <p:cNvSpPr txBox="1"/>
          <p:nvPr/>
        </p:nvSpPr>
        <p:spPr>
          <a:xfrm>
            <a:off x="8961120" y="2834640"/>
            <a:ext cx="260604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independent streams</a:t>
            </a:r>
            <a:endParaRPr lang="en-US" sz="1300" dirty="0"/>
          </a:p>
        </p:txBody>
      </p:sp>
      <p:sp>
        <p:nvSpPr>
          <p:cNvPr id="36" name="box"/>
          <p:cNvSpPr/>
          <p:nvPr/>
        </p:nvSpPr>
        <p:spPr>
          <a:xfrm>
            <a:off x="548640" y="3383280"/>
            <a:ext cx="3246120" cy="502920"/>
          </a:xfrm>
          <a:prstGeom prst="rect">
            <a:avLst/>
          </a:prstGeom>
          <a:solidFill>
            <a:srgbClr val="EEF2F6"/>
          </a:solidFill>
          <a:ln w="12700">
            <a:solidFill>
              <a:srgbClr val="EEF2F6"/>
            </a:solidFill>
            <a:prstDash val="solid"/>
          </a:ln>
        </p:spPr>
      </p:sp>
      <p:sp>
        <p:nvSpPr>
          <p:cNvPr id="37" name="Text 34"/>
          <p:cNvSpPr txBox="1"/>
          <p:nvPr/>
        </p:nvSpPr>
        <p:spPr>
          <a:xfrm>
            <a:off x="548640" y="3383280"/>
            <a:ext cx="3246120" cy="502920"/>
          </a:xfrm>
          <a:prstGeom prst="rect">
            <a:avLst/>
          </a:prstGeom>
          <a:noFill/>
          <a:ln/>
        </p:spPr>
        <p:txBody>
          <a:bodyPr wrap="square" lIns="1270" tIns="1270" rIns="1270" bIns="1270" rtlCol="0" anchor="ctr"/>
          <a:lstStyle/>
          <a:p>
            <a:pPr algn="ctr" indent="0" marL="0">
              <a:buNone/>
            </a:pPr>
            <a:r>
              <a:rPr lang="en-US" sz="1300" dirty="0">
                <a:solidFill>
                  <a:srgbClr val="1B2430"/>
                </a:solidFill>
              </a:rPr>
              <a:t>Head-of-line blocking</a:t>
            </a:r>
            <a:endParaRPr lang="en-US" sz="1300" dirty="0"/>
          </a:p>
        </p:txBody>
      </p:sp>
      <p:sp>
        <p:nvSpPr>
          <p:cNvPr id="38" name="box"/>
          <p:cNvSpPr/>
          <p:nvPr/>
        </p:nvSpPr>
        <p:spPr>
          <a:xfrm>
            <a:off x="3840480" y="3383280"/>
            <a:ext cx="2514600" cy="502920"/>
          </a:xfrm>
          <a:prstGeom prst="rect">
            <a:avLst/>
          </a:prstGeom>
          <a:solidFill>
            <a:srgbClr val="F7F9FB"/>
          </a:solidFill>
          <a:ln w="12700">
            <a:solidFill>
              <a:srgbClr val="F7F9FB"/>
            </a:solidFill>
            <a:prstDash val="solid"/>
          </a:ln>
        </p:spPr>
      </p:sp>
      <p:sp>
        <p:nvSpPr>
          <p:cNvPr id="39" name="Text 36"/>
          <p:cNvSpPr txBox="1"/>
          <p:nvPr/>
        </p:nvSpPr>
        <p:spPr>
          <a:xfrm>
            <a:off x="3840480" y="3383280"/>
            <a:ext cx="251460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HTTP and TCP level</a:t>
            </a:r>
            <a:endParaRPr lang="en-US" sz="1300" dirty="0"/>
          </a:p>
        </p:txBody>
      </p:sp>
      <p:sp>
        <p:nvSpPr>
          <p:cNvPr id="40" name="box"/>
          <p:cNvSpPr/>
          <p:nvPr/>
        </p:nvSpPr>
        <p:spPr>
          <a:xfrm>
            <a:off x="6400800" y="3383280"/>
            <a:ext cx="2514600" cy="502920"/>
          </a:xfrm>
          <a:prstGeom prst="rect">
            <a:avLst/>
          </a:prstGeom>
          <a:solidFill>
            <a:srgbClr val="F7F9FB"/>
          </a:solidFill>
          <a:ln w="12700">
            <a:solidFill>
              <a:srgbClr val="F7F9FB"/>
            </a:solidFill>
            <a:prstDash val="solid"/>
          </a:ln>
        </p:spPr>
      </p:sp>
      <p:sp>
        <p:nvSpPr>
          <p:cNvPr id="41" name="Text 38"/>
          <p:cNvSpPr txBox="1"/>
          <p:nvPr/>
        </p:nvSpPr>
        <p:spPr>
          <a:xfrm>
            <a:off x="6400800" y="3383280"/>
            <a:ext cx="251460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TCP level only</a:t>
            </a:r>
            <a:endParaRPr lang="en-US" sz="1300" dirty="0"/>
          </a:p>
        </p:txBody>
      </p:sp>
      <p:sp>
        <p:nvSpPr>
          <p:cNvPr id="42" name="box"/>
          <p:cNvSpPr/>
          <p:nvPr/>
        </p:nvSpPr>
        <p:spPr>
          <a:xfrm>
            <a:off x="8961120" y="3383280"/>
            <a:ext cx="2606040" cy="502920"/>
          </a:xfrm>
          <a:prstGeom prst="rect">
            <a:avLst/>
          </a:prstGeom>
          <a:solidFill>
            <a:srgbClr val="D7EBDD"/>
          </a:solidFill>
          <a:ln w="12700">
            <a:solidFill>
              <a:srgbClr val="D7EBDD"/>
            </a:solidFill>
            <a:prstDash val="solid"/>
          </a:ln>
        </p:spPr>
      </p:sp>
      <p:sp>
        <p:nvSpPr>
          <p:cNvPr id="43" name="Text 40"/>
          <p:cNvSpPr txBox="1"/>
          <p:nvPr/>
        </p:nvSpPr>
        <p:spPr>
          <a:xfrm>
            <a:off x="8961120" y="3383280"/>
            <a:ext cx="260604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none between streams</a:t>
            </a:r>
            <a:endParaRPr lang="en-US" sz="1300" dirty="0"/>
          </a:p>
        </p:txBody>
      </p:sp>
      <p:sp>
        <p:nvSpPr>
          <p:cNvPr id="44" name="box"/>
          <p:cNvSpPr/>
          <p:nvPr/>
        </p:nvSpPr>
        <p:spPr>
          <a:xfrm>
            <a:off x="548640" y="3931920"/>
            <a:ext cx="3246120" cy="502920"/>
          </a:xfrm>
          <a:prstGeom prst="rect">
            <a:avLst/>
          </a:prstGeom>
          <a:solidFill>
            <a:srgbClr val="EEF2F6"/>
          </a:solidFill>
          <a:ln w="12700">
            <a:solidFill>
              <a:srgbClr val="EEF2F6"/>
            </a:solidFill>
            <a:prstDash val="solid"/>
          </a:ln>
        </p:spPr>
      </p:sp>
      <p:sp>
        <p:nvSpPr>
          <p:cNvPr id="45" name="Text 42"/>
          <p:cNvSpPr txBox="1"/>
          <p:nvPr/>
        </p:nvSpPr>
        <p:spPr>
          <a:xfrm>
            <a:off x="548640" y="3931920"/>
            <a:ext cx="3246120" cy="502920"/>
          </a:xfrm>
          <a:prstGeom prst="rect">
            <a:avLst/>
          </a:prstGeom>
          <a:noFill/>
          <a:ln/>
        </p:spPr>
        <p:txBody>
          <a:bodyPr wrap="square" lIns="1270" tIns="1270" rIns="1270" bIns="1270" rtlCol="0" anchor="ctr"/>
          <a:lstStyle/>
          <a:p>
            <a:pPr algn="ctr" indent="0" marL="0">
              <a:buNone/>
            </a:pPr>
            <a:r>
              <a:rPr lang="en-US" sz="1300" dirty="0">
                <a:solidFill>
                  <a:srgbClr val="1B2430"/>
                </a:solidFill>
              </a:rPr>
              <a:t>Header compression</a:t>
            </a:r>
            <a:endParaRPr lang="en-US" sz="1300" dirty="0"/>
          </a:p>
        </p:txBody>
      </p:sp>
      <p:sp>
        <p:nvSpPr>
          <p:cNvPr id="46" name="box"/>
          <p:cNvSpPr/>
          <p:nvPr/>
        </p:nvSpPr>
        <p:spPr>
          <a:xfrm>
            <a:off x="3840480" y="3931920"/>
            <a:ext cx="2514600" cy="502920"/>
          </a:xfrm>
          <a:prstGeom prst="rect">
            <a:avLst/>
          </a:prstGeom>
          <a:solidFill>
            <a:srgbClr val="F7F9FB"/>
          </a:solidFill>
          <a:ln w="12700">
            <a:solidFill>
              <a:srgbClr val="F7F9FB"/>
            </a:solidFill>
            <a:prstDash val="solid"/>
          </a:ln>
        </p:spPr>
      </p:sp>
      <p:sp>
        <p:nvSpPr>
          <p:cNvPr id="47" name="Text 44"/>
          <p:cNvSpPr txBox="1"/>
          <p:nvPr/>
        </p:nvSpPr>
        <p:spPr>
          <a:xfrm>
            <a:off x="3840480" y="3931920"/>
            <a:ext cx="251460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none</a:t>
            </a:r>
            <a:endParaRPr lang="en-US" sz="1300" dirty="0"/>
          </a:p>
        </p:txBody>
      </p:sp>
      <p:sp>
        <p:nvSpPr>
          <p:cNvPr id="48" name="box"/>
          <p:cNvSpPr/>
          <p:nvPr/>
        </p:nvSpPr>
        <p:spPr>
          <a:xfrm>
            <a:off x="6400800" y="3931920"/>
            <a:ext cx="2514600" cy="502920"/>
          </a:xfrm>
          <a:prstGeom prst="rect">
            <a:avLst/>
          </a:prstGeom>
          <a:solidFill>
            <a:srgbClr val="F7F9FB"/>
          </a:solidFill>
          <a:ln w="12700">
            <a:solidFill>
              <a:srgbClr val="F7F9FB"/>
            </a:solidFill>
            <a:prstDash val="solid"/>
          </a:ln>
        </p:spPr>
      </p:sp>
      <p:sp>
        <p:nvSpPr>
          <p:cNvPr id="49" name="Text 46"/>
          <p:cNvSpPr txBox="1"/>
          <p:nvPr/>
        </p:nvSpPr>
        <p:spPr>
          <a:xfrm>
            <a:off x="6400800" y="3931920"/>
            <a:ext cx="251460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HPACK</a:t>
            </a:r>
            <a:endParaRPr lang="en-US" sz="1300" dirty="0"/>
          </a:p>
        </p:txBody>
      </p:sp>
      <p:sp>
        <p:nvSpPr>
          <p:cNvPr id="50" name="box"/>
          <p:cNvSpPr/>
          <p:nvPr/>
        </p:nvSpPr>
        <p:spPr>
          <a:xfrm>
            <a:off x="8961120" y="3931920"/>
            <a:ext cx="2606040" cy="502920"/>
          </a:xfrm>
          <a:prstGeom prst="rect">
            <a:avLst/>
          </a:prstGeom>
          <a:solidFill>
            <a:srgbClr val="D7EBDD"/>
          </a:solidFill>
          <a:ln w="12700">
            <a:solidFill>
              <a:srgbClr val="D7EBDD"/>
            </a:solidFill>
            <a:prstDash val="solid"/>
          </a:ln>
        </p:spPr>
      </p:sp>
      <p:sp>
        <p:nvSpPr>
          <p:cNvPr id="51" name="Text 48"/>
          <p:cNvSpPr txBox="1"/>
          <p:nvPr/>
        </p:nvSpPr>
        <p:spPr>
          <a:xfrm>
            <a:off x="8961120" y="3931920"/>
            <a:ext cx="260604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QPACK</a:t>
            </a:r>
            <a:endParaRPr lang="en-US" sz="1300" dirty="0"/>
          </a:p>
        </p:txBody>
      </p:sp>
      <p:sp>
        <p:nvSpPr>
          <p:cNvPr id="52" name="box"/>
          <p:cNvSpPr/>
          <p:nvPr/>
        </p:nvSpPr>
        <p:spPr>
          <a:xfrm>
            <a:off x="548640" y="4480560"/>
            <a:ext cx="3246120" cy="502920"/>
          </a:xfrm>
          <a:prstGeom prst="rect">
            <a:avLst/>
          </a:prstGeom>
          <a:solidFill>
            <a:srgbClr val="EEF2F6"/>
          </a:solidFill>
          <a:ln w="12700">
            <a:solidFill>
              <a:srgbClr val="EEF2F6"/>
            </a:solidFill>
            <a:prstDash val="solid"/>
          </a:ln>
        </p:spPr>
      </p:sp>
      <p:sp>
        <p:nvSpPr>
          <p:cNvPr id="53" name="Text 50"/>
          <p:cNvSpPr txBox="1"/>
          <p:nvPr/>
        </p:nvSpPr>
        <p:spPr>
          <a:xfrm>
            <a:off x="548640" y="4480560"/>
            <a:ext cx="3246120" cy="502920"/>
          </a:xfrm>
          <a:prstGeom prst="rect">
            <a:avLst/>
          </a:prstGeom>
          <a:noFill/>
          <a:ln/>
        </p:spPr>
        <p:txBody>
          <a:bodyPr wrap="square" lIns="1270" tIns="1270" rIns="1270" bIns="1270" rtlCol="0" anchor="ctr"/>
          <a:lstStyle/>
          <a:p>
            <a:pPr algn="ctr" indent="0" marL="0">
              <a:buNone/>
            </a:pPr>
            <a:r>
              <a:rPr lang="en-US" sz="1300" dirty="0">
                <a:solidFill>
                  <a:srgbClr val="1B2430"/>
                </a:solidFill>
              </a:rPr>
              <a:t>RTT before request (new)</a:t>
            </a:r>
            <a:endParaRPr lang="en-US" sz="1300" dirty="0"/>
          </a:p>
        </p:txBody>
      </p:sp>
      <p:sp>
        <p:nvSpPr>
          <p:cNvPr id="54" name="box"/>
          <p:cNvSpPr/>
          <p:nvPr/>
        </p:nvSpPr>
        <p:spPr>
          <a:xfrm>
            <a:off x="3840480" y="4480560"/>
            <a:ext cx="2514600" cy="502920"/>
          </a:xfrm>
          <a:prstGeom prst="rect">
            <a:avLst/>
          </a:prstGeom>
          <a:solidFill>
            <a:srgbClr val="F7F9FB"/>
          </a:solidFill>
          <a:ln w="12700">
            <a:solidFill>
              <a:srgbClr val="F7F9FB"/>
            </a:solidFill>
            <a:prstDash val="solid"/>
          </a:ln>
        </p:spPr>
      </p:sp>
      <p:sp>
        <p:nvSpPr>
          <p:cNvPr id="55" name="Text 52"/>
          <p:cNvSpPr txBox="1"/>
          <p:nvPr/>
        </p:nvSpPr>
        <p:spPr>
          <a:xfrm>
            <a:off x="3840480" y="4480560"/>
            <a:ext cx="251460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1 (+1–2 for TLS)</a:t>
            </a:r>
            <a:endParaRPr lang="en-US" sz="1300" dirty="0"/>
          </a:p>
        </p:txBody>
      </p:sp>
      <p:sp>
        <p:nvSpPr>
          <p:cNvPr id="56" name="box"/>
          <p:cNvSpPr/>
          <p:nvPr/>
        </p:nvSpPr>
        <p:spPr>
          <a:xfrm>
            <a:off x="6400800" y="4480560"/>
            <a:ext cx="2514600" cy="502920"/>
          </a:xfrm>
          <a:prstGeom prst="rect">
            <a:avLst/>
          </a:prstGeom>
          <a:solidFill>
            <a:srgbClr val="F7F9FB"/>
          </a:solidFill>
          <a:ln w="12700">
            <a:solidFill>
              <a:srgbClr val="F7F9FB"/>
            </a:solidFill>
            <a:prstDash val="solid"/>
          </a:ln>
        </p:spPr>
      </p:sp>
      <p:sp>
        <p:nvSpPr>
          <p:cNvPr id="57" name="Text 54"/>
          <p:cNvSpPr txBox="1"/>
          <p:nvPr/>
        </p:nvSpPr>
        <p:spPr>
          <a:xfrm>
            <a:off x="6400800" y="4480560"/>
            <a:ext cx="251460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2 with TLS 1.3</a:t>
            </a:r>
            <a:endParaRPr lang="en-US" sz="1300" dirty="0"/>
          </a:p>
        </p:txBody>
      </p:sp>
      <p:sp>
        <p:nvSpPr>
          <p:cNvPr id="58" name="box"/>
          <p:cNvSpPr/>
          <p:nvPr/>
        </p:nvSpPr>
        <p:spPr>
          <a:xfrm>
            <a:off x="8961120" y="4480560"/>
            <a:ext cx="2606040" cy="502920"/>
          </a:xfrm>
          <a:prstGeom prst="rect">
            <a:avLst/>
          </a:prstGeom>
          <a:solidFill>
            <a:srgbClr val="D7EBDD"/>
          </a:solidFill>
          <a:ln w="12700">
            <a:solidFill>
              <a:srgbClr val="D7EBDD"/>
            </a:solidFill>
            <a:prstDash val="solid"/>
          </a:ln>
        </p:spPr>
      </p:sp>
      <p:sp>
        <p:nvSpPr>
          <p:cNvPr id="59" name="Text 56"/>
          <p:cNvSpPr txBox="1"/>
          <p:nvPr/>
        </p:nvSpPr>
        <p:spPr>
          <a:xfrm>
            <a:off x="8961120" y="4480560"/>
            <a:ext cx="2606040" cy="502920"/>
          </a:xfrm>
          <a:prstGeom prst="rect">
            <a:avLst/>
          </a:prstGeom>
          <a:noFill/>
          <a:ln/>
        </p:spPr>
        <p:txBody>
          <a:bodyPr wrap="square" lIns="1270" tIns="1270" rIns="1270" bIns="1270" rtlCol="0" anchor="ctr"/>
          <a:lstStyle/>
          <a:p>
            <a:pPr algn="l" indent="0" marL="0">
              <a:buNone/>
            </a:pPr>
            <a:r>
              <a:rPr lang="en-US" sz="1300" dirty="0">
                <a:solidFill>
                  <a:srgbClr val="1B2430"/>
                </a:solidFill>
              </a:rPr>
              <a:t>1</a:t>
            </a:r>
            <a:endParaRPr lang="en-US" sz="1300" dirty="0"/>
          </a:p>
        </p:txBody>
      </p:sp>
      <p:sp>
        <p:nvSpPr>
          <p:cNvPr id="6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61" name="Text 5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Each version keeps HTTP’s meaning and changes only how the messages travel.</a:t>
            </a:r>
            <a:endParaRPr lang="en-US" sz="1400" dirty="0"/>
          </a:p>
        </p:txBody>
      </p:sp>
      <p:sp>
        <p:nvSpPr>
          <p:cNvPr id="62" name="Text 59"/>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HPACK (header compression for HTTP/2) · QPACK (header compression for HTTP/3) · HTTP (HyperText Transfer Protocol) · QUIC (a transport protocol over UDP, User Datagram Protocol; first named Quick UDP Internet Connections) · TCP (Transmission Control Protocol) · UDP (User Datagram Protocol) · TLS (Transport Layer Security) · RTT (round-trip time)</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 What HTTPS adds: three guarantees</a:t>
            </a:r>
            <a:endParaRPr lang="en-US" sz="3000" dirty="0"/>
          </a:p>
        </p:txBody>
      </p:sp>
      <p:sp>
        <p:nvSpPr>
          <p:cNvPr id="4" name="box"/>
          <p:cNvSpPr/>
          <p:nvPr/>
        </p:nvSpPr>
        <p:spPr>
          <a:xfrm>
            <a:off x="548640" y="1371600"/>
            <a:ext cx="1828800" cy="822960"/>
          </a:xfrm>
          <a:prstGeom prst="roundRect">
            <a:avLst>
              <a:gd name="adj" fmla="val 8889"/>
            </a:avLst>
          </a:prstGeom>
          <a:solidFill>
            <a:srgbClr val="1F3A5F"/>
          </a:solidFill>
          <a:ln w="12700">
            <a:solidFill>
              <a:srgbClr val="1F3A5F"/>
            </a:solidFill>
            <a:prstDash val="solid"/>
          </a:ln>
        </p:spPr>
      </p:sp>
      <p:sp>
        <p:nvSpPr>
          <p:cNvPr id="5" name="Text 2"/>
          <p:cNvSpPr txBox="1"/>
          <p:nvPr/>
        </p:nvSpPr>
        <p:spPr>
          <a:xfrm>
            <a:off x="548640" y="1371600"/>
            <a:ext cx="1828800" cy="822960"/>
          </a:xfrm>
          <a:prstGeom prst="rect">
            <a:avLst/>
          </a:prstGeom>
          <a:noFill/>
          <a:ln/>
        </p:spPr>
        <p:txBody>
          <a:bodyPr wrap="square" lIns="635" tIns="635" rIns="635" bIns="635" rtlCol="0" anchor="ctr"/>
          <a:lstStyle/>
          <a:p>
            <a:pPr algn="ctr" indent="0" marL="0">
              <a:buNone/>
            </a:pPr>
            <a:r>
              <a:rPr lang="en-US" sz="1400" dirty="0">
                <a:solidFill>
                  <a:srgbClr val="FFFFFF"/>
                </a:solidFill>
              </a:rPr>
              <a:t>client</a:t>
            </a:r>
            <a:endParaRPr lang="en-US" sz="1400" dirty="0"/>
          </a:p>
        </p:txBody>
      </p:sp>
      <p:sp>
        <p:nvSpPr>
          <p:cNvPr id="6" name="box"/>
          <p:cNvSpPr/>
          <p:nvPr/>
        </p:nvSpPr>
        <p:spPr>
          <a:xfrm>
            <a:off x="9784080" y="1371600"/>
            <a:ext cx="1828800" cy="822960"/>
          </a:xfrm>
          <a:prstGeom prst="roundRect">
            <a:avLst>
              <a:gd name="adj" fmla="val 8889"/>
            </a:avLst>
          </a:prstGeom>
          <a:solidFill>
            <a:srgbClr val="2A7F8E"/>
          </a:solidFill>
          <a:ln w="12700">
            <a:solidFill>
              <a:srgbClr val="2A7F8E"/>
            </a:solidFill>
            <a:prstDash val="solid"/>
          </a:ln>
        </p:spPr>
      </p:sp>
      <p:sp>
        <p:nvSpPr>
          <p:cNvPr id="7" name="Text 4"/>
          <p:cNvSpPr txBox="1"/>
          <p:nvPr/>
        </p:nvSpPr>
        <p:spPr>
          <a:xfrm>
            <a:off x="9784080" y="1371600"/>
            <a:ext cx="1828800" cy="822960"/>
          </a:xfrm>
          <a:prstGeom prst="rect">
            <a:avLst/>
          </a:prstGeom>
          <a:noFill/>
          <a:ln/>
        </p:spPr>
        <p:txBody>
          <a:bodyPr wrap="square" lIns="635" tIns="635" rIns="635" bIns="635" rtlCol="0" anchor="ctr"/>
          <a:lstStyle/>
          <a:p>
            <a:pPr algn="ctr" indent="0" marL="0">
              <a:buNone/>
            </a:pPr>
            <a:r>
              <a:rPr lang="en-US" sz="1400" dirty="0">
                <a:solidFill>
                  <a:srgbClr val="FFFFFF"/>
                </a:solidFill>
              </a:rPr>
              <a:t>server</a:t>
            </a:r>
            <a:endParaRPr lang="en-US" sz="1400" dirty="0"/>
          </a:p>
        </p:txBody>
      </p:sp>
      <p:sp>
        <p:nvSpPr>
          <p:cNvPr id="8" name="Shape 5"/>
          <p:cNvSpPr/>
          <p:nvPr/>
        </p:nvSpPr>
        <p:spPr>
          <a:xfrm>
            <a:off x="2377440" y="1783080"/>
            <a:ext cx="7406640" cy="914"/>
          </a:xfrm>
          <a:prstGeom prst="line">
            <a:avLst/>
          </a:prstGeom>
          <a:noFill/>
          <a:ln w="38100">
            <a:solidFill>
              <a:srgbClr val="2E7D4F"/>
            </a:solidFill>
            <a:prstDash val="solid"/>
            <a:headEnd type="triangle"/>
            <a:tailEnd type="triangle"/>
          </a:ln>
        </p:spPr>
      </p:sp>
      <p:sp>
        <p:nvSpPr>
          <p:cNvPr id="9" name="Text 6"/>
          <p:cNvSpPr txBox="1"/>
          <p:nvPr/>
        </p:nvSpPr>
        <p:spPr>
          <a:xfrm>
            <a:off x="4069080" y="1463040"/>
            <a:ext cx="402336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2E7D4F"/>
                </a:solidFill>
              </a:rPr>
              <a:t>TLS records (encrypted, authenticated)</a:t>
            </a:r>
            <a:endParaRPr lang="en-US" sz="1200" dirty="0"/>
          </a:p>
        </p:txBody>
      </p:sp>
      <p:sp>
        <p:nvSpPr>
          <p:cNvPr id="10" name="box"/>
          <p:cNvSpPr/>
          <p:nvPr/>
        </p:nvSpPr>
        <p:spPr>
          <a:xfrm>
            <a:off x="548640" y="2651760"/>
            <a:ext cx="3566160" cy="1097280"/>
          </a:xfrm>
          <a:prstGeom prst="roundRect">
            <a:avLst>
              <a:gd name="adj" fmla="val 6667"/>
            </a:avLst>
          </a:prstGeom>
          <a:solidFill>
            <a:srgbClr val="F2D6D6"/>
          </a:solidFill>
          <a:ln w="12700">
            <a:solidFill>
              <a:srgbClr val="F2D6D6"/>
            </a:solidFill>
            <a:prstDash val="solid"/>
          </a:ln>
        </p:spPr>
      </p:sp>
      <p:sp>
        <p:nvSpPr>
          <p:cNvPr id="11" name="Text 8"/>
          <p:cNvSpPr txBox="1"/>
          <p:nvPr/>
        </p:nvSpPr>
        <p:spPr>
          <a:xfrm>
            <a:off x="548640" y="2651760"/>
            <a:ext cx="3566160" cy="1097280"/>
          </a:xfrm>
          <a:prstGeom prst="rect">
            <a:avLst/>
          </a:prstGeom>
          <a:noFill/>
          <a:ln/>
        </p:spPr>
        <p:txBody>
          <a:bodyPr wrap="square" lIns="635" tIns="635" rIns="635" bIns="635" rtlCol="0" anchor="ctr"/>
          <a:lstStyle/>
          <a:p>
            <a:pPr algn="ctr" indent="0" marL="0">
              <a:buNone/>
            </a:pPr>
            <a:r>
              <a:rPr lang="en-US" sz="1300" dirty="0">
                <a:solidFill>
                  <a:srgbClr val="1B2430"/>
                </a:solidFill>
              </a:rPr>
              <a:t>attacker tries to </a:t>
            </a:r>
            <a:r>
              <a:rPr lang="en-US" sz="1300" b="1" dirty="0">
                <a:solidFill>
                  <a:srgbClr val="1B2430"/>
                </a:solidFill>
              </a:rPr>
              <a:t>eavesdrop</a:t>
            </a:r>
            <a:endParaRPr lang="en-US" sz="1300" dirty="0"/>
          </a:p>
          <a:p>
            <a:pPr algn="ctr" indent="0" marL="0">
              <a:buNone/>
            </a:pPr>
            <a:r>
              <a:rPr lang="en-US" sz="1300" dirty="0">
                <a:solidFill>
                  <a:srgbClr val="1B2430"/>
                </a:solidFill>
              </a:rPr>
              <a:t>read the data</a:t>
            </a:r>
            <a:endParaRPr lang="en-US" sz="1300" dirty="0"/>
          </a:p>
        </p:txBody>
      </p:sp>
      <p:sp>
        <p:nvSpPr>
          <p:cNvPr id="12" name="Shape 9"/>
          <p:cNvSpPr/>
          <p:nvPr/>
        </p:nvSpPr>
        <p:spPr>
          <a:xfrm>
            <a:off x="2331720" y="3749040"/>
            <a:ext cx="914" cy="365760"/>
          </a:xfrm>
          <a:prstGeom prst="line">
            <a:avLst/>
          </a:prstGeom>
          <a:noFill/>
          <a:ln w="25400">
            <a:solidFill>
              <a:srgbClr val="2E7D4F"/>
            </a:solidFill>
            <a:prstDash val="solid"/>
            <a:tailEnd type="triangle"/>
          </a:ln>
        </p:spPr>
      </p:sp>
      <p:sp>
        <p:nvSpPr>
          <p:cNvPr id="13" name="box"/>
          <p:cNvSpPr/>
          <p:nvPr/>
        </p:nvSpPr>
        <p:spPr>
          <a:xfrm>
            <a:off x="548640" y="4114800"/>
            <a:ext cx="3566160" cy="914400"/>
          </a:xfrm>
          <a:prstGeom prst="roundRect">
            <a:avLst>
              <a:gd name="adj" fmla="val 8000"/>
            </a:avLst>
          </a:prstGeom>
          <a:solidFill>
            <a:srgbClr val="D7EBDD"/>
          </a:solidFill>
          <a:ln w="12700">
            <a:solidFill>
              <a:srgbClr val="D7EBDD"/>
            </a:solidFill>
            <a:prstDash val="solid"/>
          </a:ln>
        </p:spPr>
      </p:sp>
      <p:sp>
        <p:nvSpPr>
          <p:cNvPr id="14" name="Text 11"/>
          <p:cNvSpPr txBox="1"/>
          <p:nvPr/>
        </p:nvSpPr>
        <p:spPr>
          <a:xfrm>
            <a:off x="548640" y="4114800"/>
            <a:ext cx="3566160" cy="914400"/>
          </a:xfrm>
          <a:prstGeom prst="rect">
            <a:avLst/>
          </a:prstGeom>
          <a:noFill/>
          <a:ln/>
        </p:spPr>
        <p:txBody>
          <a:bodyPr wrap="square" lIns="635" tIns="635" rIns="635" bIns="635" rtlCol="0" anchor="ctr"/>
          <a:lstStyle/>
          <a:p>
            <a:pPr algn="ctr" indent="0" marL="0">
              <a:buNone/>
            </a:pPr>
            <a:r>
              <a:rPr lang="en-US" sz="1300" b="1" dirty="0">
                <a:solidFill>
                  <a:srgbClr val="1B2430"/>
                </a:solidFill>
              </a:rPr>
              <a:t>confidentiality</a:t>
            </a:r>
            <a:r>
              <a:rPr lang="en-US" sz="1300" dirty="0">
                <a:solidFill>
                  <a:srgbClr val="1B2430"/>
                </a:solidFill>
              </a:rPr>
              <a:t>: encryption</a:t>
            </a:r>
            <a:endParaRPr lang="en-US" sz="1300" dirty="0"/>
          </a:p>
        </p:txBody>
      </p:sp>
      <p:sp>
        <p:nvSpPr>
          <p:cNvPr id="15" name="box"/>
          <p:cNvSpPr/>
          <p:nvPr/>
        </p:nvSpPr>
        <p:spPr>
          <a:xfrm>
            <a:off x="4297680" y="2651760"/>
            <a:ext cx="3566160" cy="1097280"/>
          </a:xfrm>
          <a:prstGeom prst="roundRect">
            <a:avLst>
              <a:gd name="adj" fmla="val 6667"/>
            </a:avLst>
          </a:prstGeom>
          <a:solidFill>
            <a:srgbClr val="F2D6D6"/>
          </a:solidFill>
          <a:ln w="12700">
            <a:solidFill>
              <a:srgbClr val="F2D6D6"/>
            </a:solidFill>
            <a:prstDash val="solid"/>
          </a:ln>
        </p:spPr>
      </p:sp>
      <p:sp>
        <p:nvSpPr>
          <p:cNvPr id="16" name="Text 13"/>
          <p:cNvSpPr txBox="1"/>
          <p:nvPr/>
        </p:nvSpPr>
        <p:spPr>
          <a:xfrm>
            <a:off x="4297680" y="2651760"/>
            <a:ext cx="3566160" cy="1097280"/>
          </a:xfrm>
          <a:prstGeom prst="rect">
            <a:avLst/>
          </a:prstGeom>
          <a:noFill/>
          <a:ln/>
        </p:spPr>
        <p:txBody>
          <a:bodyPr wrap="square" lIns="635" tIns="635" rIns="635" bIns="635" rtlCol="0" anchor="ctr"/>
          <a:lstStyle/>
          <a:p>
            <a:pPr algn="ctr" indent="0" marL="0">
              <a:buNone/>
            </a:pPr>
            <a:r>
              <a:rPr lang="en-US" sz="1300" dirty="0">
                <a:solidFill>
                  <a:srgbClr val="1B2430"/>
                </a:solidFill>
              </a:rPr>
              <a:t>attacker tries to </a:t>
            </a:r>
            <a:r>
              <a:rPr lang="en-US" sz="1300" b="1" dirty="0">
                <a:solidFill>
                  <a:srgbClr val="1B2430"/>
                </a:solidFill>
              </a:rPr>
              <a:t>modify</a:t>
            </a:r>
            <a:endParaRPr lang="en-US" sz="1300" dirty="0"/>
          </a:p>
          <a:p>
            <a:pPr algn="ctr" indent="0" marL="0">
              <a:buNone/>
            </a:pPr>
            <a:r>
              <a:rPr lang="en-US" sz="1300" dirty="0">
                <a:solidFill>
                  <a:srgbClr val="1B2430"/>
                </a:solidFill>
              </a:rPr>
              <a:t>change data in transit</a:t>
            </a:r>
            <a:endParaRPr lang="en-US" sz="1300" dirty="0"/>
          </a:p>
        </p:txBody>
      </p:sp>
      <p:sp>
        <p:nvSpPr>
          <p:cNvPr id="17" name="Shape 14"/>
          <p:cNvSpPr/>
          <p:nvPr/>
        </p:nvSpPr>
        <p:spPr>
          <a:xfrm>
            <a:off x="6080760" y="3749040"/>
            <a:ext cx="914" cy="365760"/>
          </a:xfrm>
          <a:prstGeom prst="line">
            <a:avLst/>
          </a:prstGeom>
          <a:noFill/>
          <a:ln w="25400">
            <a:solidFill>
              <a:srgbClr val="2E7D4F"/>
            </a:solidFill>
            <a:prstDash val="solid"/>
            <a:tailEnd type="triangle"/>
          </a:ln>
        </p:spPr>
      </p:sp>
      <p:sp>
        <p:nvSpPr>
          <p:cNvPr id="18" name="box"/>
          <p:cNvSpPr/>
          <p:nvPr/>
        </p:nvSpPr>
        <p:spPr>
          <a:xfrm>
            <a:off x="4297680" y="4114800"/>
            <a:ext cx="3566160" cy="914400"/>
          </a:xfrm>
          <a:prstGeom prst="roundRect">
            <a:avLst>
              <a:gd name="adj" fmla="val 8000"/>
            </a:avLst>
          </a:prstGeom>
          <a:solidFill>
            <a:srgbClr val="D7EBDD"/>
          </a:solidFill>
          <a:ln w="12700">
            <a:solidFill>
              <a:srgbClr val="D7EBDD"/>
            </a:solidFill>
            <a:prstDash val="solid"/>
          </a:ln>
        </p:spPr>
      </p:sp>
      <p:sp>
        <p:nvSpPr>
          <p:cNvPr id="19" name="Text 16"/>
          <p:cNvSpPr txBox="1"/>
          <p:nvPr/>
        </p:nvSpPr>
        <p:spPr>
          <a:xfrm>
            <a:off x="4297680" y="4114800"/>
            <a:ext cx="3566160" cy="914400"/>
          </a:xfrm>
          <a:prstGeom prst="rect">
            <a:avLst/>
          </a:prstGeom>
          <a:noFill/>
          <a:ln/>
        </p:spPr>
        <p:txBody>
          <a:bodyPr wrap="square" lIns="635" tIns="635" rIns="635" bIns="635" rtlCol="0" anchor="ctr"/>
          <a:lstStyle/>
          <a:p>
            <a:pPr algn="ctr" indent="0" marL="0">
              <a:buNone/>
            </a:pPr>
            <a:r>
              <a:rPr lang="en-US" sz="1300" b="1" dirty="0">
                <a:solidFill>
                  <a:srgbClr val="1B2430"/>
                </a:solidFill>
              </a:rPr>
              <a:t>integrity</a:t>
            </a:r>
            <a:r>
              <a:rPr lang="en-US" sz="1300" dirty="0">
                <a:solidFill>
                  <a:srgbClr val="1B2430"/>
                </a:solidFill>
              </a:rPr>
              <a:t>: authentication tags</a:t>
            </a:r>
            <a:endParaRPr lang="en-US" sz="1300" dirty="0"/>
          </a:p>
        </p:txBody>
      </p:sp>
      <p:sp>
        <p:nvSpPr>
          <p:cNvPr id="20" name="box"/>
          <p:cNvSpPr/>
          <p:nvPr/>
        </p:nvSpPr>
        <p:spPr>
          <a:xfrm>
            <a:off x="8046720" y="2651760"/>
            <a:ext cx="3566160" cy="1097280"/>
          </a:xfrm>
          <a:prstGeom prst="roundRect">
            <a:avLst>
              <a:gd name="adj" fmla="val 6667"/>
            </a:avLst>
          </a:prstGeom>
          <a:solidFill>
            <a:srgbClr val="F2D6D6"/>
          </a:solidFill>
          <a:ln w="12700">
            <a:solidFill>
              <a:srgbClr val="F2D6D6"/>
            </a:solidFill>
            <a:prstDash val="solid"/>
          </a:ln>
        </p:spPr>
      </p:sp>
      <p:sp>
        <p:nvSpPr>
          <p:cNvPr id="21" name="Text 18"/>
          <p:cNvSpPr txBox="1"/>
          <p:nvPr/>
        </p:nvSpPr>
        <p:spPr>
          <a:xfrm>
            <a:off x="8046720" y="2651760"/>
            <a:ext cx="3566160" cy="1097280"/>
          </a:xfrm>
          <a:prstGeom prst="rect">
            <a:avLst/>
          </a:prstGeom>
          <a:noFill/>
          <a:ln/>
        </p:spPr>
        <p:txBody>
          <a:bodyPr wrap="square" lIns="635" tIns="635" rIns="635" bIns="635" rtlCol="0" anchor="ctr"/>
          <a:lstStyle/>
          <a:p>
            <a:pPr algn="ctr" indent="0" marL="0">
              <a:buNone/>
            </a:pPr>
            <a:r>
              <a:rPr lang="en-US" sz="1300" dirty="0">
                <a:solidFill>
                  <a:srgbClr val="1B2430"/>
                </a:solidFill>
              </a:rPr>
              <a:t>attacker tries to </a:t>
            </a:r>
            <a:r>
              <a:rPr lang="en-US" sz="1300" b="1" dirty="0">
                <a:solidFill>
                  <a:srgbClr val="1B2430"/>
                </a:solidFill>
              </a:rPr>
              <a:t>impersonate</a:t>
            </a:r>
            <a:endParaRPr lang="en-US" sz="1300" dirty="0"/>
          </a:p>
          <a:p>
            <a:pPr algn="ctr" indent="0" marL="0">
              <a:buNone/>
            </a:pPr>
            <a:r>
              <a:rPr lang="en-US" sz="1300" dirty="0">
                <a:solidFill>
                  <a:srgbClr val="1B2430"/>
                </a:solidFill>
              </a:rPr>
              <a:t>pretend to be the server</a:t>
            </a:r>
            <a:endParaRPr lang="en-US" sz="1300" dirty="0"/>
          </a:p>
        </p:txBody>
      </p:sp>
      <p:sp>
        <p:nvSpPr>
          <p:cNvPr id="22" name="Shape 19"/>
          <p:cNvSpPr/>
          <p:nvPr/>
        </p:nvSpPr>
        <p:spPr>
          <a:xfrm>
            <a:off x="9829800" y="3749040"/>
            <a:ext cx="914" cy="365760"/>
          </a:xfrm>
          <a:prstGeom prst="line">
            <a:avLst/>
          </a:prstGeom>
          <a:noFill/>
          <a:ln w="25400">
            <a:solidFill>
              <a:srgbClr val="2E7D4F"/>
            </a:solidFill>
            <a:prstDash val="solid"/>
            <a:tailEnd type="triangle"/>
          </a:ln>
        </p:spPr>
      </p:sp>
      <p:sp>
        <p:nvSpPr>
          <p:cNvPr id="23" name="box"/>
          <p:cNvSpPr/>
          <p:nvPr/>
        </p:nvSpPr>
        <p:spPr>
          <a:xfrm>
            <a:off x="8046720" y="4114800"/>
            <a:ext cx="3566160" cy="914400"/>
          </a:xfrm>
          <a:prstGeom prst="roundRect">
            <a:avLst>
              <a:gd name="adj" fmla="val 8000"/>
            </a:avLst>
          </a:prstGeom>
          <a:solidFill>
            <a:srgbClr val="D7EBDD"/>
          </a:solidFill>
          <a:ln w="12700">
            <a:solidFill>
              <a:srgbClr val="D7EBDD"/>
            </a:solidFill>
            <a:prstDash val="solid"/>
          </a:ln>
        </p:spPr>
      </p:sp>
      <p:sp>
        <p:nvSpPr>
          <p:cNvPr id="24" name="Text 21"/>
          <p:cNvSpPr txBox="1"/>
          <p:nvPr/>
        </p:nvSpPr>
        <p:spPr>
          <a:xfrm>
            <a:off x="8046720" y="4114800"/>
            <a:ext cx="3566160" cy="914400"/>
          </a:xfrm>
          <a:prstGeom prst="rect">
            <a:avLst/>
          </a:prstGeom>
          <a:noFill/>
          <a:ln/>
        </p:spPr>
        <p:txBody>
          <a:bodyPr wrap="square" lIns="635" tIns="635" rIns="635" bIns="635" rtlCol="0" anchor="ctr"/>
          <a:lstStyle/>
          <a:p>
            <a:pPr algn="ctr" indent="0" marL="0">
              <a:buNone/>
            </a:pPr>
            <a:r>
              <a:rPr lang="en-US" sz="1300" b="1" dirty="0">
                <a:solidFill>
                  <a:srgbClr val="1B2430"/>
                </a:solidFill>
              </a:rPr>
              <a:t>authentication</a:t>
            </a:r>
            <a:r>
              <a:rPr lang="en-US" sz="1300" dirty="0">
                <a:solidFill>
                  <a:srgbClr val="1B2430"/>
                </a:solidFill>
              </a:rPr>
              <a:t>: certificate + signature</a:t>
            </a:r>
            <a:endParaRPr lang="en-US" sz="1300" dirty="0"/>
          </a:p>
        </p:txBody>
      </p:sp>
      <p:sp>
        <p:nvSpPr>
          <p:cNvPr id="25" name="Text 22"/>
          <p:cNvSpPr txBox="1"/>
          <p:nvPr/>
        </p:nvSpPr>
        <p:spPr>
          <a:xfrm>
            <a:off x="548640" y="5166360"/>
            <a:ext cx="11064240" cy="457200"/>
          </a:xfrm>
          <a:prstGeom prst="rect">
            <a:avLst/>
          </a:prstGeom>
          <a:noFill/>
          <a:ln/>
        </p:spPr>
        <p:txBody>
          <a:bodyPr wrap="square" lIns="0" tIns="0" rIns="0" bIns="0" rtlCol="0" anchor="t"/>
          <a:lstStyle/>
          <a:p>
            <a:pPr algn="l" indent="0" marL="0">
              <a:spcAft>
                <a:spcPts val="400"/>
              </a:spcAft>
              <a:buNone/>
            </a:pPr>
            <a:r>
              <a:rPr lang="en-US" sz="1200" dirty="0">
                <a:solidFill>
                  <a:srgbClr val="5B6770"/>
                </a:solidFill>
              </a:rPr>
              <a:t>TLS 1.3: RFC 8446. Client authentication is optional; the application writes plain bytes into the TLS library instead of the socket.</a:t>
            </a:r>
            <a:endParaRPr lang="en-US" sz="1200" dirty="0"/>
          </a:p>
        </p:txBody>
      </p:sp>
      <p:sp>
        <p:nvSpPr>
          <p:cNvPr id="2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7" name="Text 2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Encryption without authentication is not enough: you must also know who holds the other key.</a:t>
            </a:r>
            <a:endParaRPr lang="en-US" sz="1400" dirty="0"/>
          </a:p>
        </p:txBody>
      </p:sp>
      <p:sp>
        <p:nvSpPr>
          <p:cNvPr id="28" name="Text 2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HTTPS (HyperText Transfer Protocol Secure) · TLS (Transport Layer Security) · RFC (Request for Comments)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 Round trips before the first response byte</a:t>
            </a:r>
            <a:endParaRPr lang="en-US" sz="3000" dirty="0"/>
          </a:p>
        </p:txBody>
      </p:sp>
      <p:sp>
        <p:nvSpPr>
          <p:cNvPr id="4" name="Text 1"/>
          <p:cNvSpPr txBox="1"/>
          <p:nvPr/>
        </p:nvSpPr>
        <p:spPr>
          <a:xfrm>
            <a:off x="548640" y="1435608"/>
            <a:ext cx="2926080" cy="45720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HTTP over TCP, no TLS</a:t>
            </a:r>
            <a:endParaRPr lang="en-US" sz="1300" dirty="0"/>
          </a:p>
        </p:txBody>
      </p:sp>
      <p:sp>
        <p:nvSpPr>
          <p:cNvPr id="5" name="box"/>
          <p:cNvSpPr/>
          <p:nvPr/>
        </p:nvSpPr>
        <p:spPr>
          <a:xfrm>
            <a:off x="3566160" y="1325880"/>
            <a:ext cx="1417320" cy="566928"/>
          </a:xfrm>
          <a:prstGeom prst="rect">
            <a:avLst/>
          </a:prstGeom>
          <a:solidFill>
            <a:srgbClr val="5B6770"/>
          </a:solidFill>
          <a:ln w="12700">
            <a:solidFill>
              <a:srgbClr val="5B6770"/>
            </a:solidFill>
            <a:prstDash val="solid"/>
          </a:ln>
        </p:spPr>
      </p:sp>
      <p:sp>
        <p:nvSpPr>
          <p:cNvPr id="6" name="Text 3"/>
          <p:cNvSpPr txBox="1"/>
          <p:nvPr/>
        </p:nvSpPr>
        <p:spPr>
          <a:xfrm>
            <a:off x="3566160" y="1325880"/>
            <a:ext cx="1417320" cy="566928"/>
          </a:xfrm>
          <a:prstGeom prst="rect">
            <a:avLst/>
          </a:prstGeom>
          <a:noFill/>
          <a:ln/>
        </p:spPr>
        <p:txBody>
          <a:bodyPr wrap="square" lIns="635" tIns="635" rIns="635" bIns="635" rtlCol="0" anchor="ctr"/>
          <a:lstStyle/>
          <a:p>
            <a:pPr algn="ctr" indent="0" marL="0">
              <a:buNone/>
            </a:pPr>
            <a:r>
              <a:rPr lang="en-US" sz="1100" dirty="0">
                <a:solidFill>
                  <a:srgbClr val="FFFFFF"/>
                </a:solidFill>
              </a:rPr>
              <a:t>TCP</a:t>
            </a:r>
            <a:endParaRPr lang="en-US" sz="1100" dirty="0"/>
          </a:p>
        </p:txBody>
      </p:sp>
      <p:sp>
        <p:nvSpPr>
          <p:cNvPr id="7" name="box"/>
          <p:cNvSpPr/>
          <p:nvPr/>
        </p:nvSpPr>
        <p:spPr>
          <a:xfrm>
            <a:off x="5029200" y="1325880"/>
            <a:ext cx="1417320" cy="566928"/>
          </a:xfrm>
          <a:prstGeom prst="rect">
            <a:avLst/>
          </a:prstGeom>
          <a:solidFill>
            <a:srgbClr val="2A7F8E"/>
          </a:solidFill>
          <a:ln w="12700">
            <a:solidFill>
              <a:srgbClr val="2A7F8E"/>
            </a:solidFill>
            <a:prstDash val="solid"/>
          </a:ln>
        </p:spPr>
      </p:sp>
      <p:sp>
        <p:nvSpPr>
          <p:cNvPr id="8" name="Text 5"/>
          <p:cNvSpPr txBox="1"/>
          <p:nvPr/>
        </p:nvSpPr>
        <p:spPr>
          <a:xfrm>
            <a:off x="5029200" y="1325880"/>
            <a:ext cx="1417320" cy="566928"/>
          </a:xfrm>
          <a:prstGeom prst="rect">
            <a:avLst/>
          </a:prstGeom>
          <a:noFill/>
          <a:ln/>
        </p:spPr>
        <p:txBody>
          <a:bodyPr wrap="square" lIns="635" tIns="635" rIns="635" bIns="635" rtlCol="0" anchor="ctr"/>
          <a:lstStyle/>
          <a:p>
            <a:pPr algn="ctr" indent="0" marL="0">
              <a:buNone/>
            </a:pPr>
            <a:r>
              <a:rPr lang="en-US" sz="1100" dirty="0">
                <a:solidFill>
                  <a:srgbClr val="FFFFFF"/>
                </a:solidFill>
              </a:rPr>
              <a:t>GET → response</a:t>
            </a:r>
            <a:endParaRPr lang="en-US" sz="1100" dirty="0"/>
          </a:p>
        </p:txBody>
      </p:sp>
      <p:sp>
        <p:nvSpPr>
          <p:cNvPr id="9" name="Text 6"/>
          <p:cNvSpPr txBox="1"/>
          <p:nvPr/>
        </p:nvSpPr>
        <p:spPr>
          <a:xfrm>
            <a:off x="6629400" y="1435608"/>
            <a:ext cx="1828800" cy="41148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2 RTT = 120 ms</a:t>
            </a:r>
            <a:endParaRPr lang="en-US" sz="1300" dirty="0"/>
          </a:p>
        </p:txBody>
      </p:sp>
      <p:sp>
        <p:nvSpPr>
          <p:cNvPr id="10" name="Text 7"/>
          <p:cNvSpPr txBox="1"/>
          <p:nvPr/>
        </p:nvSpPr>
        <p:spPr>
          <a:xfrm>
            <a:off x="548640" y="2221992"/>
            <a:ext cx="2926080" cy="45720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TCP + TLS 1.2</a:t>
            </a:r>
            <a:endParaRPr lang="en-US" sz="1300" dirty="0"/>
          </a:p>
        </p:txBody>
      </p:sp>
      <p:sp>
        <p:nvSpPr>
          <p:cNvPr id="11" name="box"/>
          <p:cNvSpPr/>
          <p:nvPr/>
        </p:nvSpPr>
        <p:spPr>
          <a:xfrm>
            <a:off x="3566160" y="2112264"/>
            <a:ext cx="1417320" cy="566928"/>
          </a:xfrm>
          <a:prstGeom prst="rect">
            <a:avLst/>
          </a:prstGeom>
          <a:solidFill>
            <a:srgbClr val="5B6770"/>
          </a:solidFill>
          <a:ln w="12700">
            <a:solidFill>
              <a:srgbClr val="5B6770"/>
            </a:solidFill>
            <a:prstDash val="solid"/>
          </a:ln>
        </p:spPr>
      </p:sp>
      <p:sp>
        <p:nvSpPr>
          <p:cNvPr id="12" name="Text 9"/>
          <p:cNvSpPr txBox="1"/>
          <p:nvPr/>
        </p:nvSpPr>
        <p:spPr>
          <a:xfrm>
            <a:off x="3566160" y="2112264"/>
            <a:ext cx="1417320" cy="566928"/>
          </a:xfrm>
          <a:prstGeom prst="rect">
            <a:avLst/>
          </a:prstGeom>
          <a:noFill/>
          <a:ln/>
        </p:spPr>
        <p:txBody>
          <a:bodyPr wrap="square" lIns="635" tIns="635" rIns="635" bIns="635" rtlCol="0" anchor="ctr"/>
          <a:lstStyle/>
          <a:p>
            <a:pPr algn="ctr" indent="0" marL="0">
              <a:buNone/>
            </a:pPr>
            <a:r>
              <a:rPr lang="en-US" sz="1100" dirty="0">
                <a:solidFill>
                  <a:srgbClr val="FFFFFF"/>
                </a:solidFill>
              </a:rPr>
              <a:t>TCP</a:t>
            </a:r>
            <a:endParaRPr lang="en-US" sz="1100" dirty="0"/>
          </a:p>
        </p:txBody>
      </p:sp>
      <p:sp>
        <p:nvSpPr>
          <p:cNvPr id="13" name="box"/>
          <p:cNvSpPr/>
          <p:nvPr/>
        </p:nvSpPr>
        <p:spPr>
          <a:xfrm>
            <a:off x="5029200" y="2112264"/>
            <a:ext cx="1417320" cy="566928"/>
          </a:xfrm>
          <a:prstGeom prst="rect">
            <a:avLst/>
          </a:prstGeom>
          <a:solidFill>
            <a:srgbClr val="B9772A"/>
          </a:solidFill>
          <a:ln w="12700">
            <a:solidFill>
              <a:srgbClr val="B9772A"/>
            </a:solidFill>
            <a:prstDash val="solid"/>
          </a:ln>
        </p:spPr>
      </p:sp>
      <p:sp>
        <p:nvSpPr>
          <p:cNvPr id="14" name="Text 11"/>
          <p:cNvSpPr txBox="1"/>
          <p:nvPr/>
        </p:nvSpPr>
        <p:spPr>
          <a:xfrm>
            <a:off x="5029200" y="2112264"/>
            <a:ext cx="1417320" cy="566928"/>
          </a:xfrm>
          <a:prstGeom prst="rect">
            <a:avLst/>
          </a:prstGeom>
          <a:noFill/>
          <a:ln/>
        </p:spPr>
        <p:txBody>
          <a:bodyPr wrap="square" lIns="635" tIns="635" rIns="635" bIns="635" rtlCol="0" anchor="ctr"/>
          <a:lstStyle/>
          <a:p>
            <a:pPr algn="ctr" indent="0" marL="0">
              <a:buNone/>
            </a:pPr>
            <a:r>
              <a:rPr lang="en-US" sz="1100" dirty="0">
                <a:solidFill>
                  <a:srgbClr val="FFFFFF"/>
                </a:solidFill>
              </a:rPr>
              <a:t>TLS</a:t>
            </a:r>
            <a:endParaRPr lang="en-US" sz="1100" dirty="0"/>
          </a:p>
        </p:txBody>
      </p:sp>
      <p:sp>
        <p:nvSpPr>
          <p:cNvPr id="15" name="box"/>
          <p:cNvSpPr/>
          <p:nvPr/>
        </p:nvSpPr>
        <p:spPr>
          <a:xfrm>
            <a:off x="6492240" y="2112264"/>
            <a:ext cx="1417320" cy="566928"/>
          </a:xfrm>
          <a:prstGeom prst="rect">
            <a:avLst/>
          </a:prstGeom>
          <a:solidFill>
            <a:srgbClr val="B9772A"/>
          </a:solidFill>
          <a:ln w="12700">
            <a:solidFill>
              <a:srgbClr val="B9772A"/>
            </a:solidFill>
            <a:prstDash val="solid"/>
          </a:ln>
        </p:spPr>
      </p:sp>
      <p:sp>
        <p:nvSpPr>
          <p:cNvPr id="16" name="Text 13"/>
          <p:cNvSpPr txBox="1"/>
          <p:nvPr/>
        </p:nvSpPr>
        <p:spPr>
          <a:xfrm>
            <a:off x="6492240" y="2112264"/>
            <a:ext cx="1417320" cy="566928"/>
          </a:xfrm>
          <a:prstGeom prst="rect">
            <a:avLst/>
          </a:prstGeom>
          <a:noFill/>
          <a:ln/>
        </p:spPr>
        <p:txBody>
          <a:bodyPr wrap="square" lIns="635" tIns="635" rIns="635" bIns="635" rtlCol="0" anchor="ctr"/>
          <a:lstStyle/>
          <a:p>
            <a:pPr algn="ctr" indent="0" marL="0">
              <a:buNone/>
            </a:pPr>
            <a:r>
              <a:rPr lang="en-US" sz="1100" dirty="0">
                <a:solidFill>
                  <a:srgbClr val="FFFFFF"/>
                </a:solidFill>
              </a:rPr>
              <a:t>TLS</a:t>
            </a:r>
            <a:endParaRPr lang="en-US" sz="1100" dirty="0"/>
          </a:p>
        </p:txBody>
      </p:sp>
      <p:sp>
        <p:nvSpPr>
          <p:cNvPr id="17" name="box"/>
          <p:cNvSpPr/>
          <p:nvPr/>
        </p:nvSpPr>
        <p:spPr>
          <a:xfrm>
            <a:off x="7955280" y="2112264"/>
            <a:ext cx="1417320" cy="566928"/>
          </a:xfrm>
          <a:prstGeom prst="rect">
            <a:avLst/>
          </a:prstGeom>
          <a:solidFill>
            <a:srgbClr val="2A7F8E"/>
          </a:solidFill>
          <a:ln w="12700">
            <a:solidFill>
              <a:srgbClr val="2A7F8E"/>
            </a:solidFill>
            <a:prstDash val="solid"/>
          </a:ln>
        </p:spPr>
      </p:sp>
      <p:sp>
        <p:nvSpPr>
          <p:cNvPr id="18" name="Text 15"/>
          <p:cNvSpPr txBox="1"/>
          <p:nvPr/>
        </p:nvSpPr>
        <p:spPr>
          <a:xfrm>
            <a:off x="7955280" y="2112264"/>
            <a:ext cx="1417320" cy="566928"/>
          </a:xfrm>
          <a:prstGeom prst="rect">
            <a:avLst/>
          </a:prstGeom>
          <a:noFill/>
          <a:ln/>
        </p:spPr>
        <p:txBody>
          <a:bodyPr wrap="square" lIns="635" tIns="635" rIns="635" bIns="635" rtlCol="0" anchor="ctr"/>
          <a:lstStyle/>
          <a:p>
            <a:pPr algn="ctr" indent="0" marL="0">
              <a:buNone/>
            </a:pPr>
            <a:r>
              <a:rPr lang="en-US" sz="1100" dirty="0">
                <a:solidFill>
                  <a:srgbClr val="FFFFFF"/>
                </a:solidFill>
              </a:rPr>
              <a:t>GET</a:t>
            </a:r>
            <a:endParaRPr lang="en-US" sz="1100" dirty="0"/>
          </a:p>
        </p:txBody>
      </p:sp>
      <p:sp>
        <p:nvSpPr>
          <p:cNvPr id="19" name="Text 16"/>
          <p:cNvSpPr txBox="1"/>
          <p:nvPr/>
        </p:nvSpPr>
        <p:spPr>
          <a:xfrm>
            <a:off x="9555480" y="2221992"/>
            <a:ext cx="1828800" cy="41148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4 RTT = 240 ms</a:t>
            </a:r>
            <a:endParaRPr lang="en-US" sz="1300" dirty="0"/>
          </a:p>
        </p:txBody>
      </p:sp>
      <p:sp>
        <p:nvSpPr>
          <p:cNvPr id="20" name="Text 17"/>
          <p:cNvSpPr txBox="1"/>
          <p:nvPr/>
        </p:nvSpPr>
        <p:spPr>
          <a:xfrm>
            <a:off x="548640" y="3008376"/>
            <a:ext cx="2926080" cy="45720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TCP + TLS 1.3</a:t>
            </a:r>
            <a:endParaRPr lang="en-US" sz="1300" dirty="0"/>
          </a:p>
        </p:txBody>
      </p:sp>
      <p:sp>
        <p:nvSpPr>
          <p:cNvPr id="21" name="box"/>
          <p:cNvSpPr/>
          <p:nvPr/>
        </p:nvSpPr>
        <p:spPr>
          <a:xfrm>
            <a:off x="3566160" y="2898648"/>
            <a:ext cx="1417320" cy="566928"/>
          </a:xfrm>
          <a:prstGeom prst="rect">
            <a:avLst/>
          </a:prstGeom>
          <a:solidFill>
            <a:srgbClr val="5B6770"/>
          </a:solidFill>
          <a:ln w="12700">
            <a:solidFill>
              <a:srgbClr val="5B6770"/>
            </a:solidFill>
            <a:prstDash val="solid"/>
          </a:ln>
        </p:spPr>
      </p:sp>
      <p:sp>
        <p:nvSpPr>
          <p:cNvPr id="22" name="Text 19"/>
          <p:cNvSpPr txBox="1"/>
          <p:nvPr/>
        </p:nvSpPr>
        <p:spPr>
          <a:xfrm>
            <a:off x="3566160" y="2898648"/>
            <a:ext cx="1417320" cy="566928"/>
          </a:xfrm>
          <a:prstGeom prst="rect">
            <a:avLst/>
          </a:prstGeom>
          <a:noFill/>
          <a:ln/>
        </p:spPr>
        <p:txBody>
          <a:bodyPr wrap="square" lIns="635" tIns="635" rIns="635" bIns="635" rtlCol="0" anchor="ctr"/>
          <a:lstStyle/>
          <a:p>
            <a:pPr algn="ctr" indent="0" marL="0">
              <a:buNone/>
            </a:pPr>
            <a:r>
              <a:rPr lang="en-US" sz="1100" dirty="0">
                <a:solidFill>
                  <a:srgbClr val="FFFFFF"/>
                </a:solidFill>
              </a:rPr>
              <a:t>TCP</a:t>
            </a:r>
            <a:endParaRPr lang="en-US" sz="1100" dirty="0"/>
          </a:p>
        </p:txBody>
      </p:sp>
      <p:sp>
        <p:nvSpPr>
          <p:cNvPr id="23" name="box"/>
          <p:cNvSpPr/>
          <p:nvPr/>
        </p:nvSpPr>
        <p:spPr>
          <a:xfrm>
            <a:off x="5029200" y="2898648"/>
            <a:ext cx="1417320" cy="566928"/>
          </a:xfrm>
          <a:prstGeom prst="rect">
            <a:avLst/>
          </a:prstGeom>
          <a:solidFill>
            <a:srgbClr val="B9772A"/>
          </a:solidFill>
          <a:ln w="12700">
            <a:solidFill>
              <a:srgbClr val="B9772A"/>
            </a:solidFill>
            <a:prstDash val="solid"/>
          </a:ln>
        </p:spPr>
      </p:sp>
      <p:sp>
        <p:nvSpPr>
          <p:cNvPr id="24" name="Text 21"/>
          <p:cNvSpPr txBox="1"/>
          <p:nvPr/>
        </p:nvSpPr>
        <p:spPr>
          <a:xfrm>
            <a:off x="5029200" y="2898648"/>
            <a:ext cx="1417320" cy="566928"/>
          </a:xfrm>
          <a:prstGeom prst="rect">
            <a:avLst/>
          </a:prstGeom>
          <a:noFill/>
          <a:ln/>
        </p:spPr>
        <p:txBody>
          <a:bodyPr wrap="square" lIns="635" tIns="635" rIns="635" bIns="635" rtlCol="0" anchor="ctr"/>
          <a:lstStyle/>
          <a:p>
            <a:pPr algn="ctr" indent="0" marL="0">
              <a:buNone/>
            </a:pPr>
            <a:r>
              <a:rPr lang="en-US" sz="1100" dirty="0">
                <a:solidFill>
                  <a:srgbClr val="FFFFFF"/>
                </a:solidFill>
              </a:rPr>
              <a:t>TLS</a:t>
            </a:r>
            <a:endParaRPr lang="en-US" sz="1100" dirty="0"/>
          </a:p>
        </p:txBody>
      </p:sp>
      <p:sp>
        <p:nvSpPr>
          <p:cNvPr id="25" name="box"/>
          <p:cNvSpPr/>
          <p:nvPr/>
        </p:nvSpPr>
        <p:spPr>
          <a:xfrm>
            <a:off x="6492240" y="2898648"/>
            <a:ext cx="1417320" cy="566928"/>
          </a:xfrm>
          <a:prstGeom prst="rect">
            <a:avLst/>
          </a:prstGeom>
          <a:solidFill>
            <a:srgbClr val="2A7F8E"/>
          </a:solidFill>
          <a:ln w="12700">
            <a:solidFill>
              <a:srgbClr val="2A7F8E"/>
            </a:solidFill>
            <a:prstDash val="solid"/>
          </a:ln>
        </p:spPr>
      </p:sp>
      <p:sp>
        <p:nvSpPr>
          <p:cNvPr id="26" name="Text 23"/>
          <p:cNvSpPr txBox="1"/>
          <p:nvPr/>
        </p:nvSpPr>
        <p:spPr>
          <a:xfrm>
            <a:off x="6492240" y="2898648"/>
            <a:ext cx="1417320" cy="566928"/>
          </a:xfrm>
          <a:prstGeom prst="rect">
            <a:avLst/>
          </a:prstGeom>
          <a:noFill/>
          <a:ln/>
        </p:spPr>
        <p:txBody>
          <a:bodyPr wrap="square" lIns="635" tIns="635" rIns="635" bIns="635" rtlCol="0" anchor="ctr"/>
          <a:lstStyle/>
          <a:p>
            <a:pPr algn="ctr" indent="0" marL="0">
              <a:buNone/>
            </a:pPr>
            <a:r>
              <a:rPr lang="en-US" sz="1100" dirty="0">
                <a:solidFill>
                  <a:srgbClr val="FFFFFF"/>
                </a:solidFill>
              </a:rPr>
              <a:t>GET</a:t>
            </a:r>
            <a:endParaRPr lang="en-US" sz="1100" dirty="0"/>
          </a:p>
        </p:txBody>
      </p:sp>
      <p:sp>
        <p:nvSpPr>
          <p:cNvPr id="27" name="Text 24"/>
          <p:cNvSpPr txBox="1"/>
          <p:nvPr/>
        </p:nvSpPr>
        <p:spPr>
          <a:xfrm>
            <a:off x="8092440" y="3008376"/>
            <a:ext cx="1828800" cy="41148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3 RTT = 180 ms</a:t>
            </a:r>
            <a:endParaRPr lang="en-US" sz="1300" dirty="0"/>
          </a:p>
        </p:txBody>
      </p:sp>
      <p:sp>
        <p:nvSpPr>
          <p:cNvPr id="28" name="Text 25"/>
          <p:cNvSpPr txBox="1"/>
          <p:nvPr/>
        </p:nvSpPr>
        <p:spPr>
          <a:xfrm>
            <a:off x="548640" y="3794760"/>
            <a:ext cx="2926080" cy="45720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QUIC (HTTP/3)</a:t>
            </a:r>
            <a:endParaRPr lang="en-US" sz="1300" dirty="0"/>
          </a:p>
        </p:txBody>
      </p:sp>
      <p:sp>
        <p:nvSpPr>
          <p:cNvPr id="29" name="box"/>
          <p:cNvSpPr/>
          <p:nvPr/>
        </p:nvSpPr>
        <p:spPr>
          <a:xfrm>
            <a:off x="3566160" y="3685032"/>
            <a:ext cx="1417320" cy="566928"/>
          </a:xfrm>
          <a:prstGeom prst="rect">
            <a:avLst/>
          </a:prstGeom>
          <a:solidFill>
            <a:srgbClr val="B9772A"/>
          </a:solidFill>
          <a:ln w="12700">
            <a:solidFill>
              <a:srgbClr val="B9772A"/>
            </a:solidFill>
            <a:prstDash val="solid"/>
          </a:ln>
        </p:spPr>
      </p:sp>
      <p:sp>
        <p:nvSpPr>
          <p:cNvPr id="30" name="Text 27"/>
          <p:cNvSpPr txBox="1"/>
          <p:nvPr/>
        </p:nvSpPr>
        <p:spPr>
          <a:xfrm>
            <a:off x="3566160" y="3685032"/>
            <a:ext cx="1417320" cy="566928"/>
          </a:xfrm>
          <a:prstGeom prst="rect">
            <a:avLst/>
          </a:prstGeom>
          <a:noFill/>
          <a:ln/>
        </p:spPr>
        <p:txBody>
          <a:bodyPr wrap="square" lIns="635" tIns="635" rIns="635" bIns="635" rtlCol="0" anchor="ctr"/>
          <a:lstStyle/>
          <a:p>
            <a:pPr algn="ctr" indent="0" marL="0">
              <a:buNone/>
            </a:pPr>
            <a:r>
              <a:rPr lang="en-US" sz="1100" dirty="0">
                <a:solidFill>
                  <a:srgbClr val="FFFFFF"/>
                </a:solidFill>
              </a:rPr>
              <a:t>QUIC + TLS</a:t>
            </a:r>
            <a:endParaRPr lang="en-US" sz="1100" dirty="0"/>
          </a:p>
        </p:txBody>
      </p:sp>
      <p:sp>
        <p:nvSpPr>
          <p:cNvPr id="31" name="box"/>
          <p:cNvSpPr/>
          <p:nvPr/>
        </p:nvSpPr>
        <p:spPr>
          <a:xfrm>
            <a:off x="5029200" y="3685032"/>
            <a:ext cx="1417320" cy="566928"/>
          </a:xfrm>
          <a:prstGeom prst="rect">
            <a:avLst/>
          </a:prstGeom>
          <a:solidFill>
            <a:srgbClr val="2A7F8E"/>
          </a:solidFill>
          <a:ln w="12700">
            <a:solidFill>
              <a:srgbClr val="2A7F8E"/>
            </a:solidFill>
            <a:prstDash val="solid"/>
          </a:ln>
        </p:spPr>
      </p:sp>
      <p:sp>
        <p:nvSpPr>
          <p:cNvPr id="32" name="Text 29"/>
          <p:cNvSpPr txBox="1"/>
          <p:nvPr/>
        </p:nvSpPr>
        <p:spPr>
          <a:xfrm>
            <a:off x="5029200" y="3685032"/>
            <a:ext cx="1417320" cy="566928"/>
          </a:xfrm>
          <a:prstGeom prst="rect">
            <a:avLst/>
          </a:prstGeom>
          <a:noFill/>
          <a:ln/>
        </p:spPr>
        <p:txBody>
          <a:bodyPr wrap="square" lIns="635" tIns="635" rIns="635" bIns="635" rtlCol="0" anchor="ctr"/>
          <a:lstStyle/>
          <a:p>
            <a:pPr algn="ctr" indent="0" marL="0">
              <a:buNone/>
            </a:pPr>
            <a:r>
              <a:rPr lang="en-US" sz="1100" dirty="0">
                <a:solidFill>
                  <a:srgbClr val="FFFFFF"/>
                </a:solidFill>
              </a:rPr>
              <a:t>GET</a:t>
            </a:r>
            <a:endParaRPr lang="en-US" sz="1100" dirty="0"/>
          </a:p>
        </p:txBody>
      </p:sp>
      <p:sp>
        <p:nvSpPr>
          <p:cNvPr id="33" name="Text 30"/>
          <p:cNvSpPr txBox="1"/>
          <p:nvPr/>
        </p:nvSpPr>
        <p:spPr>
          <a:xfrm>
            <a:off x="6629400" y="3794760"/>
            <a:ext cx="1828800" cy="41148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2 RTT = 120 ms</a:t>
            </a:r>
            <a:endParaRPr lang="en-US" sz="1300" dirty="0"/>
          </a:p>
        </p:txBody>
      </p:sp>
      <p:sp>
        <p:nvSpPr>
          <p:cNvPr id="34" name="Text 31"/>
          <p:cNvSpPr txBox="1"/>
          <p:nvPr/>
        </p:nvSpPr>
        <p:spPr>
          <a:xfrm>
            <a:off x="548640" y="4581144"/>
            <a:ext cx="2926080" cy="45720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QUIC 0-RTT resumption</a:t>
            </a:r>
            <a:endParaRPr lang="en-US" sz="1300" dirty="0"/>
          </a:p>
        </p:txBody>
      </p:sp>
      <p:sp>
        <p:nvSpPr>
          <p:cNvPr id="35" name="box"/>
          <p:cNvSpPr/>
          <p:nvPr/>
        </p:nvSpPr>
        <p:spPr>
          <a:xfrm>
            <a:off x="3566160" y="4471416"/>
            <a:ext cx="1417320" cy="566928"/>
          </a:xfrm>
          <a:prstGeom prst="rect">
            <a:avLst/>
          </a:prstGeom>
          <a:solidFill>
            <a:srgbClr val="2A7F8E"/>
          </a:solidFill>
          <a:ln w="12700">
            <a:solidFill>
              <a:srgbClr val="2A7F8E"/>
            </a:solidFill>
            <a:prstDash val="solid"/>
          </a:ln>
        </p:spPr>
      </p:sp>
      <p:sp>
        <p:nvSpPr>
          <p:cNvPr id="36" name="Text 33"/>
          <p:cNvSpPr txBox="1"/>
          <p:nvPr/>
        </p:nvSpPr>
        <p:spPr>
          <a:xfrm>
            <a:off x="3566160" y="4471416"/>
            <a:ext cx="1417320" cy="566928"/>
          </a:xfrm>
          <a:prstGeom prst="rect">
            <a:avLst/>
          </a:prstGeom>
          <a:noFill/>
          <a:ln/>
        </p:spPr>
        <p:txBody>
          <a:bodyPr wrap="square" lIns="635" tIns="635" rIns="635" bIns="635" rtlCol="0" anchor="ctr"/>
          <a:lstStyle/>
          <a:p>
            <a:pPr algn="ctr" indent="0" marL="0">
              <a:buNone/>
            </a:pPr>
            <a:r>
              <a:rPr lang="en-US" sz="1100" dirty="0">
                <a:solidFill>
                  <a:srgbClr val="FFFFFF"/>
                </a:solidFill>
              </a:rPr>
              <a:t>GET in first packet</a:t>
            </a:r>
            <a:endParaRPr lang="en-US" sz="1100" dirty="0"/>
          </a:p>
        </p:txBody>
      </p:sp>
      <p:sp>
        <p:nvSpPr>
          <p:cNvPr id="37" name="Text 34"/>
          <p:cNvSpPr txBox="1"/>
          <p:nvPr/>
        </p:nvSpPr>
        <p:spPr>
          <a:xfrm>
            <a:off x="5166360" y="4581144"/>
            <a:ext cx="1828800" cy="41148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1 RTT = 60 ms</a:t>
            </a:r>
            <a:endParaRPr lang="en-US" sz="1300" dirty="0"/>
          </a:p>
        </p:txBody>
      </p:sp>
      <p:sp>
        <p:nvSpPr>
          <p:cNvPr id="3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9" name="Text 3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Every round trip removed is felt on every new connection: TLS 1.3 and QUIC exist largely for this.</a:t>
            </a:r>
            <a:endParaRPr lang="en-US" sz="1400" dirty="0"/>
          </a:p>
        </p:txBody>
      </p:sp>
      <p:sp>
        <p:nvSpPr>
          <p:cNvPr id="40" name="Text 37"/>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HTTP (HyperText Transfer Protocol) · QUIC (a transport protocol over UDP, User Datagram Protocol; first named Quick UDP Internet Connections) · TCP (Transmission Control Protocol) · TLS (Transport Layer Security) · RTT (round-trip time)</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 The TLS 1.3 handshake</a:t>
            </a:r>
            <a:endParaRPr lang="en-US" sz="3000" dirty="0"/>
          </a:p>
        </p:txBody>
      </p:sp>
      <p:sp>
        <p:nvSpPr>
          <p:cNvPr id="4" name="box"/>
          <p:cNvSpPr/>
          <p:nvPr/>
        </p:nvSpPr>
        <p:spPr>
          <a:xfrm>
            <a:off x="1280160" y="1325880"/>
            <a:ext cx="1645920" cy="384048"/>
          </a:xfrm>
          <a:prstGeom prst="roundRect">
            <a:avLst>
              <a:gd name="adj" fmla="val 19048"/>
            </a:avLst>
          </a:prstGeom>
          <a:solidFill>
            <a:srgbClr val="1F3A5F"/>
          </a:solidFill>
          <a:ln w="12700">
            <a:solidFill>
              <a:srgbClr val="1F3A5F"/>
            </a:solidFill>
            <a:prstDash val="solid"/>
          </a:ln>
        </p:spPr>
      </p:sp>
      <p:sp>
        <p:nvSpPr>
          <p:cNvPr id="5" name="Text 2"/>
          <p:cNvSpPr txBox="1"/>
          <p:nvPr/>
        </p:nvSpPr>
        <p:spPr>
          <a:xfrm>
            <a:off x="128016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client</a:t>
            </a:r>
            <a:endParaRPr lang="en-US" sz="1300" dirty="0"/>
          </a:p>
        </p:txBody>
      </p:sp>
      <p:sp>
        <p:nvSpPr>
          <p:cNvPr id="6" name="Shape 3"/>
          <p:cNvSpPr/>
          <p:nvPr/>
        </p:nvSpPr>
        <p:spPr>
          <a:xfrm>
            <a:off x="2103120" y="1783080"/>
            <a:ext cx="914" cy="2788920"/>
          </a:xfrm>
          <a:prstGeom prst="line">
            <a:avLst/>
          </a:prstGeom>
          <a:noFill/>
          <a:ln w="25400">
            <a:solidFill>
              <a:srgbClr val="1F3A5F"/>
            </a:solidFill>
            <a:prstDash val="solid"/>
          </a:ln>
        </p:spPr>
      </p:sp>
      <p:sp>
        <p:nvSpPr>
          <p:cNvPr id="7" name="box"/>
          <p:cNvSpPr/>
          <p:nvPr/>
        </p:nvSpPr>
        <p:spPr>
          <a:xfrm>
            <a:off x="8869680" y="1325880"/>
            <a:ext cx="1645920" cy="384048"/>
          </a:xfrm>
          <a:prstGeom prst="roundRect">
            <a:avLst>
              <a:gd name="adj" fmla="val 19048"/>
            </a:avLst>
          </a:prstGeom>
          <a:solidFill>
            <a:srgbClr val="2A7F8E"/>
          </a:solidFill>
          <a:ln w="12700">
            <a:solidFill>
              <a:srgbClr val="2A7F8E"/>
            </a:solidFill>
            <a:prstDash val="solid"/>
          </a:ln>
        </p:spPr>
      </p:sp>
      <p:sp>
        <p:nvSpPr>
          <p:cNvPr id="8" name="Text 5"/>
          <p:cNvSpPr txBox="1"/>
          <p:nvPr/>
        </p:nvSpPr>
        <p:spPr>
          <a:xfrm>
            <a:off x="886968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server</a:t>
            </a:r>
            <a:endParaRPr lang="en-US" sz="1300" dirty="0"/>
          </a:p>
        </p:txBody>
      </p:sp>
      <p:sp>
        <p:nvSpPr>
          <p:cNvPr id="9" name="Shape 6"/>
          <p:cNvSpPr/>
          <p:nvPr/>
        </p:nvSpPr>
        <p:spPr>
          <a:xfrm>
            <a:off x="9692640" y="1783080"/>
            <a:ext cx="914" cy="2788920"/>
          </a:xfrm>
          <a:prstGeom prst="line">
            <a:avLst/>
          </a:prstGeom>
          <a:noFill/>
          <a:ln w="25400">
            <a:solidFill>
              <a:srgbClr val="1F3A5F"/>
            </a:solidFill>
            <a:prstDash val="solid"/>
          </a:ln>
        </p:spPr>
      </p:sp>
      <p:sp>
        <p:nvSpPr>
          <p:cNvPr id="10" name="Shape 7"/>
          <p:cNvSpPr/>
          <p:nvPr/>
        </p:nvSpPr>
        <p:spPr>
          <a:xfrm>
            <a:off x="2103120" y="1965960"/>
            <a:ext cx="7589520" cy="274320"/>
          </a:xfrm>
          <a:prstGeom prst="line">
            <a:avLst/>
          </a:prstGeom>
          <a:noFill/>
          <a:ln w="25400">
            <a:solidFill>
              <a:srgbClr val="1F3A5F"/>
            </a:solidFill>
            <a:prstDash val="solid"/>
            <a:tailEnd type="triangle"/>
          </a:ln>
        </p:spPr>
      </p:sp>
      <p:sp>
        <p:nvSpPr>
          <p:cNvPr id="11" name="Text 8"/>
          <p:cNvSpPr txBox="1"/>
          <p:nvPr/>
        </p:nvSpPr>
        <p:spPr>
          <a:xfrm>
            <a:off x="2926080" y="1655064"/>
            <a:ext cx="59436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ClientHello · cipher suites · </a:t>
            </a:r>
            <a:r>
              <a:rPr lang="en-US" sz="1200" b="1" dirty="0">
                <a:solidFill>
                  <a:srgbClr val="1F3A5F"/>
                </a:solidFill>
              </a:rPr>
              <a:t>key share</a:t>
            </a:r>
            <a:r>
              <a:rPr lang="en-US" sz="1200" dirty="0">
                <a:solidFill>
                  <a:srgbClr val="1F3A5F"/>
                </a:solidFill>
              </a:rPr>
              <a:t> · SNI</a:t>
            </a:r>
            <a:endParaRPr lang="en-US" sz="1200" dirty="0"/>
          </a:p>
        </p:txBody>
      </p:sp>
      <p:sp>
        <p:nvSpPr>
          <p:cNvPr id="12" name="Shape 9"/>
          <p:cNvSpPr/>
          <p:nvPr/>
        </p:nvSpPr>
        <p:spPr>
          <a:xfrm flipH="1">
            <a:off x="2103120" y="2606040"/>
            <a:ext cx="7589520" cy="274320"/>
          </a:xfrm>
          <a:prstGeom prst="line">
            <a:avLst/>
          </a:prstGeom>
          <a:noFill/>
          <a:ln w="25400">
            <a:solidFill>
              <a:srgbClr val="2A7F8E"/>
            </a:solidFill>
            <a:prstDash val="solid"/>
            <a:tailEnd type="triangle"/>
          </a:ln>
        </p:spPr>
      </p:sp>
      <p:sp>
        <p:nvSpPr>
          <p:cNvPr id="13" name="Text 10"/>
          <p:cNvSpPr txBox="1"/>
          <p:nvPr/>
        </p:nvSpPr>
        <p:spPr>
          <a:xfrm>
            <a:off x="3840480" y="2295144"/>
            <a:ext cx="41148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2A7F8E"/>
                </a:solidFill>
              </a:rPr>
              <a:t>ServerHello · </a:t>
            </a:r>
            <a:r>
              <a:rPr lang="en-US" sz="1200" b="1" dirty="0">
                <a:solidFill>
                  <a:srgbClr val="2A7F8E"/>
                </a:solidFill>
              </a:rPr>
              <a:t>key share</a:t>
            </a:r>
            <a:endParaRPr lang="en-US" sz="1200" dirty="0"/>
          </a:p>
        </p:txBody>
      </p:sp>
      <p:sp>
        <p:nvSpPr>
          <p:cNvPr id="14" name="Shape 11"/>
          <p:cNvSpPr/>
          <p:nvPr/>
        </p:nvSpPr>
        <p:spPr>
          <a:xfrm flipH="1">
            <a:off x="2103120" y="3246120"/>
            <a:ext cx="7589520" cy="274320"/>
          </a:xfrm>
          <a:prstGeom prst="line">
            <a:avLst/>
          </a:prstGeom>
          <a:noFill/>
          <a:ln w="25400">
            <a:solidFill>
              <a:srgbClr val="B9772A"/>
            </a:solidFill>
            <a:prstDash val="solid"/>
            <a:tailEnd type="triangle"/>
          </a:ln>
        </p:spPr>
      </p:sp>
      <p:sp>
        <p:nvSpPr>
          <p:cNvPr id="15" name="Text 12"/>
          <p:cNvSpPr txBox="1"/>
          <p:nvPr/>
        </p:nvSpPr>
        <p:spPr>
          <a:xfrm>
            <a:off x="2606040" y="2935224"/>
            <a:ext cx="658368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B9772A"/>
                </a:solidFill>
              </a:rPr>
              <a:t>encrypted: </a:t>
            </a:r>
            <a:r>
              <a:rPr lang="en-US" sz="1200" b="1" dirty="0">
                <a:solidFill>
                  <a:srgbClr val="B9772A"/>
                </a:solidFill>
              </a:rPr>
              <a:t>Certificate</a:t>
            </a:r>
            <a:r>
              <a:rPr lang="en-US" sz="1200" dirty="0">
                <a:solidFill>
                  <a:srgbClr val="B9772A"/>
                </a:solidFill>
              </a:rPr>
              <a:t> · </a:t>
            </a:r>
            <a:r>
              <a:rPr lang="en-US" sz="1200" b="1" dirty="0">
                <a:solidFill>
                  <a:srgbClr val="B9772A"/>
                </a:solidFill>
              </a:rPr>
              <a:t>CertificateVerify</a:t>
            </a:r>
            <a:r>
              <a:rPr lang="en-US" sz="1200" dirty="0">
                <a:solidFill>
                  <a:srgbClr val="B9772A"/>
                </a:solidFill>
              </a:rPr>
              <a:t> (signature) · Finished</a:t>
            </a:r>
            <a:endParaRPr lang="en-US" sz="1200" dirty="0"/>
          </a:p>
        </p:txBody>
      </p:sp>
      <p:sp>
        <p:nvSpPr>
          <p:cNvPr id="16" name="Shape 13"/>
          <p:cNvSpPr/>
          <p:nvPr/>
        </p:nvSpPr>
        <p:spPr>
          <a:xfrm>
            <a:off x="2103120" y="3931920"/>
            <a:ext cx="7589520" cy="274320"/>
          </a:xfrm>
          <a:prstGeom prst="line">
            <a:avLst/>
          </a:prstGeom>
          <a:noFill/>
          <a:ln w="25400">
            <a:solidFill>
              <a:srgbClr val="2E7D4F"/>
            </a:solidFill>
            <a:prstDash val="solid"/>
            <a:tailEnd type="triangle"/>
          </a:ln>
        </p:spPr>
      </p:sp>
      <p:sp>
        <p:nvSpPr>
          <p:cNvPr id="17" name="Text 14"/>
          <p:cNvSpPr txBox="1"/>
          <p:nvPr/>
        </p:nvSpPr>
        <p:spPr>
          <a:xfrm>
            <a:off x="3383280" y="3621024"/>
            <a:ext cx="50292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2E7D4F"/>
                </a:solidFill>
              </a:rPr>
              <a:t>Finished + </a:t>
            </a:r>
            <a:r>
              <a:rPr lang="en-US" sz="1200" b="1" dirty="0">
                <a:solidFill>
                  <a:srgbClr val="2E7D4F"/>
                </a:solidFill>
              </a:rPr>
              <a:t>GET /inbox</a:t>
            </a:r>
            <a:r>
              <a:rPr lang="en-US" sz="1200" dirty="0">
                <a:solidFill>
                  <a:srgbClr val="2E7D4F"/>
                </a:solidFill>
              </a:rPr>
              <a:t> (encrypted)</a:t>
            </a:r>
            <a:endParaRPr lang="en-US" sz="1200" dirty="0"/>
          </a:p>
        </p:txBody>
      </p:sp>
      <p:sp>
        <p:nvSpPr>
          <p:cNvPr id="18" name="Text 15"/>
          <p:cNvSpPr txBox="1"/>
          <p:nvPr/>
        </p:nvSpPr>
        <p:spPr>
          <a:xfrm>
            <a:off x="457200" y="2103120"/>
            <a:ext cx="1463040" cy="548640"/>
          </a:xfrm>
          <a:prstGeom prst="rect">
            <a:avLst/>
          </a:prstGeom>
          <a:noFill/>
          <a:ln/>
        </p:spPr>
        <p:txBody>
          <a:bodyPr wrap="square" lIns="0" tIns="0" rIns="0" bIns="0" rtlCol="0" anchor="t"/>
          <a:lstStyle/>
          <a:p>
            <a:pPr algn="ctr" indent="0" marL="0">
              <a:spcAft>
                <a:spcPts val="400"/>
              </a:spcAft>
              <a:buNone/>
            </a:pPr>
            <a:r>
              <a:rPr lang="en-US" sz="1300" b="1" dirty="0">
                <a:solidFill>
                  <a:srgbClr val="B9772A"/>
                </a:solidFill>
              </a:rPr>
              <a:t>1 RTT</a:t>
            </a:r>
            <a:endParaRPr lang="en-US" sz="1300" dirty="0"/>
          </a:p>
        </p:txBody>
      </p:sp>
      <p:sp>
        <p:nvSpPr>
          <p:cNvPr id="19" name="Shape 16"/>
          <p:cNvSpPr/>
          <p:nvPr/>
        </p:nvSpPr>
        <p:spPr>
          <a:xfrm>
            <a:off x="548640" y="4864608"/>
            <a:ext cx="384048" cy="384048"/>
          </a:xfrm>
          <a:prstGeom prst="ellipse">
            <a:avLst/>
          </a:prstGeom>
          <a:solidFill>
            <a:srgbClr val="B9772A"/>
          </a:solidFill>
          <a:ln w="12700">
            <a:solidFill>
              <a:srgbClr val="B9772A"/>
            </a:solidFill>
            <a:prstDash val="solid"/>
          </a:ln>
        </p:spPr>
      </p:sp>
      <p:sp>
        <p:nvSpPr>
          <p:cNvPr id="20" name="Text 17"/>
          <p:cNvSpPr txBox="1"/>
          <p:nvPr/>
        </p:nvSpPr>
        <p:spPr>
          <a:xfrm>
            <a:off x="548640" y="4864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1" name="Text 18"/>
          <p:cNvSpPr txBox="1"/>
          <p:nvPr/>
        </p:nvSpPr>
        <p:spPr>
          <a:xfrm>
            <a:off x="1051560" y="4846320"/>
            <a:ext cx="4892040" cy="73152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Key shares: elliptic-curve Diffie–Hellman.</a:t>
            </a:r>
            <a:endParaRPr lang="en-US" sz="1200" dirty="0"/>
          </a:p>
        </p:txBody>
      </p:sp>
      <p:sp>
        <p:nvSpPr>
          <p:cNvPr id="22" name="Shape 19"/>
          <p:cNvSpPr/>
          <p:nvPr/>
        </p:nvSpPr>
        <p:spPr>
          <a:xfrm>
            <a:off x="6126480" y="4864608"/>
            <a:ext cx="384048" cy="384048"/>
          </a:xfrm>
          <a:prstGeom prst="ellipse">
            <a:avLst/>
          </a:prstGeom>
          <a:solidFill>
            <a:srgbClr val="B9772A"/>
          </a:solidFill>
          <a:ln w="12700">
            <a:solidFill>
              <a:srgbClr val="B9772A"/>
            </a:solidFill>
            <a:prstDash val="solid"/>
          </a:ln>
        </p:spPr>
      </p:sp>
      <p:sp>
        <p:nvSpPr>
          <p:cNvPr id="23" name="Text 20"/>
          <p:cNvSpPr txBox="1"/>
          <p:nvPr/>
        </p:nvSpPr>
        <p:spPr>
          <a:xfrm>
            <a:off x="6126480" y="4864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4" name="Text 21"/>
          <p:cNvSpPr txBox="1"/>
          <p:nvPr/>
        </p:nvSpPr>
        <p:spPr>
          <a:xfrm>
            <a:off x="6629400" y="4846320"/>
            <a:ext cx="4983480" cy="73152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The signature proves the server holds the private key.</a:t>
            </a:r>
            <a:endParaRPr lang="en-US" sz="1200" dirty="0"/>
          </a:p>
        </p:txBody>
      </p:sp>
      <p:sp>
        <p:nvSpPr>
          <p:cNvPr id="25"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6" name="Text 23"/>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One round trip: key shares cross, the server proves its identity, and data flows.</a:t>
            </a:r>
            <a:endParaRPr lang="en-US" sz="1400" dirty="0"/>
          </a:p>
        </p:txBody>
      </p:sp>
      <p:sp>
        <p:nvSpPr>
          <p:cNvPr id="27" name="Text 24"/>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TLS (Transport Layer Security) · RTT (round-trip time) · SNI (Server Name Indication)</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 Certificates and the chain of trust</a:t>
            </a:r>
            <a:endParaRPr lang="en-US" sz="3000" dirty="0"/>
          </a:p>
        </p:txBody>
      </p:sp>
      <p:sp>
        <p:nvSpPr>
          <p:cNvPr id="4" name="box"/>
          <p:cNvSpPr/>
          <p:nvPr/>
        </p:nvSpPr>
        <p:spPr>
          <a:xfrm>
            <a:off x="548640" y="1325880"/>
            <a:ext cx="5120640" cy="1005840"/>
          </a:xfrm>
          <a:prstGeom prst="roundRect">
            <a:avLst>
              <a:gd name="adj" fmla="val 7273"/>
            </a:avLst>
          </a:prstGeom>
          <a:solidFill>
            <a:srgbClr val="1F3A5F"/>
          </a:solidFill>
          <a:ln w="12700">
            <a:solidFill>
              <a:srgbClr val="1F3A5F"/>
            </a:solidFill>
            <a:prstDash val="solid"/>
          </a:ln>
        </p:spPr>
      </p:sp>
      <p:sp>
        <p:nvSpPr>
          <p:cNvPr id="5" name="Text 2"/>
          <p:cNvSpPr txBox="1"/>
          <p:nvPr/>
        </p:nvSpPr>
        <p:spPr>
          <a:xfrm>
            <a:off x="548640" y="1325880"/>
            <a:ext cx="5120640" cy="1005840"/>
          </a:xfrm>
          <a:prstGeom prst="rect">
            <a:avLst/>
          </a:prstGeom>
          <a:noFill/>
          <a:ln/>
        </p:spPr>
        <p:txBody>
          <a:bodyPr wrap="square" lIns="635" tIns="635" rIns="635" bIns="635" rtlCol="0" anchor="ctr"/>
          <a:lstStyle/>
          <a:p>
            <a:pPr algn="ctr" indent="0" marL="0">
              <a:buNone/>
            </a:pPr>
            <a:r>
              <a:rPr lang="en-US" sz="1300" b="1" dirty="0">
                <a:solidFill>
                  <a:srgbClr val="FFFFFF"/>
                </a:solidFill>
              </a:rPr>
              <a:t>root CA</a:t>
            </a:r>
            <a:r>
              <a:rPr lang="en-US" sz="1300" dirty="0">
                <a:solidFill>
                  <a:srgbClr val="FFFFFF"/>
                </a:solidFill>
              </a:rPr>
              <a:t> · ISRG Root X1</a:t>
            </a:r>
            <a:endParaRPr lang="en-US" sz="1300" dirty="0"/>
          </a:p>
          <a:p>
            <a:pPr algn="ctr" indent="0" marL="0">
              <a:buNone/>
            </a:pPr>
            <a:r>
              <a:rPr lang="en-US" sz="1300" dirty="0">
                <a:solidFill>
                  <a:srgbClr val="FFFFFF"/>
                </a:solidFill>
              </a:rPr>
              <a:t>self-signed · in the trust store of the OS or browser</a:t>
            </a:r>
            <a:endParaRPr lang="en-US" sz="1300" dirty="0"/>
          </a:p>
        </p:txBody>
      </p:sp>
      <p:sp>
        <p:nvSpPr>
          <p:cNvPr id="6" name="Shape 3"/>
          <p:cNvSpPr/>
          <p:nvPr/>
        </p:nvSpPr>
        <p:spPr>
          <a:xfrm>
            <a:off x="3108960" y="2331720"/>
            <a:ext cx="914" cy="320040"/>
          </a:xfrm>
          <a:prstGeom prst="line">
            <a:avLst/>
          </a:prstGeom>
          <a:noFill/>
          <a:ln w="25400">
            <a:solidFill>
              <a:srgbClr val="5B6770"/>
            </a:solidFill>
            <a:prstDash val="solid"/>
            <a:tailEnd type="triangle"/>
          </a:ln>
        </p:spPr>
      </p:sp>
      <p:sp>
        <p:nvSpPr>
          <p:cNvPr id="7" name="Text 4"/>
          <p:cNvSpPr txBox="1"/>
          <p:nvPr/>
        </p:nvSpPr>
        <p:spPr>
          <a:xfrm>
            <a:off x="3337560" y="2350008"/>
            <a:ext cx="82296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5B6770"/>
                </a:solidFill>
              </a:rPr>
              <a:t>signs</a:t>
            </a:r>
            <a:endParaRPr lang="en-US" sz="1200" dirty="0"/>
          </a:p>
        </p:txBody>
      </p:sp>
      <p:sp>
        <p:nvSpPr>
          <p:cNvPr id="8" name="box"/>
          <p:cNvSpPr/>
          <p:nvPr/>
        </p:nvSpPr>
        <p:spPr>
          <a:xfrm>
            <a:off x="548640" y="2651760"/>
            <a:ext cx="5120640" cy="1005840"/>
          </a:xfrm>
          <a:prstGeom prst="roundRect">
            <a:avLst>
              <a:gd name="adj" fmla="val 7273"/>
            </a:avLst>
          </a:prstGeom>
          <a:solidFill>
            <a:srgbClr val="2A7F8E"/>
          </a:solidFill>
          <a:ln w="12700">
            <a:solidFill>
              <a:srgbClr val="2A7F8E"/>
            </a:solidFill>
            <a:prstDash val="solid"/>
          </a:ln>
        </p:spPr>
      </p:sp>
      <p:sp>
        <p:nvSpPr>
          <p:cNvPr id="9" name="Text 6"/>
          <p:cNvSpPr txBox="1"/>
          <p:nvPr/>
        </p:nvSpPr>
        <p:spPr>
          <a:xfrm>
            <a:off x="548640" y="2651760"/>
            <a:ext cx="5120640" cy="1005840"/>
          </a:xfrm>
          <a:prstGeom prst="rect">
            <a:avLst/>
          </a:prstGeom>
          <a:noFill/>
          <a:ln/>
        </p:spPr>
        <p:txBody>
          <a:bodyPr wrap="square" lIns="635" tIns="635" rIns="635" bIns="635" rtlCol="0" anchor="ctr"/>
          <a:lstStyle/>
          <a:p>
            <a:pPr algn="ctr" indent="0" marL="0">
              <a:buNone/>
            </a:pPr>
            <a:r>
              <a:rPr lang="en-US" sz="1300" b="1" dirty="0">
                <a:solidFill>
                  <a:srgbClr val="FFFFFF"/>
                </a:solidFill>
              </a:rPr>
              <a:t>intermediate CA</a:t>
            </a:r>
            <a:r>
              <a:rPr lang="en-US" sz="1300" dirty="0">
                <a:solidFill>
                  <a:srgbClr val="FFFFFF"/>
                </a:solidFill>
              </a:rPr>
              <a:t> · R11</a:t>
            </a:r>
            <a:endParaRPr lang="en-US" sz="1300" dirty="0"/>
          </a:p>
          <a:p>
            <a:pPr algn="ctr" indent="0" marL="0">
              <a:buNone/>
            </a:pPr>
            <a:r>
              <a:rPr lang="en-US" sz="1300" dirty="0">
                <a:solidFill>
                  <a:srgbClr val="FFFFFF"/>
                </a:solidFill>
              </a:rPr>
              <a:t>signed by the root</a:t>
            </a:r>
            <a:endParaRPr lang="en-US" sz="1300" dirty="0"/>
          </a:p>
        </p:txBody>
      </p:sp>
      <p:sp>
        <p:nvSpPr>
          <p:cNvPr id="10" name="Shape 7"/>
          <p:cNvSpPr/>
          <p:nvPr/>
        </p:nvSpPr>
        <p:spPr>
          <a:xfrm>
            <a:off x="3108960" y="3657600"/>
            <a:ext cx="914" cy="320040"/>
          </a:xfrm>
          <a:prstGeom prst="line">
            <a:avLst/>
          </a:prstGeom>
          <a:noFill/>
          <a:ln w="25400">
            <a:solidFill>
              <a:srgbClr val="5B6770"/>
            </a:solidFill>
            <a:prstDash val="solid"/>
            <a:tailEnd type="triangle"/>
          </a:ln>
        </p:spPr>
      </p:sp>
      <p:sp>
        <p:nvSpPr>
          <p:cNvPr id="11" name="Text 8"/>
          <p:cNvSpPr txBox="1"/>
          <p:nvPr/>
        </p:nvSpPr>
        <p:spPr>
          <a:xfrm>
            <a:off x="3337560" y="3675888"/>
            <a:ext cx="82296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5B6770"/>
                </a:solidFill>
              </a:rPr>
              <a:t>signs</a:t>
            </a:r>
            <a:endParaRPr lang="en-US" sz="1200" dirty="0"/>
          </a:p>
        </p:txBody>
      </p:sp>
      <p:sp>
        <p:nvSpPr>
          <p:cNvPr id="12" name="box"/>
          <p:cNvSpPr/>
          <p:nvPr/>
        </p:nvSpPr>
        <p:spPr>
          <a:xfrm>
            <a:off x="548640" y="3977640"/>
            <a:ext cx="5120640" cy="1005840"/>
          </a:xfrm>
          <a:prstGeom prst="roundRect">
            <a:avLst>
              <a:gd name="adj" fmla="val 7273"/>
            </a:avLst>
          </a:prstGeom>
          <a:solidFill>
            <a:srgbClr val="B9772A"/>
          </a:solidFill>
          <a:ln w="12700">
            <a:solidFill>
              <a:srgbClr val="B9772A"/>
            </a:solidFill>
            <a:prstDash val="solid"/>
          </a:ln>
        </p:spPr>
      </p:sp>
      <p:sp>
        <p:nvSpPr>
          <p:cNvPr id="13" name="Text 10"/>
          <p:cNvSpPr txBox="1"/>
          <p:nvPr/>
        </p:nvSpPr>
        <p:spPr>
          <a:xfrm>
            <a:off x="548640" y="3977640"/>
            <a:ext cx="5120640" cy="1005840"/>
          </a:xfrm>
          <a:prstGeom prst="rect">
            <a:avLst/>
          </a:prstGeom>
          <a:noFill/>
          <a:ln/>
        </p:spPr>
        <p:txBody>
          <a:bodyPr wrap="square" lIns="635" tIns="635" rIns="635" bIns="635" rtlCol="0" anchor="ctr"/>
          <a:lstStyle/>
          <a:p>
            <a:pPr algn="ctr" indent="0" marL="0">
              <a:buNone/>
            </a:pPr>
            <a:r>
              <a:rPr lang="en-US" sz="1300" b="1" dirty="0">
                <a:solidFill>
                  <a:srgbClr val="FFFFFF"/>
                </a:solidFill>
              </a:rPr>
              <a:t>server certificate</a:t>
            </a:r>
            <a:r>
              <a:rPr lang="en-US" sz="1300" dirty="0">
                <a:solidFill>
                  <a:srgbClr val="FFFFFF"/>
                </a:solidFill>
              </a:rPr>
              <a:t> · www.shop.ro</a:t>
            </a:r>
            <a:endParaRPr lang="en-US" sz="1300" dirty="0"/>
          </a:p>
          <a:p>
            <a:pPr algn="ctr" indent="0" marL="0">
              <a:buNone/>
            </a:pPr>
            <a:r>
              <a:rPr lang="en-US" sz="1300" dirty="0">
                <a:solidFill>
                  <a:srgbClr val="FFFFFF"/>
                </a:solidFill>
              </a:rPr>
              <a:t>public key of the server · signed by R11</a:t>
            </a:r>
            <a:endParaRPr lang="en-US" sz="1300" dirty="0"/>
          </a:p>
        </p:txBody>
      </p:sp>
      <p:sp>
        <p:nvSpPr>
          <p:cNvPr id="14" name="Shape 11"/>
          <p:cNvSpPr/>
          <p:nvPr/>
        </p:nvSpPr>
        <p:spPr>
          <a:xfrm>
            <a:off x="6217920" y="1389888"/>
            <a:ext cx="384048" cy="384048"/>
          </a:xfrm>
          <a:prstGeom prst="ellipse">
            <a:avLst/>
          </a:prstGeom>
          <a:solidFill>
            <a:srgbClr val="2E7D4F"/>
          </a:solidFill>
          <a:ln w="12700">
            <a:solidFill>
              <a:srgbClr val="2E7D4F"/>
            </a:solidFill>
            <a:prstDash val="solid"/>
          </a:ln>
        </p:spPr>
      </p:sp>
      <p:sp>
        <p:nvSpPr>
          <p:cNvPr id="15" name="Text 12"/>
          <p:cNvSpPr txBox="1"/>
          <p:nvPr/>
        </p:nvSpPr>
        <p:spPr>
          <a:xfrm>
            <a:off x="6217920" y="1389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6" name="Text 13"/>
          <p:cNvSpPr txBox="1"/>
          <p:nvPr/>
        </p:nvSpPr>
        <p:spPr>
          <a:xfrm>
            <a:off x="6720840" y="1371600"/>
            <a:ext cx="4892040" cy="7772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name matches what the user asked for</a:t>
            </a:r>
            <a:endParaRPr lang="en-US" sz="1300" dirty="0"/>
          </a:p>
        </p:txBody>
      </p:sp>
      <p:sp>
        <p:nvSpPr>
          <p:cNvPr id="17" name="Shape 14"/>
          <p:cNvSpPr/>
          <p:nvPr/>
        </p:nvSpPr>
        <p:spPr>
          <a:xfrm>
            <a:off x="6217920" y="2258568"/>
            <a:ext cx="384048" cy="384048"/>
          </a:xfrm>
          <a:prstGeom prst="ellipse">
            <a:avLst/>
          </a:prstGeom>
          <a:solidFill>
            <a:srgbClr val="2E7D4F"/>
          </a:solidFill>
          <a:ln w="12700">
            <a:solidFill>
              <a:srgbClr val="2E7D4F"/>
            </a:solidFill>
            <a:prstDash val="solid"/>
          </a:ln>
        </p:spPr>
      </p:sp>
      <p:sp>
        <p:nvSpPr>
          <p:cNvPr id="18" name="Text 15"/>
          <p:cNvSpPr txBox="1"/>
          <p:nvPr/>
        </p:nvSpPr>
        <p:spPr>
          <a:xfrm>
            <a:off x="6217920" y="2258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9" name="Text 16"/>
          <p:cNvSpPr txBox="1"/>
          <p:nvPr/>
        </p:nvSpPr>
        <p:spPr>
          <a:xfrm>
            <a:off x="6720840" y="2240280"/>
            <a:ext cx="4892040" cy="7772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within its validity dates</a:t>
            </a:r>
            <a:endParaRPr lang="en-US" sz="1300" dirty="0"/>
          </a:p>
        </p:txBody>
      </p:sp>
      <p:sp>
        <p:nvSpPr>
          <p:cNvPr id="20" name="Shape 17"/>
          <p:cNvSpPr/>
          <p:nvPr/>
        </p:nvSpPr>
        <p:spPr>
          <a:xfrm>
            <a:off x="6217920" y="3127248"/>
            <a:ext cx="384048" cy="384048"/>
          </a:xfrm>
          <a:prstGeom prst="ellipse">
            <a:avLst/>
          </a:prstGeom>
          <a:solidFill>
            <a:srgbClr val="2E7D4F"/>
          </a:solidFill>
          <a:ln w="12700">
            <a:solidFill>
              <a:srgbClr val="2E7D4F"/>
            </a:solidFill>
            <a:prstDash val="solid"/>
          </a:ln>
        </p:spPr>
      </p:sp>
      <p:sp>
        <p:nvSpPr>
          <p:cNvPr id="21" name="Text 18"/>
          <p:cNvSpPr txBox="1"/>
          <p:nvPr/>
        </p:nvSpPr>
        <p:spPr>
          <a:xfrm>
            <a:off x="6217920" y="3127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2" name="Text 19"/>
          <p:cNvSpPr txBox="1"/>
          <p:nvPr/>
        </p:nvSpPr>
        <p:spPr>
          <a:xfrm>
            <a:off x="6720840" y="3108960"/>
            <a:ext cx="4892040" cy="7772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each signature verifies up to a trusted root</a:t>
            </a:r>
            <a:endParaRPr lang="en-US" sz="1300" dirty="0"/>
          </a:p>
        </p:txBody>
      </p:sp>
      <p:sp>
        <p:nvSpPr>
          <p:cNvPr id="23" name="Shape 20"/>
          <p:cNvSpPr/>
          <p:nvPr/>
        </p:nvSpPr>
        <p:spPr>
          <a:xfrm>
            <a:off x="6217920" y="3995928"/>
            <a:ext cx="384048" cy="384048"/>
          </a:xfrm>
          <a:prstGeom prst="ellipse">
            <a:avLst/>
          </a:prstGeom>
          <a:solidFill>
            <a:srgbClr val="2E7D4F"/>
          </a:solidFill>
          <a:ln w="12700">
            <a:solidFill>
              <a:srgbClr val="2E7D4F"/>
            </a:solidFill>
            <a:prstDash val="solid"/>
          </a:ln>
        </p:spPr>
      </p:sp>
      <p:sp>
        <p:nvSpPr>
          <p:cNvPr id="24" name="Text 21"/>
          <p:cNvSpPr txBox="1"/>
          <p:nvPr/>
        </p:nvSpPr>
        <p:spPr>
          <a:xfrm>
            <a:off x="6217920" y="3995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5" name="Text 22"/>
          <p:cNvSpPr txBox="1"/>
          <p:nvPr/>
        </p:nvSpPr>
        <p:spPr>
          <a:xfrm>
            <a:off x="6720840" y="3977640"/>
            <a:ext cx="4892040" cy="7772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logged in </a:t>
            </a:r>
            <a:r>
              <a:rPr lang="en-US" sz="1300" b="1" dirty="0">
                <a:solidFill>
                  <a:srgbClr val="1B2430"/>
                </a:solidFill>
              </a:rPr>
              <a:t>Certificate Transparency</a:t>
            </a:r>
            <a:endParaRPr lang="en-US" sz="1300" dirty="0"/>
          </a:p>
        </p:txBody>
      </p:sp>
      <p:sp>
        <p:nvSpPr>
          <p:cNvPr id="26" name="Text 23"/>
          <p:cNvSpPr txBox="1"/>
          <p:nvPr/>
        </p:nvSpPr>
        <p:spPr>
          <a:xfrm>
            <a:off x="548640" y="5349240"/>
            <a:ext cx="10972800" cy="320040"/>
          </a:xfrm>
          <a:prstGeom prst="rect">
            <a:avLst/>
          </a:prstGeom>
          <a:noFill/>
          <a:ln/>
        </p:spPr>
        <p:txBody>
          <a:bodyPr wrap="square" lIns="0" tIns="0" rIns="0" bIns="0" rtlCol="0" anchor="t"/>
          <a:lstStyle/>
          <a:p>
            <a:pPr algn="l" indent="0" marL="0">
              <a:spcAft>
                <a:spcPts val="400"/>
              </a:spcAft>
              <a:buNone/>
            </a:pPr>
            <a:r>
              <a:rPr lang="en-US" sz="1200" dirty="0">
                <a:solidFill>
                  <a:srgbClr val="5B6770"/>
                </a:solidFill>
              </a:rPr>
              <a:t>X.509 certificates; free and automated today (Let’s Encrypt, ACME).</a:t>
            </a:r>
            <a:endParaRPr lang="en-US" sz="1200" dirty="0"/>
          </a:p>
        </p:txBody>
      </p:sp>
      <p:sp>
        <p:nvSpPr>
          <p:cNvPr id="2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8" name="Text 2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 certificate binds a name to a public key; the chain of signatures says who vouches for it.</a:t>
            </a:r>
            <a:endParaRPr lang="en-US" sz="1400" dirty="0"/>
          </a:p>
        </p:txBody>
      </p:sp>
      <p:sp>
        <p:nvSpPr>
          <p:cNvPr id="29" name="Text 26"/>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ACME (Automatic Certificate Management Environment) · OS (operating system) · CA (certification authority)</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 What an observer on the path still sees</a:t>
            </a:r>
            <a:endParaRPr lang="en-US" sz="3000" dirty="0"/>
          </a:p>
        </p:txBody>
      </p:sp>
      <p:sp>
        <p:nvSpPr>
          <p:cNvPr id="4" name="box"/>
          <p:cNvSpPr/>
          <p:nvPr/>
        </p:nvSpPr>
        <p:spPr>
          <a:xfrm>
            <a:off x="548640" y="1325880"/>
            <a:ext cx="5394960" cy="4206240"/>
          </a:xfrm>
          <a:prstGeom prst="roundRect">
            <a:avLst>
              <a:gd name="adj" fmla="val 1739"/>
            </a:avLst>
          </a:prstGeom>
          <a:solidFill>
            <a:srgbClr val="FFF5F5"/>
          </a:solidFill>
          <a:ln w="19050">
            <a:solidFill>
              <a:srgbClr val="A23B3B"/>
            </a:solidFill>
            <a:prstDash val="solid"/>
          </a:ln>
        </p:spPr>
      </p:sp>
      <p:sp>
        <p:nvSpPr>
          <p:cNvPr id="5" name="Text 2"/>
          <p:cNvSpPr txBox="1"/>
          <p:nvPr/>
        </p:nvSpPr>
        <p:spPr>
          <a:xfrm>
            <a:off x="731520" y="1417320"/>
            <a:ext cx="5029200" cy="365760"/>
          </a:xfrm>
          <a:prstGeom prst="rect">
            <a:avLst/>
          </a:prstGeom>
          <a:noFill/>
          <a:ln/>
        </p:spPr>
        <p:txBody>
          <a:bodyPr wrap="square" lIns="0" tIns="0" rIns="0" bIns="0" rtlCol="0" anchor="t"/>
          <a:lstStyle/>
          <a:p>
            <a:pPr algn="l" indent="0" marL="0">
              <a:spcAft>
                <a:spcPts val="400"/>
              </a:spcAft>
              <a:buNone/>
            </a:pPr>
            <a:r>
              <a:rPr lang="en-US" sz="1500" b="1" dirty="0">
                <a:solidFill>
                  <a:srgbClr val="A23B3B"/>
                </a:solidFill>
              </a:rPr>
              <a:t>visible</a:t>
            </a:r>
            <a:endParaRPr lang="en-US" sz="1500" dirty="0"/>
          </a:p>
        </p:txBody>
      </p:sp>
      <p:sp>
        <p:nvSpPr>
          <p:cNvPr id="6" name="Text 3"/>
          <p:cNvSpPr txBox="1"/>
          <p:nvPr/>
        </p:nvSpPr>
        <p:spPr>
          <a:xfrm>
            <a:off x="731520" y="1874520"/>
            <a:ext cx="5029200" cy="3566160"/>
          </a:xfrm>
          <a:prstGeom prst="rect">
            <a:avLst/>
          </a:prstGeom>
          <a:noFill/>
          <a:ln/>
        </p:spPr>
        <p:txBody>
          <a:bodyPr wrap="square" lIns="0" tIns="0" rIns="0" bIns="0" rtlCol="0" anchor="t"/>
          <a:lstStyle/>
          <a:p>
            <a:pPr algn="l" indent="0" marL="0">
              <a:spcAft>
                <a:spcPts val="1000"/>
              </a:spcAft>
              <a:buNone/>
            </a:pPr>
            <a:r>
              <a:rPr lang="en-US" sz="1400" dirty="0">
                <a:solidFill>
                  <a:srgbClr val="1B2430"/>
                </a:solidFill>
              </a:rPr>
              <a:t>• IP addresses and port 443</a:t>
            </a:r>
            <a:endParaRPr lang="en-US" sz="1400" dirty="0"/>
          </a:p>
          <a:p>
            <a:pPr algn="l" indent="0" marL="0">
              <a:spcAft>
                <a:spcPts val="1000"/>
              </a:spcAft>
              <a:buNone/>
            </a:pPr>
            <a:r>
              <a:rPr lang="en-US" sz="1400" dirty="0">
                <a:solidFill>
                  <a:srgbClr val="1B2430"/>
                </a:solidFill>
              </a:rPr>
              <a:t>• the server name in the ClientHello’s </a:t>
            </a:r>
            <a:r>
              <a:rPr lang="en-US" sz="1400" b="1" dirty="0">
                <a:solidFill>
                  <a:srgbClr val="1B2430"/>
                </a:solidFill>
              </a:rPr>
              <a:t>SNI</a:t>
            </a:r>
            <a:r>
              <a:rPr lang="en-US" sz="1400" dirty="0">
                <a:solidFill>
                  <a:srgbClr val="1B2430"/>
                </a:solidFill>
              </a:rPr>
              <a:t> field</a:t>
            </a:r>
            <a:endParaRPr lang="en-US" sz="1400" dirty="0"/>
          </a:p>
          <a:p>
            <a:pPr algn="l" indent="0" marL="0">
              <a:spcAft>
                <a:spcPts val="1000"/>
              </a:spcAft>
              <a:buNone/>
            </a:pPr>
            <a:r>
              <a:rPr lang="en-US" sz="1400" dirty="0">
                <a:solidFill>
                  <a:srgbClr val="1B2430"/>
                </a:solidFill>
              </a:rPr>
              <a:t>• the DNS query that came before (unless encrypted)</a:t>
            </a:r>
            <a:endParaRPr lang="en-US" sz="1400" dirty="0"/>
          </a:p>
          <a:p>
            <a:pPr algn="l" indent="0" marL="0">
              <a:spcAft>
                <a:spcPts val="1000"/>
              </a:spcAft>
              <a:buNone/>
            </a:pPr>
            <a:r>
              <a:rPr lang="en-US" sz="1400" dirty="0">
                <a:solidFill>
                  <a:srgbClr val="1B2430"/>
                </a:solidFill>
              </a:rPr>
              <a:t>• sizes and times of records, number of connections</a:t>
            </a:r>
            <a:endParaRPr lang="en-US" sz="1400" dirty="0"/>
          </a:p>
        </p:txBody>
      </p:sp>
      <p:sp>
        <p:nvSpPr>
          <p:cNvPr id="7" name="box"/>
          <p:cNvSpPr/>
          <p:nvPr/>
        </p:nvSpPr>
        <p:spPr>
          <a:xfrm>
            <a:off x="6217920" y="1325880"/>
            <a:ext cx="5394960" cy="4206240"/>
          </a:xfrm>
          <a:prstGeom prst="roundRect">
            <a:avLst>
              <a:gd name="adj" fmla="val 1739"/>
            </a:avLst>
          </a:prstGeom>
          <a:solidFill>
            <a:srgbClr val="F2FAF4"/>
          </a:solidFill>
          <a:ln w="19050">
            <a:solidFill>
              <a:srgbClr val="2E7D4F"/>
            </a:solidFill>
            <a:prstDash val="solid"/>
          </a:ln>
        </p:spPr>
      </p:sp>
      <p:sp>
        <p:nvSpPr>
          <p:cNvPr id="8" name="Text 5"/>
          <p:cNvSpPr txBox="1"/>
          <p:nvPr/>
        </p:nvSpPr>
        <p:spPr>
          <a:xfrm>
            <a:off x="6400800" y="1417320"/>
            <a:ext cx="5029200" cy="365760"/>
          </a:xfrm>
          <a:prstGeom prst="rect">
            <a:avLst/>
          </a:prstGeom>
          <a:noFill/>
          <a:ln/>
        </p:spPr>
        <p:txBody>
          <a:bodyPr wrap="square" lIns="0" tIns="0" rIns="0" bIns="0" rtlCol="0" anchor="t"/>
          <a:lstStyle/>
          <a:p>
            <a:pPr algn="l" indent="0" marL="0">
              <a:spcAft>
                <a:spcPts val="400"/>
              </a:spcAft>
              <a:buNone/>
            </a:pPr>
            <a:r>
              <a:rPr lang="en-US" sz="1500" b="1" dirty="0">
                <a:solidFill>
                  <a:srgbClr val="2E7D4F"/>
                </a:solidFill>
              </a:rPr>
              <a:t>hidden</a:t>
            </a:r>
            <a:endParaRPr lang="en-US" sz="1500" dirty="0"/>
          </a:p>
        </p:txBody>
      </p:sp>
      <p:sp>
        <p:nvSpPr>
          <p:cNvPr id="9" name="Text 6"/>
          <p:cNvSpPr txBox="1"/>
          <p:nvPr/>
        </p:nvSpPr>
        <p:spPr>
          <a:xfrm>
            <a:off x="6400800" y="1874520"/>
            <a:ext cx="5029200" cy="2194560"/>
          </a:xfrm>
          <a:prstGeom prst="rect">
            <a:avLst/>
          </a:prstGeom>
          <a:noFill/>
          <a:ln/>
        </p:spPr>
        <p:txBody>
          <a:bodyPr wrap="square" lIns="0" tIns="0" rIns="0" bIns="0" rtlCol="0" anchor="t"/>
          <a:lstStyle/>
          <a:p>
            <a:pPr algn="l" indent="0" marL="0">
              <a:spcAft>
                <a:spcPts val="1000"/>
              </a:spcAft>
              <a:buNone/>
            </a:pPr>
            <a:r>
              <a:rPr lang="en-US" sz="1400" dirty="0">
                <a:solidFill>
                  <a:srgbClr val="1B2430"/>
                </a:solidFill>
              </a:rPr>
              <a:t>• method, path and query (</a:t>
            </a:r>
            <a:r>
              <a:rPr lang="en-US" sz="1400" dirty="0">
                <a:solidFill>
                  <a:srgbClr val="1B2430"/>
                </a:solidFill>
                <a:latin typeface="Consolas" pitchFamily="34" charset="0"/>
                <a:ea typeface="Consolas" pitchFamily="34" charset="-122"/>
                <a:cs typeface="Consolas" pitchFamily="34" charset="-120"/>
              </a:rPr>
              <a:t>/inbox?folder=work</a:t>
            </a:r>
            <a:r>
              <a:rPr lang="en-US" sz="1400" dirty="0">
                <a:solidFill>
                  <a:srgbClr val="1B2430"/>
                </a:solidFill>
              </a:rPr>
              <a:t>)</a:t>
            </a:r>
            <a:endParaRPr lang="en-US" sz="1400" dirty="0"/>
          </a:p>
          <a:p>
            <a:pPr algn="l" indent="0" marL="0">
              <a:spcAft>
                <a:spcPts val="1000"/>
              </a:spcAft>
              <a:buNone/>
            </a:pPr>
            <a:r>
              <a:rPr lang="en-US" sz="1400" dirty="0">
                <a:solidFill>
                  <a:srgbClr val="1B2430"/>
                </a:solidFill>
              </a:rPr>
              <a:t>• all headers, cookies included</a:t>
            </a:r>
            <a:endParaRPr lang="en-US" sz="1400" dirty="0"/>
          </a:p>
          <a:p>
            <a:pPr algn="l" indent="0" marL="0">
              <a:spcAft>
                <a:spcPts val="1000"/>
              </a:spcAft>
              <a:buNone/>
            </a:pPr>
            <a:r>
              <a:rPr lang="en-US" sz="1400" dirty="0">
                <a:solidFill>
                  <a:srgbClr val="1B2430"/>
                </a:solidFill>
              </a:rPr>
              <a:t>• request and response bodies</a:t>
            </a:r>
            <a:endParaRPr lang="en-US" sz="1400" dirty="0"/>
          </a:p>
        </p:txBody>
      </p:sp>
      <p:sp>
        <p:nvSpPr>
          <p:cNvPr id="10" name="box"/>
          <p:cNvSpPr/>
          <p:nvPr/>
        </p:nvSpPr>
        <p:spPr>
          <a:xfrm>
            <a:off x="6400800" y="3931920"/>
            <a:ext cx="5029200" cy="1417320"/>
          </a:xfrm>
          <a:prstGeom prst="roundRect">
            <a:avLst>
              <a:gd name="adj" fmla="val 5161"/>
            </a:avLst>
          </a:prstGeom>
          <a:solidFill>
            <a:srgbClr val="F3EAD7"/>
          </a:solidFill>
          <a:ln w="12700">
            <a:solidFill>
              <a:srgbClr val="F3EAD7"/>
            </a:solidFill>
            <a:prstDash val="solid"/>
          </a:ln>
        </p:spPr>
      </p:sp>
      <p:sp>
        <p:nvSpPr>
          <p:cNvPr id="11" name="Text 8"/>
          <p:cNvSpPr txBox="1"/>
          <p:nvPr/>
        </p:nvSpPr>
        <p:spPr>
          <a:xfrm>
            <a:off x="6400800" y="3931920"/>
            <a:ext cx="5029200" cy="1417320"/>
          </a:xfrm>
          <a:prstGeom prst="rect">
            <a:avLst/>
          </a:prstGeom>
          <a:noFill/>
          <a:ln/>
        </p:spPr>
        <p:txBody>
          <a:bodyPr wrap="square" lIns="635" tIns="635" rIns="635" bIns="635" rtlCol="0" anchor="ctr"/>
          <a:lstStyle/>
          <a:p>
            <a:pPr algn="ctr" indent="0" marL="0">
              <a:spcAft>
                <a:spcPts val="400"/>
              </a:spcAft>
              <a:buNone/>
            </a:pPr>
            <a:r>
              <a:rPr lang="en-US" sz="1300" b="1" dirty="0">
                <a:solidFill>
                  <a:srgbClr val="1B2430"/>
                </a:solidFill>
              </a:rPr>
              <a:t>HSTS</a:t>
            </a:r>
            <a:r>
              <a:rPr lang="en-US" sz="1300" dirty="0">
                <a:solidFill>
                  <a:srgbClr val="1B2430"/>
                </a:solidFill>
              </a:rPr>
              <a:t>: “use only HTTPS for this site”</a:t>
            </a:r>
            <a:endParaRPr lang="en-US" sz="1300" dirty="0"/>
          </a:p>
          <a:p>
            <a:pPr algn="ctr" indent="0" marL="0">
              <a:spcAft>
                <a:spcPts val="400"/>
              </a:spcAft>
              <a:buNone/>
            </a:pPr>
            <a:r>
              <a:rPr lang="en-US" sz="1300" b="1" dirty="0">
                <a:solidFill>
                  <a:srgbClr val="1B2430"/>
                </a:solidFill>
              </a:rPr>
              <a:t>ECH</a:t>
            </a:r>
            <a:r>
              <a:rPr lang="en-US" sz="1300" dirty="0">
                <a:solidFill>
                  <a:srgbClr val="1B2430"/>
                </a:solidFill>
              </a:rPr>
              <a:t>: encrypts the SNI too (being deployed)</a:t>
            </a:r>
            <a:endParaRPr lang="en-US" sz="1300" dirty="0"/>
          </a:p>
        </p:txBody>
      </p:sp>
      <p:sp>
        <p:nvSpPr>
          <p:cNvPr id="1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3" name="Text 1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TLS protects the path, not the endpoints — and it does not hide who talks to whom.</a:t>
            </a:r>
            <a:endParaRPr lang="en-US" sz="1400" dirty="0"/>
          </a:p>
        </p:txBody>
      </p:sp>
      <p:sp>
        <p:nvSpPr>
          <p:cNvPr id="14" name="Text 11"/>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HTTPS (HyperText Transfer Protocol Secure) · HSTS (HTTP Strict Transport Security) · TLS (Transport Layer Security) · DNS (Domain Name System) · SNI (Server Name Indication) · ECH (Encrypted Client Hello) · IP (Internet Protocol)</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6 · TELNET: a terminal on another computer</a:t>
            </a:r>
            <a:endParaRPr lang="en-US" sz="3000" dirty="0"/>
          </a:p>
        </p:txBody>
      </p:sp>
      <p:sp>
        <p:nvSpPr>
          <p:cNvPr id="4" name="box"/>
          <p:cNvSpPr/>
          <p:nvPr/>
        </p:nvSpPr>
        <p:spPr>
          <a:xfrm>
            <a:off x="548640" y="1463040"/>
            <a:ext cx="2926080" cy="1188720"/>
          </a:xfrm>
          <a:prstGeom prst="roundRect">
            <a:avLst>
              <a:gd name="adj" fmla="val 6154"/>
            </a:avLst>
          </a:prstGeom>
          <a:solidFill>
            <a:srgbClr val="EEF2F6"/>
          </a:solidFill>
          <a:ln w="12700">
            <a:solidFill>
              <a:srgbClr val="EEF2F6"/>
            </a:solidFill>
            <a:prstDash val="solid"/>
          </a:ln>
        </p:spPr>
      </p:sp>
      <p:sp>
        <p:nvSpPr>
          <p:cNvPr id="5" name="Text 2"/>
          <p:cNvSpPr txBox="1"/>
          <p:nvPr/>
        </p:nvSpPr>
        <p:spPr>
          <a:xfrm>
            <a:off x="548640" y="1463040"/>
            <a:ext cx="2926080" cy="1188720"/>
          </a:xfrm>
          <a:prstGeom prst="rect">
            <a:avLst/>
          </a:prstGeom>
          <a:noFill/>
          <a:ln/>
        </p:spPr>
        <p:txBody>
          <a:bodyPr wrap="square" lIns="635" tIns="635" rIns="635" bIns="635" rtlCol="0" anchor="ctr"/>
          <a:lstStyle/>
          <a:p>
            <a:pPr algn="ctr" indent="0" marL="0">
              <a:buNone/>
            </a:pPr>
            <a:r>
              <a:rPr lang="en-US" sz="1300" b="1" dirty="0">
                <a:solidFill>
                  <a:srgbClr val="1B2430"/>
                </a:solidFill>
              </a:rPr>
              <a:t>user’s terminal</a:t>
            </a:r>
            <a:endParaRPr lang="en-US" sz="1300" dirty="0"/>
          </a:p>
          <a:p>
            <a:pPr algn="ctr" indent="0" marL="0">
              <a:buNone/>
            </a:pPr>
            <a:r>
              <a:rPr lang="en-US" sz="1300" dirty="0">
                <a:solidFill>
                  <a:srgbClr val="1B2430"/>
                </a:solidFill>
              </a:rPr>
              <a:t>keyboard + screen</a:t>
            </a:r>
            <a:endParaRPr lang="en-US" sz="1300" dirty="0"/>
          </a:p>
        </p:txBody>
      </p:sp>
      <p:sp>
        <p:nvSpPr>
          <p:cNvPr id="6" name="box"/>
          <p:cNvSpPr/>
          <p:nvPr/>
        </p:nvSpPr>
        <p:spPr>
          <a:xfrm>
            <a:off x="3566160" y="1463040"/>
            <a:ext cx="2011680" cy="1188720"/>
          </a:xfrm>
          <a:prstGeom prst="roundRect">
            <a:avLst>
              <a:gd name="adj" fmla="val 6154"/>
            </a:avLst>
          </a:prstGeom>
          <a:solidFill>
            <a:srgbClr val="2A7F8E"/>
          </a:solidFill>
          <a:ln w="12700">
            <a:solidFill>
              <a:srgbClr val="2A7F8E"/>
            </a:solidFill>
            <a:prstDash val="solid"/>
          </a:ln>
        </p:spPr>
      </p:sp>
      <p:sp>
        <p:nvSpPr>
          <p:cNvPr id="7" name="Text 4"/>
          <p:cNvSpPr txBox="1"/>
          <p:nvPr/>
        </p:nvSpPr>
        <p:spPr>
          <a:xfrm>
            <a:off x="3566160" y="1463040"/>
            <a:ext cx="2011680" cy="1188720"/>
          </a:xfrm>
          <a:prstGeom prst="rect">
            <a:avLst/>
          </a:prstGeom>
          <a:noFill/>
          <a:ln/>
        </p:spPr>
        <p:txBody>
          <a:bodyPr wrap="square" lIns="635" tIns="635" rIns="635" bIns="635" rtlCol="0" anchor="ctr"/>
          <a:lstStyle/>
          <a:p>
            <a:pPr algn="ctr" indent="0" marL="0">
              <a:buNone/>
            </a:pPr>
            <a:r>
              <a:rPr lang="en-US" sz="1300" dirty="0">
                <a:solidFill>
                  <a:srgbClr val="FFFFFF"/>
                </a:solidFill>
              </a:rPr>
              <a:t>telnet client</a:t>
            </a:r>
            <a:endParaRPr lang="en-US" sz="1300" dirty="0"/>
          </a:p>
          <a:p>
            <a:pPr algn="ctr" indent="0" marL="0">
              <a:buNone/>
            </a:pPr>
            <a:r>
              <a:rPr lang="en-US" sz="1300" dirty="0">
                <a:solidFill>
                  <a:srgbClr val="FFFFFF"/>
                </a:solidFill>
              </a:rPr>
              <a:t>NVT</a:t>
            </a:r>
            <a:endParaRPr lang="en-US" sz="1300" dirty="0"/>
          </a:p>
        </p:txBody>
      </p:sp>
      <p:sp>
        <p:nvSpPr>
          <p:cNvPr id="8" name="box"/>
          <p:cNvSpPr/>
          <p:nvPr/>
        </p:nvSpPr>
        <p:spPr>
          <a:xfrm>
            <a:off x="6583680" y="1463040"/>
            <a:ext cx="2011680" cy="1188720"/>
          </a:xfrm>
          <a:prstGeom prst="roundRect">
            <a:avLst>
              <a:gd name="adj" fmla="val 6154"/>
            </a:avLst>
          </a:prstGeom>
          <a:solidFill>
            <a:srgbClr val="2A7F8E"/>
          </a:solidFill>
          <a:ln w="12700">
            <a:solidFill>
              <a:srgbClr val="2A7F8E"/>
            </a:solidFill>
            <a:prstDash val="solid"/>
          </a:ln>
        </p:spPr>
      </p:sp>
      <p:sp>
        <p:nvSpPr>
          <p:cNvPr id="9" name="Text 6"/>
          <p:cNvSpPr txBox="1"/>
          <p:nvPr/>
        </p:nvSpPr>
        <p:spPr>
          <a:xfrm>
            <a:off x="6583680" y="1463040"/>
            <a:ext cx="2011680" cy="1188720"/>
          </a:xfrm>
          <a:prstGeom prst="rect">
            <a:avLst/>
          </a:prstGeom>
          <a:noFill/>
          <a:ln/>
        </p:spPr>
        <p:txBody>
          <a:bodyPr wrap="square" lIns="635" tIns="635" rIns="635" bIns="635" rtlCol="0" anchor="ctr"/>
          <a:lstStyle/>
          <a:p>
            <a:pPr algn="ctr" indent="0" marL="0">
              <a:buNone/>
            </a:pPr>
            <a:r>
              <a:rPr lang="en-US" sz="1300" dirty="0">
                <a:solidFill>
                  <a:srgbClr val="FFFFFF"/>
                </a:solidFill>
              </a:rPr>
              <a:t>telnetd</a:t>
            </a:r>
            <a:endParaRPr lang="en-US" sz="1300" dirty="0"/>
          </a:p>
          <a:p>
            <a:pPr algn="ctr" indent="0" marL="0">
              <a:buNone/>
            </a:pPr>
            <a:r>
              <a:rPr lang="en-US" sz="1300" dirty="0">
                <a:solidFill>
                  <a:srgbClr val="FFFFFF"/>
                </a:solidFill>
              </a:rPr>
              <a:t>NVT</a:t>
            </a:r>
            <a:endParaRPr lang="en-US" sz="1300" dirty="0"/>
          </a:p>
        </p:txBody>
      </p:sp>
      <p:sp>
        <p:nvSpPr>
          <p:cNvPr id="10" name="box"/>
          <p:cNvSpPr/>
          <p:nvPr/>
        </p:nvSpPr>
        <p:spPr>
          <a:xfrm>
            <a:off x="8686800" y="1463040"/>
            <a:ext cx="2926080" cy="1188720"/>
          </a:xfrm>
          <a:prstGeom prst="roundRect">
            <a:avLst>
              <a:gd name="adj" fmla="val 6154"/>
            </a:avLst>
          </a:prstGeom>
          <a:solidFill>
            <a:srgbClr val="EEF2F6"/>
          </a:solidFill>
          <a:ln w="12700">
            <a:solidFill>
              <a:srgbClr val="EEF2F6"/>
            </a:solidFill>
            <a:prstDash val="solid"/>
          </a:ln>
        </p:spPr>
      </p:sp>
      <p:sp>
        <p:nvSpPr>
          <p:cNvPr id="11" name="Text 8"/>
          <p:cNvSpPr txBox="1"/>
          <p:nvPr/>
        </p:nvSpPr>
        <p:spPr>
          <a:xfrm>
            <a:off x="8686800" y="1463040"/>
            <a:ext cx="2926080" cy="1188720"/>
          </a:xfrm>
          <a:prstGeom prst="rect">
            <a:avLst/>
          </a:prstGeom>
          <a:noFill/>
          <a:ln/>
        </p:spPr>
        <p:txBody>
          <a:bodyPr wrap="square" lIns="635" tIns="635" rIns="635" bIns="635" rtlCol="0" anchor="ctr"/>
          <a:lstStyle/>
          <a:p>
            <a:pPr algn="ctr" indent="0" marL="0">
              <a:buNone/>
            </a:pPr>
            <a:r>
              <a:rPr lang="en-US" sz="1300" b="1" dirty="0">
                <a:solidFill>
                  <a:srgbClr val="1B2430"/>
                </a:solidFill>
              </a:rPr>
              <a:t>remote shell</a:t>
            </a:r>
            <a:endParaRPr lang="en-US" sz="1300" dirty="0"/>
          </a:p>
          <a:p>
            <a:pPr algn="ctr" indent="0" marL="0">
              <a:buNone/>
            </a:pPr>
            <a:r>
              <a:rPr lang="en-US" sz="1300" dirty="0">
                <a:solidFill>
                  <a:srgbClr val="1B2430"/>
                </a:solidFill>
              </a:rPr>
              <a:t>login, commands</a:t>
            </a:r>
            <a:endParaRPr lang="en-US" sz="1300" dirty="0"/>
          </a:p>
        </p:txBody>
      </p:sp>
      <p:sp>
        <p:nvSpPr>
          <p:cNvPr id="12" name="Shape 9"/>
          <p:cNvSpPr/>
          <p:nvPr/>
        </p:nvSpPr>
        <p:spPr>
          <a:xfrm>
            <a:off x="5577840" y="2057400"/>
            <a:ext cx="1005840" cy="914"/>
          </a:xfrm>
          <a:prstGeom prst="line">
            <a:avLst/>
          </a:prstGeom>
          <a:noFill/>
          <a:ln w="38100">
            <a:solidFill>
              <a:srgbClr val="A23B3B"/>
            </a:solidFill>
            <a:prstDash val="solid"/>
            <a:headEnd type="triangle"/>
            <a:tailEnd type="triangle"/>
          </a:ln>
        </p:spPr>
      </p:sp>
      <p:sp>
        <p:nvSpPr>
          <p:cNvPr id="13" name="Text 10"/>
          <p:cNvSpPr txBox="1"/>
          <p:nvPr/>
        </p:nvSpPr>
        <p:spPr>
          <a:xfrm>
            <a:off x="4206240" y="2788920"/>
            <a:ext cx="3840480" cy="365760"/>
          </a:xfrm>
          <a:prstGeom prst="rect">
            <a:avLst/>
          </a:prstGeom>
          <a:noFill/>
          <a:ln/>
        </p:spPr>
        <p:txBody>
          <a:bodyPr wrap="square" lIns="0" tIns="0" rIns="0" bIns="0" rtlCol="0" anchor="t"/>
          <a:lstStyle/>
          <a:p>
            <a:pPr algn="ctr" indent="0" marL="0">
              <a:spcAft>
                <a:spcPts val="400"/>
              </a:spcAft>
              <a:buNone/>
            </a:pPr>
            <a:r>
              <a:rPr lang="en-US" sz="1300" dirty="0">
                <a:solidFill>
                  <a:srgbClr val="A23B3B"/>
                </a:solidFill>
              </a:rPr>
              <a:t>TCP port 23 · </a:t>
            </a:r>
            <a:r>
              <a:rPr lang="en-US" sz="1300" b="1" dirty="0">
                <a:solidFill>
                  <a:srgbClr val="A23B3B"/>
                </a:solidFill>
              </a:rPr>
              <a:t>everything in clear</a:t>
            </a:r>
            <a:endParaRPr lang="en-US" sz="1300" dirty="0"/>
          </a:p>
        </p:txBody>
      </p:sp>
      <p:sp>
        <p:nvSpPr>
          <p:cNvPr id="14" name="Shape 11"/>
          <p:cNvSpPr/>
          <p:nvPr/>
        </p:nvSpPr>
        <p:spPr>
          <a:xfrm>
            <a:off x="548640" y="3447288"/>
            <a:ext cx="384048" cy="384048"/>
          </a:xfrm>
          <a:prstGeom prst="ellipse">
            <a:avLst/>
          </a:prstGeom>
          <a:solidFill>
            <a:srgbClr val="B9772A"/>
          </a:solidFill>
          <a:ln w="12700">
            <a:solidFill>
              <a:srgbClr val="B9772A"/>
            </a:solidFill>
            <a:prstDash val="solid"/>
          </a:ln>
        </p:spPr>
      </p:sp>
      <p:sp>
        <p:nvSpPr>
          <p:cNvPr id="15" name="Text 12"/>
          <p:cNvSpPr txBox="1"/>
          <p:nvPr/>
        </p:nvSpPr>
        <p:spPr>
          <a:xfrm>
            <a:off x="548640" y="3447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6" name="Text 13"/>
          <p:cNvSpPr txBox="1"/>
          <p:nvPr/>
        </p:nvSpPr>
        <p:spPr>
          <a:xfrm>
            <a:off x="1051560" y="3429000"/>
            <a:ext cx="4983480" cy="109728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NVT</a:t>
            </a:r>
            <a:r>
              <a:rPr lang="en-US" sz="1300" dirty="0">
                <a:solidFill>
                  <a:srgbClr val="1B2430"/>
                </a:solidFill>
              </a:rPr>
              <a:t>: 7-bit ASCII, CR LF line ends — neither side needs the other’s real terminal type.</a:t>
            </a:r>
            <a:endParaRPr lang="en-US" sz="1300" dirty="0"/>
          </a:p>
        </p:txBody>
      </p:sp>
      <p:sp>
        <p:nvSpPr>
          <p:cNvPr id="17" name="Shape 14"/>
          <p:cNvSpPr/>
          <p:nvPr/>
        </p:nvSpPr>
        <p:spPr>
          <a:xfrm>
            <a:off x="6217920" y="3447288"/>
            <a:ext cx="384048" cy="384048"/>
          </a:xfrm>
          <a:prstGeom prst="ellipse">
            <a:avLst/>
          </a:prstGeom>
          <a:solidFill>
            <a:srgbClr val="B9772A"/>
          </a:solidFill>
          <a:ln w="12700">
            <a:solidFill>
              <a:srgbClr val="B9772A"/>
            </a:solidFill>
            <a:prstDash val="solid"/>
          </a:ln>
        </p:spPr>
      </p:sp>
      <p:sp>
        <p:nvSpPr>
          <p:cNvPr id="18" name="Text 15"/>
          <p:cNvSpPr txBox="1"/>
          <p:nvPr/>
        </p:nvSpPr>
        <p:spPr>
          <a:xfrm>
            <a:off x="6217920" y="3447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9" name="Text 16"/>
          <p:cNvSpPr txBox="1"/>
          <p:nvPr/>
        </p:nvSpPr>
        <p:spPr>
          <a:xfrm>
            <a:off x="6720840" y="3429000"/>
            <a:ext cx="4892040" cy="10972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Extra features are </a:t>
            </a:r>
            <a:r>
              <a:rPr lang="en-US" sz="1300" b="1" dirty="0">
                <a:solidFill>
                  <a:srgbClr val="1B2430"/>
                </a:solidFill>
              </a:rPr>
              <a:t>negotiated</a:t>
            </a:r>
            <a:r>
              <a:rPr lang="en-US" sz="1300" dirty="0">
                <a:solidFill>
                  <a:srgbClr val="1B2430"/>
                </a:solidFill>
              </a:rPr>
              <a:t> in the data stream, introduced by the byte </a:t>
            </a:r>
            <a:r>
              <a:rPr lang="en-US" sz="1300" b="1" dirty="0">
                <a:solidFill>
                  <a:srgbClr val="1B2430"/>
                </a:solidFill>
              </a:rPr>
              <a:t>IAC</a:t>
            </a:r>
            <a:r>
              <a:rPr lang="en-US" sz="1300" dirty="0">
                <a:solidFill>
                  <a:srgbClr val="1B2430"/>
                </a:solidFill>
              </a:rPr>
              <a:t> = 255.</a:t>
            </a:r>
            <a:endParaRPr lang="en-US" sz="1300" dirty="0"/>
          </a:p>
        </p:txBody>
      </p:sp>
      <p:sp>
        <p:nvSpPr>
          <p:cNvPr id="20" name="Shape 17"/>
          <p:cNvSpPr/>
          <p:nvPr/>
        </p:nvSpPr>
        <p:spPr>
          <a:xfrm>
            <a:off x="548640" y="4590288"/>
            <a:ext cx="384048" cy="384048"/>
          </a:xfrm>
          <a:prstGeom prst="ellipse">
            <a:avLst/>
          </a:prstGeom>
          <a:solidFill>
            <a:srgbClr val="B9772A"/>
          </a:solidFill>
          <a:ln w="12700">
            <a:solidFill>
              <a:srgbClr val="B9772A"/>
            </a:solidFill>
            <a:prstDash val="solid"/>
          </a:ln>
        </p:spPr>
      </p:sp>
      <p:sp>
        <p:nvSpPr>
          <p:cNvPr id="21" name="Text 18"/>
          <p:cNvSpPr txBox="1"/>
          <p:nvPr/>
        </p:nvSpPr>
        <p:spPr>
          <a:xfrm>
            <a:off x="548640" y="4590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2" name="Text 19"/>
          <p:cNvSpPr txBox="1"/>
          <p:nvPr/>
        </p:nvSpPr>
        <p:spPr>
          <a:xfrm>
            <a:off x="1051560" y="4572000"/>
            <a:ext cx="10561320" cy="9144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Still useful as a </a:t>
            </a:r>
            <a:r>
              <a:rPr lang="en-US" sz="1300" b="1" dirty="0">
                <a:solidFill>
                  <a:srgbClr val="1B2430"/>
                </a:solidFill>
              </a:rPr>
              <a:t>tool</a:t>
            </a:r>
            <a:r>
              <a:rPr lang="en-US" sz="1300" dirty="0">
                <a:solidFill>
                  <a:srgbClr val="1B2430"/>
                </a:solidFill>
              </a:rPr>
              <a:t>: </a:t>
            </a:r>
            <a:r>
              <a:rPr lang="en-US" sz="1300" dirty="0">
                <a:solidFill>
                  <a:srgbClr val="1B2430"/>
                </a:solidFill>
                <a:latin typeface="Consolas" pitchFamily="34" charset="0"/>
                <a:ea typeface="Consolas" pitchFamily="34" charset="-122"/>
                <a:cs typeface="Consolas" pitchFamily="34" charset="-120"/>
              </a:rPr>
              <a:t>telnet host port</a:t>
            </a:r>
            <a:r>
              <a:rPr lang="en-US" sz="1300" dirty="0">
                <a:solidFill>
                  <a:srgbClr val="1B2430"/>
                </a:solidFill>
              </a:rPr>
              <a:t> lets you type any text protocol by hand (SMTP, HTTP, POP3).</a:t>
            </a:r>
            <a:endParaRPr lang="en-US" sz="1300" dirty="0"/>
          </a:p>
        </p:txBody>
      </p:sp>
      <p:sp>
        <p:nvSpPr>
          <p:cNvPr id="23"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4" name="Text 21"/>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TELNET gives a remote terminal over TCP — and sends every keystroke, password included, in clear.</a:t>
            </a:r>
            <a:endParaRPr lang="en-US" sz="1400" dirty="0"/>
          </a:p>
        </p:txBody>
      </p:sp>
      <p:sp>
        <p:nvSpPr>
          <p:cNvPr id="25" name="Text 22"/>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ASCII (American Standard Code for Information Interchange) · HTTP (HyperText Transfer Protocol) · SMTP (Simple Mail Transfer Protocol) · TCP (Transmission Control Protocol) · NVT (network virtual terminal) · IAC (interpret as command) · CR (carriage return) · LF (line feed)</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6 · Option negotiation: three bytes each</a:t>
            </a:r>
            <a:endParaRPr lang="en-US" sz="3000" dirty="0"/>
          </a:p>
        </p:txBody>
      </p:sp>
      <p:sp>
        <p:nvSpPr>
          <p:cNvPr id="4" name="box"/>
          <p:cNvSpPr/>
          <p:nvPr/>
        </p:nvSpPr>
        <p:spPr>
          <a:xfrm>
            <a:off x="548640" y="1280160"/>
            <a:ext cx="1691640" cy="411480"/>
          </a:xfrm>
          <a:prstGeom prst="rect">
            <a:avLst/>
          </a:prstGeom>
          <a:solidFill>
            <a:srgbClr val="1F3A5F"/>
          </a:solidFill>
          <a:ln w="12700">
            <a:solidFill>
              <a:srgbClr val="1F3A5F"/>
            </a:solidFill>
            <a:prstDash val="solid"/>
          </a:ln>
        </p:spPr>
      </p:sp>
      <p:sp>
        <p:nvSpPr>
          <p:cNvPr id="5" name="Text 2"/>
          <p:cNvSpPr txBox="1"/>
          <p:nvPr/>
        </p:nvSpPr>
        <p:spPr>
          <a:xfrm>
            <a:off x="548640" y="1280160"/>
            <a:ext cx="16916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Byte</a:t>
            </a:r>
            <a:endParaRPr lang="en-US" sz="1300" dirty="0"/>
          </a:p>
        </p:txBody>
      </p:sp>
      <p:sp>
        <p:nvSpPr>
          <p:cNvPr id="6" name="box"/>
          <p:cNvSpPr/>
          <p:nvPr/>
        </p:nvSpPr>
        <p:spPr>
          <a:xfrm>
            <a:off x="2286000" y="1280160"/>
            <a:ext cx="2331720" cy="411480"/>
          </a:xfrm>
          <a:prstGeom prst="rect">
            <a:avLst/>
          </a:prstGeom>
          <a:solidFill>
            <a:srgbClr val="1F3A5F"/>
          </a:solidFill>
          <a:ln w="12700">
            <a:solidFill>
              <a:srgbClr val="1F3A5F"/>
            </a:solidFill>
            <a:prstDash val="solid"/>
          </a:ln>
        </p:spPr>
      </p:sp>
      <p:sp>
        <p:nvSpPr>
          <p:cNvPr id="7" name="Text 4"/>
          <p:cNvSpPr txBox="1"/>
          <p:nvPr/>
        </p:nvSpPr>
        <p:spPr>
          <a:xfrm>
            <a:off x="2286000" y="1280160"/>
            <a:ext cx="233172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Name</a:t>
            </a:r>
            <a:endParaRPr lang="en-US" sz="1300" dirty="0"/>
          </a:p>
        </p:txBody>
      </p:sp>
      <p:sp>
        <p:nvSpPr>
          <p:cNvPr id="8" name="box"/>
          <p:cNvSpPr/>
          <p:nvPr/>
        </p:nvSpPr>
        <p:spPr>
          <a:xfrm>
            <a:off x="4663440" y="1280160"/>
            <a:ext cx="6903720" cy="411480"/>
          </a:xfrm>
          <a:prstGeom prst="rect">
            <a:avLst/>
          </a:prstGeom>
          <a:solidFill>
            <a:srgbClr val="1F3A5F"/>
          </a:solidFill>
          <a:ln w="12700">
            <a:solidFill>
              <a:srgbClr val="1F3A5F"/>
            </a:solidFill>
            <a:prstDash val="solid"/>
          </a:ln>
        </p:spPr>
      </p:sp>
      <p:sp>
        <p:nvSpPr>
          <p:cNvPr id="9" name="Text 6"/>
          <p:cNvSpPr txBox="1"/>
          <p:nvPr/>
        </p:nvSpPr>
        <p:spPr>
          <a:xfrm>
            <a:off x="4663440" y="1280160"/>
            <a:ext cx="690372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Meaning</a:t>
            </a:r>
            <a:endParaRPr lang="en-US" sz="1300" dirty="0"/>
          </a:p>
        </p:txBody>
      </p:sp>
      <p:sp>
        <p:nvSpPr>
          <p:cNvPr id="10" name="box"/>
          <p:cNvSpPr/>
          <p:nvPr/>
        </p:nvSpPr>
        <p:spPr>
          <a:xfrm>
            <a:off x="548640" y="1737360"/>
            <a:ext cx="1691640" cy="384048"/>
          </a:xfrm>
          <a:prstGeom prst="rect">
            <a:avLst/>
          </a:prstGeom>
          <a:solidFill>
            <a:srgbClr val="EEF2F6"/>
          </a:solidFill>
          <a:ln w="12700">
            <a:solidFill>
              <a:srgbClr val="EEF2F6"/>
            </a:solidFill>
            <a:prstDash val="solid"/>
          </a:ln>
        </p:spPr>
      </p:sp>
      <p:sp>
        <p:nvSpPr>
          <p:cNvPr id="11" name="Text 8"/>
          <p:cNvSpPr txBox="1"/>
          <p:nvPr/>
        </p:nvSpPr>
        <p:spPr>
          <a:xfrm>
            <a:off x="548640" y="1737360"/>
            <a:ext cx="1691640" cy="384048"/>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FF</a:t>
            </a:r>
            <a:endParaRPr lang="en-US" sz="1300" dirty="0"/>
          </a:p>
        </p:txBody>
      </p:sp>
      <p:sp>
        <p:nvSpPr>
          <p:cNvPr id="12" name="box"/>
          <p:cNvSpPr/>
          <p:nvPr/>
        </p:nvSpPr>
        <p:spPr>
          <a:xfrm>
            <a:off x="2286000" y="1737360"/>
            <a:ext cx="2331720" cy="384048"/>
          </a:xfrm>
          <a:prstGeom prst="rect">
            <a:avLst/>
          </a:prstGeom>
          <a:solidFill>
            <a:srgbClr val="F7F9FB"/>
          </a:solidFill>
          <a:ln w="12700">
            <a:solidFill>
              <a:srgbClr val="F7F9FB"/>
            </a:solidFill>
            <a:prstDash val="solid"/>
          </a:ln>
        </p:spPr>
      </p:sp>
      <p:sp>
        <p:nvSpPr>
          <p:cNvPr id="13" name="Text 10"/>
          <p:cNvSpPr txBox="1"/>
          <p:nvPr/>
        </p:nvSpPr>
        <p:spPr>
          <a:xfrm>
            <a:off x="2286000" y="1737360"/>
            <a:ext cx="2331720" cy="384048"/>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IAC</a:t>
            </a:r>
            <a:endParaRPr lang="en-US" sz="1300" dirty="0"/>
          </a:p>
        </p:txBody>
      </p:sp>
      <p:sp>
        <p:nvSpPr>
          <p:cNvPr id="14" name="box"/>
          <p:cNvSpPr/>
          <p:nvPr/>
        </p:nvSpPr>
        <p:spPr>
          <a:xfrm>
            <a:off x="4663440" y="1737360"/>
            <a:ext cx="6903720" cy="384048"/>
          </a:xfrm>
          <a:prstGeom prst="rect">
            <a:avLst/>
          </a:prstGeom>
          <a:solidFill>
            <a:srgbClr val="F7F9FB"/>
          </a:solidFill>
          <a:ln w="12700">
            <a:solidFill>
              <a:srgbClr val="F7F9FB"/>
            </a:solidFill>
            <a:prstDash val="solid"/>
          </a:ln>
        </p:spPr>
      </p:sp>
      <p:sp>
        <p:nvSpPr>
          <p:cNvPr id="15" name="Text 12"/>
          <p:cNvSpPr txBox="1"/>
          <p:nvPr/>
        </p:nvSpPr>
        <p:spPr>
          <a:xfrm>
            <a:off x="4663440" y="1737360"/>
            <a:ext cx="6903720" cy="384048"/>
          </a:xfrm>
          <a:prstGeom prst="rect">
            <a:avLst/>
          </a:prstGeom>
          <a:noFill/>
          <a:ln/>
        </p:spPr>
        <p:txBody>
          <a:bodyPr wrap="square" lIns="1270" tIns="1270" rIns="1270" bIns="1270" rtlCol="0" anchor="ctr"/>
          <a:lstStyle/>
          <a:p>
            <a:pPr algn="l" indent="0" marL="0">
              <a:buNone/>
            </a:pPr>
            <a:r>
              <a:rPr lang="en-US" sz="1300" dirty="0">
                <a:solidFill>
                  <a:srgbClr val="1B2430"/>
                </a:solidFill>
              </a:rPr>
              <a:t>interpret the next byte as a command</a:t>
            </a:r>
            <a:endParaRPr lang="en-US" sz="1300" dirty="0"/>
          </a:p>
        </p:txBody>
      </p:sp>
      <p:sp>
        <p:nvSpPr>
          <p:cNvPr id="16" name="box"/>
          <p:cNvSpPr/>
          <p:nvPr/>
        </p:nvSpPr>
        <p:spPr>
          <a:xfrm>
            <a:off x="548640" y="2167128"/>
            <a:ext cx="1691640" cy="384048"/>
          </a:xfrm>
          <a:prstGeom prst="rect">
            <a:avLst/>
          </a:prstGeom>
          <a:solidFill>
            <a:srgbClr val="EEF2F6"/>
          </a:solidFill>
          <a:ln w="12700">
            <a:solidFill>
              <a:srgbClr val="EEF2F6"/>
            </a:solidFill>
            <a:prstDash val="solid"/>
          </a:ln>
        </p:spPr>
      </p:sp>
      <p:sp>
        <p:nvSpPr>
          <p:cNvPr id="17" name="Text 14"/>
          <p:cNvSpPr txBox="1"/>
          <p:nvPr/>
        </p:nvSpPr>
        <p:spPr>
          <a:xfrm>
            <a:off x="548640" y="2167128"/>
            <a:ext cx="1691640" cy="384048"/>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FB</a:t>
            </a:r>
            <a:endParaRPr lang="en-US" sz="1300" dirty="0"/>
          </a:p>
        </p:txBody>
      </p:sp>
      <p:sp>
        <p:nvSpPr>
          <p:cNvPr id="18" name="box"/>
          <p:cNvSpPr/>
          <p:nvPr/>
        </p:nvSpPr>
        <p:spPr>
          <a:xfrm>
            <a:off x="2286000" y="2167128"/>
            <a:ext cx="2331720" cy="384048"/>
          </a:xfrm>
          <a:prstGeom prst="rect">
            <a:avLst/>
          </a:prstGeom>
          <a:solidFill>
            <a:srgbClr val="F7F9FB"/>
          </a:solidFill>
          <a:ln w="12700">
            <a:solidFill>
              <a:srgbClr val="F7F9FB"/>
            </a:solidFill>
            <a:prstDash val="solid"/>
          </a:ln>
        </p:spPr>
      </p:sp>
      <p:sp>
        <p:nvSpPr>
          <p:cNvPr id="19" name="Text 16"/>
          <p:cNvSpPr txBox="1"/>
          <p:nvPr/>
        </p:nvSpPr>
        <p:spPr>
          <a:xfrm>
            <a:off x="2286000" y="2167128"/>
            <a:ext cx="2331720" cy="384048"/>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WILL</a:t>
            </a:r>
            <a:endParaRPr lang="en-US" sz="1300" dirty="0"/>
          </a:p>
        </p:txBody>
      </p:sp>
      <p:sp>
        <p:nvSpPr>
          <p:cNvPr id="20" name="box"/>
          <p:cNvSpPr/>
          <p:nvPr/>
        </p:nvSpPr>
        <p:spPr>
          <a:xfrm>
            <a:off x="4663440" y="2167128"/>
            <a:ext cx="6903720" cy="384048"/>
          </a:xfrm>
          <a:prstGeom prst="rect">
            <a:avLst/>
          </a:prstGeom>
          <a:solidFill>
            <a:srgbClr val="F7F9FB"/>
          </a:solidFill>
          <a:ln w="12700">
            <a:solidFill>
              <a:srgbClr val="F7F9FB"/>
            </a:solidFill>
            <a:prstDash val="solid"/>
          </a:ln>
        </p:spPr>
      </p:sp>
      <p:sp>
        <p:nvSpPr>
          <p:cNvPr id="21" name="Text 18"/>
          <p:cNvSpPr txBox="1"/>
          <p:nvPr/>
        </p:nvSpPr>
        <p:spPr>
          <a:xfrm>
            <a:off x="4663440" y="2167128"/>
            <a:ext cx="6903720" cy="384048"/>
          </a:xfrm>
          <a:prstGeom prst="rect">
            <a:avLst/>
          </a:prstGeom>
          <a:noFill/>
          <a:ln/>
        </p:spPr>
        <p:txBody>
          <a:bodyPr wrap="square" lIns="1270" tIns="1270" rIns="1270" bIns="1270" rtlCol="0" anchor="ctr"/>
          <a:lstStyle/>
          <a:p>
            <a:pPr algn="l" indent="0" marL="0">
              <a:buNone/>
            </a:pPr>
            <a:r>
              <a:rPr lang="en-US" sz="1300" dirty="0">
                <a:solidFill>
                  <a:srgbClr val="1B2430"/>
                </a:solidFill>
              </a:rPr>
              <a:t>I will use the option</a:t>
            </a:r>
            <a:endParaRPr lang="en-US" sz="1300" dirty="0"/>
          </a:p>
        </p:txBody>
      </p:sp>
      <p:sp>
        <p:nvSpPr>
          <p:cNvPr id="22" name="box"/>
          <p:cNvSpPr/>
          <p:nvPr/>
        </p:nvSpPr>
        <p:spPr>
          <a:xfrm>
            <a:off x="548640" y="2596896"/>
            <a:ext cx="1691640" cy="384048"/>
          </a:xfrm>
          <a:prstGeom prst="rect">
            <a:avLst/>
          </a:prstGeom>
          <a:solidFill>
            <a:srgbClr val="EEF2F6"/>
          </a:solidFill>
          <a:ln w="12700">
            <a:solidFill>
              <a:srgbClr val="EEF2F6"/>
            </a:solidFill>
            <a:prstDash val="solid"/>
          </a:ln>
        </p:spPr>
      </p:sp>
      <p:sp>
        <p:nvSpPr>
          <p:cNvPr id="23" name="Text 20"/>
          <p:cNvSpPr txBox="1"/>
          <p:nvPr/>
        </p:nvSpPr>
        <p:spPr>
          <a:xfrm>
            <a:off x="548640" y="2596896"/>
            <a:ext cx="1691640" cy="384048"/>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FC</a:t>
            </a:r>
            <a:endParaRPr lang="en-US" sz="1300" dirty="0"/>
          </a:p>
        </p:txBody>
      </p:sp>
      <p:sp>
        <p:nvSpPr>
          <p:cNvPr id="24" name="box"/>
          <p:cNvSpPr/>
          <p:nvPr/>
        </p:nvSpPr>
        <p:spPr>
          <a:xfrm>
            <a:off x="2286000" y="2596896"/>
            <a:ext cx="2331720" cy="384048"/>
          </a:xfrm>
          <a:prstGeom prst="rect">
            <a:avLst/>
          </a:prstGeom>
          <a:solidFill>
            <a:srgbClr val="F7F9FB"/>
          </a:solidFill>
          <a:ln w="12700">
            <a:solidFill>
              <a:srgbClr val="F7F9FB"/>
            </a:solidFill>
            <a:prstDash val="solid"/>
          </a:ln>
        </p:spPr>
      </p:sp>
      <p:sp>
        <p:nvSpPr>
          <p:cNvPr id="25" name="Text 22"/>
          <p:cNvSpPr txBox="1"/>
          <p:nvPr/>
        </p:nvSpPr>
        <p:spPr>
          <a:xfrm>
            <a:off x="2286000" y="2596896"/>
            <a:ext cx="2331720" cy="384048"/>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WONT</a:t>
            </a:r>
            <a:endParaRPr lang="en-US" sz="1300" dirty="0"/>
          </a:p>
        </p:txBody>
      </p:sp>
      <p:sp>
        <p:nvSpPr>
          <p:cNvPr id="26" name="box"/>
          <p:cNvSpPr/>
          <p:nvPr/>
        </p:nvSpPr>
        <p:spPr>
          <a:xfrm>
            <a:off x="4663440" y="2596896"/>
            <a:ext cx="6903720" cy="384048"/>
          </a:xfrm>
          <a:prstGeom prst="rect">
            <a:avLst/>
          </a:prstGeom>
          <a:solidFill>
            <a:srgbClr val="F7F9FB"/>
          </a:solidFill>
          <a:ln w="12700">
            <a:solidFill>
              <a:srgbClr val="F7F9FB"/>
            </a:solidFill>
            <a:prstDash val="solid"/>
          </a:ln>
        </p:spPr>
      </p:sp>
      <p:sp>
        <p:nvSpPr>
          <p:cNvPr id="27" name="Text 24"/>
          <p:cNvSpPr txBox="1"/>
          <p:nvPr/>
        </p:nvSpPr>
        <p:spPr>
          <a:xfrm>
            <a:off x="4663440" y="2596896"/>
            <a:ext cx="6903720" cy="384048"/>
          </a:xfrm>
          <a:prstGeom prst="rect">
            <a:avLst/>
          </a:prstGeom>
          <a:noFill/>
          <a:ln/>
        </p:spPr>
        <p:txBody>
          <a:bodyPr wrap="square" lIns="1270" tIns="1270" rIns="1270" bIns="1270" rtlCol="0" anchor="ctr"/>
          <a:lstStyle/>
          <a:p>
            <a:pPr algn="l" indent="0" marL="0">
              <a:buNone/>
            </a:pPr>
            <a:r>
              <a:rPr lang="en-US" sz="1300" dirty="0">
                <a:solidFill>
                  <a:srgbClr val="1B2430"/>
                </a:solidFill>
              </a:rPr>
              <a:t>I will not / I stop</a:t>
            </a:r>
            <a:endParaRPr lang="en-US" sz="1300" dirty="0"/>
          </a:p>
        </p:txBody>
      </p:sp>
      <p:sp>
        <p:nvSpPr>
          <p:cNvPr id="28" name="box"/>
          <p:cNvSpPr/>
          <p:nvPr/>
        </p:nvSpPr>
        <p:spPr>
          <a:xfrm>
            <a:off x="548640" y="3026664"/>
            <a:ext cx="1691640" cy="384048"/>
          </a:xfrm>
          <a:prstGeom prst="rect">
            <a:avLst/>
          </a:prstGeom>
          <a:solidFill>
            <a:srgbClr val="EEF2F6"/>
          </a:solidFill>
          <a:ln w="12700">
            <a:solidFill>
              <a:srgbClr val="EEF2F6"/>
            </a:solidFill>
            <a:prstDash val="solid"/>
          </a:ln>
        </p:spPr>
      </p:sp>
      <p:sp>
        <p:nvSpPr>
          <p:cNvPr id="29" name="Text 26"/>
          <p:cNvSpPr txBox="1"/>
          <p:nvPr/>
        </p:nvSpPr>
        <p:spPr>
          <a:xfrm>
            <a:off x="548640" y="3026664"/>
            <a:ext cx="1691640" cy="384048"/>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FD</a:t>
            </a:r>
            <a:endParaRPr lang="en-US" sz="1300" dirty="0"/>
          </a:p>
        </p:txBody>
      </p:sp>
      <p:sp>
        <p:nvSpPr>
          <p:cNvPr id="30" name="box"/>
          <p:cNvSpPr/>
          <p:nvPr/>
        </p:nvSpPr>
        <p:spPr>
          <a:xfrm>
            <a:off x="2286000" y="3026664"/>
            <a:ext cx="2331720" cy="384048"/>
          </a:xfrm>
          <a:prstGeom prst="rect">
            <a:avLst/>
          </a:prstGeom>
          <a:solidFill>
            <a:srgbClr val="F7F9FB"/>
          </a:solidFill>
          <a:ln w="12700">
            <a:solidFill>
              <a:srgbClr val="F7F9FB"/>
            </a:solidFill>
            <a:prstDash val="solid"/>
          </a:ln>
        </p:spPr>
      </p:sp>
      <p:sp>
        <p:nvSpPr>
          <p:cNvPr id="31" name="Text 28"/>
          <p:cNvSpPr txBox="1"/>
          <p:nvPr/>
        </p:nvSpPr>
        <p:spPr>
          <a:xfrm>
            <a:off x="2286000" y="3026664"/>
            <a:ext cx="2331720" cy="384048"/>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DO</a:t>
            </a:r>
            <a:endParaRPr lang="en-US" sz="1300" dirty="0"/>
          </a:p>
        </p:txBody>
      </p:sp>
      <p:sp>
        <p:nvSpPr>
          <p:cNvPr id="32" name="box"/>
          <p:cNvSpPr/>
          <p:nvPr/>
        </p:nvSpPr>
        <p:spPr>
          <a:xfrm>
            <a:off x="4663440" y="3026664"/>
            <a:ext cx="6903720" cy="384048"/>
          </a:xfrm>
          <a:prstGeom prst="rect">
            <a:avLst/>
          </a:prstGeom>
          <a:solidFill>
            <a:srgbClr val="F7F9FB"/>
          </a:solidFill>
          <a:ln w="12700">
            <a:solidFill>
              <a:srgbClr val="F7F9FB"/>
            </a:solidFill>
            <a:prstDash val="solid"/>
          </a:ln>
        </p:spPr>
      </p:sp>
      <p:sp>
        <p:nvSpPr>
          <p:cNvPr id="33" name="Text 30"/>
          <p:cNvSpPr txBox="1"/>
          <p:nvPr/>
        </p:nvSpPr>
        <p:spPr>
          <a:xfrm>
            <a:off x="4663440" y="3026664"/>
            <a:ext cx="6903720" cy="384048"/>
          </a:xfrm>
          <a:prstGeom prst="rect">
            <a:avLst/>
          </a:prstGeom>
          <a:noFill/>
          <a:ln/>
        </p:spPr>
        <p:txBody>
          <a:bodyPr wrap="square" lIns="1270" tIns="1270" rIns="1270" bIns="1270" rtlCol="0" anchor="ctr"/>
          <a:lstStyle/>
          <a:p>
            <a:pPr algn="l" indent="0" marL="0">
              <a:buNone/>
            </a:pPr>
            <a:r>
              <a:rPr lang="en-US" sz="1300" dirty="0">
                <a:solidFill>
                  <a:srgbClr val="1B2430"/>
                </a:solidFill>
              </a:rPr>
              <a:t>please use the option</a:t>
            </a:r>
            <a:endParaRPr lang="en-US" sz="1300" dirty="0"/>
          </a:p>
        </p:txBody>
      </p:sp>
      <p:sp>
        <p:nvSpPr>
          <p:cNvPr id="34" name="box"/>
          <p:cNvSpPr/>
          <p:nvPr/>
        </p:nvSpPr>
        <p:spPr>
          <a:xfrm>
            <a:off x="548640" y="3456432"/>
            <a:ext cx="1691640" cy="384048"/>
          </a:xfrm>
          <a:prstGeom prst="rect">
            <a:avLst/>
          </a:prstGeom>
          <a:solidFill>
            <a:srgbClr val="EEF2F6"/>
          </a:solidFill>
          <a:ln w="12700">
            <a:solidFill>
              <a:srgbClr val="EEF2F6"/>
            </a:solidFill>
            <a:prstDash val="solid"/>
          </a:ln>
        </p:spPr>
      </p:sp>
      <p:sp>
        <p:nvSpPr>
          <p:cNvPr id="35" name="Text 32"/>
          <p:cNvSpPr txBox="1"/>
          <p:nvPr/>
        </p:nvSpPr>
        <p:spPr>
          <a:xfrm>
            <a:off x="548640" y="3456432"/>
            <a:ext cx="1691640" cy="384048"/>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FE</a:t>
            </a:r>
            <a:endParaRPr lang="en-US" sz="1300" dirty="0"/>
          </a:p>
        </p:txBody>
      </p:sp>
      <p:sp>
        <p:nvSpPr>
          <p:cNvPr id="36" name="box"/>
          <p:cNvSpPr/>
          <p:nvPr/>
        </p:nvSpPr>
        <p:spPr>
          <a:xfrm>
            <a:off x="2286000" y="3456432"/>
            <a:ext cx="2331720" cy="384048"/>
          </a:xfrm>
          <a:prstGeom prst="rect">
            <a:avLst/>
          </a:prstGeom>
          <a:solidFill>
            <a:srgbClr val="F7F9FB"/>
          </a:solidFill>
          <a:ln w="12700">
            <a:solidFill>
              <a:srgbClr val="F7F9FB"/>
            </a:solidFill>
            <a:prstDash val="solid"/>
          </a:ln>
        </p:spPr>
      </p:sp>
      <p:sp>
        <p:nvSpPr>
          <p:cNvPr id="37" name="Text 34"/>
          <p:cNvSpPr txBox="1"/>
          <p:nvPr/>
        </p:nvSpPr>
        <p:spPr>
          <a:xfrm>
            <a:off x="2286000" y="3456432"/>
            <a:ext cx="2331720" cy="384048"/>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DONT</a:t>
            </a:r>
            <a:endParaRPr lang="en-US" sz="1300" dirty="0"/>
          </a:p>
        </p:txBody>
      </p:sp>
      <p:sp>
        <p:nvSpPr>
          <p:cNvPr id="38" name="box"/>
          <p:cNvSpPr/>
          <p:nvPr/>
        </p:nvSpPr>
        <p:spPr>
          <a:xfrm>
            <a:off x="4663440" y="3456432"/>
            <a:ext cx="6903720" cy="384048"/>
          </a:xfrm>
          <a:prstGeom prst="rect">
            <a:avLst/>
          </a:prstGeom>
          <a:solidFill>
            <a:srgbClr val="F7F9FB"/>
          </a:solidFill>
          <a:ln w="12700">
            <a:solidFill>
              <a:srgbClr val="F7F9FB"/>
            </a:solidFill>
            <a:prstDash val="solid"/>
          </a:ln>
        </p:spPr>
      </p:sp>
      <p:sp>
        <p:nvSpPr>
          <p:cNvPr id="39" name="Text 36"/>
          <p:cNvSpPr txBox="1"/>
          <p:nvPr/>
        </p:nvSpPr>
        <p:spPr>
          <a:xfrm>
            <a:off x="4663440" y="3456432"/>
            <a:ext cx="6903720" cy="384048"/>
          </a:xfrm>
          <a:prstGeom prst="rect">
            <a:avLst/>
          </a:prstGeom>
          <a:noFill/>
          <a:ln/>
        </p:spPr>
        <p:txBody>
          <a:bodyPr wrap="square" lIns="1270" tIns="1270" rIns="1270" bIns="1270" rtlCol="0" anchor="ctr"/>
          <a:lstStyle/>
          <a:p>
            <a:pPr algn="l" indent="0" marL="0">
              <a:buNone/>
            </a:pPr>
            <a:r>
              <a:rPr lang="en-US" sz="1300" dirty="0">
                <a:solidFill>
                  <a:srgbClr val="1B2430"/>
                </a:solidFill>
              </a:rPr>
              <a:t>please do not / stop</a:t>
            </a:r>
            <a:endParaRPr lang="en-US" sz="1300" dirty="0"/>
          </a:p>
        </p:txBody>
      </p:sp>
      <p:sp>
        <p:nvSpPr>
          <p:cNvPr id="40" name="box"/>
          <p:cNvSpPr/>
          <p:nvPr/>
        </p:nvSpPr>
        <p:spPr>
          <a:xfrm>
            <a:off x="548640" y="3886200"/>
            <a:ext cx="1737360" cy="475488"/>
          </a:xfrm>
          <a:prstGeom prst="roundRect">
            <a:avLst>
              <a:gd name="adj" fmla="val 15385"/>
            </a:avLst>
          </a:prstGeom>
          <a:solidFill>
            <a:srgbClr val="B9772A"/>
          </a:solidFill>
          <a:ln w="12700">
            <a:solidFill>
              <a:srgbClr val="B9772A"/>
            </a:solidFill>
            <a:prstDash val="solid"/>
          </a:ln>
        </p:spPr>
      </p:sp>
      <p:sp>
        <p:nvSpPr>
          <p:cNvPr id="41" name="Text 38"/>
          <p:cNvSpPr txBox="1"/>
          <p:nvPr/>
        </p:nvSpPr>
        <p:spPr>
          <a:xfrm>
            <a:off x="548640" y="3886200"/>
            <a:ext cx="1737360" cy="475488"/>
          </a:xfrm>
          <a:prstGeom prst="rect">
            <a:avLst/>
          </a:prstGeom>
          <a:noFill/>
          <a:ln/>
        </p:spPr>
        <p:txBody>
          <a:bodyPr wrap="square" lIns="635" tIns="635" rIns="635" bIns="635" rtlCol="0" anchor="ctr"/>
          <a:lstStyle/>
          <a:p>
            <a:pPr algn="ctr" indent="0" marL="0">
              <a:buNone/>
            </a:pPr>
            <a:r>
              <a:rPr lang="en-US" sz="1300" dirty="0">
                <a:solidFill>
                  <a:srgbClr val="FFFFFF"/>
                </a:solidFill>
                <a:latin typeface="Consolas" pitchFamily="34" charset="0"/>
                <a:ea typeface="Consolas" pitchFamily="34" charset="-122"/>
                <a:cs typeface="Consolas" pitchFamily="34" charset="-120"/>
              </a:rPr>
              <a:t>FF FB 01</a:t>
            </a:r>
            <a:endParaRPr lang="en-US" sz="1300" dirty="0"/>
          </a:p>
        </p:txBody>
      </p:sp>
      <p:sp>
        <p:nvSpPr>
          <p:cNvPr id="42" name="box"/>
          <p:cNvSpPr/>
          <p:nvPr/>
        </p:nvSpPr>
        <p:spPr>
          <a:xfrm>
            <a:off x="2377440" y="3886200"/>
            <a:ext cx="3383280" cy="475488"/>
          </a:xfrm>
          <a:prstGeom prst="roundRect">
            <a:avLst>
              <a:gd name="adj" fmla="val 15385"/>
            </a:avLst>
          </a:prstGeom>
          <a:solidFill>
            <a:srgbClr val="F3EAD7"/>
          </a:solidFill>
          <a:ln w="12700">
            <a:solidFill>
              <a:srgbClr val="F3EAD7"/>
            </a:solidFill>
            <a:prstDash val="solid"/>
          </a:ln>
        </p:spPr>
      </p:sp>
      <p:sp>
        <p:nvSpPr>
          <p:cNvPr id="43" name="Text 40"/>
          <p:cNvSpPr txBox="1"/>
          <p:nvPr/>
        </p:nvSpPr>
        <p:spPr>
          <a:xfrm>
            <a:off x="2377440" y="3886200"/>
            <a:ext cx="3383280" cy="475488"/>
          </a:xfrm>
          <a:prstGeom prst="rect">
            <a:avLst/>
          </a:prstGeom>
          <a:noFill/>
          <a:ln/>
        </p:spPr>
        <p:txBody>
          <a:bodyPr wrap="square" lIns="635" tIns="635" rIns="635" bIns="635" rtlCol="0" anchor="ctr"/>
          <a:lstStyle/>
          <a:p>
            <a:pPr algn="ctr" indent="0" marL="0">
              <a:buNone/>
            </a:pPr>
            <a:r>
              <a:rPr lang="en-US" sz="1200" dirty="0">
                <a:solidFill>
                  <a:srgbClr val="1B2430"/>
                </a:solidFill>
              </a:rPr>
              <a:t>IAC WILL ECHO</a:t>
            </a:r>
            <a:endParaRPr lang="en-US" sz="1200" dirty="0"/>
          </a:p>
        </p:txBody>
      </p:sp>
      <p:sp>
        <p:nvSpPr>
          <p:cNvPr id="44" name="Text 41"/>
          <p:cNvSpPr txBox="1"/>
          <p:nvPr/>
        </p:nvSpPr>
        <p:spPr>
          <a:xfrm>
            <a:off x="5897880" y="3977640"/>
            <a:ext cx="576072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the server will echo — the client stops echoing locally (password!)</a:t>
            </a:r>
            <a:endParaRPr lang="en-US" sz="1200" dirty="0"/>
          </a:p>
        </p:txBody>
      </p:sp>
      <p:sp>
        <p:nvSpPr>
          <p:cNvPr id="45" name="box"/>
          <p:cNvSpPr/>
          <p:nvPr/>
        </p:nvSpPr>
        <p:spPr>
          <a:xfrm>
            <a:off x="548640" y="4453128"/>
            <a:ext cx="1737360" cy="475488"/>
          </a:xfrm>
          <a:prstGeom prst="roundRect">
            <a:avLst>
              <a:gd name="adj" fmla="val 15385"/>
            </a:avLst>
          </a:prstGeom>
          <a:solidFill>
            <a:srgbClr val="B9772A"/>
          </a:solidFill>
          <a:ln w="12700">
            <a:solidFill>
              <a:srgbClr val="B9772A"/>
            </a:solidFill>
            <a:prstDash val="solid"/>
          </a:ln>
        </p:spPr>
      </p:sp>
      <p:sp>
        <p:nvSpPr>
          <p:cNvPr id="46" name="Text 43"/>
          <p:cNvSpPr txBox="1"/>
          <p:nvPr/>
        </p:nvSpPr>
        <p:spPr>
          <a:xfrm>
            <a:off x="548640" y="4453128"/>
            <a:ext cx="1737360" cy="475488"/>
          </a:xfrm>
          <a:prstGeom prst="rect">
            <a:avLst/>
          </a:prstGeom>
          <a:noFill/>
          <a:ln/>
        </p:spPr>
        <p:txBody>
          <a:bodyPr wrap="square" lIns="635" tIns="635" rIns="635" bIns="635" rtlCol="0" anchor="ctr"/>
          <a:lstStyle/>
          <a:p>
            <a:pPr algn="ctr" indent="0" marL="0">
              <a:buNone/>
            </a:pPr>
            <a:r>
              <a:rPr lang="en-US" sz="1300" dirty="0">
                <a:solidFill>
                  <a:srgbClr val="FFFFFF"/>
                </a:solidFill>
                <a:latin typeface="Consolas" pitchFamily="34" charset="0"/>
                <a:ea typeface="Consolas" pitchFamily="34" charset="-122"/>
                <a:cs typeface="Consolas" pitchFamily="34" charset="-120"/>
              </a:rPr>
              <a:t>FF FD 03</a:t>
            </a:r>
            <a:endParaRPr lang="en-US" sz="1300" dirty="0"/>
          </a:p>
        </p:txBody>
      </p:sp>
      <p:sp>
        <p:nvSpPr>
          <p:cNvPr id="47" name="box"/>
          <p:cNvSpPr/>
          <p:nvPr/>
        </p:nvSpPr>
        <p:spPr>
          <a:xfrm>
            <a:off x="2377440" y="4453128"/>
            <a:ext cx="3383280" cy="475488"/>
          </a:xfrm>
          <a:prstGeom prst="roundRect">
            <a:avLst>
              <a:gd name="adj" fmla="val 15385"/>
            </a:avLst>
          </a:prstGeom>
          <a:solidFill>
            <a:srgbClr val="F3EAD7"/>
          </a:solidFill>
          <a:ln w="12700">
            <a:solidFill>
              <a:srgbClr val="F3EAD7"/>
            </a:solidFill>
            <a:prstDash val="solid"/>
          </a:ln>
        </p:spPr>
      </p:sp>
      <p:sp>
        <p:nvSpPr>
          <p:cNvPr id="48" name="Text 45"/>
          <p:cNvSpPr txBox="1"/>
          <p:nvPr/>
        </p:nvSpPr>
        <p:spPr>
          <a:xfrm>
            <a:off x="2377440" y="4453128"/>
            <a:ext cx="3383280" cy="475488"/>
          </a:xfrm>
          <a:prstGeom prst="rect">
            <a:avLst/>
          </a:prstGeom>
          <a:noFill/>
          <a:ln/>
        </p:spPr>
        <p:txBody>
          <a:bodyPr wrap="square" lIns="635" tIns="635" rIns="635" bIns="635" rtlCol="0" anchor="ctr"/>
          <a:lstStyle/>
          <a:p>
            <a:pPr algn="ctr" indent="0" marL="0">
              <a:buNone/>
            </a:pPr>
            <a:r>
              <a:rPr lang="en-US" sz="1200" dirty="0">
                <a:solidFill>
                  <a:srgbClr val="1B2430"/>
                </a:solidFill>
              </a:rPr>
              <a:t>IAC DO SUPPRESS-GO-AHEAD</a:t>
            </a:r>
            <a:endParaRPr lang="en-US" sz="1200" dirty="0"/>
          </a:p>
        </p:txBody>
      </p:sp>
      <p:sp>
        <p:nvSpPr>
          <p:cNvPr id="49" name="Text 46"/>
          <p:cNvSpPr txBox="1"/>
          <p:nvPr/>
        </p:nvSpPr>
        <p:spPr>
          <a:xfrm>
            <a:off x="5897880" y="4544568"/>
            <a:ext cx="576072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full-duplex operation</a:t>
            </a:r>
            <a:endParaRPr lang="en-US" sz="1200" dirty="0"/>
          </a:p>
        </p:txBody>
      </p:sp>
      <p:sp>
        <p:nvSpPr>
          <p:cNvPr id="50" name="box"/>
          <p:cNvSpPr/>
          <p:nvPr/>
        </p:nvSpPr>
        <p:spPr>
          <a:xfrm>
            <a:off x="548640" y="5020056"/>
            <a:ext cx="1737360" cy="475488"/>
          </a:xfrm>
          <a:prstGeom prst="roundRect">
            <a:avLst>
              <a:gd name="adj" fmla="val 15385"/>
            </a:avLst>
          </a:prstGeom>
          <a:solidFill>
            <a:srgbClr val="B9772A"/>
          </a:solidFill>
          <a:ln w="12700">
            <a:solidFill>
              <a:srgbClr val="B9772A"/>
            </a:solidFill>
            <a:prstDash val="solid"/>
          </a:ln>
        </p:spPr>
      </p:sp>
      <p:sp>
        <p:nvSpPr>
          <p:cNvPr id="51" name="Text 48"/>
          <p:cNvSpPr txBox="1"/>
          <p:nvPr/>
        </p:nvSpPr>
        <p:spPr>
          <a:xfrm>
            <a:off x="548640" y="5020056"/>
            <a:ext cx="1737360" cy="475488"/>
          </a:xfrm>
          <a:prstGeom prst="rect">
            <a:avLst/>
          </a:prstGeom>
          <a:noFill/>
          <a:ln/>
        </p:spPr>
        <p:txBody>
          <a:bodyPr wrap="square" lIns="635" tIns="635" rIns="635" bIns="635" rtlCol="0" anchor="ctr"/>
          <a:lstStyle/>
          <a:p>
            <a:pPr algn="ctr" indent="0" marL="0">
              <a:buNone/>
            </a:pPr>
            <a:r>
              <a:rPr lang="en-US" sz="1300" dirty="0">
                <a:solidFill>
                  <a:srgbClr val="FFFFFF"/>
                </a:solidFill>
                <a:latin typeface="Consolas" pitchFamily="34" charset="0"/>
                <a:ea typeface="Consolas" pitchFamily="34" charset="-122"/>
                <a:cs typeface="Consolas" pitchFamily="34" charset="-120"/>
              </a:rPr>
              <a:t>FF FD 18</a:t>
            </a:r>
            <a:endParaRPr lang="en-US" sz="1300" dirty="0"/>
          </a:p>
        </p:txBody>
      </p:sp>
      <p:sp>
        <p:nvSpPr>
          <p:cNvPr id="52" name="box"/>
          <p:cNvSpPr/>
          <p:nvPr/>
        </p:nvSpPr>
        <p:spPr>
          <a:xfrm>
            <a:off x="2377440" y="5020056"/>
            <a:ext cx="3383280" cy="475488"/>
          </a:xfrm>
          <a:prstGeom prst="roundRect">
            <a:avLst>
              <a:gd name="adj" fmla="val 15385"/>
            </a:avLst>
          </a:prstGeom>
          <a:solidFill>
            <a:srgbClr val="F3EAD7"/>
          </a:solidFill>
          <a:ln w="12700">
            <a:solidFill>
              <a:srgbClr val="F3EAD7"/>
            </a:solidFill>
            <a:prstDash val="solid"/>
          </a:ln>
        </p:spPr>
      </p:sp>
      <p:sp>
        <p:nvSpPr>
          <p:cNvPr id="53" name="Text 50"/>
          <p:cNvSpPr txBox="1"/>
          <p:nvPr/>
        </p:nvSpPr>
        <p:spPr>
          <a:xfrm>
            <a:off x="2377440" y="5020056"/>
            <a:ext cx="3383280" cy="475488"/>
          </a:xfrm>
          <a:prstGeom prst="rect">
            <a:avLst/>
          </a:prstGeom>
          <a:noFill/>
          <a:ln/>
        </p:spPr>
        <p:txBody>
          <a:bodyPr wrap="square" lIns="635" tIns="635" rIns="635" bIns="635" rtlCol="0" anchor="ctr"/>
          <a:lstStyle/>
          <a:p>
            <a:pPr algn="ctr" indent="0" marL="0">
              <a:buNone/>
            </a:pPr>
            <a:r>
              <a:rPr lang="en-US" sz="1200" dirty="0">
                <a:solidFill>
                  <a:srgbClr val="1B2430"/>
                </a:solidFill>
              </a:rPr>
              <a:t>IAC DO TERMINAL-TYPE</a:t>
            </a:r>
            <a:endParaRPr lang="en-US" sz="1200" dirty="0"/>
          </a:p>
        </p:txBody>
      </p:sp>
      <p:sp>
        <p:nvSpPr>
          <p:cNvPr id="54" name="Text 51"/>
          <p:cNvSpPr txBox="1"/>
          <p:nvPr/>
        </p:nvSpPr>
        <p:spPr>
          <a:xfrm>
            <a:off x="5897880" y="5111496"/>
            <a:ext cx="576072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tell me your terminal type (option 24)</a:t>
            </a:r>
            <a:endParaRPr lang="en-US" sz="1200" dirty="0"/>
          </a:p>
        </p:txBody>
      </p:sp>
      <p:sp>
        <p:nvSpPr>
          <p:cNvPr id="55"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56" name="Text 53"/>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Hiding the password on the screen (WILL ECHO) does nothing on the wire: the bytes still travel in clear.</a:t>
            </a:r>
            <a:endParaRPr lang="en-US" sz="1400" dirty="0"/>
          </a:p>
        </p:txBody>
      </p:sp>
      <p:sp>
        <p:nvSpPr>
          <p:cNvPr id="57" name="Text 54"/>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IAC (interpret as command)</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6 · Why TELNET had to go</a:t>
            </a:r>
            <a:endParaRPr lang="en-US" sz="3000" dirty="0"/>
          </a:p>
        </p:txBody>
      </p:sp>
      <p:sp>
        <p:nvSpPr>
          <p:cNvPr id="4" name="box"/>
          <p:cNvSpPr/>
          <p:nvPr/>
        </p:nvSpPr>
        <p:spPr>
          <a:xfrm>
            <a:off x="1005840" y="1325880"/>
            <a:ext cx="1645920" cy="384048"/>
          </a:xfrm>
          <a:prstGeom prst="roundRect">
            <a:avLst>
              <a:gd name="adj" fmla="val 19048"/>
            </a:avLst>
          </a:prstGeom>
          <a:solidFill>
            <a:srgbClr val="1F3A5F"/>
          </a:solidFill>
          <a:ln w="12700">
            <a:solidFill>
              <a:srgbClr val="1F3A5F"/>
            </a:solidFill>
            <a:prstDash val="solid"/>
          </a:ln>
        </p:spPr>
      </p:sp>
      <p:sp>
        <p:nvSpPr>
          <p:cNvPr id="5" name="Text 2"/>
          <p:cNvSpPr txBox="1"/>
          <p:nvPr/>
        </p:nvSpPr>
        <p:spPr>
          <a:xfrm>
            <a:off x="100584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user</a:t>
            </a:r>
            <a:endParaRPr lang="en-US" sz="1300" dirty="0"/>
          </a:p>
        </p:txBody>
      </p:sp>
      <p:sp>
        <p:nvSpPr>
          <p:cNvPr id="6" name="Shape 3"/>
          <p:cNvSpPr/>
          <p:nvPr/>
        </p:nvSpPr>
        <p:spPr>
          <a:xfrm>
            <a:off x="1828800" y="1783080"/>
            <a:ext cx="914" cy="2423160"/>
          </a:xfrm>
          <a:prstGeom prst="line">
            <a:avLst/>
          </a:prstGeom>
          <a:noFill/>
          <a:ln w="25400">
            <a:solidFill>
              <a:srgbClr val="1F3A5F"/>
            </a:solidFill>
            <a:prstDash val="solid"/>
          </a:ln>
        </p:spPr>
      </p:sp>
      <p:sp>
        <p:nvSpPr>
          <p:cNvPr id="7" name="box"/>
          <p:cNvSpPr/>
          <p:nvPr/>
        </p:nvSpPr>
        <p:spPr>
          <a:xfrm>
            <a:off x="9144000" y="1325880"/>
            <a:ext cx="1645920" cy="384048"/>
          </a:xfrm>
          <a:prstGeom prst="roundRect">
            <a:avLst>
              <a:gd name="adj" fmla="val 19048"/>
            </a:avLst>
          </a:prstGeom>
          <a:solidFill>
            <a:srgbClr val="2A7F8E"/>
          </a:solidFill>
          <a:ln w="12700">
            <a:solidFill>
              <a:srgbClr val="2A7F8E"/>
            </a:solidFill>
            <a:prstDash val="solid"/>
          </a:ln>
        </p:spPr>
      </p:sp>
      <p:sp>
        <p:nvSpPr>
          <p:cNvPr id="8" name="Text 5"/>
          <p:cNvSpPr txBox="1"/>
          <p:nvPr/>
        </p:nvSpPr>
        <p:spPr>
          <a:xfrm>
            <a:off x="914400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server</a:t>
            </a:r>
            <a:endParaRPr lang="en-US" sz="1300" dirty="0"/>
          </a:p>
        </p:txBody>
      </p:sp>
      <p:sp>
        <p:nvSpPr>
          <p:cNvPr id="9" name="Shape 6"/>
          <p:cNvSpPr/>
          <p:nvPr/>
        </p:nvSpPr>
        <p:spPr>
          <a:xfrm>
            <a:off x="9966960" y="1783080"/>
            <a:ext cx="914" cy="2423160"/>
          </a:xfrm>
          <a:prstGeom prst="line">
            <a:avLst/>
          </a:prstGeom>
          <a:noFill/>
          <a:ln w="25400">
            <a:solidFill>
              <a:srgbClr val="1F3A5F"/>
            </a:solidFill>
            <a:prstDash val="solid"/>
          </a:ln>
        </p:spPr>
      </p:sp>
      <p:sp>
        <p:nvSpPr>
          <p:cNvPr id="10" name="Shape 7"/>
          <p:cNvSpPr/>
          <p:nvPr/>
        </p:nvSpPr>
        <p:spPr>
          <a:xfrm>
            <a:off x="1828800" y="1965960"/>
            <a:ext cx="8138160" cy="274320"/>
          </a:xfrm>
          <a:prstGeom prst="line">
            <a:avLst/>
          </a:prstGeom>
          <a:noFill/>
          <a:ln w="25400">
            <a:solidFill>
              <a:srgbClr val="1F3A5F"/>
            </a:solidFill>
            <a:prstDash val="solid"/>
            <a:tailEnd type="triangle"/>
          </a:ln>
        </p:spPr>
      </p:sp>
      <p:sp>
        <p:nvSpPr>
          <p:cNvPr id="11" name="Text 8"/>
          <p:cNvSpPr txBox="1"/>
          <p:nvPr/>
        </p:nvSpPr>
        <p:spPr>
          <a:xfrm>
            <a:off x="3063240" y="1655064"/>
            <a:ext cx="566928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s t u d e n t \r\n   p a 5 5 w 0 r d \r\n</a:t>
            </a:r>
            <a:endParaRPr lang="en-US" sz="1200" dirty="0"/>
          </a:p>
        </p:txBody>
      </p:sp>
      <p:sp>
        <p:nvSpPr>
          <p:cNvPr id="12" name="box"/>
          <p:cNvSpPr/>
          <p:nvPr/>
        </p:nvSpPr>
        <p:spPr>
          <a:xfrm>
            <a:off x="4572000" y="2880360"/>
            <a:ext cx="3108960" cy="1005840"/>
          </a:xfrm>
          <a:prstGeom prst="roundRect">
            <a:avLst>
              <a:gd name="adj" fmla="val 7273"/>
            </a:avLst>
          </a:prstGeom>
          <a:solidFill>
            <a:srgbClr val="A23B3B"/>
          </a:solidFill>
          <a:ln w="12700">
            <a:solidFill>
              <a:srgbClr val="A23B3B"/>
            </a:solidFill>
            <a:prstDash val="solid"/>
          </a:ln>
        </p:spPr>
      </p:sp>
      <p:sp>
        <p:nvSpPr>
          <p:cNvPr id="13" name="Text 10"/>
          <p:cNvSpPr txBox="1"/>
          <p:nvPr/>
        </p:nvSpPr>
        <p:spPr>
          <a:xfrm>
            <a:off x="4572000" y="2880360"/>
            <a:ext cx="3108960" cy="1005840"/>
          </a:xfrm>
          <a:prstGeom prst="rect">
            <a:avLst/>
          </a:prstGeom>
          <a:noFill/>
          <a:ln/>
        </p:spPr>
        <p:txBody>
          <a:bodyPr wrap="square" lIns="635" tIns="635" rIns="635" bIns="635" rtlCol="0" anchor="ctr"/>
          <a:lstStyle/>
          <a:p>
            <a:pPr algn="ctr" indent="0" marL="0">
              <a:buNone/>
            </a:pPr>
            <a:r>
              <a:rPr lang="en-US" sz="1300" b="1" dirty="0">
                <a:solidFill>
                  <a:srgbClr val="FFFFFF"/>
                </a:solidFill>
              </a:rPr>
              <a:t>attacker on the path</a:t>
            </a:r>
            <a:endParaRPr lang="en-US" sz="1300" dirty="0"/>
          </a:p>
          <a:p>
            <a:pPr algn="ctr" indent="0" marL="0">
              <a:buNone/>
            </a:pPr>
            <a:r>
              <a:rPr lang="en-US" sz="1300" dirty="0">
                <a:solidFill>
                  <a:srgbClr val="FFFFFF"/>
                </a:solidFill>
              </a:rPr>
              <a:t>reads · injects · reuses</a:t>
            </a:r>
            <a:endParaRPr lang="en-US" sz="1300" dirty="0"/>
          </a:p>
        </p:txBody>
      </p:sp>
      <p:sp>
        <p:nvSpPr>
          <p:cNvPr id="14" name="Shape 11"/>
          <p:cNvSpPr/>
          <p:nvPr/>
        </p:nvSpPr>
        <p:spPr>
          <a:xfrm>
            <a:off x="6126480" y="2331720"/>
            <a:ext cx="914" cy="548640"/>
          </a:xfrm>
          <a:prstGeom prst="line">
            <a:avLst/>
          </a:prstGeom>
          <a:noFill/>
          <a:ln w="25400">
            <a:solidFill>
              <a:srgbClr val="A23B3B"/>
            </a:solidFill>
            <a:prstDash val="dash"/>
            <a:tailEnd type="triangle"/>
          </a:ln>
        </p:spPr>
      </p:sp>
      <p:sp>
        <p:nvSpPr>
          <p:cNvPr id="15" name="box"/>
          <p:cNvSpPr/>
          <p:nvPr/>
        </p:nvSpPr>
        <p:spPr>
          <a:xfrm>
            <a:off x="548640" y="4526280"/>
            <a:ext cx="11064240" cy="1005840"/>
          </a:xfrm>
          <a:prstGeom prst="roundRect">
            <a:avLst>
              <a:gd name="adj" fmla="val 7273"/>
            </a:avLst>
          </a:prstGeom>
          <a:solidFill>
            <a:srgbClr val="F3EAD7"/>
          </a:solidFill>
          <a:ln w="12700">
            <a:solidFill>
              <a:srgbClr val="F3EAD7"/>
            </a:solidFill>
            <a:prstDash val="solid"/>
          </a:ln>
        </p:spPr>
      </p:sp>
      <p:sp>
        <p:nvSpPr>
          <p:cNvPr id="16" name="Text 13"/>
          <p:cNvSpPr txBox="1"/>
          <p:nvPr/>
        </p:nvSpPr>
        <p:spPr>
          <a:xfrm>
            <a:off x="548640" y="4526280"/>
            <a:ext cx="11064240" cy="1005840"/>
          </a:xfrm>
          <a:prstGeom prst="rect">
            <a:avLst/>
          </a:prstGeom>
          <a:noFill/>
          <a:ln/>
        </p:spPr>
        <p:txBody>
          <a:bodyPr wrap="square" lIns="635" tIns="635" rIns="635" bIns="635" rtlCol="0" anchor="ctr"/>
          <a:lstStyle/>
          <a:p>
            <a:pPr algn="ctr" indent="0" marL="0">
              <a:buNone/>
            </a:pPr>
            <a:r>
              <a:rPr lang="en-US" sz="1300" b="1" dirty="0">
                <a:solidFill>
                  <a:srgbClr val="1B2430"/>
                </a:solidFill>
              </a:rPr>
              <a:t>Mirai botnet, 2016</a:t>
            </a:r>
            <a:r>
              <a:rPr lang="en-US" sz="1300" dirty="0">
                <a:solidFill>
                  <a:srgbClr val="1B2430"/>
                </a:solidFill>
              </a:rPr>
              <a:t>: hundreds of thousands of cameras and routers taken over by trying factory passwords on TELNET —</a:t>
            </a:r>
            <a:endParaRPr lang="en-US" sz="1300" dirty="0"/>
          </a:p>
          <a:p>
            <a:pPr algn="ctr" indent="0" marL="0">
              <a:buNone/>
            </a:pPr>
            <a:r>
              <a:rPr lang="en-US" sz="1300" dirty="0">
                <a:solidFill>
                  <a:srgbClr val="1B2430"/>
                </a:solidFill>
              </a:rPr>
              <a:t>then used for some of the largest denial-of-service attacks ever seen (including on the DNS provider Dyn).</a:t>
            </a:r>
            <a:endParaRPr lang="en-US" sz="1300" dirty="0"/>
          </a:p>
        </p:txBody>
      </p:sp>
      <p:sp>
        <p:nvSpPr>
          <p:cNvPr id="1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8" name="Text 1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TELNET survives only on old equipment and embedded devices — and there it is a liability.</a:t>
            </a:r>
            <a:endParaRPr lang="en-US" sz="1400" dirty="0"/>
          </a:p>
        </p:txBody>
      </p:sp>
      <p:sp>
        <p:nvSpPr>
          <p:cNvPr id="19" name="Text 16"/>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DNS (Domain Name System)</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7 · SSH: three layers over one TCP connection</a:t>
            </a:r>
            <a:endParaRPr lang="en-US" sz="3000" dirty="0"/>
          </a:p>
        </p:txBody>
      </p:sp>
      <p:sp>
        <p:nvSpPr>
          <p:cNvPr id="4" name="box"/>
          <p:cNvSpPr/>
          <p:nvPr/>
        </p:nvSpPr>
        <p:spPr>
          <a:xfrm>
            <a:off x="548640" y="1325880"/>
            <a:ext cx="6766560" cy="822960"/>
          </a:xfrm>
          <a:prstGeom prst="roundRect">
            <a:avLst>
              <a:gd name="adj" fmla="val 8889"/>
            </a:avLst>
          </a:prstGeom>
          <a:solidFill>
            <a:srgbClr val="2A7F8E"/>
          </a:solidFill>
          <a:ln w="12700">
            <a:solidFill>
              <a:srgbClr val="2A7F8E"/>
            </a:solidFill>
            <a:prstDash val="solid"/>
          </a:ln>
        </p:spPr>
      </p:sp>
      <p:sp>
        <p:nvSpPr>
          <p:cNvPr id="5" name="Text 2"/>
          <p:cNvSpPr txBox="1"/>
          <p:nvPr/>
        </p:nvSpPr>
        <p:spPr>
          <a:xfrm>
            <a:off x="548640" y="1325880"/>
            <a:ext cx="6766560" cy="822960"/>
          </a:xfrm>
          <a:prstGeom prst="rect">
            <a:avLst/>
          </a:prstGeom>
          <a:noFill/>
          <a:ln/>
        </p:spPr>
        <p:txBody>
          <a:bodyPr wrap="square" lIns="635" tIns="635" rIns="635" bIns="635" rtlCol="0" anchor="ctr"/>
          <a:lstStyle/>
          <a:p>
            <a:pPr algn="ctr" indent="0" marL="0">
              <a:buNone/>
            </a:pPr>
            <a:r>
              <a:rPr lang="en-US" sz="1300" b="1" dirty="0">
                <a:solidFill>
                  <a:srgbClr val="FFFFFF"/>
                </a:solidFill>
              </a:rPr>
              <a:t>Connection protocol (RFC 4254)</a:t>
            </a:r>
            <a:endParaRPr lang="en-US" sz="1300" dirty="0"/>
          </a:p>
          <a:p>
            <a:pPr algn="ctr" indent="0" marL="0">
              <a:buNone/>
            </a:pPr>
            <a:r>
              <a:rPr lang="en-US" sz="1300" dirty="0">
                <a:solidFill>
                  <a:srgbClr val="FFFFFF"/>
                </a:solidFill>
              </a:rPr>
              <a:t>channels: shell · command · SFTP · forwarded connections</a:t>
            </a:r>
            <a:endParaRPr lang="en-US" sz="1300" dirty="0"/>
          </a:p>
        </p:txBody>
      </p:sp>
      <p:sp>
        <p:nvSpPr>
          <p:cNvPr id="6" name="box"/>
          <p:cNvSpPr/>
          <p:nvPr/>
        </p:nvSpPr>
        <p:spPr>
          <a:xfrm>
            <a:off x="548640" y="2286000"/>
            <a:ext cx="6766560" cy="822960"/>
          </a:xfrm>
          <a:prstGeom prst="roundRect">
            <a:avLst>
              <a:gd name="adj" fmla="val 8889"/>
            </a:avLst>
          </a:prstGeom>
          <a:solidFill>
            <a:srgbClr val="B9772A"/>
          </a:solidFill>
          <a:ln w="12700">
            <a:solidFill>
              <a:srgbClr val="B9772A"/>
            </a:solidFill>
            <a:prstDash val="solid"/>
          </a:ln>
        </p:spPr>
      </p:sp>
      <p:sp>
        <p:nvSpPr>
          <p:cNvPr id="7" name="Text 4"/>
          <p:cNvSpPr txBox="1"/>
          <p:nvPr/>
        </p:nvSpPr>
        <p:spPr>
          <a:xfrm>
            <a:off x="548640" y="2286000"/>
            <a:ext cx="6766560" cy="822960"/>
          </a:xfrm>
          <a:prstGeom prst="rect">
            <a:avLst/>
          </a:prstGeom>
          <a:noFill/>
          <a:ln/>
        </p:spPr>
        <p:txBody>
          <a:bodyPr wrap="square" lIns="635" tIns="635" rIns="635" bIns="635" rtlCol="0" anchor="ctr"/>
          <a:lstStyle/>
          <a:p>
            <a:pPr algn="ctr" indent="0" marL="0">
              <a:buNone/>
            </a:pPr>
            <a:r>
              <a:rPr lang="en-US" sz="1300" b="1" dirty="0">
                <a:solidFill>
                  <a:srgbClr val="FFFFFF"/>
                </a:solidFill>
              </a:rPr>
              <a:t>User authentication (RFC 4252)</a:t>
            </a:r>
            <a:endParaRPr lang="en-US" sz="1300" dirty="0"/>
          </a:p>
          <a:p>
            <a:pPr algn="ctr" indent="0" marL="0">
              <a:buNone/>
            </a:pPr>
            <a:r>
              <a:rPr lang="en-US" sz="1300" dirty="0">
                <a:solidFill>
                  <a:srgbClr val="FFFFFF"/>
                </a:solidFill>
              </a:rPr>
              <a:t>password · public key · keyboard-interactive</a:t>
            </a:r>
            <a:endParaRPr lang="en-US" sz="1300" dirty="0"/>
          </a:p>
        </p:txBody>
      </p:sp>
      <p:sp>
        <p:nvSpPr>
          <p:cNvPr id="8" name="box"/>
          <p:cNvSpPr/>
          <p:nvPr/>
        </p:nvSpPr>
        <p:spPr>
          <a:xfrm>
            <a:off x="548640" y="3246120"/>
            <a:ext cx="6766560" cy="822960"/>
          </a:xfrm>
          <a:prstGeom prst="roundRect">
            <a:avLst>
              <a:gd name="adj" fmla="val 8889"/>
            </a:avLst>
          </a:prstGeom>
          <a:solidFill>
            <a:srgbClr val="1F3A5F"/>
          </a:solidFill>
          <a:ln w="12700">
            <a:solidFill>
              <a:srgbClr val="1F3A5F"/>
            </a:solidFill>
            <a:prstDash val="solid"/>
          </a:ln>
        </p:spPr>
      </p:sp>
      <p:sp>
        <p:nvSpPr>
          <p:cNvPr id="9" name="Text 6"/>
          <p:cNvSpPr txBox="1"/>
          <p:nvPr/>
        </p:nvSpPr>
        <p:spPr>
          <a:xfrm>
            <a:off x="548640" y="3246120"/>
            <a:ext cx="6766560" cy="822960"/>
          </a:xfrm>
          <a:prstGeom prst="rect">
            <a:avLst/>
          </a:prstGeom>
          <a:noFill/>
          <a:ln/>
        </p:spPr>
        <p:txBody>
          <a:bodyPr wrap="square" lIns="635" tIns="635" rIns="635" bIns="635" rtlCol="0" anchor="ctr"/>
          <a:lstStyle/>
          <a:p>
            <a:pPr algn="ctr" indent="0" marL="0">
              <a:buNone/>
            </a:pPr>
            <a:r>
              <a:rPr lang="en-US" sz="1300" b="1" dirty="0">
                <a:solidFill>
                  <a:srgbClr val="FFFFFF"/>
                </a:solidFill>
              </a:rPr>
              <a:t>Transport layer protocol (RFC 4253)</a:t>
            </a:r>
            <a:endParaRPr lang="en-US" sz="1300" dirty="0"/>
          </a:p>
          <a:p>
            <a:pPr algn="ctr" indent="0" marL="0">
              <a:buNone/>
            </a:pPr>
            <a:r>
              <a:rPr lang="en-US" sz="1300" dirty="0">
                <a:solidFill>
                  <a:srgbClr val="FFFFFF"/>
                </a:solidFill>
              </a:rPr>
              <a:t>key exchange · server authentication by host key · encryption + integrity</a:t>
            </a:r>
            <a:endParaRPr lang="en-US" sz="1300" dirty="0"/>
          </a:p>
        </p:txBody>
      </p:sp>
      <p:sp>
        <p:nvSpPr>
          <p:cNvPr id="10" name="box"/>
          <p:cNvSpPr/>
          <p:nvPr/>
        </p:nvSpPr>
        <p:spPr>
          <a:xfrm>
            <a:off x="548640" y="4206240"/>
            <a:ext cx="6766560" cy="822960"/>
          </a:xfrm>
          <a:prstGeom prst="roundRect">
            <a:avLst>
              <a:gd name="adj" fmla="val 8889"/>
            </a:avLst>
          </a:prstGeom>
          <a:solidFill>
            <a:srgbClr val="EEF2F6"/>
          </a:solidFill>
          <a:ln w="12700">
            <a:solidFill>
              <a:srgbClr val="EEF2F6"/>
            </a:solidFill>
            <a:prstDash val="solid"/>
          </a:ln>
        </p:spPr>
      </p:sp>
      <p:sp>
        <p:nvSpPr>
          <p:cNvPr id="11" name="Text 8"/>
          <p:cNvSpPr txBox="1"/>
          <p:nvPr/>
        </p:nvSpPr>
        <p:spPr>
          <a:xfrm>
            <a:off x="548640" y="4206240"/>
            <a:ext cx="6766560" cy="822960"/>
          </a:xfrm>
          <a:prstGeom prst="rect">
            <a:avLst/>
          </a:prstGeom>
          <a:noFill/>
          <a:ln/>
        </p:spPr>
        <p:txBody>
          <a:bodyPr wrap="square" lIns="635" tIns="635" rIns="635" bIns="635" rtlCol="0" anchor="ctr"/>
          <a:lstStyle/>
          <a:p>
            <a:pPr algn="ctr" indent="0" marL="0">
              <a:buNone/>
            </a:pPr>
            <a:r>
              <a:rPr lang="en-US" sz="1300" b="1" dirty="0">
                <a:solidFill>
                  <a:srgbClr val="1B2430"/>
                </a:solidFill>
              </a:rPr>
              <a:t>TCP port 22</a:t>
            </a:r>
            <a:endParaRPr lang="en-US" sz="1300" dirty="0"/>
          </a:p>
        </p:txBody>
      </p:sp>
      <p:sp>
        <p:nvSpPr>
          <p:cNvPr id="12" name="Shape 9"/>
          <p:cNvSpPr/>
          <p:nvPr/>
        </p:nvSpPr>
        <p:spPr>
          <a:xfrm>
            <a:off x="7589520" y="1389888"/>
            <a:ext cx="384048" cy="384048"/>
          </a:xfrm>
          <a:prstGeom prst="ellipse">
            <a:avLst/>
          </a:prstGeom>
          <a:solidFill>
            <a:srgbClr val="B9772A"/>
          </a:solidFill>
          <a:ln w="12700">
            <a:solidFill>
              <a:srgbClr val="B9772A"/>
            </a:solidFill>
            <a:prstDash val="solid"/>
          </a:ln>
        </p:spPr>
      </p:sp>
      <p:sp>
        <p:nvSpPr>
          <p:cNvPr id="13" name="Text 10"/>
          <p:cNvSpPr txBox="1"/>
          <p:nvPr/>
        </p:nvSpPr>
        <p:spPr>
          <a:xfrm>
            <a:off x="7589520" y="1389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11"/>
          <p:cNvSpPr txBox="1"/>
          <p:nvPr/>
        </p:nvSpPr>
        <p:spPr>
          <a:xfrm>
            <a:off x="8092440" y="1371600"/>
            <a:ext cx="3520440" cy="118872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Version exchange: </a:t>
            </a:r>
            <a:r>
              <a:rPr lang="en-US" sz="1200" dirty="0">
                <a:solidFill>
                  <a:srgbClr val="1B2430"/>
                </a:solidFill>
                <a:latin typeface="Consolas" pitchFamily="34" charset="0"/>
                <a:ea typeface="Consolas" pitchFamily="34" charset="-122"/>
                <a:cs typeface="Consolas" pitchFamily="34" charset="-120"/>
              </a:rPr>
              <a:t>SSH-2.0-OpenSSH_9.6</a:t>
            </a:r>
            <a:r>
              <a:rPr lang="en-US" sz="1200" dirty="0">
                <a:solidFill>
                  <a:srgbClr val="1B2430"/>
                </a:solidFill>
              </a:rPr>
              <a:t> — in clear, then everything is encrypted.</a:t>
            </a:r>
            <a:endParaRPr lang="en-US" sz="1200" dirty="0"/>
          </a:p>
        </p:txBody>
      </p:sp>
      <p:sp>
        <p:nvSpPr>
          <p:cNvPr id="15" name="Shape 12"/>
          <p:cNvSpPr/>
          <p:nvPr/>
        </p:nvSpPr>
        <p:spPr>
          <a:xfrm>
            <a:off x="7589520" y="2715768"/>
            <a:ext cx="384048" cy="384048"/>
          </a:xfrm>
          <a:prstGeom prst="ellipse">
            <a:avLst/>
          </a:prstGeom>
          <a:solidFill>
            <a:srgbClr val="B9772A"/>
          </a:solidFill>
          <a:ln w="12700">
            <a:solidFill>
              <a:srgbClr val="B9772A"/>
            </a:solidFill>
            <a:prstDash val="solid"/>
          </a:ln>
        </p:spPr>
      </p:sp>
      <p:sp>
        <p:nvSpPr>
          <p:cNvPr id="16" name="Text 13"/>
          <p:cNvSpPr txBox="1"/>
          <p:nvPr/>
        </p:nvSpPr>
        <p:spPr>
          <a:xfrm>
            <a:off x="7589520" y="2715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4"/>
          <p:cNvSpPr txBox="1"/>
          <p:nvPr/>
        </p:nvSpPr>
        <p:spPr>
          <a:xfrm>
            <a:off x="8092440" y="2697480"/>
            <a:ext cx="3520440" cy="118872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Key exchange: elliptic-curve Diffie–Hellman; recent OpenSSH adds a post-quantum part.</a:t>
            </a:r>
            <a:endParaRPr lang="en-US" sz="1200" dirty="0"/>
          </a:p>
        </p:txBody>
      </p:sp>
      <p:sp>
        <p:nvSpPr>
          <p:cNvPr id="18" name="Shape 15"/>
          <p:cNvSpPr/>
          <p:nvPr/>
        </p:nvSpPr>
        <p:spPr>
          <a:xfrm>
            <a:off x="7589520" y="4041648"/>
            <a:ext cx="384048" cy="384048"/>
          </a:xfrm>
          <a:prstGeom prst="ellipse">
            <a:avLst/>
          </a:prstGeom>
          <a:solidFill>
            <a:srgbClr val="B9772A"/>
          </a:solidFill>
          <a:ln w="12700">
            <a:solidFill>
              <a:srgbClr val="B9772A"/>
            </a:solidFill>
            <a:prstDash val="solid"/>
          </a:ln>
        </p:spPr>
      </p:sp>
      <p:sp>
        <p:nvSpPr>
          <p:cNvPr id="19" name="Text 16"/>
          <p:cNvSpPr txBox="1"/>
          <p:nvPr/>
        </p:nvSpPr>
        <p:spPr>
          <a:xfrm>
            <a:off x="7589520" y="4041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7"/>
          <p:cNvSpPr txBox="1"/>
          <p:nvPr/>
        </p:nvSpPr>
        <p:spPr>
          <a:xfrm>
            <a:off x="8092440" y="4023360"/>
            <a:ext cx="3520440" cy="13716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Many channels share </a:t>
            </a:r>
            <a:r>
              <a:rPr lang="en-US" sz="1200" b="1" dirty="0">
                <a:solidFill>
                  <a:srgbClr val="1B2430"/>
                </a:solidFill>
              </a:rPr>
              <a:t>one</a:t>
            </a:r>
            <a:r>
              <a:rPr lang="en-US" sz="1200" dirty="0">
                <a:solidFill>
                  <a:srgbClr val="1B2430"/>
                </a:solidFill>
              </a:rPr>
              <a:t> connection: a shell and a file copy at once.</a:t>
            </a:r>
            <a:endParaRPr lang="en-US" sz="1200" dirty="0"/>
          </a:p>
        </p:txBody>
      </p:sp>
      <p:sp>
        <p:nvSpPr>
          <p:cNvPr id="21"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2" name="Text 19"/>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First prove the server, then prove the user, then open as many channels as you need.</a:t>
            </a:r>
            <a:endParaRPr lang="en-US" sz="1400" dirty="0"/>
          </a:p>
        </p:txBody>
      </p:sp>
      <p:sp>
        <p:nvSpPr>
          <p:cNvPr id="23" name="Text 20"/>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SFTP (SSH File Transfer Protocol) · TCP (Transmission Control Protocol) · SSH (Secure Shell) · RFC (Request for Comments)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7 · Host keys and trust on first use</a:t>
            </a:r>
            <a:endParaRPr lang="en-US" sz="3000" dirty="0"/>
          </a:p>
        </p:txBody>
      </p:sp>
      <p:sp>
        <p:nvSpPr>
          <p:cNvPr id="4" name="box"/>
          <p:cNvSpPr/>
          <p:nvPr/>
        </p:nvSpPr>
        <p:spPr>
          <a:xfrm>
            <a:off x="548640" y="1325880"/>
            <a:ext cx="2377440" cy="1143000"/>
          </a:xfrm>
          <a:prstGeom prst="roundRect">
            <a:avLst>
              <a:gd name="adj" fmla="val 6400"/>
            </a:avLst>
          </a:prstGeom>
          <a:solidFill>
            <a:srgbClr val="B9772A"/>
          </a:solidFill>
          <a:ln w="12700">
            <a:solidFill>
              <a:srgbClr val="B9772A"/>
            </a:solidFill>
            <a:prstDash val="solid"/>
          </a:ln>
        </p:spPr>
      </p:sp>
      <p:sp>
        <p:nvSpPr>
          <p:cNvPr id="5" name="Text 2"/>
          <p:cNvSpPr txBox="1"/>
          <p:nvPr/>
        </p:nvSpPr>
        <p:spPr>
          <a:xfrm>
            <a:off x="548640" y="1325880"/>
            <a:ext cx="2377440" cy="1143000"/>
          </a:xfrm>
          <a:prstGeom prst="rect">
            <a:avLst/>
          </a:prstGeom>
          <a:noFill/>
          <a:ln/>
        </p:spPr>
        <p:txBody>
          <a:bodyPr wrap="square" lIns="635" tIns="635" rIns="635" bIns="635" rtlCol="0" anchor="ctr"/>
          <a:lstStyle/>
          <a:p>
            <a:pPr algn="ctr" indent="0" marL="0">
              <a:buNone/>
            </a:pPr>
            <a:r>
              <a:rPr lang="en-US" sz="1400" b="1" dirty="0">
                <a:solidFill>
                  <a:srgbClr val="FFFFFF"/>
                </a:solidFill>
              </a:rPr>
              <a:t>first connection</a:t>
            </a:r>
            <a:endParaRPr lang="en-US" sz="1400" dirty="0"/>
          </a:p>
        </p:txBody>
      </p:sp>
      <p:sp>
        <p:nvSpPr>
          <p:cNvPr id="6" name="box"/>
          <p:cNvSpPr/>
          <p:nvPr/>
        </p:nvSpPr>
        <p:spPr>
          <a:xfrm>
            <a:off x="3108960" y="1325880"/>
            <a:ext cx="4297680" cy="1143000"/>
          </a:xfrm>
          <a:prstGeom prst="roundRect">
            <a:avLst>
              <a:gd name="adj" fmla="val 6400"/>
            </a:avLst>
          </a:prstGeom>
          <a:solidFill>
            <a:srgbClr val="EEF2F6"/>
          </a:solidFill>
          <a:ln w="12700">
            <a:solidFill>
              <a:srgbClr val="EEF2F6"/>
            </a:solidFill>
            <a:prstDash val="solid"/>
          </a:ln>
        </p:spPr>
      </p:sp>
      <p:sp>
        <p:nvSpPr>
          <p:cNvPr id="7" name="Text 4"/>
          <p:cNvSpPr txBox="1"/>
          <p:nvPr/>
        </p:nvSpPr>
        <p:spPr>
          <a:xfrm>
            <a:off x="3108960" y="1325880"/>
            <a:ext cx="4297680" cy="11430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fingerprint SHA256:3j8f… — yes/no?</a:t>
            </a:r>
            <a:endParaRPr lang="en-US" sz="1200" dirty="0"/>
          </a:p>
        </p:txBody>
      </p:sp>
      <p:sp>
        <p:nvSpPr>
          <p:cNvPr id="8" name="Shape 5"/>
          <p:cNvSpPr/>
          <p:nvPr/>
        </p:nvSpPr>
        <p:spPr>
          <a:xfrm>
            <a:off x="7406640" y="1892808"/>
            <a:ext cx="365760" cy="914"/>
          </a:xfrm>
          <a:prstGeom prst="line">
            <a:avLst/>
          </a:prstGeom>
          <a:noFill/>
          <a:ln w="22225">
            <a:solidFill>
              <a:srgbClr val="B9772A"/>
            </a:solidFill>
            <a:prstDash val="solid"/>
            <a:tailEnd type="triangle"/>
          </a:ln>
        </p:spPr>
      </p:sp>
      <p:sp>
        <p:nvSpPr>
          <p:cNvPr id="9" name="box"/>
          <p:cNvSpPr/>
          <p:nvPr/>
        </p:nvSpPr>
        <p:spPr>
          <a:xfrm>
            <a:off x="7772400" y="1325880"/>
            <a:ext cx="3840480" cy="1143000"/>
          </a:xfrm>
          <a:prstGeom prst="roundRect">
            <a:avLst>
              <a:gd name="adj" fmla="val 6400"/>
            </a:avLst>
          </a:prstGeom>
          <a:solidFill>
            <a:srgbClr val="FFFFFF"/>
          </a:solidFill>
          <a:ln w="19050">
            <a:solidFill>
              <a:srgbClr val="B9772A"/>
            </a:solidFill>
            <a:prstDash val="solid"/>
          </a:ln>
        </p:spPr>
      </p:sp>
      <p:sp>
        <p:nvSpPr>
          <p:cNvPr id="10" name="Text 7"/>
          <p:cNvSpPr txBox="1"/>
          <p:nvPr/>
        </p:nvSpPr>
        <p:spPr>
          <a:xfrm>
            <a:off x="7772400" y="1325880"/>
            <a:ext cx="3840480" cy="1143000"/>
          </a:xfrm>
          <a:prstGeom prst="rect">
            <a:avLst/>
          </a:prstGeom>
          <a:noFill/>
          <a:ln/>
        </p:spPr>
        <p:txBody>
          <a:bodyPr wrap="square" lIns="635" tIns="635" rIns="635" bIns="635" rtlCol="0" anchor="ctr"/>
          <a:lstStyle/>
          <a:p>
            <a:pPr algn="ctr" indent="0" marL="0">
              <a:buNone/>
            </a:pPr>
            <a:r>
              <a:rPr lang="en-US" sz="1200" dirty="0">
                <a:solidFill>
                  <a:srgbClr val="1B2430"/>
                </a:solidFill>
              </a:rPr>
              <a:t>user checks it, types yes → stored in ~/.ssh/known_hosts</a:t>
            </a:r>
            <a:endParaRPr lang="en-US" sz="1200" dirty="0"/>
          </a:p>
        </p:txBody>
      </p:sp>
      <p:sp>
        <p:nvSpPr>
          <p:cNvPr id="11" name="box"/>
          <p:cNvSpPr/>
          <p:nvPr/>
        </p:nvSpPr>
        <p:spPr>
          <a:xfrm>
            <a:off x="548640" y="2697480"/>
            <a:ext cx="2377440" cy="1143000"/>
          </a:xfrm>
          <a:prstGeom prst="roundRect">
            <a:avLst>
              <a:gd name="adj" fmla="val 6400"/>
            </a:avLst>
          </a:prstGeom>
          <a:solidFill>
            <a:srgbClr val="2E7D4F"/>
          </a:solidFill>
          <a:ln w="12700">
            <a:solidFill>
              <a:srgbClr val="2E7D4F"/>
            </a:solidFill>
            <a:prstDash val="solid"/>
          </a:ln>
        </p:spPr>
      </p:sp>
      <p:sp>
        <p:nvSpPr>
          <p:cNvPr id="12" name="Text 9"/>
          <p:cNvSpPr txBox="1"/>
          <p:nvPr/>
        </p:nvSpPr>
        <p:spPr>
          <a:xfrm>
            <a:off x="548640" y="2697480"/>
            <a:ext cx="2377440" cy="1143000"/>
          </a:xfrm>
          <a:prstGeom prst="rect">
            <a:avLst/>
          </a:prstGeom>
          <a:noFill/>
          <a:ln/>
        </p:spPr>
        <p:txBody>
          <a:bodyPr wrap="square" lIns="635" tIns="635" rIns="635" bIns="635" rtlCol="0" anchor="ctr"/>
          <a:lstStyle/>
          <a:p>
            <a:pPr algn="ctr" indent="0" marL="0">
              <a:buNone/>
            </a:pPr>
            <a:r>
              <a:rPr lang="en-US" sz="1400" b="1" dirty="0">
                <a:solidFill>
                  <a:srgbClr val="FFFFFF"/>
                </a:solidFill>
              </a:rPr>
              <a:t>later connections</a:t>
            </a:r>
            <a:endParaRPr lang="en-US" sz="1400" dirty="0"/>
          </a:p>
        </p:txBody>
      </p:sp>
      <p:sp>
        <p:nvSpPr>
          <p:cNvPr id="13" name="box"/>
          <p:cNvSpPr/>
          <p:nvPr/>
        </p:nvSpPr>
        <p:spPr>
          <a:xfrm>
            <a:off x="3108960" y="2697480"/>
            <a:ext cx="4297680" cy="1143000"/>
          </a:xfrm>
          <a:prstGeom prst="roundRect">
            <a:avLst>
              <a:gd name="adj" fmla="val 6400"/>
            </a:avLst>
          </a:prstGeom>
          <a:solidFill>
            <a:srgbClr val="EEF2F6"/>
          </a:solidFill>
          <a:ln w="12700">
            <a:solidFill>
              <a:srgbClr val="EEF2F6"/>
            </a:solidFill>
            <a:prstDash val="solid"/>
          </a:ln>
        </p:spPr>
      </p:sp>
      <p:sp>
        <p:nvSpPr>
          <p:cNvPr id="14" name="Text 11"/>
          <p:cNvSpPr txBox="1"/>
          <p:nvPr/>
        </p:nvSpPr>
        <p:spPr>
          <a:xfrm>
            <a:off x="3108960" y="2697480"/>
            <a:ext cx="4297680" cy="1143000"/>
          </a:xfrm>
          <a:prstGeom prst="rect">
            <a:avLst/>
          </a:prstGeom>
          <a:noFill/>
          <a:ln/>
        </p:spPr>
        <p:txBody>
          <a:bodyPr wrap="square" lIns="635" tIns="635" rIns="635" bIns="635" rtlCol="0" anchor="ctr"/>
          <a:lstStyle/>
          <a:p>
            <a:pPr algn="ctr" indent="0" marL="0">
              <a:buNone/>
            </a:pPr>
            <a:r>
              <a:rPr lang="en-US" sz="1200" dirty="0">
                <a:solidFill>
                  <a:srgbClr val="1B2430"/>
                </a:solidFill>
              </a:rPr>
              <a:t>same key presented and signature verifies</a:t>
            </a:r>
            <a:endParaRPr lang="en-US" sz="1200" dirty="0"/>
          </a:p>
        </p:txBody>
      </p:sp>
      <p:sp>
        <p:nvSpPr>
          <p:cNvPr id="15" name="Shape 12"/>
          <p:cNvSpPr/>
          <p:nvPr/>
        </p:nvSpPr>
        <p:spPr>
          <a:xfrm>
            <a:off x="7406640" y="3264408"/>
            <a:ext cx="365760" cy="914"/>
          </a:xfrm>
          <a:prstGeom prst="line">
            <a:avLst/>
          </a:prstGeom>
          <a:noFill/>
          <a:ln w="22225">
            <a:solidFill>
              <a:srgbClr val="2E7D4F"/>
            </a:solidFill>
            <a:prstDash val="solid"/>
            <a:tailEnd type="triangle"/>
          </a:ln>
        </p:spPr>
      </p:sp>
      <p:sp>
        <p:nvSpPr>
          <p:cNvPr id="16" name="box"/>
          <p:cNvSpPr/>
          <p:nvPr/>
        </p:nvSpPr>
        <p:spPr>
          <a:xfrm>
            <a:off x="7772400" y="2697480"/>
            <a:ext cx="3840480" cy="1143000"/>
          </a:xfrm>
          <a:prstGeom prst="roundRect">
            <a:avLst>
              <a:gd name="adj" fmla="val 6400"/>
            </a:avLst>
          </a:prstGeom>
          <a:solidFill>
            <a:srgbClr val="FFFFFF"/>
          </a:solidFill>
          <a:ln w="19050">
            <a:solidFill>
              <a:srgbClr val="2E7D4F"/>
            </a:solidFill>
            <a:prstDash val="solid"/>
          </a:ln>
        </p:spPr>
      </p:sp>
      <p:sp>
        <p:nvSpPr>
          <p:cNvPr id="17" name="Text 14"/>
          <p:cNvSpPr txBox="1"/>
          <p:nvPr/>
        </p:nvSpPr>
        <p:spPr>
          <a:xfrm>
            <a:off x="7772400" y="2697480"/>
            <a:ext cx="3840480" cy="1143000"/>
          </a:xfrm>
          <a:prstGeom prst="rect">
            <a:avLst/>
          </a:prstGeom>
          <a:noFill/>
          <a:ln/>
        </p:spPr>
        <p:txBody>
          <a:bodyPr wrap="square" lIns="635" tIns="635" rIns="635" bIns="635" rtlCol="0" anchor="ctr"/>
          <a:lstStyle/>
          <a:p>
            <a:pPr algn="ctr" indent="0" marL="0">
              <a:buNone/>
            </a:pPr>
            <a:r>
              <a:rPr lang="en-US" sz="1200" dirty="0">
                <a:solidFill>
                  <a:srgbClr val="1B2430"/>
                </a:solidFill>
              </a:rPr>
              <a:t>silent, trusted</a:t>
            </a:r>
            <a:endParaRPr lang="en-US" sz="1200" dirty="0"/>
          </a:p>
        </p:txBody>
      </p:sp>
      <p:sp>
        <p:nvSpPr>
          <p:cNvPr id="18" name="box"/>
          <p:cNvSpPr/>
          <p:nvPr/>
        </p:nvSpPr>
        <p:spPr>
          <a:xfrm>
            <a:off x="548640" y="4069080"/>
            <a:ext cx="2377440" cy="1143000"/>
          </a:xfrm>
          <a:prstGeom prst="roundRect">
            <a:avLst>
              <a:gd name="adj" fmla="val 6400"/>
            </a:avLst>
          </a:prstGeom>
          <a:solidFill>
            <a:srgbClr val="A23B3B"/>
          </a:solidFill>
          <a:ln w="12700">
            <a:solidFill>
              <a:srgbClr val="A23B3B"/>
            </a:solidFill>
            <a:prstDash val="solid"/>
          </a:ln>
        </p:spPr>
      </p:sp>
      <p:sp>
        <p:nvSpPr>
          <p:cNvPr id="19" name="Text 16"/>
          <p:cNvSpPr txBox="1"/>
          <p:nvPr/>
        </p:nvSpPr>
        <p:spPr>
          <a:xfrm>
            <a:off x="548640" y="4069080"/>
            <a:ext cx="2377440" cy="1143000"/>
          </a:xfrm>
          <a:prstGeom prst="rect">
            <a:avLst/>
          </a:prstGeom>
          <a:noFill/>
          <a:ln/>
        </p:spPr>
        <p:txBody>
          <a:bodyPr wrap="square" lIns="635" tIns="635" rIns="635" bIns="635" rtlCol="0" anchor="ctr"/>
          <a:lstStyle/>
          <a:p>
            <a:pPr algn="ctr" indent="0" marL="0">
              <a:buNone/>
            </a:pPr>
            <a:r>
              <a:rPr lang="en-US" sz="1400" b="1" dirty="0">
                <a:solidFill>
                  <a:srgbClr val="FFFFFF"/>
                </a:solidFill>
              </a:rPr>
              <a:t>key changed</a:t>
            </a:r>
            <a:endParaRPr lang="en-US" sz="1400" dirty="0"/>
          </a:p>
        </p:txBody>
      </p:sp>
      <p:sp>
        <p:nvSpPr>
          <p:cNvPr id="20" name="box"/>
          <p:cNvSpPr/>
          <p:nvPr/>
        </p:nvSpPr>
        <p:spPr>
          <a:xfrm>
            <a:off x="3108960" y="4069080"/>
            <a:ext cx="4297680" cy="1143000"/>
          </a:xfrm>
          <a:prstGeom prst="roundRect">
            <a:avLst>
              <a:gd name="adj" fmla="val 6400"/>
            </a:avLst>
          </a:prstGeom>
          <a:solidFill>
            <a:srgbClr val="EEF2F6"/>
          </a:solidFill>
          <a:ln w="12700">
            <a:solidFill>
              <a:srgbClr val="EEF2F6"/>
            </a:solidFill>
            <a:prstDash val="solid"/>
          </a:ln>
        </p:spPr>
      </p:sp>
      <p:sp>
        <p:nvSpPr>
          <p:cNvPr id="21" name="Text 18"/>
          <p:cNvSpPr txBox="1"/>
          <p:nvPr/>
        </p:nvSpPr>
        <p:spPr>
          <a:xfrm>
            <a:off x="3108960" y="4069080"/>
            <a:ext cx="4297680" cy="11430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WARNING: REMOTE HOST IDENTIFICATION HAS CHANGED!</a:t>
            </a:r>
            <a:endParaRPr lang="en-US" sz="1200" dirty="0"/>
          </a:p>
        </p:txBody>
      </p:sp>
      <p:sp>
        <p:nvSpPr>
          <p:cNvPr id="22" name="Shape 19"/>
          <p:cNvSpPr/>
          <p:nvPr/>
        </p:nvSpPr>
        <p:spPr>
          <a:xfrm>
            <a:off x="7406640" y="4636008"/>
            <a:ext cx="365760" cy="914"/>
          </a:xfrm>
          <a:prstGeom prst="line">
            <a:avLst/>
          </a:prstGeom>
          <a:noFill/>
          <a:ln w="22225">
            <a:solidFill>
              <a:srgbClr val="A23B3B"/>
            </a:solidFill>
            <a:prstDash val="solid"/>
            <a:tailEnd type="triangle"/>
          </a:ln>
        </p:spPr>
      </p:sp>
      <p:sp>
        <p:nvSpPr>
          <p:cNvPr id="23" name="box"/>
          <p:cNvSpPr/>
          <p:nvPr/>
        </p:nvSpPr>
        <p:spPr>
          <a:xfrm>
            <a:off x="7772400" y="4069080"/>
            <a:ext cx="3840480" cy="1143000"/>
          </a:xfrm>
          <a:prstGeom prst="roundRect">
            <a:avLst>
              <a:gd name="adj" fmla="val 6400"/>
            </a:avLst>
          </a:prstGeom>
          <a:solidFill>
            <a:srgbClr val="FFFFFF"/>
          </a:solidFill>
          <a:ln w="19050">
            <a:solidFill>
              <a:srgbClr val="A23B3B"/>
            </a:solidFill>
            <a:prstDash val="solid"/>
          </a:ln>
        </p:spPr>
      </p:sp>
      <p:sp>
        <p:nvSpPr>
          <p:cNvPr id="24" name="Text 21"/>
          <p:cNvSpPr txBox="1"/>
          <p:nvPr/>
        </p:nvSpPr>
        <p:spPr>
          <a:xfrm>
            <a:off x="7772400" y="4069080"/>
            <a:ext cx="3840480" cy="1143000"/>
          </a:xfrm>
          <a:prstGeom prst="rect">
            <a:avLst/>
          </a:prstGeom>
          <a:noFill/>
          <a:ln/>
        </p:spPr>
        <p:txBody>
          <a:bodyPr wrap="square" lIns="635" tIns="635" rIns="635" bIns="635" rtlCol="0" anchor="ctr"/>
          <a:lstStyle/>
          <a:p>
            <a:pPr algn="ctr" indent="0" marL="0">
              <a:buNone/>
            </a:pPr>
            <a:r>
              <a:rPr lang="en-US" sz="1200" dirty="0">
                <a:solidFill>
                  <a:srgbClr val="1B2430"/>
                </a:solidFill>
              </a:rPr>
              <a:t>refuses: reinstalled server — or a man in the middle</a:t>
            </a:r>
            <a:endParaRPr lang="en-US" sz="1200" dirty="0"/>
          </a:p>
        </p:txBody>
      </p:sp>
      <p:sp>
        <p:nvSpPr>
          <p:cNvPr id="25"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6" name="Text 23"/>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TOFU: the first connection must be verified; after that, an impostor without the private host key is detected.</a:t>
            </a:r>
            <a:endParaRPr lang="en-US" sz="1400" dirty="0"/>
          </a:p>
        </p:txBody>
      </p:sp>
      <p:sp>
        <p:nvSpPr>
          <p:cNvPr id="27" name="Text 24"/>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SHA256 (Secure Hash Algorithm, 256 bits)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7 · Public-key user authentication</a:t>
            </a:r>
            <a:endParaRPr lang="en-US" sz="3000" dirty="0"/>
          </a:p>
        </p:txBody>
      </p:sp>
      <p:sp>
        <p:nvSpPr>
          <p:cNvPr id="4" name="box"/>
          <p:cNvSpPr/>
          <p:nvPr/>
        </p:nvSpPr>
        <p:spPr>
          <a:xfrm>
            <a:off x="548640" y="1325880"/>
            <a:ext cx="4023360" cy="2743200"/>
          </a:xfrm>
          <a:prstGeom prst="roundRect">
            <a:avLst>
              <a:gd name="adj" fmla="val 2667"/>
            </a:avLst>
          </a:prstGeom>
          <a:solidFill>
            <a:srgbClr val="FFFFFF"/>
          </a:solidFill>
          <a:ln w="19050">
            <a:solidFill>
              <a:srgbClr val="9AA5AE"/>
            </a:solidFill>
            <a:prstDash val="solid"/>
          </a:ln>
        </p:spPr>
      </p:sp>
      <p:sp>
        <p:nvSpPr>
          <p:cNvPr id="5" name="Text 2"/>
          <p:cNvSpPr txBox="1"/>
          <p:nvPr/>
        </p:nvSpPr>
        <p:spPr>
          <a:xfrm>
            <a:off x="731520" y="1389888"/>
            <a:ext cx="3657600" cy="365760"/>
          </a:xfrm>
          <a:prstGeom prst="rect">
            <a:avLst/>
          </a:prstGeom>
          <a:noFill/>
          <a:ln/>
        </p:spPr>
        <p:txBody>
          <a:bodyPr wrap="square" lIns="0" tIns="0" rIns="0" bIns="0" rtlCol="0" anchor="t"/>
          <a:lstStyle/>
          <a:p>
            <a:pPr algn="l" indent="0" marL="0">
              <a:spcAft>
                <a:spcPts val="400"/>
              </a:spcAft>
              <a:buNone/>
            </a:pPr>
            <a:r>
              <a:rPr lang="en-US" sz="1400" b="1" dirty="0">
                <a:solidFill>
                  <a:srgbClr val="1F3A5F"/>
                </a:solidFill>
              </a:rPr>
              <a:t>laptop</a:t>
            </a:r>
            <a:endParaRPr lang="en-US" sz="1400" dirty="0"/>
          </a:p>
        </p:txBody>
      </p:sp>
      <p:sp>
        <p:nvSpPr>
          <p:cNvPr id="6" name="box"/>
          <p:cNvSpPr/>
          <p:nvPr/>
        </p:nvSpPr>
        <p:spPr>
          <a:xfrm>
            <a:off x="822960" y="1874520"/>
            <a:ext cx="3474720" cy="731520"/>
          </a:xfrm>
          <a:prstGeom prst="roundRect">
            <a:avLst>
              <a:gd name="adj" fmla="val 10000"/>
            </a:avLst>
          </a:prstGeom>
          <a:solidFill>
            <a:srgbClr val="A23B3B"/>
          </a:solidFill>
          <a:ln w="12700">
            <a:solidFill>
              <a:srgbClr val="A23B3B"/>
            </a:solidFill>
            <a:prstDash val="solid"/>
          </a:ln>
        </p:spPr>
      </p:sp>
      <p:sp>
        <p:nvSpPr>
          <p:cNvPr id="7" name="Text 4"/>
          <p:cNvSpPr txBox="1"/>
          <p:nvPr/>
        </p:nvSpPr>
        <p:spPr>
          <a:xfrm>
            <a:off x="822960" y="1874520"/>
            <a:ext cx="3474720" cy="731520"/>
          </a:xfrm>
          <a:prstGeom prst="rect">
            <a:avLst/>
          </a:prstGeom>
          <a:noFill/>
          <a:ln/>
        </p:spPr>
        <p:txBody>
          <a:bodyPr wrap="square" lIns="635" tIns="635" rIns="635" bIns="635" rtlCol="0" anchor="ctr"/>
          <a:lstStyle/>
          <a:p>
            <a:pPr algn="ctr" indent="0" marL="0">
              <a:buNone/>
            </a:pPr>
            <a:r>
              <a:rPr lang="en-US" sz="1200" b="1" dirty="0">
                <a:solidFill>
                  <a:srgbClr val="FFFFFF"/>
                </a:solidFill>
              </a:rPr>
              <a:t>private key</a:t>
            </a:r>
            <a:endParaRPr lang="en-US" sz="1200" dirty="0"/>
          </a:p>
          <a:p>
            <a:pPr algn="ctr" indent="0" marL="0">
              <a:buNone/>
            </a:pPr>
            <a:r>
              <a:rPr lang="en-US" sz="1200" dirty="0">
                <a:solidFill>
                  <a:srgbClr val="FFFFFF"/>
                </a:solidFill>
              </a:rPr>
              <a:t>~/.ssh/id_ed25519 (+ passphrase)</a:t>
            </a:r>
            <a:endParaRPr lang="en-US" sz="1200" dirty="0"/>
          </a:p>
        </p:txBody>
      </p:sp>
      <p:sp>
        <p:nvSpPr>
          <p:cNvPr id="8" name="box"/>
          <p:cNvSpPr/>
          <p:nvPr/>
        </p:nvSpPr>
        <p:spPr>
          <a:xfrm>
            <a:off x="822960" y="2788920"/>
            <a:ext cx="3474720" cy="731520"/>
          </a:xfrm>
          <a:prstGeom prst="roundRect">
            <a:avLst>
              <a:gd name="adj" fmla="val 10000"/>
            </a:avLst>
          </a:prstGeom>
          <a:solidFill>
            <a:srgbClr val="EEF2F6"/>
          </a:solidFill>
          <a:ln w="12700">
            <a:solidFill>
              <a:srgbClr val="EEF2F6"/>
            </a:solidFill>
            <a:prstDash val="solid"/>
          </a:ln>
        </p:spPr>
      </p:sp>
      <p:sp>
        <p:nvSpPr>
          <p:cNvPr id="9" name="Text 6"/>
          <p:cNvSpPr txBox="1"/>
          <p:nvPr/>
        </p:nvSpPr>
        <p:spPr>
          <a:xfrm>
            <a:off x="822960" y="2788920"/>
            <a:ext cx="3474720" cy="731520"/>
          </a:xfrm>
          <a:prstGeom prst="rect">
            <a:avLst/>
          </a:prstGeom>
          <a:noFill/>
          <a:ln/>
        </p:spPr>
        <p:txBody>
          <a:bodyPr wrap="square" lIns="635" tIns="635" rIns="635" bIns="635" rtlCol="0" anchor="ctr"/>
          <a:lstStyle/>
          <a:p>
            <a:pPr algn="ctr" indent="0" marL="0">
              <a:buNone/>
            </a:pPr>
            <a:r>
              <a:rPr lang="en-US" sz="1200" dirty="0">
                <a:solidFill>
                  <a:srgbClr val="1B2430"/>
                </a:solidFill>
              </a:rPr>
              <a:t>public key</a:t>
            </a:r>
            <a:endParaRPr lang="en-US" sz="1200" dirty="0"/>
          </a:p>
          <a:p>
            <a:pPr algn="ctr" indent="0" marL="0">
              <a:buNone/>
            </a:pPr>
            <a:r>
              <a:rPr lang="en-US" sz="1200" dirty="0">
                <a:solidFill>
                  <a:srgbClr val="1B2430"/>
                </a:solidFill>
              </a:rPr>
              <a:t>~/.ssh/id_ed25519.pub</a:t>
            </a:r>
            <a:endParaRPr lang="en-US" sz="1200" dirty="0"/>
          </a:p>
        </p:txBody>
      </p:sp>
      <p:sp>
        <p:nvSpPr>
          <p:cNvPr id="10" name="box"/>
          <p:cNvSpPr/>
          <p:nvPr/>
        </p:nvSpPr>
        <p:spPr>
          <a:xfrm>
            <a:off x="7589520" y="1325880"/>
            <a:ext cx="4023360" cy="2743200"/>
          </a:xfrm>
          <a:prstGeom prst="roundRect">
            <a:avLst>
              <a:gd name="adj" fmla="val 2667"/>
            </a:avLst>
          </a:prstGeom>
          <a:solidFill>
            <a:srgbClr val="FFFFFF"/>
          </a:solidFill>
          <a:ln w="19050">
            <a:solidFill>
              <a:srgbClr val="9AA5AE"/>
            </a:solidFill>
            <a:prstDash val="solid"/>
          </a:ln>
        </p:spPr>
      </p:sp>
      <p:sp>
        <p:nvSpPr>
          <p:cNvPr id="11" name="Text 8"/>
          <p:cNvSpPr txBox="1"/>
          <p:nvPr/>
        </p:nvSpPr>
        <p:spPr>
          <a:xfrm>
            <a:off x="7772400" y="1389888"/>
            <a:ext cx="3657600" cy="365760"/>
          </a:xfrm>
          <a:prstGeom prst="rect">
            <a:avLst/>
          </a:prstGeom>
          <a:noFill/>
          <a:ln/>
        </p:spPr>
        <p:txBody>
          <a:bodyPr wrap="square" lIns="0" tIns="0" rIns="0" bIns="0" rtlCol="0" anchor="t"/>
          <a:lstStyle/>
          <a:p>
            <a:pPr algn="l" indent="0" marL="0">
              <a:spcAft>
                <a:spcPts val="400"/>
              </a:spcAft>
              <a:buNone/>
            </a:pPr>
            <a:r>
              <a:rPr lang="en-US" sz="1400" b="1" dirty="0">
                <a:solidFill>
                  <a:srgbClr val="2A7F8E"/>
                </a:solidFill>
              </a:rPr>
              <a:t>server</a:t>
            </a:r>
            <a:endParaRPr lang="en-US" sz="1400" dirty="0"/>
          </a:p>
        </p:txBody>
      </p:sp>
      <p:sp>
        <p:nvSpPr>
          <p:cNvPr id="12" name="box"/>
          <p:cNvSpPr/>
          <p:nvPr/>
        </p:nvSpPr>
        <p:spPr>
          <a:xfrm>
            <a:off x="7863840" y="1874520"/>
            <a:ext cx="3474720" cy="731520"/>
          </a:xfrm>
          <a:prstGeom prst="roundRect">
            <a:avLst>
              <a:gd name="adj" fmla="val 10000"/>
            </a:avLst>
          </a:prstGeom>
          <a:solidFill>
            <a:srgbClr val="DDF0F2"/>
          </a:solidFill>
          <a:ln w="12700">
            <a:solidFill>
              <a:srgbClr val="DDF0F2"/>
            </a:solidFill>
            <a:prstDash val="solid"/>
          </a:ln>
        </p:spPr>
      </p:sp>
      <p:sp>
        <p:nvSpPr>
          <p:cNvPr id="13" name="Text 10"/>
          <p:cNvSpPr txBox="1"/>
          <p:nvPr/>
        </p:nvSpPr>
        <p:spPr>
          <a:xfrm>
            <a:off x="7863840" y="1874520"/>
            <a:ext cx="3474720" cy="731520"/>
          </a:xfrm>
          <a:prstGeom prst="rect">
            <a:avLst/>
          </a:prstGeom>
          <a:noFill/>
          <a:ln/>
        </p:spPr>
        <p:txBody>
          <a:bodyPr wrap="square" lIns="635" tIns="635" rIns="635" bIns="635" rtlCol="0" anchor="ctr"/>
          <a:lstStyle/>
          <a:p>
            <a:pPr algn="ctr" indent="0" marL="0">
              <a:buNone/>
            </a:pPr>
            <a:r>
              <a:rPr lang="en-US" sz="1200" b="1" dirty="0">
                <a:solidFill>
                  <a:srgbClr val="1B2430"/>
                </a:solidFill>
              </a:rPr>
              <a:t>authorized_keys</a:t>
            </a:r>
            <a:endParaRPr lang="en-US" sz="1200" dirty="0"/>
          </a:p>
          <a:p>
            <a:pPr algn="ctr" indent="0" marL="0">
              <a:buNone/>
            </a:pPr>
            <a:r>
              <a:rPr lang="en-US" sz="1200" dirty="0">
                <a:solidFill>
                  <a:srgbClr val="1B2430"/>
                </a:solidFill>
              </a:rPr>
              <a:t>a copy of the public key</a:t>
            </a:r>
            <a:endParaRPr lang="en-US" sz="1200" dirty="0"/>
          </a:p>
        </p:txBody>
      </p:sp>
      <p:sp>
        <p:nvSpPr>
          <p:cNvPr id="14" name="box"/>
          <p:cNvSpPr/>
          <p:nvPr/>
        </p:nvSpPr>
        <p:spPr>
          <a:xfrm>
            <a:off x="7863840" y="2788920"/>
            <a:ext cx="3474720" cy="731520"/>
          </a:xfrm>
          <a:prstGeom prst="roundRect">
            <a:avLst>
              <a:gd name="adj" fmla="val 10000"/>
            </a:avLst>
          </a:prstGeom>
          <a:solidFill>
            <a:srgbClr val="D7EBDD"/>
          </a:solidFill>
          <a:ln w="12700">
            <a:solidFill>
              <a:srgbClr val="D7EBDD"/>
            </a:solidFill>
            <a:prstDash val="solid"/>
          </a:ln>
        </p:spPr>
      </p:sp>
      <p:sp>
        <p:nvSpPr>
          <p:cNvPr id="15" name="Text 12"/>
          <p:cNvSpPr txBox="1"/>
          <p:nvPr/>
        </p:nvSpPr>
        <p:spPr>
          <a:xfrm>
            <a:off x="7863840" y="2788920"/>
            <a:ext cx="3474720" cy="73152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verify(signature, public key)</a:t>
            </a:r>
            <a:endParaRPr lang="en-US" sz="1200" dirty="0"/>
          </a:p>
        </p:txBody>
      </p:sp>
      <p:sp>
        <p:nvSpPr>
          <p:cNvPr id="16" name="Shape 13"/>
          <p:cNvSpPr/>
          <p:nvPr/>
        </p:nvSpPr>
        <p:spPr>
          <a:xfrm flipV="1">
            <a:off x="4297680" y="2240280"/>
            <a:ext cx="3566160" cy="914400"/>
          </a:xfrm>
          <a:prstGeom prst="line">
            <a:avLst/>
          </a:prstGeom>
          <a:noFill/>
          <a:ln w="22225">
            <a:solidFill>
              <a:srgbClr val="5B6770"/>
            </a:solidFill>
            <a:prstDash val="dash"/>
            <a:tailEnd type="triangle"/>
          </a:ln>
        </p:spPr>
      </p:sp>
      <p:sp>
        <p:nvSpPr>
          <p:cNvPr id="17" name="Text 14"/>
          <p:cNvSpPr txBox="1"/>
          <p:nvPr/>
        </p:nvSpPr>
        <p:spPr>
          <a:xfrm>
            <a:off x="4526280" y="2249424"/>
            <a:ext cx="3108960" cy="310896"/>
          </a:xfrm>
          <a:prstGeom prst="rect">
            <a:avLst/>
          </a:prstGeom>
          <a:noFill/>
          <a:ln/>
        </p:spPr>
        <p:txBody>
          <a:bodyPr wrap="square" lIns="0" tIns="0" rIns="0" bIns="0" rtlCol="0" anchor="ctr"/>
          <a:lstStyle/>
          <a:p>
            <a:pPr algn="ctr" indent="0" marL="0">
              <a:buNone/>
            </a:pPr>
            <a:r>
              <a:rPr lang="en-US" sz="1100" dirty="0">
                <a:solidFill>
                  <a:srgbClr val="5B6770"/>
                </a:solidFill>
              </a:rPr>
              <a:t>installed once (ssh-copy-id)</a:t>
            </a:r>
            <a:endParaRPr lang="en-US" sz="1100" dirty="0"/>
          </a:p>
        </p:txBody>
      </p:sp>
      <p:sp>
        <p:nvSpPr>
          <p:cNvPr id="18" name="Shape 15"/>
          <p:cNvSpPr/>
          <p:nvPr/>
        </p:nvSpPr>
        <p:spPr>
          <a:xfrm>
            <a:off x="4572000" y="3657600"/>
            <a:ext cx="3017520" cy="914"/>
          </a:xfrm>
          <a:prstGeom prst="line">
            <a:avLst/>
          </a:prstGeom>
          <a:noFill/>
          <a:ln w="31750">
            <a:solidFill>
              <a:srgbClr val="2E7D4F"/>
            </a:solidFill>
            <a:prstDash val="solid"/>
            <a:tailEnd type="triangle"/>
          </a:ln>
        </p:spPr>
      </p:sp>
      <p:sp>
        <p:nvSpPr>
          <p:cNvPr id="19" name="Text 16"/>
          <p:cNvSpPr txBox="1"/>
          <p:nvPr/>
        </p:nvSpPr>
        <p:spPr>
          <a:xfrm>
            <a:off x="4526280" y="3685032"/>
            <a:ext cx="3108960" cy="310896"/>
          </a:xfrm>
          <a:prstGeom prst="rect">
            <a:avLst/>
          </a:prstGeom>
          <a:solidFill>
            <a:srgbClr val="FFFFFF"/>
          </a:solidFill>
          <a:ln/>
        </p:spPr>
        <p:txBody>
          <a:bodyPr wrap="square" lIns="0" tIns="0" rIns="0" bIns="0" rtlCol="0" anchor="ctr"/>
          <a:lstStyle/>
          <a:p>
            <a:pPr algn="ctr" indent="0" marL="0">
              <a:buNone/>
            </a:pPr>
            <a:r>
              <a:rPr lang="en-US" sz="1100" dirty="0">
                <a:solidFill>
                  <a:srgbClr val="2E7D4F"/>
                </a:solidFill>
              </a:rPr>
              <a:t>signature over this session’s data</a:t>
            </a:r>
            <a:endParaRPr lang="en-US" sz="1100" dirty="0"/>
          </a:p>
        </p:txBody>
      </p:sp>
      <p:sp>
        <p:nvSpPr>
          <p:cNvPr id="20" name="Shape 17"/>
          <p:cNvSpPr/>
          <p:nvPr/>
        </p:nvSpPr>
        <p:spPr>
          <a:xfrm>
            <a:off x="548640" y="4453128"/>
            <a:ext cx="384048" cy="384048"/>
          </a:xfrm>
          <a:prstGeom prst="ellipse">
            <a:avLst/>
          </a:prstGeom>
          <a:solidFill>
            <a:srgbClr val="B9772A"/>
          </a:solidFill>
          <a:ln w="12700">
            <a:solidFill>
              <a:srgbClr val="B9772A"/>
            </a:solidFill>
            <a:prstDash val="solid"/>
          </a:ln>
        </p:spPr>
      </p:sp>
      <p:sp>
        <p:nvSpPr>
          <p:cNvPr id="21" name="Text 18"/>
          <p:cNvSpPr txBox="1"/>
          <p:nvPr/>
        </p:nvSpPr>
        <p:spPr>
          <a:xfrm>
            <a:off x="54864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2" name="Text 19"/>
          <p:cNvSpPr txBox="1"/>
          <p:nvPr/>
        </p:nvSpPr>
        <p:spPr>
          <a:xfrm>
            <a:off x="1051560" y="4434840"/>
            <a:ext cx="4983480" cy="10972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 captured signature is useless in any other session.</a:t>
            </a:r>
            <a:endParaRPr lang="en-US" sz="1300" dirty="0"/>
          </a:p>
        </p:txBody>
      </p:sp>
      <p:sp>
        <p:nvSpPr>
          <p:cNvPr id="23" name="Shape 20"/>
          <p:cNvSpPr/>
          <p:nvPr/>
        </p:nvSpPr>
        <p:spPr>
          <a:xfrm>
            <a:off x="6217920" y="4453128"/>
            <a:ext cx="384048" cy="384048"/>
          </a:xfrm>
          <a:prstGeom prst="ellipse">
            <a:avLst/>
          </a:prstGeom>
          <a:solidFill>
            <a:srgbClr val="B9772A"/>
          </a:solidFill>
          <a:ln w="12700">
            <a:solidFill>
              <a:srgbClr val="B9772A"/>
            </a:solidFill>
            <a:prstDash val="solid"/>
          </a:ln>
        </p:spPr>
      </p:sp>
      <p:sp>
        <p:nvSpPr>
          <p:cNvPr id="24" name="Text 21"/>
          <p:cNvSpPr txBox="1"/>
          <p:nvPr/>
        </p:nvSpPr>
        <p:spPr>
          <a:xfrm>
            <a:off x="621792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5" name="Text 22"/>
          <p:cNvSpPr txBox="1"/>
          <p:nvPr/>
        </p:nvSpPr>
        <p:spPr>
          <a:xfrm>
            <a:off x="6720840" y="4434840"/>
            <a:ext cx="4892040" cy="10972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 compromised server learns </a:t>
            </a:r>
            <a:r>
              <a:rPr lang="en-US" sz="1300" b="1" dirty="0">
                <a:solidFill>
                  <a:srgbClr val="1B2430"/>
                </a:solidFill>
              </a:rPr>
              <a:t>no secret</a:t>
            </a:r>
            <a:r>
              <a:rPr lang="en-US" sz="1300" dirty="0">
                <a:solidFill>
                  <a:srgbClr val="1B2430"/>
                </a:solidFill>
              </a:rPr>
              <a:t> it could reuse.</a:t>
            </a:r>
            <a:endParaRPr lang="en-US" sz="1300" dirty="0"/>
          </a:p>
        </p:txBody>
      </p:sp>
      <p:sp>
        <p:nvSpPr>
          <p:cNvPr id="2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7" name="Text 2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Public-key login: nothing secret crosses the network, nothing reusable is stored on the server.</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7 · Channels: what one SSH connection can carry</a:t>
            </a:r>
            <a:endParaRPr lang="en-US" sz="3000" dirty="0"/>
          </a:p>
        </p:txBody>
      </p:sp>
      <p:sp>
        <p:nvSpPr>
          <p:cNvPr id="4" name="box"/>
          <p:cNvSpPr/>
          <p:nvPr/>
        </p:nvSpPr>
        <p:spPr>
          <a:xfrm>
            <a:off x="548640" y="1280160"/>
            <a:ext cx="4160520" cy="411480"/>
          </a:xfrm>
          <a:prstGeom prst="rect">
            <a:avLst/>
          </a:prstGeom>
          <a:solidFill>
            <a:srgbClr val="1F3A5F"/>
          </a:solidFill>
          <a:ln w="12700">
            <a:solidFill>
              <a:srgbClr val="1F3A5F"/>
            </a:solidFill>
            <a:prstDash val="solid"/>
          </a:ln>
        </p:spPr>
      </p:sp>
      <p:sp>
        <p:nvSpPr>
          <p:cNvPr id="5" name="Text 2"/>
          <p:cNvSpPr txBox="1"/>
          <p:nvPr/>
        </p:nvSpPr>
        <p:spPr>
          <a:xfrm>
            <a:off x="548640" y="1280160"/>
            <a:ext cx="416052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Command</a:t>
            </a:r>
            <a:endParaRPr lang="en-US" sz="1300" dirty="0"/>
          </a:p>
        </p:txBody>
      </p:sp>
      <p:sp>
        <p:nvSpPr>
          <p:cNvPr id="6" name="box"/>
          <p:cNvSpPr/>
          <p:nvPr/>
        </p:nvSpPr>
        <p:spPr>
          <a:xfrm>
            <a:off x="4754880" y="1280160"/>
            <a:ext cx="6812280" cy="411480"/>
          </a:xfrm>
          <a:prstGeom prst="rect">
            <a:avLst/>
          </a:prstGeom>
          <a:solidFill>
            <a:srgbClr val="1F3A5F"/>
          </a:solidFill>
          <a:ln w="12700">
            <a:solidFill>
              <a:srgbClr val="1F3A5F"/>
            </a:solidFill>
            <a:prstDash val="solid"/>
          </a:ln>
        </p:spPr>
      </p:sp>
      <p:sp>
        <p:nvSpPr>
          <p:cNvPr id="7" name="Text 4"/>
          <p:cNvSpPr txBox="1"/>
          <p:nvPr/>
        </p:nvSpPr>
        <p:spPr>
          <a:xfrm>
            <a:off x="4754880" y="1280160"/>
            <a:ext cx="681228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What it does</a:t>
            </a:r>
            <a:endParaRPr lang="en-US" sz="1300" dirty="0"/>
          </a:p>
        </p:txBody>
      </p:sp>
      <p:sp>
        <p:nvSpPr>
          <p:cNvPr id="8" name="box"/>
          <p:cNvSpPr/>
          <p:nvPr/>
        </p:nvSpPr>
        <p:spPr>
          <a:xfrm>
            <a:off x="548640" y="1737360"/>
            <a:ext cx="4160520" cy="457200"/>
          </a:xfrm>
          <a:prstGeom prst="rect">
            <a:avLst/>
          </a:prstGeom>
          <a:solidFill>
            <a:srgbClr val="EEF2F6"/>
          </a:solidFill>
          <a:ln w="12700">
            <a:solidFill>
              <a:srgbClr val="EEF2F6"/>
            </a:solidFill>
            <a:prstDash val="solid"/>
          </a:ln>
        </p:spPr>
      </p:sp>
      <p:sp>
        <p:nvSpPr>
          <p:cNvPr id="9" name="Text 6"/>
          <p:cNvSpPr txBox="1"/>
          <p:nvPr/>
        </p:nvSpPr>
        <p:spPr>
          <a:xfrm>
            <a:off x="548640" y="1737360"/>
            <a:ext cx="4160520" cy="45720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ssh user@host</a:t>
            </a:r>
            <a:endParaRPr lang="en-US" sz="1300" dirty="0"/>
          </a:p>
        </p:txBody>
      </p:sp>
      <p:sp>
        <p:nvSpPr>
          <p:cNvPr id="10" name="box"/>
          <p:cNvSpPr/>
          <p:nvPr/>
        </p:nvSpPr>
        <p:spPr>
          <a:xfrm>
            <a:off x="4754880" y="1737360"/>
            <a:ext cx="6812280" cy="457200"/>
          </a:xfrm>
          <a:prstGeom prst="rect">
            <a:avLst/>
          </a:prstGeom>
          <a:solidFill>
            <a:srgbClr val="F7F9FB"/>
          </a:solidFill>
          <a:ln w="12700">
            <a:solidFill>
              <a:srgbClr val="F7F9FB"/>
            </a:solidFill>
            <a:prstDash val="solid"/>
          </a:ln>
        </p:spPr>
      </p:sp>
      <p:sp>
        <p:nvSpPr>
          <p:cNvPr id="11" name="Text 8"/>
          <p:cNvSpPr txBox="1"/>
          <p:nvPr/>
        </p:nvSpPr>
        <p:spPr>
          <a:xfrm>
            <a:off x="4754880" y="1737360"/>
            <a:ext cx="6812280" cy="457200"/>
          </a:xfrm>
          <a:prstGeom prst="rect">
            <a:avLst/>
          </a:prstGeom>
          <a:noFill/>
          <a:ln/>
        </p:spPr>
        <p:txBody>
          <a:bodyPr wrap="square" lIns="1270" tIns="1270" rIns="1270" bIns="1270" rtlCol="0" anchor="ctr"/>
          <a:lstStyle/>
          <a:p>
            <a:pPr algn="l" indent="0" marL="0">
              <a:buNone/>
            </a:pPr>
            <a:r>
              <a:rPr lang="en-US" sz="1300" dirty="0">
                <a:solidFill>
                  <a:srgbClr val="1B2430"/>
                </a:solidFill>
              </a:rPr>
              <a:t>interactive shell</a:t>
            </a:r>
            <a:endParaRPr lang="en-US" sz="1300" dirty="0"/>
          </a:p>
        </p:txBody>
      </p:sp>
      <p:sp>
        <p:nvSpPr>
          <p:cNvPr id="12" name="box"/>
          <p:cNvSpPr/>
          <p:nvPr/>
        </p:nvSpPr>
        <p:spPr>
          <a:xfrm>
            <a:off x="548640" y="2240280"/>
            <a:ext cx="4160520" cy="457200"/>
          </a:xfrm>
          <a:prstGeom prst="rect">
            <a:avLst/>
          </a:prstGeom>
          <a:solidFill>
            <a:srgbClr val="EEF2F6"/>
          </a:solidFill>
          <a:ln w="12700">
            <a:solidFill>
              <a:srgbClr val="EEF2F6"/>
            </a:solidFill>
            <a:prstDash val="solid"/>
          </a:ln>
        </p:spPr>
      </p:sp>
      <p:sp>
        <p:nvSpPr>
          <p:cNvPr id="13" name="Text 10"/>
          <p:cNvSpPr txBox="1"/>
          <p:nvPr/>
        </p:nvSpPr>
        <p:spPr>
          <a:xfrm>
            <a:off x="548640" y="2240280"/>
            <a:ext cx="4160520" cy="45720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ssh user@host 'df -h'</a:t>
            </a:r>
            <a:endParaRPr lang="en-US" sz="1300" dirty="0"/>
          </a:p>
        </p:txBody>
      </p:sp>
      <p:sp>
        <p:nvSpPr>
          <p:cNvPr id="14" name="box"/>
          <p:cNvSpPr/>
          <p:nvPr/>
        </p:nvSpPr>
        <p:spPr>
          <a:xfrm>
            <a:off x="4754880" y="2240280"/>
            <a:ext cx="6812280" cy="457200"/>
          </a:xfrm>
          <a:prstGeom prst="rect">
            <a:avLst/>
          </a:prstGeom>
          <a:solidFill>
            <a:srgbClr val="F7F9FB"/>
          </a:solidFill>
          <a:ln w="12700">
            <a:solidFill>
              <a:srgbClr val="F7F9FB"/>
            </a:solidFill>
            <a:prstDash val="solid"/>
          </a:ln>
        </p:spPr>
      </p:sp>
      <p:sp>
        <p:nvSpPr>
          <p:cNvPr id="15" name="Text 12"/>
          <p:cNvSpPr txBox="1"/>
          <p:nvPr/>
        </p:nvSpPr>
        <p:spPr>
          <a:xfrm>
            <a:off x="4754880" y="2240280"/>
            <a:ext cx="6812280" cy="457200"/>
          </a:xfrm>
          <a:prstGeom prst="rect">
            <a:avLst/>
          </a:prstGeom>
          <a:noFill/>
          <a:ln/>
        </p:spPr>
        <p:txBody>
          <a:bodyPr wrap="square" lIns="1270" tIns="1270" rIns="1270" bIns="1270" rtlCol="0" anchor="ctr"/>
          <a:lstStyle/>
          <a:p>
            <a:pPr algn="l" indent="0" marL="0">
              <a:buNone/>
            </a:pPr>
            <a:r>
              <a:rPr lang="en-US" sz="1300" dirty="0">
                <a:solidFill>
                  <a:srgbClr val="1B2430"/>
                </a:solidFill>
              </a:rPr>
              <a:t>one remote command, output printed locally</a:t>
            </a:r>
            <a:endParaRPr lang="en-US" sz="1300" dirty="0"/>
          </a:p>
        </p:txBody>
      </p:sp>
      <p:sp>
        <p:nvSpPr>
          <p:cNvPr id="16" name="box"/>
          <p:cNvSpPr/>
          <p:nvPr/>
        </p:nvSpPr>
        <p:spPr>
          <a:xfrm>
            <a:off x="548640" y="2743200"/>
            <a:ext cx="4160520" cy="457200"/>
          </a:xfrm>
          <a:prstGeom prst="rect">
            <a:avLst/>
          </a:prstGeom>
          <a:solidFill>
            <a:srgbClr val="EEF2F6"/>
          </a:solidFill>
          <a:ln w="12700">
            <a:solidFill>
              <a:srgbClr val="EEF2F6"/>
            </a:solidFill>
            <a:prstDash val="solid"/>
          </a:ln>
        </p:spPr>
      </p:sp>
      <p:sp>
        <p:nvSpPr>
          <p:cNvPr id="17" name="Text 14"/>
          <p:cNvSpPr txBox="1"/>
          <p:nvPr/>
        </p:nvSpPr>
        <p:spPr>
          <a:xfrm>
            <a:off x="548640" y="2743200"/>
            <a:ext cx="4160520" cy="45720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scp file user@host:dir/</a:t>
            </a:r>
            <a:endParaRPr lang="en-US" sz="1300" dirty="0"/>
          </a:p>
        </p:txBody>
      </p:sp>
      <p:sp>
        <p:nvSpPr>
          <p:cNvPr id="18" name="box"/>
          <p:cNvSpPr/>
          <p:nvPr/>
        </p:nvSpPr>
        <p:spPr>
          <a:xfrm>
            <a:off x="4754880" y="2743200"/>
            <a:ext cx="6812280" cy="457200"/>
          </a:xfrm>
          <a:prstGeom prst="rect">
            <a:avLst/>
          </a:prstGeom>
          <a:solidFill>
            <a:srgbClr val="F7F9FB"/>
          </a:solidFill>
          <a:ln w="12700">
            <a:solidFill>
              <a:srgbClr val="F7F9FB"/>
            </a:solidFill>
            <a:prstDash val="solid"/>
          </a:ln>
        </p:spPr>
      </p:sp>
      <p:sp>
        <p:nvSpPr>
          <p:cNvPr id="19" name="Text 16"/>
          <p:cNvSpPr txBox="1"/>
          <p:nvPr/>
        </p:nvSpPr>
        <p:spPr>
          <a:xfrm>
            <a:off x="4754880" y="2743200"/>
            <a:ext cx="6812280" cy="457200"/>
          </a:xfrm>
          <a:prstGeom prst="rect">
            <a:avLst/>
          </a:prstGeom>
          <a:noFill/>
          <a:ln/>
        </p:spPr>
        <p:txBody>
          <a:bodyPr wrap="square" lIns="1270" tIns="1270" rIns="1270" bIns="1270" rtlCol="0" anchor="ctr"/>
          <a:lstStyle/>
          <a:p>
            <a:pPr algn="l" indent="0" marL="0">
              <a:buNone/>
            </a:pPr>
            <a:r>
              <a:rPr lang="en-US" sz="1300" dirty="0">
                <a:solidFill>
                  <a:srgbClr val="1B2430"/>
                </a:solidFill>
              </a:rPr>
              <a:t>copy a file (secure copy)</a:t>
            </a:r>
            <a:endParaRPr lang="en-US" sz="1300" dirty="0"/>
          </a:p>
        </p:txBody>
      </p:sp>
      <p:sp>
        <p:nvSpPr>
          <p:cNvPr id="20" name="box"/>
          <p:cNvSpPr/>
          <p:nvPr/>
        </p:nvSpPr>
        <p:spPr>
          <a:xfrm>
            <a:off x="548640" y="3246120"/>
            <a:ext cx="4160520" cy="457200"/>
          </a:xfrm>
          <a:prstGeom prst="rect">
            <a:avLst/>
          </a:prstGeom>
          <a:solidFill>
            <a:srgbClr val="EEF2F6"/>
          </a:solidFill>
          <a:ln w="12700">
            <a:solidFill>
              <a:srgbClr val="EEF2F6"/>
            </a:solidFill>
            <a:prstDash val="solid"/>
          </a:ln>
        </p:spPr>
      </p:sp>
      <p:sp>
        <p:nvSpPr>
          <p:cNvPr id="21" name="Text 18"/>
          <p:cNvSpPr txBox="1"/>
          <p:nvPr/>
        </p:nvSpPr>
        <p:spPr>
          <a:xfrm>
            <a:off x="548640" y="3246120"/>
            <a:ext cx="4160520" cy="45720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sftp user@host</a:t>
            </a:r>
            <a:endParaRPr lang="en-US" sz="1300" dirty="0"/>
          </a:p>
        </p:txBody>
      </p:sp>
      <p:sp>
        <p:nvSpPr>
          <p:cNvPr id="22" name="box"/>
          <p:cNvSpPr/>
          <p:nvPr/>
        </p:nvSpPr>
        <p:spPr>
          <a:xfrm>
            <a:off x="4754880" y="3246120"/>
            <a:ext cx="6812280" cy="457200"/>
          </a:xfrm>
          <a:prstGeom prst="rect">
            <a:avLst/>
          </a:prstGeom>
          <a:solidFill>
            <a:srgbClr val="F7F9FB"/>
          </a:solidFill>
          <a:ln w="12700">
            <a:solidFill>
              <a:srgbClr val="F7F9FB"/>
            </a:solidFill>
            <a:prstDash val="solid"/>
          </a:ln>
        </p:spPr>
      </p:sp>
      <p:sp>
        <p:nvSpPr>
          <p:cNvPr id="23" name="Text 20"/>
          <p:cNvSpPr txBox="1"/>
          <p:nvPr/>
        </p:nvSpPr>
        <p:spPr>
          <a:xfrm>
            <a:off x="4754880" y="3246120"/>
            <a:ext cx="6812280" cy="457200"/>
          </a:xfrm>
          <a:prstGeom prst="rect">
            <a:avLst/>
          </a:prstGeom>
          <a:noFill/>
          <a:ln/>
        </p:spPr>
        <p:txBody>
          <a:bodyPr wrap="square" lIns="1270" tIns="1270" rIns="1270" bIns="1270" rtlCol="0" anchor="ctr"/>
          <a:lstStyle/>
          <a:p>
            <a:pPr algn="l" indent="0" marL="0">
              <a:buNone/>
            </a:pPr>
            <a:r>
              <a:rPr lang="en-US" sz="1300" dirty="0">
                <a:solidFill>
                  <a:srgbClr val="1B2430"/>
                </a:solidFill>
              </a:rPr>
              <a:t>interactive file transfer — a </a:t>
            </a:r>
            <a:r>
              <a:rPr lang="en-US" sz="1300" b="1" dirty="0">
                <a:solidFill>
                  <a:srgbClr val="1B2430"/>
                </a:solidFill>
              </a:rPr>
              <a:t>subsystem of SSH</a:t>
            </a:r>
            <a:r>
              <a:rPr lang="en-US" sz="1300" dirty="0">
                <a:solidFill>
                  <a:srgbClr val="1B2430"/>
                </a:solidFill>
              </a:rPr>
              <a:t>, unrelated to FTP</a:t>
            </a:r>
            <a:endParaRPr lang="en-US" sz="1300" dirty="0"/>
          </a:p>
        </p:txBody>
      </p:sp>
      <p:sp>
        <p:nvSpPr>
          <p:cNvPr id="24" name="box"/>
          <p:cNvSpPr/>
          <p:nvPr/>
        </p:nvSpPr>
        <p:spPr>
          <a:xfrm>
            <a:off x="548640" y="3749040"/>
            <a:ext cx="4160520" cy="457200"/>
          </a:xfrm>
          <a:prstGeom prst="rect">
            <a:avLst/>
          </a:prstGeom>
          <a:solidFill>
            <a:srgbClr val="EEF2F6"/>
          </a:solidFill>
          <a:ln w="12700">
            <a:solidFill>
              <a:srgbClr val="EEF2F6"/>
            </a:solidFill>
            <a:prstDash val="solid"/>
          </a:ln>
        </p:spPr>
      </p:sp>
      <p:sp>
        <p:nvSpPr>
          <p:cNvPr id="25" name="Text 22"/>
          <p:cNvSpPr txBox="1"/>
          <p:nvPr/>
        </p:nvSpPr>
        <p:spPr>
          <a:xfrm>
            <a:off x="548640" y="3749040"/>
            <a:ext cx="4160520" cy="45720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ssh -L 8080:intranet:80 user@gw</a:t>
            </a:r>
            <a:endParaRPr lang="en-US" sz="1300" dirty="0"/>
          </a:p>
        </p:txBody>
      </p:sp>
      <p:sp>
        <p:nvSpPr>
          <p:cNvPr id="26" name="box"/>
          <p:cNvSpPr/>
          <p:nvPr/>
        </p:nvSpPr>
        <p:spPr>
          <a:xfrm>
            <a:off x="4754880" y="3749040"/>
            <a:ext cx="6812280" cy="457200"/>
          </a:xfrm>
          <a:prstGeom prst="rect">
            <a:avLst/>
          </a:prstGeom>
          <a:solidFill>
            <a:srgbClr val="F7F9FB"/>
          </a:solidFill>
          <a:ln w="12700">
            <a:solidFill>
              <a:srgbClr val="F7F9FB"/>
            </a:solidFill>
            <a:prstDash val="solid"/>
          </a:ln>
        </p:spPr>
      </p:sp>
      <p:sp>
        <p:nvSpPr>
          <p:cNvPr id="27" name="Text 24"/>
          <p:cNvSpPr txBox="1"/>
          <p:nvPr/>
        </p:nvSpPr>
        <p:spPr>
          <a:xfrm>
            <a:off x="4754880" y="3749040"/>
            <a:ext cx="6812280" cy="457200"/>
          </a:xfrm>
          <a:prstGeom prst="rect">
            <a:avLst/>
          </a:prstGeom>
          <a:noFill/>
          <a:ln/>
        </p:spPr>
        <p:txBody>
          <a:bodyPr wrap="square" lIns="1270" tIns="1270" rIns="1270" bIns="1270" rtlCol="0" anchor="ctr"/>
          <a:lstStyle/>
          <a:p>
            <a:pPr algn="l" indent="0" marL="0">
              <a:buNone/>
            </a:pPr>
            <a:r>
              <a:rPr lang="en-US" sz="1300" dirty="0">
                <a:solidFill>
                  <a:srgbClr val="1B2430"/>
                </a:solidFill>
              </a:rPr>
              <a:t>local forwarding (next slide)</a:t>
            </a:r>
            <a:endParaRPr lang="en-US" sz="1300" dirty="0"/>
          </a:p>
        </p:txBody>
      </p:sp>
      <p:sp>
        <p:nvSpPr>
          <p:cNvPr id="28" name="box"/>
          <p:cNvSpPr/>
          <p:nvPr/>
        </p:nvSpPr>
        <p:spPr>
          <a:xfrm>
            <a:off x="548640" y="4251960"/>
            <a:ext cx="4160520" cy="457200"/>
          </a:xfrm>
          <a:prstGeom prst="rect">
            <a:avLst/>
          </a:prstGeom>
          <a:solidFill>
            <a:srgbClr val="EEF2F6"/>
          </a:solidFill>
          <a:ln w="12700">
            <a:solidFill>
              <a:srgbClr val="EEF2F6"/>
            </a:solidFill>
            <a:prstDash val="solid"/>
          </a:ln>
        </p:spPr>
      </p:sp>
      <p:sp>
        <p:nvSpPr>
          <p:cNvPr id="29" name="Text 26"/>
          <p:cNvSpPr txBox="1"/>
          <p:nvPr/>
        </p:nvSpPr>
        <p:spPr>
          <a:xfrm>
            <a:off x="548640" y="4251960"/>
            <a:ext cx="4160520" cy="45720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ssh -R 9000:localhost:3000 user@srv</a:t>
            </a:r>
            <a:endParaRPr lang="en-US" sz="1300" dirty="0"/>
          </a:p>
        </p:txBody>
      </p:sp>
      <p:sp>
        <p:nvSpPr>
          <p:cNvPr id="30" name="box"/>
          <p:cNvSpPr/>
          <p:nvPr/>
        </p:nvSpPr>
        <p:spPr>
          <a:xfrm>
            <a:off x="4754880" y="4251960"/>
            <a:ext cx="6812280" cy="457200"/>
          </a:xfrm>
          <a:prstGeom prst="rect">
            <a:avLst/>
          </a:prstGeom>
          <a:solidFill>
            <a:srgbClr val="F7F9FB"/>
          </a:solidFill>
          <a:ln w="12700">
            <a:solidFill>
              <a:srgbClr val="F7F9FB"/>
            </a:solidFill>
            <a:prstDash val="solid"/>
          </a:ln>
        </p:spPr>
      </p:sp>
      <p:sp>
        <p:nvSpPr>
          <p:cNvPr id="31" name="Text 28"/>
          <p:cNvSpPr txBox="1"/>
          <p:nvPr/>
        </p:nvSpPr>
        <p:spPr>
          <a:xfrm>
            <a:off x="4754880" y="4251960"/>
            <a:ext cx="6812280" cy="457200"/>
          </a:xfrm>
          <a:prstGeom prst="rect">
            <a:avLst/>
          </a:prstGeom>
          <a:noFill/>
          <a:ln/>
        </p:spPr>
        <p:txBody>
          <a:bodyPr wrap="square" lIns="1270" tIns="1270" rIns="1270" bIns="1270" rtlCol="0" anchor="ctr"/>
          <a:lstStyle/>
          <a:p>
            <a:pPr algn="l" indent="0" marL="0">
              <a:buNone/>
            </a:pPr>
            <a:r>
              <a:rPr lang="en-US" sz="1300" dirty="0">
                <a:solidFill>
                  <a:srgbClr val="1B2430"/>
                </a:solidFill>
              </a:rPr>
              <a:t>remote forwarding: the server’s port leads back to you</a:t>
            </a:r>
            <a:endParaRPr lang="en-US" sz="1300" dirty="0"/>
          </a:p>
        </p:txBody>
      </p:sp>
      <p:sp>
        <p:nvSpPr>
          <p:cNvPr id="32" name="box"/>
          <p:cNvSpPr/>
          <p:nvPr/>
        </p:nvSpPr>
        <p:spPr>
          <a:xfrm>
            <a:off x="548640" y="4754880"/>
            <a:ext cx="4160520" cy="457200"/>
          </a:xfrm>
          <a:prstGeom prst="rect">
            <a:avLst/>
          </a:prstGeom>
          <a:solidFill>
            <a:srgbClr val="EEF2F6"/>
          </a:solidFill>
          <a:ln w="12700">
            <a:solidFill>
              <a:srgbClr val="EEF2F6"/>
            </a:solidFill>
            <a:prstDash val="solid"/>
          </a:ln>
        </p:spPr>
      </p:sp>
      <p:sp>
        <p:nvSpPr>
          <p:cNvPr id="33" name="Text 30"/>
          <p:cNvSpPr txBox="1"/>
          <p:nvPr/>
        </p:nvSpPr>
        <p:spPr>
          <a:xfrm>
            <a:off x="548640" y="4754880"/>
            <a:ext cx="4160520" cy="45720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ssh -D 1080 user@gw</a:t>
            </a:r>
            <a:endParaRPr lang="en-US" sz="1300" dirty="0"/>
          </a:p>
        </p:txBody>
      </p:sp>
      <p:sp>
        <p:nvSpPr>
          <p:cNvPr id="34" name="box"/>
          <p:cNvSpPr/>
          <p:nvPr/>
        </p:nvSpPr>
        <p:spPr>
          <a:xfrm>
            <a:off x="4754880" y="4754880"/>
            <a:ext cx="6812280" cy="457200"/>
          </a:xfrm>
          <a:prstGeom prst="rect">
            <a:avLst/>
          </a:prstGeom>
          <a:solidFill>
            <a:srgbClr val="F7F9FB"/>
          </a:solidFill>
          <a:ln w="12700">
            <a:solidFill>
              <a:srgbClr val="F7F9FB"/>
            </a:solidFill>
            <a:prstDash val="solid"/>
          </a:ln>
        </p:spPr>
      </p:sp>
      <p:sp>
        <p:nvSpPr>
          <p:cNvPr id="35" name="Text 32"/>
          <p:cNvSpPr txBox="1"/>
          <p:nvPr/>
        </p:nvSpPr>
        <p:spPr>
          <a:xfrm>
            <a:off x="4754880" y="4754880"/>
            <a:ext cx="6812280" cy="457200"/>
          </a:xfrm>
          <a:prstGeom prst="rect">
            <a:avLst/>
          </a:prstGeom>
          <a:noFill/>
          <a:ln/>
        </p:spPr>
        <p:txBody>
          <a:bodyPr wrap="square" lIns="1270" tIns="1270" rIns="1270" bIns="1270" rtlCol="0" anchor="ctr"/>
          <a:lstStyle/>
          <a:p>
            <a:pPr algn="l" indent="0" marL="0">
              <a:buNone/>
            </a:pPr>
            <a:r>
              <a:rPr lang="en-US" sz="1300" dirty="0">
                <a:solidFill>
                  <a:srgbClr val="1B2430"/>
                </a:solidFill>
              </a:rPr>
              <a:t>dynamic forwarding: a SOCKS proxy</a:t>
            </a:r>
            <a:endParaRPr lang="en-US" sz="1300" dirty="0"/>
          </a:p>
        </p:txBody>
      </p:sp>
      <p:sp>
        <p:nvSpPr>
          <p:cNvPr id="3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7" name="Text 3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One connection, one authentication — shells, files and tunnels all ride on it.</a:t>
            </a:r>
            <a:endParaRPr lang="en-US" sz="1400" dirty="0"/>
          </a:p>
        </p:txBody>
      </p:sp>
      <p:sp>
        <p:nvSpPr>
          <p:cNvPr id="38" name="Text 3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SOCKS (a proxy protocol (from “sockets”)) · SSH (Secure Shell) · FTP (File Transfer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7 · Local port forwarding: ssh -L 8080:intranet:80 user@gw</a:t>
            </a:r>
            <a:endParaRPr lang="en-US" sz="3000" dirty="0"/>
          </a:p>
        </p:txBody>
      </p:sp>
      <p:sp>
        <p:nvSpPr>
          <p:cNvPr id="4" name="box"/>
          <p:cNvSpPr/>
          <p:nvPr/>
        </p:nvSpPr>
        <p:spPr>
          <a:xfrm>
            <a:off x="548640" y="1371600"/>
            <a:ext cx="3108960" cy="2377440"/>
          </a:xfrm>
          <a:prstGeom prst="roundRect">
            <a:avLst>
              <a:gd name="adj" fmla="val 3077"/>
            </a:avLst>
          </a:prstGeom>
          <a:solidFill>
            <a:srgbClr val="FFFFFF"/>
          </a:solidFill>
          <a:ln w="19050">
            <a:solidFill>
              <a:srgbClr val="9AA5AE"/>
            </a:solidFill>
            <a:prstDash val="solid"/>
          </a:ln>
        </p:spPr>
      </p:sp>
      <p:sp>
        <p:nvSpPr>
          <p:cNvPr id="5" name="Text 2"/>
          <p:cNvSpPr txBox="1"/>
          <p:nvPr/>
        </p:nvSpPr>
        <p:spPr>
          <a:xfrm>
            <a:off x="731520" y="1435608"/>
            <a:ext cx="2743200" cy="365760"/>
          </a:xfrm>
          <a:prstGeom prst="rect">
            <a:avLst/>
          </a:prstGeom>
          <a:noFill/>
          <a:ln/>
        </p:spPr>
        <p:txBody>
          <a:bodyPr wrap="square" lIns="0" tIns="0" rIns="0" bIns="0" rtlCol="0" anchor="t"/>
          <a:lstStyle/>
          <a:p>
            <a:pPr algn="l" indent="0" marL="0">
              <a:spcAft>
                <a:spcPts val="400"/>
              </a:spcAft>
              <a:buNone/>
            </a:pPr>
            <a:r>
              <a:rPr lang="en-US" sz="1300" b="1" dirty="0">
                <a:solidFill>
                  <a:srgbClr val="1F3A5F"/>
                </a:solidFill>
              </a:rPr>
              <a:t>laptop</a:t>
            </a:r>
            <a:endParaRPr lang="en-US" sz="1300" dirty="0"/>
          </a:p>
        </p:txBody>
      </p:sp>
      <p:sp>
        <p:nvSpPr>
          <p:cNvPr id="6" name="box"/>
          <p:cNvSpPr/>
          <p:nvPr/>
        </p:nvSpPr>
        <p:spPr>
          <a:xfrm>
            <a:off x="777240" y="1874520"/>
            <a:ext cx="2651760" cy="685800"/>
          </a:xfrm>
          <a:prstGeom prst="roundRect">
            <a:avLst>
              <a:gd name="adj" fmla="val 10667"/>
            </a:avLst>
          </a:prstGeom>
          <a:solidFill>
            <a:srgbClr val="EEF2F6"/>
          </a:solidFill>
          <a:ln w="12700">
            <a:solidFill>
              <a:srgbClr val="EEF2F6"/>
            </a:solidFill>
            <a:prstDash val="solid"/>
          </a:ln>
        </p:spPr>
      </p:sp>
      <p:sp>
        <p:nvSpPr>
          <p:cNvPr id="7" name="Text 4"/>
          <p:cNvSpPr txBox="1"/>
          <p:nvPr/>
        </p:nvSpPr>
        <p:spPr>
          <a:xfrm>
            <a:off x="777240" y="1874520"/>
            <a:ext cx="2651760" cy="685800"/>
          </a:xfrm>
          <a:prstGeom prst="rect">
            <a:avLst/>
          </a:prstGeom>
          <a:noFill/>
          <a:ln/>
        </p:spPr>
        <p:txBody>
          <a:bodyPr wrap="square" lIns="635" tIns="635" rIns="635" bIns="635" rtlCol="0" anchor="ctr"/>
          <a:lstStyle/>
          <a:p>
            <a:pPr algn="ctr" indent="0" marL="0">
              <a:buNone/>
            </a:pPr>
            <a:r>
              <a:rPr lang="en-US" sz="1100" dirty="0">
                <a:solidFill>
                  <a:srgbClr val="1B2430"/>
                </a:solidFill>
              </a:rPr>
              <a:t>browser</a:t>
            </a:r>
            <a:endParaRPr lang="en-US" sz="1100" dirty="0"/>
          </a:p>
          <a:p>
            <a:pPr algn="ctr" indent="0" marL="0">
              <a:buNone/>
            </a:pPr>
            <a:r>
              <a:rPr lang="en-US" sz="1100" dirty="0">
                <a:solidFill>
                  <a:srgbClr val="1B2430"/>
                </a:solidFill>
              </a:rPr>
              <a:t>http://localhost:8080</a:t>
            </a:r>
            <a:endParaRPr lang="en-US" sz="1100" dirty="0"/>
          </a:p>
        </p:txBody>
      </p:sp>
      <p:sp>
        <p:nvSpPr>
          <p:cNvPr id="8" name="box"/>
          <p:cNvSpPr/>
          <p:nvPr/>
        </p:nvSpPr>
        <p:spPr>
          <a:xfrm>
            <a:off x="777240" y="2788920"/>
            <a:ext cx="2651760" cy="685800"/>
          </a:xfrm>
          <a:prstGeom prst="roundRect">
            <a:avLst>
              <a:gd name="adj" fmla="val 10667"/>
            </a:avLst>
          </a:prstGeom>
          <a:solidFill>
            <a:srgbClr val="2A7F8E"/>
          </a:solidFill>
          <a:ln w="12700">
            <a:solidFill>
              <a:srgbClr val="2A7F8E"/>
            </a:solidFill>
            <a:prstDash val="solid"/>
          </a:ln>
        </p:spPr>
      </p:sp>
      <p:sp>
        <p:nvSpPr>
          <p:cNvPr id="9" name="Text 6"/>
          <p:cNvSpPr txBox="1"/>
          <p:nvPr/>
        </p:nvSpPr>
        <p:spPr>
          <a:xfrm>
            <a:off x="777240" y="2788920"/>
            <a:ext cx="2651760" cy="685800"/>
          </a:xfrm>
          <a:prstGeom prst="rect">
            <a:avLst/>
          </a:prstGeom>
          <a:noFill/>
          <a:ln/>
        </p:spPr>
        <p:txBody>
          <a:bodyPr wrap="square" lIns="635" tIns="635" rIns="635" bIns="635" rtlCol="0" anchor="ctr"/>
          <a:lstStyle/>
          <a:p>
            <a:pPr algn="ctr" indent="0" marL="0">
              <a:buNone/>
            </a:pPr>
            <a:r>
              <a:rPr lang="en-US" sz="1200" dirty="0">
                <a:solidFill>
                  <a:srgbClr val="FFFFFF"/>
                </a:solidFill>
              </a:rPr>
              <a:t>ssh client · port 8080</a:t>
            </a:r>
            <a:endParaRPr lang="en-US" sz="1200" dirty="0"/>
          </a:p>
        </p:txBody>
      </p:sp>
      <p:sp>
        <p:nvSpPr>
          <p:cNvPr id="10" name="Shape 7"/>
          <p:cNvSpPr/>
          <p:nvPr/>
        </p:nvSpPr>
        <p:spPr>
          <a:xfrm>
            <a:off x="2103120" y="2560320"/>
            <a:ext cx="914" cy="228600"/>
          </a:xfrm>
          <a:prstGeom prst="line">
            <a:avLst/>
          </a:prstGeom>
          <a:noFill/>
          <a:ln w="22225">
            <a:solidFill>
              <a:srgbClr val="1F3A5F"/>
            </a:solidFill>
            <a:prstDash val="solid"/>
            <a:tailEnd type="triangle"/>
          </a:ln>
        </p:spPr>
      </p:sp>
      <p:sp>
        <p:nvSpPr>
          <p:cNvPr id="11" name="box"/>
          <p:cNvSpPr/>
          <p:nvPr/>
        </p:nvSpPr>
        <p:spPr>
          <a:xfrm>
            <a:off x="5120640" y="2377440"/>
            <a:ext cx="2194560" cy="1371600"/>
          </a:xfrm>
          <a:prstGeom prst="roundRect">
            <a:avLst>
              <a:gd name="adj" fmla="val 5333"/>
            </a:avLst>
          </a:prstGeom>
          <a:solidFill>
            <a:srgbClr val="2A7F8E"/>
          </a:solidFill>
          <a:ln w="12700">
            <a:solidFill>
              <a:srgbClr val="2A7F8E"/>
            </a:solidFill>
            <a:prstDash val="solid"/>
          </a:ln>
        </p:spPr>
      </p:sp>
      <p:sp>
        <p:nvSpPr>
          <p:cNvPr id="12" name="Text 9"/>
          <p:cNvSpPr txBox="1"/>
          <p:nvPr/>
        </p:nvSpPr>
        <p:spPr>
          <a:xfrm>
            <a:off x="5120640" y="2377440"/>
            <a:ext cx="2194560" cy="1371600"/>
          </a:xfrm>
          <a:prstGeom prst="rect">
            <a:avLst/>
          </a:prstGeom>
          <a:noFill/>
          <a:ln/>
        </p:spPr>
        <p:txBody>
          <a:bodyPr wrap="square" lIns="635" tIns="635" rIns="635" bIns="635" rtlCol="0" anchor="ctr"/>
          <a:lstStyle/>
          <a:p>
            <a:pPr algn="ctr" indent="0" marL="0">
              <a:buNone/>
            </a:pPr>
            <a:r>
              <a:rPr lang="en-US" sz="1300" b="1" dirty="0">
                <a:solidFill>
                  <a:srgbClr val="FFFFFF"/>
                </a:solidFill>
              </a:rPr>
              <a:t>gw</a:t>
            </a:r>
            <a:endParaRPr lang="en-US" sz="1300" dirty="0"/>
          </a:p>
          <a:p>
            <a:pPr algn="ctr" indent="0" marL="0">
              <a:buNone/>
            </a:pPr>
            <a:r>
              <a:rPr lang="en-US" sz="1300" dirty="0">
                <a:solidFill>
                  <a:srgbClr val="FFFFFF"/>
                </a:solidFill>
              </a:rPr>
              <a:t>sshd</a:t>
            </a:r>
            <a:endParaRPr lang="en-US" sz="1300" dirty="0"/>
          </a:p>
        </p:txBody>
      </p:sp>
      <p:sp>
        <p:nvSpPr>
          <p:cNvPr id="13" name="box"/>
          <p:cNvSpPr/>
          <p:nvPr/>
        </p:nvSpPr>
        <p:spPr>
          <a:xfrm>
            <a:off x="8778240" y="2377440"/>
            <a:ext cx="2834640" cy="1371600"/>
          </a:xfrm>
          <a:prstGeom prst="roundRect">
            <a:avLst>
              <a:gd name="adj" fmla="val 5333"/>
            </a:avLst>
          </a:prstGeom>
          <a:solidFill>
            <a:srgbClr val="1F3A5F"/>
          </a:solidFill>
          <a:ln w="12700">
            <a:solidFill>
              <a:srgbClr val="1F3A5F"/>
            </a:solidFill>
            <a:prstDash val="solid"/>
          </a:ln>
        </p:spPr>
      </p:sp>
      <p:sp>
        <p:nvSpPr>
          <p:cNvPr id="14" name="Text 11"/>
          <p:cNvSpPr txBox="1"/>
          <p:nvPr/>
        </p:nvSpPr>
        <p:spPr>
          <a:xfrm>
            <a:off x="8778240" y="2377440"/>
            <a:ext cx="2834640" cy="1371600"/>
          </a:xfrm>
          <a:prstGeom prst="rect">
            <a:avLst/>
          </a:prstGeom>
          <a:noFill/>
          <a:ln/>
        </p:spPr>
        <p:txBody>
          <a:bodyPr wrap="square" lIns="635" tIns="635" rIns="635" bIns="635" rtlCol="0" anchor="ctr"/>
          <a:lstStyle/>
          <a:p>
            <a:pPr algn="ctr" indent="0" marL="0">
              <a:buNone/>
            </a:pPr>
            <a:r>
              <a:rPr lang="en-US" sz="1300" b="1" dirty="0">
                <a:solidFill>
                  <a:srgbClr val="FFFFFF"/>
                </a:solidFill>
              </a:rPr>
              <a:t>intranet:80</a:t>
            </a:r>
            <a:endParaRPr lang="en-US" sz="1300" dirty="0"/>
          </a:p>
          <a:p>
            <a:pPr algn="ctr" indent="0" marL="0">
              <a:buNone/>
            </a:pPr>
            <a:r>
              <a:rPr lang="en-US" sz="1300" dirty="0">
                <a:solidFill>
                  <a:srgbClr val="FFFFFF"/>
                </a:solidFill>
              </a:rPr>
              <a:t>web server</a:t>
            </a:r>
            <a:endParaRPr lang="en-US" sz="1300" dirty="0"/>
          </a:p>
        </p:txBody>
      </p:sp>
      <p:sp>
        <p:nvSpPr>
          <p:cNvPr id="15" name="Shape 12"/>
          <p:cNvSpPr/>
          <p:nvPr/>
        </p:nvSpPr>
        <p:spPr>
          <a:xfrm>
            <a:off x="3429000" y="3127248"/>
            <a:ext cx="1691640" cy="914"/>
          </a:xfrm>
          <a:prstGeom prst="line">
            <a:avLst/>
          </a:prstGeom>
          <a:noFill/>
          <a:ln w="50800">
            <a:solidFill>
              <a:srgbClr val="2E7D4F"/>
            </a:solidFill>
            <a:prstDash val="solid"/>
            <a:headEnd type="triangle"/>
            <a:tailEnd type="triangle"/>
          </a:ln>
        </p:spPr>
      </p:sp>
      <p:sp>
        <p:nvSpPr>
          <p:cNvPr id="16" name="Text 13"/>
          <p:cNvSpPr txBox="1"/>
          <p:nvPr/>
        </p:nvSpPr>
        <p:spPr>
          <a:xfrm>
            <a:off x="3314700" y="2807208"/>
            <a:ext cx="1920240" cy="310896"/>
          </a:xfrm>
          <a:prstGeom prst="rect">
            <a:avLst/>
          </a:prstGeom>
          <a:solidFill>
            <a:srgbClr val="FFFFFF"/>
          </a:solidFill>
          <a:ln/>
        </p:spPr>
        <p:txBody>
          <a:bodyPr wrap="square" lIns="0" tIns="0" rIns="0" bIns="0" rtlCol="0" anchor="ctr"/>
          <a:lstStyle/>
          <a:p>
            <a:pPr algn="ctr" indent="0" marL="0">
              <a:buNone/>
            </a:pPr>
            <a:r>
              <a:rPr lang="en-US" sz="1100" dirty="0">
                <a:solidFill>
                  <a:srgbClr val="2E7D4F"/>
                </a:solidFill>
              </a:rPr>
              <a:t>SSH :22 encrypted</a:t>
            </a:r>
            <a:endParaRPr lang="en-US" sz="1100" dirty="0"/>
          </a:p>
        </p:txBody>
      </p:sp>
      <p:sp>
        <p:nvSpPr>
          <p:cNvPr id="17" name="Shape 14"/>
          <p:cNvSpPr/>
          <p:nvPr/>
        </p:nvSpPr>
        <p:spPr>
          <a:xfrm>
            <a:off x="7315200" y="3063240"/>
            <a:ext cx="1463040" cy="914"/>
          </a:xfrm>
          <a:prstGeom prst="line">
            <a:avLst/>
          </a:prstGeom>
          <a:noFill/>
          <a:ln w="31750">
            <a:solidFill>
              <a:srgbClr val="B9772A"/>
            </a:solidFill>
            <a:prstDash val="solid"/>
            <a:headEnd type="triangle"/>
            <a:tailEnd type="triangle"/>
          </a:ln>
        </p:spPr>
      </p:sp>
      <p:sp>
        <p:nvSpPr>
          <p:cNvPr id="18" name="Text 15"/>
          <p:cNvSpPr txBox="1"/>
          <p:nvPr/>
        </p:nvSpPr>
        <p:spPr>
          <a:xfrm>
            <a:off x="7269480" y="2743200"/>
            <a:ext cx="1554480" cy="310896"/>
          </a:xfrm>
          <a:prstGeom prst="rect">
            <a:avLst/>
          </a:prstGeom>
          <a:solidFill>
            <a:srgbClr val="FFFFFF"/>
          </a:solidFill>
          <a:ln/>
        </p:spPr>
        <p:txBody>
          <a:bodyPr wrap="square" lIns="0" tIns="0" rIns="0" bIns="0" rtlCol="0" anchor="ctr"/>
          <a:lstStyle/>
          <a:p>
            <a:pPr algn="ctr" indent="0" marL="0">
              <a:buNone/>
            </a:pPr>
            <a:r>
              <a:rPr lang="en-US" sz="1100" dirty="0">
                <a:solidFill>
                  <a:srgbClr val="B9772A"/>
                </a:solidFill>
              </a:rPr>
              <a:t>plain TCP :80</a:t>
            </a:r>
            <a:endParaRPr lang="en-US" sz="1100" dirty="0"/>
          </a:p>
        </p:txBody>
      </p:sp>
      <p:sp>
        <p:nvSpPr>
          <p:cNvPr id="19" name="Shape 16"/>
          <p:cNvSpPr/>
          <p:nvPr/>
        </p:nvSpPr>
        <p:spPr>
          <a:xfrm>
            <a:off x="4343400" y="1371600"/>
            <a:ext cx="914" cy="2743200"/>
          </a:xfrm>
          <a:prstGeom prst="line">
            <a:avLst/>
          </a:prstGeom>
          <a:noFill/>
          <a:ln w="25400">
            <a:solidFill>
              <a:srgbClr val="A23B3B"/>
            </a:solidFill>
            <a:prstDash val="dash"/>
          </a:ln>
        </p:spPr>
      </p:sp>
      <p:sp>
        <p:nvSpPr>
          <p:cNvPr id="20" name="Text 17"/>
          <p:cNvSpPr txBox="1"/>
          <p:nvPr/>
        </p:nvSpPr>
        <p:spPr>
          <a:xfrm>
            <a:off x="3657600" y="4160520"/>
            <a:ext cx="1463040" cy="320040"/>
          </a:xfrm>
          <a:prstGeom prst="rect">
            <a:avLst/>
          </a:prstGeom>
          <a:noFill/>
          <a:ln/>
        </p:spPr>
        <p:txBody>
          <a:bodyPr wrap="square" lIns="0" tIns="0" rIns="0" bIns="0" rtlCol="0" anchor="t"/>
          <a:lstStyle/>
          <a:p>
            <a:pPr algn="ctr" indent="0" marL="0">
              <a:spcAft>
                <a:spcPts val="400"/>
              </a:spcAft>
              <a:buNone/>
            </a:pPr>
            <a:r>
              <a:rPr lang="en-US" sz="1100" dirty="0">
                <a:solidFill>
                  <a:srgbClr val="A23B3B"/>
                </a:solidFill>
              </a:rPr>
              <a:t>Internet</a:t>
            </a:r>
            <a:endParaRPr lang="en-US" sz="1100" dirty="0"/>
          </a:p>
        </p:txBody>
      </p:sp>
      <p:sp>
        <p:nvSpPr>
          <p:cNvPr id="21" name="Shape 18"/>
          <p:cNvSpPr/>
          <p:nvPr/>
        </p:nvSpPr>
        <p:spPr>
          <a:xfrm>
            <a:off x="8001000" y="1371600"/>
            <a:ext cx="914" cy="2743200"/>
          </a:xfrm>
          <a:prstGeom prst="line">
            <a:avLst/>
          </a:prstGeom>
          <a:noFill/>
          <a:ln w="19050">
            <a:solidFill>
              <a:srgbClr val="5B6770"/>
            </a:solidFill>
            <a:prstDash val="dash"/>
          </a:ln>
        </p:spPr>
      </p:sp>
      <p:sp>
        <p:nvSpPr>
          <p:cNvPr id="22" name="Text 19"/>
          <p:cNvSpPr txBox="1"/>
          <p:nvPr/>
        </p:nvSpPr>
        <p:spPr>
          <a:xfrm>
            <a:off x="7315200" y="4160520"/>
            <a:ext cx="1463040" cy="32004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private net</a:t>
            </a:r>
            <a:endParaRPr lang="en-US" sz="1100" dirty="0"/>
          </a:p>
        </p:txBody>
      </p:sp>
      <p:sp>
        <p:nvSpPr>
          <p:cNvPr id="23" name="Shape 20"/>
          <p:cNvSpPr/>
          <p:nvPr/>
        </p:nvSpPr>
        <p:spPr>
          <a:xfrm>
            <a:off x="548640" y="4636008"/>
            <a:ext cx="384048" cy="384048"/>
          </a:xfrm>
          <a:prstGeom prst="ellipse">
            <a:avLst/>
          </a:prstGeom>
          <a:solidFill>
            <a:srgbClr val="B9772A"/>
          </a:solidFill>
          <a:ln w="12700">
            <a:solidFill>
              <a:srgbClr val="B9772A"/>
            </a:solidFill>
            <a:prstDash val="solid"/>
          </a:ln>
        </p:spPr>
      </p:sp>
      <p:sp>
        <p:nvSpPr>
          <p:cNvPr id="24" name="Text 21"/>
          <p:cNvSpPr txBox="1"/>
          <p:nvPr/>
        </p:nvSpPr>
        <p:spPr>
          <a:xfrm>
            <a:off x="548640" y="4636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5" name="Text 22"/>
          <p:cNvSpPr txBox="1"/>
          <p:nvPr/>
        </p:nvSpPr>
        <p:spPr>
          <a:xfrm>
            <a:off x="1051560" y="4617720"/>
            <a:ext cx="10561320" cy="9144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Only the laptop → gateway leg is protected; gateway → intranet is an ordinary connection. A TCP stream inside an SSH channel inside a TCP connection: </a:t>
            </a:r>
            <a:r>
              <a:rPr lang="en-US" sz="1300" b="1" dirty="0">
                <a:solidFill>
                  <a:srgbClr val="1B2430"/>
                </a:solidFill>
              </a:rPr>
              <a:t>layering</a:t>
            </a:r>
            <a:r>
              <a:rPr lang="en-US" sz="1300" dirty="0">
                <a:solidFill>
                  <a:srgbClr val="1B2430"/>
                </a:solidFill>
              </a:rPr>
              <a:t>.</a:t>
            </a:r>
            <a:endParaRPr lang="en-US" sz="1300" dirty="0"/>
          </a:p>
        </p:txBody>
      </p:sp>
      <p:sp>
        <p:nvSpPr>
          <p:cNvPr id="2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7" name="Text 2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-L: a local port that leads, through the SSH server, to a host the laptop cannot reach directly.</a:t>
            </a:r>
            <a:endParaRPr lang="en-US" sz="1400" dirty="0"/>
          </a:p>
        </p:txBody>
      </p:sp>
      <p:sp>
        <p:nvSpPr>
          <p:cNvPr id="28" name="Text 2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TCP (Transmission Control Protocol) · SSH (Secure Shell)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7 · Remote and dynamic forwarding</a:t>
            </a:r>
            <a:endParaRPr lang="en-US" sz="3000" dirty="0"/>
          </a:p>
        </p:txBody>
      </p:sp>
      <p:sp>
        <p:nvSpPr>
          <p:cNvPr id="4" name="Text 1"/>
          <p:cNvSpPr txBox="1"/>
          <p:nvPr/>
        </p:nvSpPr>
        <p:spPr>
          <a:xfrm>
            <a:off x="548640" y="1234440"/>
            <a:ext cx="5486400" cy="365760"/>
          </a:xfrm>
          <a:prstGeom prst="rect">
            <a:avLst/>
          </a:prstGeom>
          <a:noFill/>
          <a:ln/>
        </p:spPr>
        <p:txBody>
          <a:bodyPr wrap="square" lIns="0" tIns="0" rIns="0" bIns="0" rtlCol="0" anchor="t"/>
          <a:lstStyle/>
          <a:p>
            <a:pPr algn="l" indent="0" marL="0">
              <a:spcAft>
                <a:spcPts val="400"/>
              </a:spcAft>
              <a:buNone/>
            </a:pPr>
            <a:r>
              <a:rPr lang="en-US" sz="1400" b="1" dirty="0">
                <a:solidFill>
                  <a:srgbClr val="1F3A5F"/>
                </a:solidFill>
                <a:latin typeface="Consolas" pitchFamily="34" charset="0"/>
                <a:ea typeface="Consolas" pitchFamily="34" charset="-122"/>
                <a:cs typeface="Consolas" pitchFamily="34" charset="-120"/>
              </a:rPr>
              <a:t>ssh -R 9000:localhost:3000 you@bastion</a:t>
            </a:r>
            <a:endParaRPr lang="en-US" sz="1400" dirty="0"/>
          </a:p>
        </p:txBody>
      </p:sp>
      <p:sp>
        <p:nvSpPr>
          <p:cNvPr id="5" name="box"/>
          <p:cNvSpPr/>
          <p:nvPr/>
        </p:nvSpPr>
        <p:spPr>
          <a:xfrm>
            <a:off x="548640" y="1783080"/>
            <a:ext cx="2377440" cy="914400"/>
          </a:xfrm>
          <a:prstGeom prst="roundRect">
            <a:avLst>
              <a:gd name="adj" fmla="val 8000"/>
            </a:avLst>
          </a:prstGeom>
          <a:solidFill>
            <a:srgbClr val="EEF2F6"/>
          </a:solidFill>
          <a:ln w="12700">
            <a:solidFill>
              <a:srgbClr val="EEF2F6"/>
            </a:solidFill>
            <a:prstDash val="solid"/>
          </a:ln>
        </p:spPr>
      </p:sp>
      <p:sp>
        <p:nvSpPr>
          <p:cNvPr id="6" name="Text 3"/>
          <p:cNvSpPr txBox="1"/>
          <p:nvPr/>
        </p:nvSpPr>
        <p:spPr>
          <a:xfrm>
            <a:off x="548640" y="1783080"/>
            <a:ext cx="2377440" cy="914400"/>
          </a:xfrm>
          <a:prstGeom prst="rect">
            <a:avLst/>
          </a:prstGeom>
          <a:noFill/>
          <a:ln/>
        </p:spPr>
        <p:txBody>
          <a:bodyPr wrap="square" lIns="635" tIns="635" rIns="635" bIns="635" rtlCol="0" anchor="ctr"/>
          <a:lstStyle/>
          <a:p>
            <a:pPr algn="ctr" indent="0" marL="0">
              <a:buNone/>
            </a:pPr>
            <a:r>
              <a:rPr lang="en-US" sz="1200" dirty="0">
                <a:solidFill>
                  <a:srgbClr val="1B2430"/>
                </a:solidFill>
              </a:rPr>
              <a:t>colleague</a:t>
            </a:r>
            <a:endParaRPr lang="en-US" sz="1200" dirty="0"/>
          </a:p>
          <a:p>
            <a:pPr algn="ctr" indent="0" marL="0">
              <a:buNone/>
            </a:pPr>
            <a:r>
              <a:rPr lang="en-US" sz="1200" dirty="0">
                <a:solidFill>
                  <a:srgbClr val="1B2430"/>
                </a:solidFill>
              </a:rPr>
              <a:t>bastion:9000</a:t>
            </a:r>
            <a:endParaRPr lang="en-US" sz="1200" dirty="0"/>
          </a:p>
        </p:txBody>
      </p:sp>
      <p:sp>
        <p:nvSpPr>
          <p:cNvPr id="7" name="box"/>
          <p:cNvSpPr/>
          <p:nvPr/>
        </p:nvSpPr>
        <p:spPr>
          <a:xfrm>
            <a:off x="3657600" y="1783080"/>
            <a:ext cx="2377440" cy="914400"/>
          </a:xfrm>
          <a:prstGeom prst="roundRect">
            <a:avLst>
              <a:gd name="adj" fmla="val 8000"/>
            </a:avLst>
          </a:prstGeom>
          <a:solidFill>
            <a:srgbClr val="2A7F8E"/>
          </a:solidFill>
          <a:ln w="12700">
            <a:solidFill>
              <a:srgbClr val="2A7F8E"/>
            </a:solidFill>
            <a:prstDash val="solid"/>
          </a:ln>
        </p:spPr>
      </p:sp>
      <p:sp>
        <p:nvSpPr>
          <p:cNvPr id="8" name="Text 5"/>
          <p:cNvSpPr txBox="1"/>
          <p:nvPr/>
        </p:nvSpPr>
        <p:spPr>
          <a:xfrm>
            <a:off x="3657600" y="1783080"/>
            <a:ext cx="2377440" cy="914400"/>
          </a:xfrm>
          <a:prstGeom prst="rect">
            <a:avLst/>
          </a:prstGeom>
          <a:noFill/>
          <a:ln/>
        </p:spPr>
        <p:txBody>
          <a:bodyPr wrap="square" lIns="635" tIns="635" rIns="635" bIns="635" rtlCol="0" anchor="ctr"/>
          <a:lstStyle/>
          <a:p>
            <a:pPr algn="ctr" indent="0" marL="0">
              <a:buNone/>
            </a:pPr>
            <a:r>
              <a:rPr lang="en-US" sz="1200" b="1" dirty="0">
                <a:solidFill>
                  <a:srgbClr val="FFFFFF"/>
                </a:solidFill>
              </a:rPr>
              <a:t>bastion</a:t>
            </a:r>
            <a:endParaRPr lang="en-US" sz="1200" dirty="0"/>
          </a:p>
          <a:p>
            <a:pPr algn="ctr" indent="0" marL="0">
              <a:buNone/>
            </a:pPr>
            <a:r>
              <a:rPr lang="en-US" sz="1200" dirty="0">
                <a:solidFill>
                  <a:srgbClr val="FFFFFF"/>
                </a:solidFill>
              </a:rPr>
              <a:t>port 9000</a:t>
            </a:r>
            <a:endParaRPr lang="en-US" sz="1200" dirty="0"/>
          </a:p>
        </p:txBody>
      </p:sp>
      <p:sp>
        <p:nvSpPr>
          <p:cNvPr id="9" name="box"/>
          <p:cNvSpPr/>
          <p:nvPr/>
        </p:nvSpPr>
        <p:spPr>
          <a:xfrm>
            <a:off x="6766560" y="1783080"/>
            <a:ext cx="2377440" cy="914400"/>
          </a:xfrm>
          <a:prstGeom prst="roundRect">
            <a:avLst>
              <a:gd name="adj" fmla="val 8000"/>
            </a:avLst>
          </a:prstGeom>
          <a:solidFill>
            <a:srgbClr val="1F3A5F"/>
          </a:solidFill>
          <a:ln w="12700">
            <a:solidFill>
              <a:srgbClr val="1F3A5F"/>
            </a:solidFill>
            <a:prstDash val="solid"/>
          </a:ln>
        </p:spPr>
      </p:sp>
      <p:sp>
        <p:nvSpPr>
          <p:cNvPr id="10" name="Text 7"/>
          <p:cNvSpPr txBox="1"/>
          <p:nvPr/>
        </p:nvSpPr>
        <p:spPr>
          <a:xfrm>
            <a:off x="6766560" y="1783080"/>
            <a:ext cx="2377440" cy="914400"/>
          </a:xfrm>
          <a:prstGeom prst="rect">
            <a:avLst/>
          </a:prstGeom>
          <a:noFill/>
          <a:ln/>
        </p:spPr>
        <p:txBody>
          <a:bodyPr wrap="square" lIns="635" tIns="635" rIns="635" bIns="635" rtlCol="0" anchor="ctr"/>
          <a:lstStyle/>
          <a:p>
            <a:pPr algn="ctr" indent="0" marL="0">
              <a:buNone/>
            </a:pPr>
            <a:r>
              <a:rPr lang="en-US" sz="1200" b="1" dirty="0">
                <a:solidFill>
                  <a:srgbClr val="FFFFFF"/>
                </a:solidFill>
              </a:rPr>
              <a:t>your laptop</a:t>
            </a:r>
            <a:endParaRPr lang="en-US" sz="1200" dirty="0"/>
          </a:p>
          <a:p>
            <a:pPr algn="ctr" indent="0" marL="0">
              <a:buNone/>
            </a:pPr>
            <a:r>
              <a:rPr lang="en-US" sz="1200" dirty="0">
                <a:solidFill>
                  <a:srgbClr val="FFFFFF"/>
                </a:solidFill>
              </a:rPr>
              <a:t>app on :3000</a:t>
            </a:r>
            <a:endParaRPr lang="en-US" sz="1200" dirty="0"/>
          </a:p>
        </p:txBody>
      </p:sp>
      <p:sp>
        <p:nvSpPr>
          <p:cNvPr id="11" name="Shape 8"/>
          <p:cNvSpPr/>
          <p:nvPr/>
        </p:nvSpPr>
        <p:spPr>
          <a:xfrm>
            <a:off x="2926080" y="2240280"/>
            <a:ext cx="731520" cy="914"/>
          </a:xfrm>
          <a:prstGeom prst="line">
            <a:avLst/>
          </a:prstGeom>
          <a:noFill/>
          <a:ln w="25400">
            <a:solidFill>
              <a:srgbClr val="5B6770"/>
            </a:solidFill>
            <a:prstDash val="solid"/>
            <a:tailEnd type="triangle"/>
          </a:ln>
        </p:spPr>
      </p:sp>
      <p:sp>
        <p:nvSpPr>
          <p:cNvPr id="12" name="Shape 9"/>
          <p:cNvSpPr/>
          <p:nvPr/>
        </p:nvSpPr>
        <p:spPr>
          <a:xfrm>
            <a:off x="6035040" y="2240280"/>
            <a:ext cx="731520" cy="914"/>
          </a:xfrm>
          <a:prstGeom prst="line">
            <a:avLst/>
          </a:prstGeom>
          <a:noFill/>
          <a:ln w="38100">
            <a:solidFill>
              <a:srgbClr val="2E7D4F"/>
            </a:solidFill>
            <a:prstDash val="solid"/>
            <a:headEnd type="triangle"/>
            <a:tailEnd type="triangle"/>
          </a:ln>
        </p:spPr>
      </p:sp>
      <p:sp>
        <p:nvSpPr>
          <p:cNvPr id="13" name="Text 10"/>
          <p:cNvSpPr txBox="1"/>
          <p:nvPr/>
        </p:nvSpPr>
        <p:spPr>
          <a:xfrm>
            <a:off x="9326880" y="1783080"/>
            <a:ext cx="2286000" cy="914400"/>
          </a:xfrm>
          <a:prstGeom prst="rect">
            <a:avLst/>
          </a:prstGeom>
          <a:noFill/>
          <a:ln/>
        </p:spPr>
        <p:txBody>
          <a:bodyPr wrap="square" lIns="0" tIns="0" rIns="0" bIns="0" rtlCol="0" anchor="t"/>
          <a:lstStyle/>
          <a:p>
            <a:pPr algn="l" indent="0" marL="0">
              <a:spcAft>
                <a:spcPts val="400"/>
              </a:spcAft>
              <a:buNone/>
            </a:pPr>
            <a:r>
              <a:rPr lang="en-US" sz="1200" dirty="0">
                <a:solidFill>
                  <a:srgbClr val="5B6770"/>
                </a:solidFill>
              </a:rPr>
              <a:t>the laptop dialled out — no inbound port needed</a:t>
            </a:r>
            <a:endParaRPr lang="en-US" sz="1200" dirty="0"/>
          </a:p>
        </p:txBody>
      </p:sp>
      <p:sp>
        <p:nvSpPr>
          <p:cNvPr id="14" name="Text 11"/>
          <p:cNvSpPr txBox="1"/>
          <p:nvPr/>
        </p:nvSpPr>
        <p:spPr>
          <a:xfrm>
            <a:off x="548640" y="3200400"/>
            <a:ext cx="5486400" cy="365760"/>
          </a:xfrm>
          <a:prstGeom prst="rect">
            <a:avLst/>
          </a:prstGeom>
          <a:noFill/>
          <a:ln/>
        </p:spPr>
        <p:txBody>
          <a:bodyPr wrap="square" lIns="0" tIns="0" rIns="0" bIns="0" rtlCol="0" anchor="t"/>
          <a:lstStyle/>
          <a:p>
            <a:pPr algn="l" indent="0" marL="0">
              <a:spcAft>
                <a:spcPts val="400"/>
              </a:spcAft>
              <a:buNone/>
            </a:pPr>
            <a:r>
              <a:rPr lang="en-US" sz="1400" b="1" dirty="0">
                <a:solidFill>
                  <a:srgbClr val="1F3A5F"/>
                </a:solidFill>
                <a:latin typeface="Consolas" pitchFamily="34" charset="0"/>
                <a:ea typeface="Consolas" pitchFamily="34" charset="-122"/>
                <a:cs typeface="Consolas" pitchFamily="34" charset="-120"/>
              </a:rPr>
              <a:t>ssh -D 1080 you@gw</a:t>
            </a:r>
            <a:endParaRPr lang="en-US" sz="1400" dirty="0"/>
          </a:p>
        </p:txBody>
      </p:sp>
      <p:sp>
        <p:nvSpPr>
          <p:cNvPr id="15" name="box"/>
          <p:cNvSpPr/>
          <p:nvPr/>
        </p:nvSpPr>
        <p:spPr>
          <a:xfrm>
            <a:off x="548640" y="3749040"/>
            <a:ext cx="2377440" cy="1097280"/>
          </a:xfrm>
          <a:prstGeom prst="roundRect">
            <a:avLst>
              <a:gd name="adj" fmla="val 6667"/>
            </a:avLst>
          </a:prstGeom>
          <a:solidFill>
            <a:srgbClr val="EEF2F6"/>
          </a:solidFill>
          <a:ln w="12700">
            <a:solidFill>
              <a:srgbClr val="EEF2F6"/>
            </a:solidFill>
            <a:prstDash val="solid"/>
          </a:ln>
        </p:spPr>
      </p:sp>
      <p:sp>
        <p:nvSpPr>
          <p:cNvPr id="16" name="Text 13"/>
          <p:cNvSpPr txBox="1"/>
          <p:nvPr/>
        </p:nvSpPr>
        <p:spPr>
          <a:xfrm>
            <a:off x="548640" y="3749040"/>
            <a:ext cx="2377440" cy="1097280"/>
          </a:xfrm>
          <a:prstGeom prst="rect">
            <a:avLst/>
          </a:prstGeom>
          <a:noFill/>
          <a:ln/>
        </p:spPr>
        <p:txBody>
          <a:bodyPr wrap="square" lIns="635" tIns="635" rIns="635" bIns="635" rtlCol="0" anchor="ctr"/>
          <a:lstStyle/>
          <a:p>
            <a:pPr algn="ctr" indent="0" marL="0">
              <a:buNone/>
            </a:pPr>
            <a:r>
              <a:rPr lang="en-US" sz="1200" dirty="0">
                <a:solidFill>
                  <a:srgbClr val="1B2430"/>
                </a:solidFill>
              </a:rPr>
              <a:t>browser</a:t>
            </a:r>
            <a:endParaRPr lang="en-US" sz="1200" dirty="0"/>
          </a:p>
          <a:p>
            <a:pPr algn="ctr" indent="0" marL="0">
              <a:buNone/>
            </a:pPr>
            <a:r>
              <a:rPr lang="en-US" sz="1200" dirty="0">
                <a:solidFill>
                  <a:srgbClr val="1B2430"/>
                </a:solidFill>
              </a:rPr>
              <a:t>SOCKS proxy</a:t>
            </a:r>
            <a:endParaRPr lang="en-US" sz="1200" dirty="0"/>
          </a:p>
          <a:p>
            <a:pPr algn="ctr" indent="0" marL="0">
              <a:buNone/>
            </a:pPr>
            <a:r>
              <a:rPr lang="en-US" sz="1200" dirty="0">
                <a:solidFill>
                  <a:srgbClr val="1B2430"/>
                </a:solidFill>
              </a:rPr>
              <a:t>localhost:1080</a:t>
            </a:r>
            <a:endParaRPr lang="en-US" sz="1200" dirty="0"/>
          </a:p>
        </p:txBody>
      </p:sp>
      <p:sp>
        <p:nvSpPr>
          <p:cNvPr id="17" name="box"/>
          <p:cNvSpPr/>
          <p:nvPr/>
        </p:nvSpPr>
        <p:spPr>
          <a:xfrm>
            <a:off x="3657600" y="3749040"/>
            <a:ext cx="2377440" cy="1097280"/>
          </a:xfrm>
          <a:prstGeom prst="roundRect">
            <a:avLst>
              <a:gd name="adj" fmla="val 6667"/>
            </a:avLst>
          </a:prstGeom>
          <a:solidFill>
            <a:srgbClr val="2A7F8E"/>
          </a:solidFill>
          <a:ln w="12700">
            <a:solidFill>
              <a:srgbClr val="2A7F8E"/>
            </a:solidFill>
            <a:prstDash val="solid"/>
          </a:ln>
        </p:spPr>
      </p:sp>
      <p:sp>
        <p:nvSpPr>
          <p:cNvPr id="18" name="Text 15"/>
          <p:cNvSpPr txBox="1"/>
          <p:nvPr/>
        </p:nvSpPr>
        <p:spPr>
          <a:xfrm>
            <a:off x="3657600" y="3749040"/>
            <a:ext cx="2377440" cy="1097280"/>
          </a:xfrm>
          <a:prstGeom prst="rect">
            <a:avLst/>
          </a:prstGeom>
          <a:noFill/>
          <a:ln/>
        </p:spPr>
        <p:txBody>
          <a:bodyPr wrap="square" lIns="635" tIns="635" rIns="635" bIns="635" rtlCol="0" anchor="ctr"/>
          <a:lstStyle/>
          <a:p>
            <a:pPr algn="ctr" indent="0" marL="0">
              <a:buNone/>
            </a:pPr>
            <a:r>
              <a:rPr lang="en-US" sz="1200" b="1" dirty="0">
                <a:solidFill>
                  <a:srgbClr val="FFFFFF"/>
                </a:solidFill>
              </a:rPr>
              <a:t>gw</a:t>
            </a:r>
            <a:endParaRPr lang="en-US" sz="1200" dirty="0"/>
          </a:p>
          <a:p>
            <a:pPr algn="ctr" indent="0" marL="0">
              <a:buNone/>
            </a:pPr>
            <a:r>
              <a:rPr lang="en-US" sz="1200" dirty="0">
                <a:solidFill>
                  <a:srgbClr val="FFFFFF"/>
                </a:solidFill>
              </a:rPr>
              <a:t>opens whatever</a:t>
            </a:r>
            <a:endParaRPr lang="en-US" sz="1200" dirty="0"/>
          </a:p>
          <a:p>
            <a:pPr algn="ctr" indent="0" marL="0">
              <a:buNone/>
            </a:pPr>
            <a:r>
              <a:rPr lang="en-US" sz="1200" dirty="0">
                <a:solidFill>
                  <a:srgbClr val="FFFFFF"/>
                </a:solidFill>
              </a:rPr>
              <a:t>is asked for</a:t>
            </a:r>
            <a:endParaRPr lang="en-US" sz="1200" dirty="0"/>
          </a:p>
        </p:txBody>
      </p:sp>
      <p:sp>
        <p:nvSpPr>
          <p:cNvPr id="19" name="Shape 16"/>
          <p:cNvSpPr/>
          <p:nvPr/>
        </p:nvSpPr>
        <p:spPr>
          <a:xfrm>
            <a:off x="2926080" y="4297680"/>
            <a:ext cx="731520" cy="914"/>
          </a:xfrm>
          <a:prstGeom prst="line">
            <a:avLst/>
          </a:prstGeom>
          <a:noFill/>
          <a:ln w="38100">
            <a:solidFill>
              <a:srgbClr val="2E7D4F"/>
            </a:solidFill>
            <a:prstDash val="solid"/>
            <a:headEnd type="triangle"/>
            <a:tailEnd type="triangle"/>
          </a:ln>
        </p:spPr>
      </p:sp>
      <p:sp>
        <p:nvSpPr>
          <p:cNvPr id="20" name="box"/>
          <p:cNvSpPr/>
          <p:nvPr/>
        </p:nvSpPr>
        <p:spPr>
          <a:xfrm>
            <a:off x="6766560" y="3566160"/>
            <a:ext cx="2560320" cy="438912"/>
          </a:xfrm>
          <a:prstGeom prst="roundRect">
            <a:avLst>
              <a:gd name="adj" fmla="val 16667"/>
            </a:avLst>
          </a:prstGeom>
          <a:solidFill>
            <a:srgbClr val="DDF0F2"/>
          </a:solidFill>
          <a:ln w="12700">
            <a:solidFill>
              <a:srgbClr val="DDF0F2"/>
            </a:solidFill>
            <a:prstDash val="solid"/>
          </a:ln>
        </p:spPr>
      </p:sp>
      <p:sp>
        <p:nvSpPr>
          <p:cNvPr id="21" name="Text 18"/>
          <p:cNvSpPr txBox="1"/>
          <p:nvPr/>
        </p:nvSpPr>
        <p:spPr>
          <a:xfrm>
            <a:off x="6766560" y="3566160"/>
            <a:ext cx="2560320" cy="438912"/>
          </a:xfrm>
          <a:prstGeom prst="rect">
            <a:avLst/>
          </a:prstGeom>
          <a:noFill/>
          <a:ln/>
        </p:spPr>
        <p:txBody>
          <a:bodyPr wrap="square" lIns="635" tIns="635" rIns="635" bIns="635" rtlCol="0" anchor="ctr"/>
          <a:lstStyle/>
          <a:p>
            <a:pPr algn="ctr" indent="0" marL="0">
              <a:buNone/>
            </a:pPr>
            <a:r>
              <a:rPr lang="en-US" sz="1100" dirty="0">
                <a:solidFill>
                  <a:srgbClr val="1B2430"/>
                </a:solidFill>
              </a:rPr>
              <a:t>site-a.internal</a:t>
            </a:r>
            <a:endParaRPr lang="en-US" sz="1100" dirty="0"/>
          </a:p>
        </p:txBody>
      </p:sp>
      <p:sp>
        <p:nvSpPr>
          <p:cNvPr id="22" name="Shape 19"/>
          <p:cNvSpPr/>
          <p:nvPr/>
        </p:nvSpPr>
        <p:spPr>
          <a:xfrm flipV="1">
            <a:off x="6035040" y="3785616"/>
            <a:ext cx="731520" cy="512064"/>
          </a:xfrm>
          <a:prstGeom prst="line">
            <a:avLst/>
          </a:prstGeom>
          <a:noFill/>
          <a:ln w="19050">
            <a:solidFill>
              <a:srgbClr val="B9772A"/>
            </a:solidFill>
            <a:prstDash val="solid"/>
            <a:tailEnd type="triangle"/>
          </a:ln>
        </p:spPr>
      </p:sp>
      <p:sp>
        <p:nvSpPr>
          <p:cNvPr id="23" name="box"/>
          <p:cNvSpPr/>
          <p:nvPr/>
        </p:nvSpPr>
        <p:spPr>
          <a:xfrm>
            <a:off x="6766560" y="4096512"/>
            <a:ext cx="2560320" cy="438912"/>
          </a:xfrm>
          <a:prstGeom prst="roundRect">
            <a:avLst>
              <a:gd name="adj" fmla="val 16667"/>
            </a:avLst>
          </a:prstGeom>
          <a:solidFill>
            <a:srgbClr val="DDF0F2"/>
          </a:solidFill>
          <a:ln w="12700">
            <a:solidFill>
              <a:srgbClr val="DDF0F2"/>
            </a:solidFill>
            <a:prstDash val="solid"/>
          </a:ln>
        </p:spPr>
      </p:sp>
      <p:sp>
        <p:nvSpPr>
          <p:cNvPr id="24" name="Text 21"/>
          <p:cNvSpPr txBox="1"/>
          <p:nvPr/>
        </p:nvSpPr>
        <p:spPr>
          <a:xfrm>
            <a:off x="6766560" y="4096512"/>
            <a:ext cx="2560320" cy="438912"/>
          </a:xfrm>
          <a:prstGeom prst="rect">
            <a:avLst/>
          </a:prstGeom>
          <a:noFill/>
          <a:ln/>
        </p:spPr>
        <p:txBody>
          <a:bodyPr wrap="square" lIns="635" tIns="635" rIns="635" bIns="635" rtlCol="0" anchor="ctr"/>
          <a:lstStyle/>
          <a:p>
            <a:pPr algn="ctr" indent="0" marL="0">
              <a:buNone/>
            </a:pPr>
            <a:r>
              <a:rPr lang="en-US" sz="1100" dirty="0">
                <a:solidFill>
                  <a:srgbClr val="1B2430"/>
                </a:solidFill>
              </a:rPr>
              <a:t>site-b.internal</a:t>
            </a:r>
            <a:endParaRPr lang="en-US" sz="1100" dirty="0"/>
          </a:p>
        </p:txBody>
      </p:sp>
      <p:sp>
        <p:nvSpPr>
          <p:cNvPr id="25" name="Shape 22"/>
          <p:cNvSpPr/>
          <p:nvPr/>
        </p:nvSpPr>
        <p:spPr>
          <a:xfrm>
            <a:off x="6035040" y="4297680"/>
            <a:ext cx="731520" cy="18288"/>
          </a:xfrm>
          <a:prstGeom prst="line">
            <a:avLst/>
          </a:prstGeom>
          <a:noFill/>
          <a:ln w="19050">
            <a:solidFill>
              <a:srgbClr val="B9772A"/>
            </a:solidFill>
            <a:prstDash val="solid"/>
            <a:tailEnd type="triangle"/>
          </a:ln>
        </p:spPr>
      </p:sp>
      <p:sp>
        <p:nvSpPr>
          <p:cNvPr id="26" name="box"/>
          <p:cNvSpPr/>
          <p:nvPr/>
        </p:nvSpPr>
        <p:spPr>
          <a:xfrm>
            <a:off x="6766560" y="4626864"/>
            <a:ext cx="2560320" cy="438912"/>
          </a:xfrm>
          <a:prstGeom prst="roundRect">
            <a:avLst>
              <a:gd name="adj" fmla="val 16667"/>
            </a:avLst>
          </a:prstGeom>
          <a:solidFill>
            <a:srgbClr val="DDF0F2"/>
          </a:solidFill>
          <a:ln w="12700">
            <a:solidFill>
              <a:srgbClr val="DDF0F2"/>
            </a:solidFill>
            <a:prstDash val="solid"/>
          </a:ln>
        </p:spPr>
      </p:sp>
      <p:sp>
        <p:nvSpPr>
          <p:cNvPr id="27" name="Text 24"/>
          <p:cNvSpPr txBox="1"/>
          <p:nvPr/>
        </p:nvSpPr>
        <p:spPr>
          <a:xfrm>
            <a:off x="6766560" y="4626864"/>
            <a:ext cx="2560320" cy="438912"/>
          </a:xfrm>
          <a:prstGeom prst="rect">
            <a:avLst/>
          </a:prstGeom>
          <a:noFill/>
          <a:ln/>
        </p:spPr>
        <p:txBody>
          <a:bodyPr wrap="square" lIns="635" tIns="635" rIns="635" bIns="635" rtlCol="0" anchor="ctr"/>
          <a:lstStyle/>
          <a:p>
            <a:pPr algn="ctr" indent="0" marL="0">
              <a:buNone/>
            </a:pPr>
            <a:r>
              <a:rPr lang="en-US" sz="1100" dirty="0">
                <a:solidFill>
                  <a:srgbClr val="1B2430"/>
                </a:solidFill>
              </a:rPr>
              <a:t>library journals</a:t>
            </a:r>
            <a:endParaRPr lang="en-US" sz="1100" dirty="0"/>
          </a:p>
        </p:txBody>
      </p:sp>
      <p:sp>
        <p:nvSpPr>
          <p:cNvPr id="28" name="Shape 25"/>
          <p:cNvSpPr/>
          <p:nvPr/>
        </p:nvSpPr>
        <p:spPr>
          <a:xfrm>
            <a:off x="6035040" y="4297680"/>
            <a:ext cx="731520" cy="548640"/>
          </a:xfrm>
          <a:prstGeom prst="line">
            <a:avLst/>
          </a:prstGeom>
          <a:noFill/>
          <a:ln w="19050">
            <a:solidFill>
              <a:srgbClr val="B9772A"/>
            </a:solidFill>
            <a:prstDash val="solid"/>
            <a:tailEnd type="triangle"/>
          </a:ln>
        </p:spPr>
      </p:sp>
      <p:sp>
        <p:nvSpPr>
          <p:cNvPr id="29"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0" name="Text 27"/>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-L: a local port to one remote destination; -R: a remote port back to you; -D: a proxy to anywhere.</a:t>
            </a:r>
            <a:endParaRPr lang="en-US" sz="1400" dirty="0"/>
          </a:p>
        </p:txBody>
      </p:sp>
      <p:sp>
        <p:nvSpPr>
          <p:cNvPr id="31" name="Text 28"/>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SOCKS (a proxy protocol (from “sockets”))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FTP: a control connection and data connections</a:t>
            </a:r>
            <a:endParaRPr lang="en-US" sz="3000" dirty="0"/>
          </a:p>
        </p:txBody>
      </p:sp>
      <p:sp>
        <p:nvSpPr>
          <p:cNvPr id="4" name="box"/>
          <p:cNvSpPr/>
          <p:nvPr/>
        </p:nvSpPr>
        <p:spPr>
          <a:xfrm>
            <a:off x="548640" y="1463040"/>
            <a:ext cx="2743200" cy="3291840"/>
          </a:xfrm>
          <a:prstGeom prst="roundRect">
            <a:avLst>
              <a:gd name="adj" fmla="val 2667"/>
            </a:avLst>
          </a:prstGeom>
          <a:solidFill>
            <a:srgbClr val="EEF2F6"/>
          </a:solidFill>
          <a:ln w="12700">
            <a:solidFill>
              <a:srgbClr val="EEF2F6"/>
            </a:solidFill>
            <a:prstDash val="solid"/>
          </a:ln>
        </p:spPr>
      </p:sp>
      <p:sp>
        <p:nvSpPr>
          <p:cNvPr id="5" name="Text 2"/>
          <p:cNvSpPr txBox="1"/>
          <p:nvPr/>
        </p:nvSpPr>
        <p:spPr>
          <a:xfrm>
            <a:off x="548640" y="1463040"/>
            <a:ext cx="2743200" cy="3291840"/>
          </a:xfrm>
          <a:prstGeom prst="rect">
            <a:avLst/>
          </a:prstGeom>
          <a:noFill/>
          <a:ln/>
        </p:spPr>
        <p:txBody>
          <a:bodyPr wrap="square" lIns="635" tIns="635" rIns="635" bIns="635" rtlCol="0" anchor="ctr"/>
          <a:lstStyle/>
          <a:p>
            <a:pPr algn="ctr" indent="0" marL="0">
              <a:spcAft>
                <a:spcPts val="400"/>
              </a:spcAft>
              <a:buNone/>
            </a:pPr>
            <a:r>
              <a:rPr lang="en-US" sz="1300" b="1" dirty="0">
                <a:solidFill>
                  <a:srgbClr val="1B2430"/>
                </a:solidFill>
              </a:rPr>
              <a:t>FTP client</a:t>
            </a:r>
            <a:endParaRPr lang="en-US" sz="1300" dirty="0"/>
          </a:p>
          <a:p>
            <a:pPr algn="ctr" indent="0" marL="0">
              <a:spcAft>
                <a:spcPts val="400"/>
              </a:spcAft>
              <a:buNone/>
            </a:pPr>
            <a:r>
              <a:rPr lang="en-US" sz="1300" dirty="0">
                <a:solidFill>
                  <a:srgbClr val="1B2430"/>
                </a:solidFill>
              </a:rPr>
              <a:t> </a:t>
            </a:r>
            <a:endParaRPr lang="en-US" sz="1300" dirty="0"/>
          </a:p>
          <a:p>
            <a:pPr algn="ctr" indent="0" marL="0">
              <a:spcAft>
                <a:spcPts val="400"/>
              </a:spcAft>
              <a:buNone/>
            </a:pPr>
            <a:r>
              <a:rPr lang="en-US" sz="1300" dirty="0">
                <a:solidFill>
                  <a:srgbClr val="1B2430"/>
                </a:solidFill>
              </a:rPr>
              <a:t>user interface</a:t>
            </a:r>
            <a:endParaRPr lang="en-US" sz="1300" dirty="0"/>
          </a:p>
          <a:p>
            <a:pPr algn="ctr" indent="0" marL="0">
              <a:spcAft>
                <a:spcPts val="400"/>
              </a:spcAft>
              <a:buNone/>
            </a:pPr>
            <a:r>
              <a:rPr lang="en-US" sz="1300" dirty="0">
                <a:solidFill>
                  <a:srgbClr val="1B2430"/>
                </a:solidFill>
              </a:rPr>
              <a:t>protocol interpreter</a:t>
            </a:r>
            <a:endParaRPr lang="en-US" sz="1300" dirty="0"/>
          </a:p>
          <a:p>
            <a:pPr algn="ctr" indent="0" marL="0">
              <a:spcAft>
                <a:spcPts val="400"/>
              </a:spcAft>
              <a:buNone/>
            </a:pPr>
            <a:r>
              <a:rPr lang="en-US" sz="1300" dirty="0">
                <a:solidFill>
                  <a:srgbClr val="1B2430"/>
                </a:solidFill>
              </a:rPr>
              <a:t>data transfer</a:t>
            </a:r>
            <a:endParaRPr lang="en-US" sz="1300" dirty="0"/>
          </a:p>
        </p:txBody>
      </p:sp>
      <p:sp>
        <p:nvSpPr>
          <p:cNvPr id="6" name="box"/>
          <p:cNvSpPr/>
          <p:nvPr/>
        </p:nvSpPr>
        <p:spPr>
          <a:xfrm>
            <a:off x="8869680" y="1463040"/>
            <a:ext cx="2743200" cy="3291840"/>
          </a:xfrm>
          <a:prstGeom prst="roundRect">
            <a:avLst>
              <a:gd name="adj" fmla="val 2667"/>
            </a:avLst>
          </a:prstGeom>
          <a:solidFill>
            <a:srgbClr val="EEF2F6"/>
          </a:solidFill>
          <a:ln w="12700">
            <a:solidFill>
              <a:srgbClr val="EEF2F6"/>
            </a:solidFill>
            <a:prstDash val="solid"/>
          </a:ln>
        </p:spPr>
      </p:sp>
      <p:sp>
        <p:nvSpPr>
          <p:cNvPr id="7" name="Text 4"/>
          <p:cNvSpPr txBox="1"/>
          <p:nvPr/>
        </p:nvSpPr>
        <p:spPr>
          <a:xfrm>
            <a:off x="8869680" y="1463040"/>
            <a:ext cx="2743200" cy="3291840"/>
          </a:xfrm>
          <a:prstGeom prst="rect">
            <a:avLst/>
          </a:prstGeom>
          <a:noFill/>
          <a:ln/>
        </p:spPr>
        <p:txBody>
          <a:bodyPr wrap="square" lIns="635" tIns="635" rIns="635" bIns="635" rtlCol="0" anchor="ctr"/>
          <a:lstStyle/>
          <a:p>
            <a:pPr algn="ctr" indent="0" marL="0">
              <a:spcAft>
                <a:spcPts val="400"/>
              </a:spcAft>
              <a:buNone/>
            </a:pPr>
            <a:r>
              <a:rPr lang="en-US" sz="1300" b="1" dirty="0">
                <a:solidFill>
                  <a:srgbClr val="1B2430"/>
                </a:solidFill>
              </a:rPr>
              <a:t>FTP server</a:t>
            </a:r>
            <a:endParaRPr lang="en-US" sz="1300" dirty="0"/>
          </a:p>
          <a:p>
            <a:pPr algn="ctr" indent="0" marL="0">
              <a:spcAft>
                <a:spcPts val="400"/>
              </a:spcAft>
              <a:buNone/>
            </a:pPr>
            <a:r>
              <a:rPr lang="en-US" sz="1300" dirty="0">
                <a:solidFill>
                  <a:srgbClr val="1B2430"/>
                </a:solidFill>
              </a:rPr>
              <a:t> </a:t>
            </a:r>
            <a:endParaRPr lang="en-US" sz="1300" dirty="0"/>
          </a:p>
          <a:p>
            <a:pPr algn="ctr" indent="0" marL="0">
              <a:spcAft>
                <a:spcPts val="400"/>
              </a:spcAft>
              <a:buNone/>
            </a:pPr>
            <a:r>
              <a:rPr lang="en-US" sz="1300" dirty="0">
                <a:solidFill>
                  <a:srgbClr val="1B2430"/>
                </a:solidFill>
              </a:rPr>
              <a:t>protocol interpreter</a:t>
            </a:r>
            <a:endParaRPr lang="en-US" sz="1300" dirty="0"/>
          </a:p>
          <a:p>
            <a:pPr algn="ctr" indent="0" marL="0">
              <a:spcAft>
                <a:spcPts val="400"/>
              </a:spcAft>
              <a:buNone/>
            </a:pPr>
            <a:r>
              <a:rPr lang="en-US" sz="1300" dirty="0">
                <a:solidFill>
                  <a:srgbClr val="1B2430"/>
                </a:solidFill>
              </a:rPr>
              <a:t>data transfer</a:t>
            </a:r>
            <a:endParaRPr lang="en-US" sz="1300" dirty="0"/>
          </a:p>
          <a:p>
            <a:pPr algn="ctr" indent="0" marL="0">
              <a:spcAft>
                <a:spcPts val="400"/>
              </a:spcAft>
              <a:buNone/>
            </a:pPr>
            <a:r>
              <a:rPr lang="en-US" sz="1300" dirty="0">
                <a:solidFill>
                  <a:srgbClr val="1B2430"/>
                </a:solidFill>
              </a:rPr>
              <a:t>file system</a:t>
            </a:r>
            <a:endParaRPr lang="en-US" sz="1300" dirty="0"/>
          </a:p>
        </p:txBody>
      </p:sp>
      <p:sp>
        <p:nvSpPr>
          <p:cNvPr id="8" name="Shape 5"/>
          <p:cNvSpPr/>
          <p:nvPr/>
        </p:nvSpPr>
        <p:spPr>
          <a:xfrm>
            <a:off x="3291840" y="2103120"/>
            <a:ext cx="5577840" cy="914"/>
          </a:xfrm>
          <a:prstGeom prst="line">
            <a:avLst/>
          </a:prstGeom>
          <a:noFill/>
          <a:ln w="44450">
            <a:solidFill>
              <a:srgbClr val="1F3A5F"/>
            </a:solidFill>
            <a:prstDash val="solid"/>
            <a:headEnd type="triangle"/>
            <a:tailEnd type="triangle"/>
          </a:ln>
        </p:spPr>
      </p:sp>
      <p:sp>
        <p:nvSpPr>
          <p:cNvPr id="9" name="Text 6"/>
          <p:cNvSpPr txBox="1"/>
          <p:nvPr/>
        </p:nvSpPr>
        <p:spPr>
          <a:xfrm>
            <a:off x="3429000" y="1783080"/>
            <a:ext cx="5303520" cy="310896"/>
          </a:xfrm>
          <a:prstGeom prst="rect">
            <a:avLst/>
          </a:prstGeom>
          <a:solidFill>
            <a:srgbClr val="FFFFFF"/>
          </a:solidFill>
          <a:ln/>
        </p:spPr>
        <p:txBody>
          <a:bodyPr wrap="square" lIns="0" tIns="0" rIns="0" bIns="0" rtlCol="0" anchor="ctr"/>
          <a:lstStyle/>
          <a:p>
            <a:pPr algn="ctr" indent="0" marL="0">
              <a:buNone/>
            </a:pPr>
            <a:r>
              <a:rPr lang="en-US" sz="1200" b="1" dirty="0">
                <a:solidFill>
                  <a:srgbClr val="1F3A5F"/>
                </a:solidFill>
              </a:rPr>
              <a:t>control</a:t>
            </a:r>
            <a:r>
              <a:rPr lang="en-US" sz="1200" dirty="0">
                <a:solidFill>
                  <a:srgbClr val="1F3A5F"/>
                </a:solidFill>
              </a:rPr>
              <a:t> · port 21 · whole session · commands and replies</a:t>
            </a:r>
            <a:endParaRPr lang="en-US" sz="1200" dirty="0"/>
          </a:p>
        </p:txBody>
      </p:sp>
      <p:sp>
        <p:nvSpPr>
          <p:cNvPr id="10" name="Shape 7"/>
          <p:cNvSpPr/>
          <p:nvPr/>
        </p:nvSpPr>
        <p:spPr>
          <a:xfrm>
            <a:off x="3291840" y="3017520"/>
            <a:ext cx="5577840" cy="914"/>
          </a:xfrm>
          <a:prstGeom prst="line">
            <a:avLst/>
          </a:prstGeom>
          <a:noFill/>
          <a:ln w="25400">
            <a:solidFill>
              <a:srgbClr val="B9772A"/>
            </a:solidFill>
            <a:prstDash val="solid"/>
            <a:headEnd type="triangle"/>
            <a:tailEnd type="triangle"/>
          </a:ln>
        </p:spPr>
      </p:sp>
      <p:sp>
        <p:nvSpPr>
          <p:cNvPr id="11" name="Text 8"/>
          <p:cNvSpPr txBox="1"/>
          <p:nvPr/>
        </p:nvSpPr>
        <p:spPr>
          <a:xfrm>
            <a:off x="4892040" y="2697480"/>
            <a:ext cx="2377440" cy="310896"/>
          </a:xfrm>
          <a:prstGeom prst="rect">
            <a:avLst/>
          </a:prstGeom>
          <a:solidFill>
            <a:srgbClr val="FFFFFF"/>
          </a:solidFill>
          <a:ln/>
        </p:spPr>
        <p:txBody>
          <a:bodyPr wrap="square" lIns="0" tIns="0" rIns="0" bIns="0" rtlCol="0" anchor="ctr"/>
          <a:lstStyle/>
          <a:p>
            <a:pPr algn="ctr" indent="0" marL="0">
              <a:buNone/>
            </a:pPr>
            <a:r>
              <a:rPr lang="en-US" sz="1100" dirty="0">
                <a:solidFill>
                  <a:srgbClr val="B9772A"/>
                </a:solidFill>
              </a:rPr>
              <a:t>data #1: LIST</a:t>
            </a:r>
            <a:endParaRPr lang="en-US" sz="1100" dirty="0"/>
          </a:p>
        </p:txBody>
      </p:sp>
      <p:sp>
        <p:nvSpPr>
          <p:cNvPr id="12" name="Shape 9"/>
          <p:cNvSpPr/>
          <p:nvPr/>
        </p:nvSpPr>
        <p:spPr>
          <a:xfrm>
            <a:off x="3291840" y="3611880"/>
            <a:ext cx="5577840" cy="914"/>
          </a:xfrm>
          <a:prstGeom prst="line">
            <a:avLst/>
          </a:prstGeom>
          <a:noFill/>
          <a:ln w="25400">
            <a:solidFill>
              <a:srgbClr val="B9772A"/>
            </a:solidFill>
            <a:prstDash val="dash"/>
            <a:headEnd type="triangle"/>
            <a:tailEnd type="triangle"/>
          </a:ln>
        </p:spPr>
      </p:sp>
      <p:sp>
        <p:nvSpPr>
          <p:cNvPr id="13" name="Text 10"/>
          <p:cNvSpPr txBox="1"/>
          <p:nvPr/>
        </p:nvSpPr>
        <p:spPr>
          <a:xfrm>
            <a:off x="4892040" y="3291840"/>
            <a:ext cx="2377440" cy="310896"/>
          </a:xfrm>
          <a:prstGeom prst="rect">
            <a:avLst/>
          </a:prstGeom>
          <a:solidFill>
            <a:srgbClr val="FFFFFF"/>
          </a:solidFill>
          <a:ln/>
        </p:spPr>
        <p:txBody>
          <a:bodyPr wrap="square" lIns="0" tIns="0" rIns="0" bIns="0" rtlCol="0" anchor="ctr"/>
          <a:lstStyle/>
          <a:p>
            <a:pPr algn="ctr" indent="0" marL="0">
              <a:buNone/>
            </a:pPr>
            <a:r>
              <a:rPr lang="en-US" sz="1100" dirty="0">
                <a:solidFill>
                  <a:srgbClr val="B9772A"/>
                </a:solidFill>
              </a:rPr>
              <a:t>data #2: RETR a.pdf</a:t>
            </a:r>
            <a:endParaRPr lang="en-US" sz="1100" dirty="0"/>
          </a:p>
        </p:txBody>
      </p:sp>
      <p:sp>
        <p:nvSpPr>
          <p:cNvPr id="14" name="Shape 11"/>
          <p:cNvSpPr/>
          <p:nvPr/>
        </p:nvSpPr>
        <p:spPr>
          <a:xfrm>
            <a:off x="3291840" y="4206240"/>
            <a:ext cx="5577840" cy="914"/>
          </a:xfrm>
          <a:prstGeom prst="line">
            <a:avLst/>
          </a:prstGeom>
          <a:noFill/>
          <a:ln w="25400">
            <a:solidFill>
              <a:srgbClr val="B9772A"/>
            </a:solidFill>
            <a:prstDash val="dash"/>
            <a:headEnd type="triangle"/>
            <a:tailEnd type="triangle"/>
          </a:ln>
        </p:spPr>
      </p:sp>
      <p:sp>
        <p:nvSpPr>
          <p:cNvPr id="15" name="Text 12"/>
          <p:cNvSpPr txBox="1"/>
          <p:nvPr/>
        </p:nvSpPr>
        <p:spPr>
          <a:xfrm>
            <a:off x="4892040" y="3886200"/>
            <a:ext cx="2377440" cy="310896"/>
          </a:xfrm>
          <a:prstGeom prst="rect">
            <a:avLst/>
          </a:prstGeom>
          <a:solidFill>
            <a:srgbClr val="FFFFFF"/>
          </a:solidFill>
          <a:ln/>
        </p:spPr>
        <p:txBody>
          <a:bodyPr wrap="square" lIns="0" tIns="0" rIns="0" bIns="0" rtlCol="0" anchor="ctr"/>
          <a:lstStyle/>
          <a:p>
            <a:pPr algn="ctr" indent="0" marL="0">
              <a:buNone/>
            </a:pPr>
            <a:r>
              <a:rPr lang="en-US" sz="1100" dirty="0">
                <a:solidFill>
                  <a:srgbClr val="B9772A"/>
                </a:solidFill>
              </a:rPr>
              <a:t>data #3: RETR b.zip</a:t>
            </a:r>
            <a:endParaRPr lang="en-US" sz="1100" dirty="0"/>
          </a:p>
        </p:txBody>
      </p:sp>
      <p:sp>
        <p:nvSpPr>
          <p:cNvPr id="16" name="Shape 13"/>
          <p:cNvSpPr/>
          <p:nvPr/>
        </p:nvSpPr>
        <p:spPr>
          <a:xfrm>
            <a:off x="548640" y="5001768"/>
            <a:ext cx="384048" cy="384048"/>
          </a:xfrm>
          <a:prstGeom prst="ellipse">
            <a:avLst/>
          </a:prstGeom>
          <a:solidFill>
            <a:srgbClr val="B9772A"/>
          </a:solidFill>
          <a:ln w="12700">
            <a:solidFill>
              <a:srgbClr val="B9772A"/>
            </a:solidFill>
            <a:prstDash val="solid"/>
          </a:ln>
        </p:spPr>
      </p:sp>
      <p:sp>
        <p:nvSpPr>
          <p:cNvPr id="17" name="Text 14"/>
          <p:cNvSpPr txBox="1"/>
          <p:nvPr/>
        </p:nvSpPr>
        <p:spPr>
          <a:xfrm>
            <a:off x="548640" y="5001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8" name="Text 15"/>
          <p:cNvSpPr txBox="1"/>
          <p:nvPr/>
        </p:nvSpPr>
        <p:spPr>
          <a:xfrm>
            <a:off x="1051560" y="4983480"/>
            <a:ext cx="4983480" cy="6858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Control </a:t>
            </a:r>
            <a:r>
              <a:rPr lang="en-US" sz="1300" b="1" dirty="0">
                <a:solidFill>
                  <a:srgbClr val="1B2430"/>
                </a:solidFill>
              </a:rPr>
              <a:t>out of band</a:t>
            </a:r>
            <a:r>
              <a:rPr lang="en-US" sz="1300" dirty="0">
                <a:solidFill>
                  <a:srgbClr val="1B2430"/>
                </a:solidFill>
              </a:rPr>
              <a:t> — HTTP is in band.</a:t>
            </a:r>
            <a:endParaRPr lang="en-US" sz="1300" dirty="0"/>
          </a:p>
        </p:txBody>
      </p:sp>
      <p:sp>
        <p:nvSpPr>
          <p:cNvPr id="19" name="Shape 16"/>
          <p:cNvSpPr/>
          <p:nvPr/>
        </p:nvSpPr>
        <p:spPr>
          <a:xfrm>
            <a:off x="6217920" y="5001768"/>
            <a:ext cx="384048" cy="384048"/>
          </a:xfrm>
          <a:prstGeom prst="ellipse">
            <a:avLst/>
          </a:prstGeom>
          <a:solidFill>
            <a:srgbClr val="B9772A"/>
          </a:solidFill>
          <a:ln w="12700">
            <a:solidFill>
              <a:srgbClr val="B9772A"/>
            </a:solidFill>
            <a:prstDash val="solid"/>
          </a:ln>
        </p:spPr>
      </p:sp>
      <p:sp>
        <p:nvSpPr>
          <p:cNvPr id="20" name="Text 17"/>
          <p:cNvSpPr txBox="1"/>
          <p:nvPr/>
        </p:nvSpPr>
        <p:spPr>
          <a:xfrm>
            <a:off x="6217920" y="5001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1" name="Text 18"/>
          <p:cNvSpPr txBox="1"/>
          <p:nvPr/>
        </p:nvSpPr>
        <p:spPr>
          <a:xfrm>
            <a:off x="6720840" y="4983480"/>
            <a:ext cx="4892040" cy="6858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End of file = data connection </a:t>
            </a:r>
            <a:r>
              <a:rPr lang="en-US" sz="1300" b="1" dirty="0">
                <a:solidFill>
                  <a:srgbClr val="1B2430"/>
                </a:solidFill>
              </a:rPr>
              <a:t>closed</a:t>
            </a:r>
            <a:r>
              <a:rPr lang="en-US" sz="1300" dirty="0">
                <a:solidFill>
                  <a:srgbClr val="1B2430"/>
                </a:solidFill>
              </a:rPr>
              <a:t>.</a:t>
            </a:r>
            <a:endParaRPr lang="en-US" sz="1300" dirty="0"/>
          </a:p>
        </p:txBody>
      </p:sp>
      <p:sp>
        <p:nvSpPr>
          <p:cNvPr id="2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3" name="Text 2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Two kinds of TCP connection: one long control dialogue, one short data connection per transfer.</a:t>
            </a:r>
            <a:endParaRPr lang="en-US" sz="1400" dirty="0"/>
          </a:p>
        </p:txBody>
      </p:sp>
      <p:sp>
        <p:nvSpPr>
          <p:cNvPr id="24" name="Text 21"/>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HTTP (HyperText Transfer Protocol) · RETR (retrieve) · LIST (list a directory) · TCP (Transmission Control Protocol) · FTP (File Transfer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Active mode: the server connects back</a:t>
            </a:r>
            <a:endParaRPr lang="en-US" sz="3000" dirty="0"/>
          </a:p>
        </p:txBody>
      </p:sp>
      <p:sp>
        <p:nvSpPr>
          <p:cNvPr id="4" name="box"/>
          <p:cNvSpPr/>
          <p:nvPr/>
        </p:nvSpPr>
        <p:spPr>
          <a:xfrm>
            <a:off x="1371600" y="1325880"/>
            <a:ext cx="1645920" cy="384048"/>
          </a:xfrm>
          <a:prstGeom prst="roundRect">
            <a:avLst>
              <a:gd name="adj" fmla="val 19048"/>
            </a:avLst>
          </a:prstGeom>
          <a:solidFill>
            <a:srgbClr val="1F3A5F"/>
          </a:solidFill>
          <a:ln w="12700">
            <a:solidFill>
              <a:srgbClr val="1F3A5F"/>
            </a:solidFill>
            <a:prstDash val="solid"/>
          </a:ln>
        </p:spPr>
      </p:sp>
      <p:sp>
        <p:nvSpPr>
          <p:cNvPr id="5" name="Text 2"/>
          <p:cNvSpPr txBox="1"/>
          <p:nvPr/>
        </p:nvSpPr>
        <p:spPr>
          <a:xfrm>
            <a:off x="137160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client 10.0.0.5</a:t>
            </a:r>
            <a:endParaRPr lang="en-US" sz="1300" dirty="0"/>
          </a:p>
        </p:txBody>
      </p:sp>
      <p:sp>
        <p:nvSpPr>
          <p:cNvPr id="6" name="Shape 3"/>
          <p:cNvSpPr/>
          <p:nvPr/>
        </p:nvSpPr>
        <p:spPr>
          <a:xfrm>
            <a:off x="2194560" y="1783080"/>
            <a:ext cx="914" cy="2423160"/>
          </a:xfrm>
          <a:prstGeom prst="line">
            <a:avLst/>
          </a:prstGeom>
          <a:noFill/>
          <a:ln w="25400">
            <a:solidFill>
              <a:srgbClr val="1F3A5F"/>
            </a:solidFill>
            <a:prstDash val="solid"/>
          </a:ln>
        </p:spPr>
      </p:sp>
      <p:sp>
        <p:nvSpPr>
          <p:cNvPr id="7" name="box"/>
          <p:cNvSpPr/>
          <p:nvPr/>
        </p:nvSpPr>
        <p:spPr>
          <a:xfrm>
            <a:off x="8778240" y="1325880"/>
            <a:ext cx="1645920" cy="384048"/>
          </a:xfrm>
          <a:prstGeom prst="roundRect">
            <a:avLst>
              <a:gd name="adj" fmla="val 19048"/>
            </a:avLst>
          </a:prstGeom>
          <a:solidFill>
            <a:srgbClr val="2A7F8E"/>
          </a:solidFill>
          <a:ln w="12700">
            <a:solidFill>
              <a:srgbClr val="2A7F8E"/>
            </a:solidFill>
            <a:prstDash val="solid"/>
          </a:ln>
        </p:spPr>
      </p:sp>
      <p:sp>
        <p:nvSpPr>
          <p:cNvPr id="8" name="Text 5"/>
          <p:cNvSpPr txBox="1"/>
          <p:nvPr/>
        </p:nvSpPr>
        <p:spPr>
          <a:xfrm>
            <a:off x="877824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server</a:t>
            </a:r>
            <a:endParaRPr lang="en-US" sz="1300" dirty="0"/>
          </a:p>
        </p:txBody>
      </p:sp>
      <p:sp>
        <p:nvSpPr>
          <p:cNvPr id="9" name="Shape 6"/>
          <p:cNvSpPr/>
          <p:nvPr/>
        </p:nvSpPr>
        <p:spPr>
          <a:xfrm>
            <a:off x="9601200" y="1783080"/>
            <a:ext cx="914" cy="2423160"/>
          </a:xfrm>
          <a:prstGeom prst="line">
            <a:avLst/>
          </a:prstGeom>
          <a:noFill/>
          <a:ln w="25400">
            <a:solidFill>
              <a:srgbClr val="1F3A5F"/>
            </a:solidFill>
            <a:prstDash val="solid"/>
          </a:ln>
        </p:spPr>
      </p:sp>
      <p:sp>
        <p:nvSpPr>
          <p:cNvPr id="10" name="Shape 7"/>
          <p:cNvSpPr/>
          <p:nvPr/>
        </p:nvSpPr>
        <p:spPr>
          <a:xfrm>
            <a:off x="2194560" y="1920240"/>
            <a:ext cx="7406640" cy="274320"/>
          </a:xfrm>
          <a:prstGeom prst="line">
            <a:avLst/>
          </a:prstGeom>
          <a:noFill/>
          <a:ln w="25400">
            <a:solidFill>
              <a:srgbClr val="1F3A5F"/>
            </a:solidFill>
            <a:prstDash val="solid"/>
            <a:tailEnd type="triangle"/>
          </a:ln>
        </p:spPr>
      </p:sp>
      <p:sp>
        <p:nvSpPr>
          <p:cNvPr id="11" name="Text 8"/>
          <p:cNvSpPr txBox="1"/>
          <p:nvPr/>
        </p:nvSpPr>
        <p:spPr>
          <a:xfrm>
            <a:off x="3383280" y="1609344"/>
            <a:ext cx="50292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PORT 10,0,0,5,200,10   (control, :21)</a:t>
            </a:r>
            <a:endParaRPr lang="en-US" sz="1200" dirty="0"/>
          </a:p>
        </p:txBody>
      </p:sp>
      <p:sp>
        <p:nvSpPr>
          <p:cNvPr id="12" name="Shape 9"/>
          <p:cNvSpPr/>
          <p:nvPr/>
        </p:nvSpPr>
        <p:spPr>
          <a:xfrm flipH="1">
            <a:off x="2194560" y="2423160"/>
            <a:ext cx="7406640" cy="274320"/>
          </a:xfrm>
          <a:prstGeom prst="line">
            <a:avLst/>
          </a:prstGeom>
          <a:noFill/>
          <a:ln w="25400">
            <a:solidFill>
              <a:srgbClr val="2A7F8E"/>
            </a:solidFill>
            <a:prstDash val="solid"/>
            <a:tailEnd type="triangle"/>
          </a:ln>
        </p:spPr>
      </p:sp>
      <p:sp>
        <p:nvSpPr>
          <p:cNvPr id="13" name="Text 10"/>
          <p:cNvSpPr txBox="1"/>
          <p:nvPr/>
        </p:nvSpPr>
        <p:spPr>
          <a:xfrm>
            <a:off x="2377440" y="2112264"/>
            <a:ext cx="704088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2A7F8E"/>
                </a:solidFill>
              </a:rPr>
              <a:t>200 PORT command successful</a:t>
            </a:r>
            <a:endParaRPr lang="en-US" sz="1200" dirty="0"/>
          </a:p>
        </p:txBody>
      </p:sp>
      <p:sp>
        <p:nvSpPr>
          <p:cNvPr id="14" name="Shape 11"/>
          <p:cNvSpPr/>
          <p:nvPr/>
        </p:nvSpPr>
        <p:spPr>
          <a:xfrm>
            <a:off x="2194560" y="2926080"/>
            <a:ext cx="7406640" cy="274320"/>
          </a:xfrm>
          <a:prstGeom prst="line">
            <a:avLst/>
          </a:prstGeom>
          <a:noFill/>
          <a:ln w="25400">
            <a:solidFill>
              <a:srgbClr val="1F3A5F"/>
            </a:solidFill>
            <a:prstDash val="solid"/>
            <a:tailEnd type="triangle"/>
          </a:ln>
        </p:spPr>
      </p:sp>
      <p:sp>
        <p:nvSpPr>
          <p:cNvPr id="15" name="Text 12"/>
          <p:cNvSpPr txBox="1"/>
          <p:nvPr/>
        </p:nvSpPr>
        <p:spPr>
          <a:xfrm>
            <a:off x="2377440" y="2615184"/>
            <a:ext cx="704088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RETR lab4.zip</a:t>
            </a:r>
            <a:endParaRPr lang="en-US" sz="1200" dirty="0"/>
          </a:p>
        </p:txBody>
      </p:sp>
      <p:sp>
        <p:nvSpPr>
          <p:cNvPr id="16" name="Shape 13"/>
          <p:cNvSpPr/>
          <p:nvPr/>
        </p:nvSpPr>
        <p:spPr>
          <a:xfrm flipH="1">
            <a:off x="2194560" y="3474720"/>
            <a:ext cx="7406640" cy="274320"/>
          </a:xfrm>
          <a:prstGeom prst="line">
            <a:avLst/>
          </a:prstGeom>
          <a:noFill/>
          <a:ln w="38100">
            <a:solidFill>
              <a:srgbClr val="A23B3B"/>
            </a:solidFill>
            <a:prstDash val="solid"/>
            <a:tailEnd type="triangle"/>
          </a:ln>
        </p:spPr>
      </p:sp>
      <p:sp>
        <p:nvSpPr>
          <p:cNvPr id="17" name="Text 14"/>
          <p:cNvSpPr txBox="1"/>
          <p:nvPr/>
        </p:nvSpPr>
        <p:spPr>
          <a:xfrm>
            <a:off x="3611880" y="3163824"/>
            <a:ext cx="45720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A23B3B"/>
                </a:solidFill>
              </a:rPr>
              <a:t>SYN from port 20 → 10.0.0.5:51210</a:t>
            </a:r>
            <a:endParaRPr lang="en-US" sz="1200" dirty="0"/>
          </a:p>
        </p:txBody>
      </p:sp>
      <p:sp>
        <p:nvSpPr>
          <p:cNvPr id="18" name="Shape 15"/>
          <p:cNvSpPr/>
          <p:nvPr/>
        </p:nvSpPr>
        <p:spPr>
          <a:xfrm>
            <a:off x="3657600" y="3291840"/>
            <a:ext cx="914" cy="914400"/>
          </a:xfrm>
          <a:prstGeom prst="line">
            <a:avLst/>
          </a:prstGeom>
          <a:noFill/>
          <a:ln w="50800">
            <a:solidFill>
              <a:srgbClr val="A23B3B"/>
            </a:solidFill>
            <a:prstDash val="solid"/>
          </a:ln>
        </p:spPr>
      </p:sp>
      <p:sp>
        <p:nvSpPr>
          <p:cNvPr id="19" name="Text 16"/>
          <p:cNvSpPr txBox="1"/>
          <p:nvPr/>
        </p:nvSpPr>
        <p:spPr>
          <a:xfrm>
            <a:off x="2743200" y="4251960"/>
            <a:ext cx="2011680" cy="548640"/>
          </a:xfrm>
          <a:prstGeom prst="rect">
            <a:avLst/>
          </a:prstGeom>
          <a:noFill/>
          <a:ln/>
        </p:spPr>
        <p:txBody>
          <a:bodyPr wrap="square" lIns="0" tIns="0" rIns="0" bIns="0" rtlCol="0" anchor="t"/>
          <a:lstStyle/>
          <a:p>
            <a:pPr algn="ctr" indent="0" marL="0">
              <a:spcAft>
                <a:spcPts val="400"/>
              </a:spcAft>
              <a:buNone/>
            </a:pPr>
            <a:r>
              <a:rPr lang="en-US" sz="1100" dirty="0">
                <a:solidFill>
                  <a:srgbClr val="A23B3B"/>
                </a:solidFill>
              </a:rPr>
              <a:t>client’s firewall / NAT blocks it</a:t>
            </a:r>
            <a:endParaRPr lang="en-US" sz="1100" dirty="0"/>
          </a:p>
        </p:txBody>
      </p:sp>
      <p:sp>
        <p:nvSpPr>
          <p:cNvPr id="20" name="Shape 17"/>
          <p:cNvSpPr/>
          <p:nvPr/>
        </p:nvSpPr>
        <p:spPr>
          <a:xfrm>
            <a:off x="5852160" y="4453128"/>
            <a:ext cx="384048" cy="384048"/>
          </a:xfrm>
          <a:prstGeom prst="ellipse">
            <a:avLst/>
          </a:prstGeom>
          <a:solidFill>
            <a:srgbClr val="B9772A"/>
          </a:solidFill>
          <a:ln w="12700">
            <a:solidFill>
              <a:srgbClr val="B9772A"/>
            </a:solidFill>
            <a:prstDash val="solid"/>
          </a:ln>
        </p:spPr>
      </p:sp>
      <p:sp>
        <p:nvSpPr>
          <p:cNvPr id="21" name="Text 18"/>
          <p:cNvSpPr txBox="1"/>
          <p:nvPr/>
        </p:nvSpPr>
        <p:spPr>
          <a:xfrm>
            <a:off x="585216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2" name="Text 19"/>
          <p:cNvSpPr txBox="1"/>
          <p:nvPr/>
        </p:nvSpPr>
        <p:spPr>
          <a:xfrm>
            <a:off x="6355080" y="4434840"/>
            <a:ext cx="5257800" cy="118872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Port = 200 × 256 + 10 = </a:t>
            </a:r>
            <a:r>
              <a:rPr lang="en-US" sz="1200" b="1" dirty="0">
                <a:solidFill>
                  <a:srgbClr val="1B2430"/>
                </a:solidFill>
              </a:rPr>
              <a:t>51 210</a:t>
            </a:r>
            <a:r>
              <a:rPr lang="en-US" sz="1200" dirty="0">
                <a:solidFill>
                  <a:srgbClr val="1B2430"/>
                </a:solidFill>
              </a:rPr>
              <a:t>. A private address is unreachable from the Internet → </a:t>
            </a:r>
            <a:r>
              <a:rPr lang="en-US" sz="1200" b="1" dirty="0">
                <a:solidFill>
                  <a:srgbClr val="1B2430"/>
                </a:solidFill>
              </a:rPr>
              <a:t>425 Can’t open data connection</a:t>
            </a:r>
            <a:r>
              <a:rPr lang="en-US" sz="1200" dirty="0">
                <a:solidFill>
                  <a:srgbClr val="1B2430"/>
                </a:solidFill>
              </a:rPr>
              <a:t>.</a:t>
            </a:r>
            <a:endParaRPr lang="en-US" sz="1200" dirty="0"/>
          </a:p>
        </p:txBody>
      </p:sp>
      <p:sp>
        <p:nvSpPr>
          <p:cNvPr id="23"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4" name="Text 21"/>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Active mode needs an incoming connection to the client — exactly what firewalls and NAT forbid.</a:t>
            </a:r>
            <a:endParaRPr lang="en-US" sz="1400" dirty="0"/>
          </a:p>
        </p:txBody>
      </p:sp>
      <p:sp>
        <p:nvSpPr>
          <p:cNvPr id="25" name="Text 22"/>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RETR (retrieve) · SYN (synchronize) · NAT (network address translation)</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Passive mode: the client opens both connections</a:t>
            </a:r>
            <a:endParaRPr lang="en-US" sz="3000" dirty="0"/>
          </a:p>
        </p:txBody>
      </p:sp>
      <p:sp>
        <p:nvSpPr>
          <p:cNvPr id="4" name="box"/>
          <p:cNvSpPr/>
          <p:nvPr/>
        </p:nvSpPr>
        <p:spPr>
          <a:xfrm>
            <a:off x="1371600" y="1325880"/>
            <a:ext cx="1645920" cy="384048"/>
          </a:xfrm>
          <a:prstGeom prst="roundRect">
            <a:avLst>
              <a:gd name="adj" fmla="val 19048"/>
            </a:avLst>
          </a:prstGeom>
          <a:solidFill>
            <a:srgbClr val="1F3A5F"/>
          </a:solidFill>
          <a:ln w="12700">
            <a:solidFill>
              <a:srgbClr val="1F3A5F"/>
            </a:solidFill>
            <a:prstDash val="solid"/>
          </a:ln>
        </p:spPr>
      </p:sp>
      <p:sp>
        <p:nvSpPr>
          <p:cNvPr id="5" name="Text 2"/>
          <p:cNvSpPr txBox="1"/>
          <p:nvPr/>
        </p:nvSpPr>
        <p:spPr>
          <a:xfrm>
            <a:off x="137160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client</a:t>
            </a:r>
            <a:endParaRPr lang="en-US" sz="1300" dirty="0"/>
          </a:p>
        </p:txBody>
      </p:sp>
      <p:sp>
        <p:nvSpPr>
          <p:cNvPr id="6" name="Shape 3"/>
          <p:cNvSpPr/>
          <p:nvPr/>
        </p:nvSpPr>
        <p:spPr>
          <a:xfrm>
            <a:off x="2194560" y="1783080"/>
            <a:ext cx="914" cy="2743200"/>
          </a:xfrm>
          <a:prstGeom prst="line">
            <a:avLst/>
          </a:prstGeom>
          <a:noFill/>
          <a:ln w="25400">
            <a:solidFill>
              <a:srgbClr val="1F3A5F"/>
            </a:solidFill>
            <a:prstDash val="solid"/>
          </a:ln>
        </p:spPr>
      </p:sp>
      <p:sp>
        <p:nvSpPr>
          <p:cNvPr id="7" name="box"/>
          <p:cNvSpPr/>
          <p:nvPr/>
        </p:nvSpPr>
        <p:spPr>
          <a:xfrm>
            <a:off x="8778240" y="1325880"/>
            <a:ext cx="1645920" cy="384048"/>
          </a:xfrm>
          <a:prstGeom prst="roundRect">
            <a:avLst>
              <a:gd name="adj" fmla="val 19048"/>
            </a:avLst>
          </a:prstGeom>
          <a:solidFill>
            <a:srgbClr val="2A7F8E"/>
          </a:solidFill>
          <a:ln w="12700">
            <a:solidFill>
              <a:srgbClr val="2A7F8E"/>
            </a:solidFill>
            <a:prstDash val="solid"/>
          </a:ln>
        </p:spPr>
      </p:sp>
      <p:sp>
        <p:nvSpPr>
          <p:cNvPr id="8" name="Text 5"/>
          <p:cNvSpPr txBox="1"/>
          <p:nvPr/>
        </p:nvSpPr>
        <p:spPr>
          <a:xfrm>
            <a:off x="877824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server 198.51.100.20</a:t>
            </a:r>
            <a:endParaRPr lang="en-US" sz="1300" dirty="0"/>
          </a:p>
        </p:txBody>
      </p:sp>
      <p:sp>
        <p:nvSpPr>
          <p:cNvPr id="9" name="Shape 6"/>
          <p:cNvSpPr/>
          <p:nvPr/>
        </p:nvSpPr>
        <p:spPr>
          <a:xfrm>
            <a:off x="9601200" y="1783080"/>
            <a:ext cx="914" cy="2743200"/>
          </a:xfrm>
          <a:prstGeom prst="line">
            <a:avLst/>
          </a:prstGeom>
          <a:noFill/>
          <a:ln w="25400">
            <a:solidFill>
              <a:srgbClr val="1F3A5F"/>
            </a:solidFill>
            <a:prstDash val="solid"/>
          </a:ln>
        </p:spPr>
      </p:sp>
      <p:sp>
        <p:nvSpPr>
          <p:cNvPr id="10" name="Shape 7"/>
          <p:cNvSpPr/>
          <p:nvPr/>
        </p:nvSpPr>
        <p:spPr>
          <a:xfrm>
            <a:off x="2194560" y="1920240"/>
            <a:ext cx="7406640" cy="274320"/>
          </a:xfrm>
          <a:prstGeom prst="line">
            <a:avLst/>
          </a:prstGeom>
          <a:noFill/>
          <a:ln w="25400">
            <a:solidFill>
              <a:srgbClr val="1F3A5F"/>
            </a:solidFill>
            <a:prstDash val="solid"/>
            <a:tailEnd type="triangle"/>
          </a:ln>
        </p:spPr>
      </p:sp>
      <p:sp>
        <p:nvSpPr>
          <p:cNvPr id="11" name="Text 8"/>
          <p:cNvSpPr txBox="1"/>
          <p:nvPr/>
        </p:nvSpPr>
        <p:spPr>
          <a:xfrm>
            <a:off x="2377440" y="1609344"/>
            <a:ext cx="704088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PASV</a:t>
            </a:r>
            <a:endParaRPr lang="en-US" sz="1200" dirty="0"/>
          </a:p>
        </p:txBody>
      </p:sp>
      <p:sp>
        <p:nvSpPr>
          <p:cNvPr id="12" name="Shape 9"/>
          <p:cNvSpPr/>
          <p:nvPr/>
        </p:nvSpPr>
        <p:spPr>
          <a:xfrm flipH="1">
            <a:off x="2194560" y="2423160"/>
            <a:ext cx="7406640" cy="274320"/>
          </a:xfrm>
          <a:prstGeom prst="line">
            <a:avLst/>
          </a:prstGeom>
          <a:noFill/>
          <a:ln w="25400">
            <a:solidFill>
              <a:srgbClr val="2A7F8E"/>
            </a:solidFill>
            <a:prstDash val="solid"/>
            <a:tailEnd type="triangle"/>
          </a:ln>
        </p:spPr>
      </p:sp>
      <p:sp>
        <p:nvSpPr>
          <p:cNvPr id="13" name="Text 10"/>
          <p:cNvSpPr txBox="1"/>
          <p:nvPr/>
        </p:nvSpPr>
        <p:spPr>
          <a:xfrm>
            <a:off x="2926080" y="2112264"/>
            <a:ext cx="59436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2A7F8E"/>
                </a:solidFill>
              </a:rPr>
              <a:t>227 Entering Passive Mode (198,51,100,20,195,80)</a:t>
            </a:r>
            <a:endParaRPr lang="en-US" sz="1200" dirty="0"/>
          </a:p>
        </p:txBody>
      </p:sp>
      <p:sp>
        <p:nvSpPr>
          <p:cNvPr id="14" name="Shape 11"/>
          <p:cNvSpPr/>
          <p:nvPr/>
        </p:nvSpPr>
        <p:spPr>
          <a:xfrm>
            <a:off x="2194560" y="3017520"/>
            <a:ext cx="7406640" cy="274320"/>
          </a:xfrm>
          <a:prstGeom prst="line">
            <a:avLst/>
          </a:prstGeom>
          <a:noFill/>
          <a:ln w="38100">
            <a:solidFill>
              <a:srgbClr val="2E7D4F"/>
            </a:solidFill>
            <a:prstDash val="solid"/>
            <a:tailEnd type="triangle"/>
          </a:ln>
        </p:spPr>
      </p:sp>
      <p:sp>
        <p:nvSpPr>
          <p:cNvPr id="15" name="Text 12"/>
          <p:cNvSpPr txBox="1"/>
          <p:nvPr/>
        </p:nvSpPr>
        <p:spPr>
          <a:xfrm>
            <a:off x="3611880" y="2706624"/>
            <a:ext cx="45720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2E7D4F"/>
                </a:solidFill>
              </a:rPr>
              <a:t>SYN → 198.51.100.20:50000  (data)</a:t>
            </a:r>
            <a:endParaRPr lang="en-US" sz="1200" dirty="0"/>
          </a:p>
        </p:txBody>
      </p:sp>
      <p:sp>
        <p:nvSpPr>
          <p:cNvPr id="16" name="Shape 13"/>
          <p:cNvSpPr/>
          <p:nvPr/>
        </p:nvSpPr>
        <p:spPr>
          <a:xfrm>
            <a:off x="2194560" y="3611880"/>
            <a:ext cx="7406640" cy="274320"/>
          </a:xfrm>
          <a:prstGeom prst="line">
            <a:avLst/>
          </a:prstGeom>
          <a:noFill/>
          <a:ln w="25400">
            <a:solidFill>
              <a:srgbClr val="1F3A5F"/>
            </a:solidFill>
            <a:prstDash val="solid"/>
            <a:tailEnd type="triangle"/>
          </a:ln>
        </p:spPr>
      </p:sp>
      <p:sp>
        <p:nvSpPr>
          <p:cNvPr id="17" name="Text 14"/>
          <p:cNvSpPr txBox="1"/>
          <p:nvPr/>
        </p:nvSpPr>
        <p:spPr>
          <a:xfrm>
            <a:off x="2377440" y="3300984"/>
            <a:ext cx="704088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RETR lab4.zip  (control)</a:t>
            </a:r>
            <a:endParaRPr lang="en-US" sz="1200" dirty="0"/>
          </a:p>
        </p:txBody>
      </p:sp>
      <p:sp>
        <p:nvSpPr>
          <p:cNvPr id="18" name="Shape 15"/>
          <p:cNvSpPr/>
          <p:nvPr/>
        </p:nvSpPr>
        <p:spPr>
          <a:xfrm flipH="1">
            <a:off x="2194560" y="4160520"/>
            <a:ext cx="7406640" cy="274320"/>
          </a:xfrm>
          <a:prstGeom prst="line">
            <a:avLst/>
          </a:prstGeom>
          <a:noFill/>
          <a:ln w="25400">
            <a:solidFill>
              <a:srgbClr val="B9772A"/>
            </a:solidFill>
            <a:prstDash val="solid"/>
            <a:tailEnd type="triangle"/>
          </a:ln>
        </p:spPr>
      </p:sp>
      <p:sp>
        <p:nvSpPr>
          <p:cNvPr id="19" name="Text 16"/>
          <p:cNvSpPr txBox="1"/>
          <p:nvPr/>
        </p:nvSpPr>
        <p:spPr>
          <a:xfrm>
            <a:off x="2377440" y="3849624"/>
            <a:ext cx="704088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B9772A"/>
                </a:solidFill>
              </a:rPr>
              <a:t>file bytes, then close (data)</a:t>
            </a:r>
            <a:endParaRPr lang="en-US" sz="1200" dirty="0"/>
          </a:p>
        </p:txBody>
      </p:sp>
      <p:sp>
        <p:nvSpPr>
          <p:cNvPr id="20" name="Shape 17"/>
          <p:cNvSpPr/>
          <p:nvPr/>
        </p:nvSpPr>
        <p:spPr>
          <a:xfrm>
            <a:off x="548640" y="4773168"/>
            <a:ext cx="384048" cy="384048"/>
          </a:xfrm>
          <a:prstGeom prst="ellipse">
            <a:avLst/>
          </a:prstGeom>
          <a:solidFill>
            <a:srgbClr val="B9772A"/>
          </a:solidFill>
          <a:ln w="12700">
            <a:solidFill>
              <a:srgbClr val="B9772A"/>
            </a:solidFill>
            <a:prstDash val="solid"/>
          </a:ln>
        </p:spPr>
      </p:sp>
      <p:sp>
        <p:nvSpPr>
          <p:cNvPr id="21" name="Text 18"/>
          <p:cNvSpPr txBox="1"/>
          <p:nvPr/>
        </p:nvSpPr>
        <p:spPr>
          <a:xfrm>
            <a:off x="548640" y="4773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2" name="Text 19"/>
          <p:cNvSpPr txBox="1"/>
          <p:nvPr/>
        </p:nvSpPr>
        <p:spPr>
          <a:xfrm>
            <a:off x="1051560" y="4754880"/>
            <a:ext cx="4983480" cy="8686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195 × 256 + 80 = </a:t>
            </a:r>
            <a:r>
              <a:rPr lang="en-US" sz="1300" b="1" dirty="0">
                <a:solidFill>
                  <a:srgbClr val="1B2430"/>
                </a:solidFill>
              </a:rPr>
              <a:t>50 000</a:t>
            </a:r>
            <a:r>
              <a:rPr lang="en-US" sz="1300" dirty="0">
                <a:solidFill>
                  <a:srgbClr val="1B2430"/>
                </a:solidFill>
              </a:rPr>
              <a:t>.</a:t>
            </a:r>
            <a:endParaRPr lang="en-US" sz="1300" dirty="0"/>
          </a:p>
        </p:txBody>
      </p:sp>
      <p:sp>
        <p:nvSpPr>
          <p:cNvPr id="23" name="Shape 20"/>
          <p:cNvSpPr/>
          <p:nvPr/>
        </p:nvSpPr>
        <p:spPr>
          <a:xfrm>
            <a:off x="6217920" y="4773168"/>
            <a:ext cx="384048" cy="384048"/>
          </a:xfrm>
          <a:prstGeom prst="ellipse">
            <a:avLst/>
          </a:prstGeom>
          <a:solidFill>
            <a:srgbClr val="B9772A"/>
          </a:solidFill>
          <a:ln w="12700">
            <a:solidFill>
              <a:srgbClr val="B9772A"/>
            </a:solidFill>
            <a:prstDash val="solid"/>
          </a:ln>
        </p:spPr>
      </p:sp>
      <p:sp>
        <p:nvSpPr>
          <p:cNvPr id="24" name="Text 21"/>
          <p:cNvSpPr txBox="1"/>
          <p:nvPr/>
        </p:nvSpPr>
        <p:spPr>
          <a:xfrm>
            <a:off x="6217920" y="4773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5" name="Text 22"/>
          <p:cNvSpPr txBox="1"/>
          <p:nvPr/>
        </p:nvSpPr>
        <p:spPr>
          <a:xfrm>
            <a:off x="6720840" y="4754880"/>
            <a:ext cx="4892040" cy="8686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IPv6 and NAT-friendly: </a:t>
            </a:r>
            <a:r>
              <a:rPr lang="en-US" sz="1300" b="1" dirty="0">
                <a:solidFill>
                  <a:srgbClr val="1B2430"/>
                </a:solidFill>
              </a:rPr>
              <a:t>EPSV</a:t>
            </a:r>
            <a:r>
              <a:rPr lang="en-US" sz="1300" dirty="0">
                <a:solidFill>
                  <a:srgbClr val="1B2430"/>
                </a:solidFill>
              </a:rPr>
              <a:t> → </a:t>
            </a:r>
            <a:r>
              <a:rPr lang="en-US" sz="1300" dirty="0">
                <a:solidFill>
                  <a:srgbClr val="1B2430"/>
                </a:solidFill>
                <a:latin typeface="Consolas" pitchFamily="34" charset="0"/>
                <a:ea typeface="Consolas" pitchFamily="34" charset="-122"/>
                <a:cs typeface="Consolas" pitchFamily="34" charset="-120"/>
              </a:rPr>
              <a:t>229 (|||50000|)</a:t>
            </a:r>
            <a:r>
              <a:rPr lang="en-US" sz="1300" dirty="0">
                <a:solidFill>
                  <a:srgbClr val="1B2430"/>
                </a:solidFill>
              </a:rPr>
              <a:t>.</a:t>
            </a:r>
            <a:endParaRPr lang="en-US" sz="1300" dirty="0"/>
          </a:p>
        </p:txBody>
      </p:sp>
      <p:sp>
        <p:nvSpPr>
          <p:cNvPr id="2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7" name="Text 2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Passive mode solves the client side; a server behind NAT must announce its public address and a port range.</a:t>
            </a:r>
            <a:endParaRPr lang="en-US" sz="1400" dirty="0"/>
          </a:p>
        </p:txBody>
      </p:sp>
      <p:sp>
        <p:nvSpPr>
          <p:cNvPr id="28" name="Text 2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IPv6 (Internet Protocol version 6) · EPSV (extended passive) · RETR (retrieve) · SYN (synchronize) · NAT (network address translation)</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Decoding PORT and PASV</a:t>
            </a:r>
            <a:endParaRPr lang="en-US" sz="3000" dirty="0"/>
          </a:p>
        </p:txBody>
      </p:sp>
      <p:sp>
        <p:nvSpPr>
          <p:cNvPr id="4" name="Text 1"/>
          <p:cNvSpPr txBox="1"/>
          <p:nvPr/>
        </p:nvSpPr>
        <p:spPr>
          <a:xfrm>
            <a:off x="548640" y="1371600"/>
            <a:ext cx="1828800" cy="548640"/>
          </a:xfrm>
          <a:prstGeom prst="rect">
            <a:avLst/>
          </a:prstGeom>
          <a:noFill/>
          <a:ln/>
        </p:spPr>
        <p:txBody>
          <a:bodyPr wrap="square" lIns="0" tIns="0" rIns="0" bIns="0" rtlCol="0" anchor="t"/>
          <a:lstStyle/>
          <a:p>
            <a:pPr algn="l" indent="0" marL="0">
              <a:spcAft>
                <a:spcPts val="400"/>
              </a:spcAft>
              <a:buNone/>
            </a:pPr>
            <a:r>
              <a:rPr lang="en-US" sz="2600" b="1" dirty="0">
                <a:solidFill>
                  <a:srgbClr val="5B6770"/>
                </a:solidFill>
                <a:latin typeface="Consolas" pitchFamily="34" charset="0"/>
                <a:ea typeface="Consolas" pitchFamily="34" charset="-122"/>
                <a:cs typeface="Consolas" pitchFamily="34" charset="-120"/>
              </a:rPr>
              <a:t>PORT</a:t>
            </a:r>
            <a:endParaRPr lang="en-US" sz="2600" dirty="0"/>
          </a:p>
        </p:txBody>
      </p:sp>
      <p:sp>
        <p:nvSpPr>
          <p:cNvPr id="5" name="box"/>
          <p:cNvSpPr/>
          <p:nvPr/>
        </p:nvSpPr>
        <p:spPr>
          <a:xfrm>
            <a:off x="2377440" y="1325880"/>
            <a:ext cx="1325880" cy="685800"/>
          </a:xfrm>
          <a:prstGeom prst="roundRect">
            <a:avLst>
              <a:gd name="adj" fmla="val 10667"/>
            </a:avLst>
          </a:prstGeom>
          <a:solidFill>
            <a:srgbClr val="1F3A5F"/>
          </a:solidFill>
          <a:ln w="12700">
            <a:solidFill>
              <a:srgbClr val="1F3A5F"/>
            </a:solidFill>
            <a:prstDash val="solid"/>
          </a:ln>
        </p:spPr>
      </p:sp>
      <p:sp>
        <p:nvSpPr>
          <p:cNvPr id="6" name="Text 3"/>
          <p:cNvSpPr txBox="1"/>
          <p:nvPr/>
        </p:nvSpPr>
        <p:spPr>
          <a:xfrm>
            <a:off x="2377440" y="1325880"/>
            <a:ext cx="1325880" cy="68580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192</a:t>
            </a:r>
            <a:endParaRPr lang="en-US" sz="2200" dirty="0"/>
          </a:p>
        </p:txBody>
      </p:sp>
      <p:sp>
        <p:nvSpPr>
          <p:cNvPr id="7" name="box"/>
          <p:cNvSpPr/>
          <p:nvPr/>
        </p:nvSpPr>
        <p:spPr>
          <a:xfrm>
            <a:off x="3886200" y="1325880"/>
            <a:ext cx="1325880" cy="685800"/>
          </a:xfrm>
          <a:prstGeom prst="roundRect">
            <a:avLst>
              <a:gd name="adj" fmla="val 10667"/>
            </a:avLst>
          </a:prstGeom>
          <a:solidFill>
            <a:srgbClr val="1F3A5F"/>
          </a:solidFill>
          <a:ln w="12700">
            <a:solidFill>
              <a:srgbClr val="1F3A5F"/>
            </a:solidFill>
            <a:prstDash val="solid"/>
          </a:ln>
        </p:spPr>
      </p:sp>
      <p:sp>
        <p:nvSpPr>
          <p:cNvPr id="8" name="Text 5"/>
          <p:cNvSpPr txBox="1"/>
          <p:nvPr/>
        </p:nvSpPr>
        <p:spPr>
          <a:xfrm>
            <a:off x="3886200" y="1325880"/>
            <a:ext cx="1325880" cy="68580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168</a:t>
            </a:r>
            <a:endParaRPr lang="en-US" sz="2200" dirty="0"/>
          </a:p>
        </p:txBody>
      </p:sp>
      <p:sp>
        <p:nvSpPr>
          <p:cNvPr id="9" name="box"/>
          <p:cNvSpPr/>
          <p:nvPr/>
        </p:nvSpPr>
        <p:spPr>
          <a:xfrm>
            <a:off x="5394960" y="1325880"/>
            <a:ext cx="1325880" cy="685800"/>
          </a:xfrm>
          <a:prstGeom prst="roundRect">
            <a:avLst>
              <a:gd name="adj" fmla="val 10667"/>
            </a:avLst>
          </a:prstGeom>
          <a:solidFill>
            <a:srgbClr val="1F3A5F"/>
          </a:solidFill>
          <a:ln w="12700">
            <a:solidFill>
              <a:srgbClr val="1F3A5F"/>
            </a:solidFill>
            <a:prstDash val="solid"/>
          </a:ln>
        </p:spPr>
      </p:sp>
      <p:sp>
        <p:nvSpPr>
          <p:cNvPr id="10" name="Text 7"/>
          <p:cNvSpPr txBox="1"/>
          <p:nvPr/>
        </p:nvSpPr>
        <p:spPr>
          <a:xfrm>
            <a:off x="5394960" y="1325880"/>
            <a:ext cx="1325880" cy="68580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1</a:t>
            </a:r>
            <a:endParaRPr lang="en-US" sz="2200" dirty="0"/>
          </a:p>
        </p:txBody>
      </p:sp>
      <p:sp>
        <p:nvSpPr>
          <p:cNvPr id="11" name="box"/>
          <p:cNvSpPr/>
          <p:nvPr/>
        </p:nvSpPr>
        <p:spPr>
          <a:xfrm>
            <a:off x="6903720" y="1325880"/>
            <a:ext cx="1325880" cy="685800"/>
          </a:xfrm>
          <a:prstGeom prst="roundRect">
            <a:avLst>
              <a:gd name="adj" fmla="val 10667"/>
            </a:avLst>
          </a:prstGeom>
          <a:solidFill>
            <a:srgbClr val="1F3A5F"/>
          </a:solidFill>
          <a:ln w="12700">
            <a:solidFill>
              <a:srgbClr val="1F3A5F"/>
            </a:solidFill>
            <a:prstDash val="solid"/>
          </a:ln>
        </p:spPr>
      </p:sp>
      <p:sp>
        <p:nvSpPr>
          <p:cNvPr id="12" name="Text 9"/>
          <p:cNvSpPr txBox="1"/>
          <p:nvPr/>
        </p:nvSpPr>
        <p:spPr>
          <a:xfrm>
            <a:off x="6903720" y="1325880"/>
            <a:ext cx="1325880" cy="68580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20</a:t>
            </a:r>
            <a:endParaRPr lang="en-US" sz="2200" dirty="0"/>
          </a:p>
        </p:txBody>
      </p:sp>
      <p:sp>
        <p:nvSpPr>
          <p:cNvPr id="13" name="box"/>
          <p:cNvSpPr/>
          <p:nvPr/>
        </p:nvSpPr>
        <p:spPr>
          <a:xfrm>
            <a:off x="8412480" y="1325880"/>
            <a:ext cx="1325880" cy="685800"/>
          </a:xfrm>
          <a:prstGeom prst="roundRect">
            <a:avLst>
              <a:gd name="adj" fmla="val 10667"/>
            </a:avLst>
          </a:prstGeom>
          <a:solidFill>
            <a:srgbClr val="B9772A"/>
          </a:solidFill>
          <a:ln w="12700">
            <a:solidFill>
              <a:srgbClr val="B9772A"/>
            </a:solidFill>
            <a:prstDash val="solid"/>
          </a:ln>
        </p:spPr>
      </p:sp>
      <p:sp>
        <p:nvSpPr>
          <p:cNvPr id="14" name="Text 11"/>
          <p:cNvSpPr txBox="1"/>
          <p:nvPr/>
        </p:nvSpPr>
        <p:spPr>
          <a:xfrm>
            <a:off x="8412480" y="1325880"/>
            <a:ext cx="1325880" cy="68580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78</a:t>
            </a:r>
            <a:endParaRPr lang="en-US" sz="2200" dirty="0"/>
          </a:p>
        </p:txBody>
      </p:sp>
      <p:sp>
        <p:nvSpPr>
          <p:cNvPr id="15" name="box"/>
          <p:cNvSpPr/>
          <p:nvPr/>
        </p:nvSpPr>
        <p:spPr>
          <a:xfrm>
            <a:off x="9921240" y="1325880"/>
            <a:ext cx="1325880" cy="685800"/>
          </a:xfrm>
          <a:prstGeom prst="roundRect">
            <a:avLst>
              <a:gd name="adj" fmla="val 10667"/>
            </a:avLst>
          </a:prstGeom>
          <a:solidFill>
            <a:srgbClr val="B9772A"/>
          </a:solidFill>
          <a:ln w="12700">
            <a:solidFill>
              <a:srgbClr val="B9772A"/>
            </a:solidFill>
            <a:prstDash val="solid"/>
          </a:ln>
        </p:spPr>
      </p:sp>
      <p:sp>
        <p:nvSpPr>
          <p:cNvPr id="16" name="Text 13"/>
          <p:cNvSpPr txBox="1"/>
          <p:nvPr/>
        </p:nvSpPr>
        <p:spPr>
          <a:xfrm>
            <a:off x="9921240" y="1325880"/>
            <a:ext cx="1325880" cy="68580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52</a:t>
            </a:r>
            <a:endParaRPr lang="en-US" sz="2200" dirty="0"/>
          </a:p>
        </p:txBody>
      </p:sp>
      <p:sp>
        <p:nvSpPr>
          <p:cNvPr id="17" name="box"/>
          <p:cNvSpPr/>
          <p:nvPr/>
        </p:nvSpPr>
        <p:spPr>
          <a:xfrm>
            <a:off x="2377440" y="2240280"/>
            <a:ext cx="5897880" cy="685800"/>
          </a:xfrm>
          <a:prstGeom prst="roundRect">
            <a:avLst>
              <a:gd name="adj" fmla="val 10667"/>
            </a:avLst>
          </a:prstGeom>
          <a:solidFill>
            <a:srgbClr val="EEF2F6"/>
          </a:solidFill>
          <a:ln w="12700">
            <a:solidFill>
              <a:srgbClr val="EEF2F6"/>
            </a:solidFill>
            <a:prstDash val="solid"/>
          </a:ln>
        </p:spPr>
      </p:sp>
      <p:sp>
        <p:nvSpPr>
          <p:cNvPr id="18" name="Text 15"/>
          <p:cNvSpPr txBox="1"/>
          <p:nvPr/>
        </p:nvSpPr>
        <p:spPr>
          <a:xfrm>
            <a:off x="2377440" y="2240280"/>
            <a:ext cx="5897880" cy="685800"/>
          </a:xfrm>
          <a:prstGeom prst="rect">
            <a:avLst/>
          </a:prstGeom>
          <a:noFill/>
          <a:ln/>
        </p:spPr>
        <p:txBody>
          <a:bodyPr wrap="square" lIns="635" tIns="635" rIns="635" bIns="635" rtlCol="0" anchor="ctr"/>
          <a:lstStyle/>
          <a:p>
            <a:pPr algn="ctr" indent="0" marL="0">
              <a:buNone/>
            </a:pPr>
            <a:r>
              <a:rPr lang="en-US" sz="1600" dirty="0">
                <a:solidFill>
                  <a:srgbClr val="1B2430"/>
                </a:solidFill>
              </a:rPr>
              <a:t>address 192.168.1.20</a:t>
            </a:r>
            <a:endParaRPr lang="en-US" sz="1600" dirty="0"/>
          </a:p>
        </p:txBody>
      </p:sp>
      <p:sp>
        <p:nvSpPr>
          <p:cNvPr id="19" name="box"/>
          <p:cNvSpPr/>
          <p:nvPr/>
        </p:nvSpPr>
        <p:spPr>
          <a:xfrm>
            <a:off x="8412480" y="2240280"/>
            <a:ext cx="2834640" cy="685800"/>
          </a:xfrm>
          <a:prstGeom prst="roundRect">
            <a:avLst>
              <a:gd name="adj" fmla="val 10667"/>
            </a:avLst>
          </a:prstGeom>
          <a:solidFill>
            <a:srgbClr val="F3EAD7"/>
          </a:solidFill>
          <a:ln w="12700">
            <a:solidFill>
              <a:srgbClr val="F3EAD7"/>
            </a:solidFill>
            <a:prstDash val="solid"/>
          </a:ln>
        </p:spPr>
      </p:sp>
      <p:sp>
        <p:nvSpPr>
          <p:cNvPr id="20" name="Text 17"/>
          <p:cNvSpPr txBox="1"/>
          <p:nvPr/>
        </p:nvSpPr>
        <p:spPr>
          <a:xfrm>
            <a:off x="8412480" y="2240280"/>
            <a:ext cx="2834640" cy="685800"/>
          </a:xfrm>
          <a:prstGeom prst="rect">
            <a:avLst/>
          </a:prstGeom>
          <a:noFill/>
          <a:ln/>
        </p:spPr>
        <p:txBody>
          <a:bodyPr wrap="square" lIns="635" tIns="635" rIns="635" bIns="635" rtlCol="0" anchor="ctr"/>
          <a:lstStyle/>
          <a:p>
            <a:pPr algn="ctr" indent="0" marL="0">
              <a:buNone/>
            </a:pPr>
            <a:r>
              <a:rPr lang="en-US" sz="1600" dirty="0">
                <a:solidFill>
                  <a:srgbClr val="1B2430"/>
                </a:solidFill>
              </a:rPr>
              <a:t>78 × 256 + 52</a:t>
            </a:r>
            <a:endParaRPr lang="en-US" sz="1600" dirty="0"/>
          </a:p>
        </p:txBody>
      </p:sp>
      <p:sp>
        <p:nvSpPr>
          <p:cNvPr id="21" name="box"/>
          <p:cNvSpPr/>
          <p:nvPr/>
        </p:nvSpPr>
        <p:spPr>
          <a:xfrm>
            <a:off x="8412480" y="3063240"/>
            <a:ext cx="2834640" cy="685800"/>
          </a:xfrm>
          <a:prstGeom prst="roundRect">
            <a:avLst>
              <a:gd name="adj" fmla="val 10667"/>
            </a:avLst>
          </a:prstGeom>
          <a:solidFill>
            <a:srgbClr val="F3EAD7"/>
          </a:solidFill>
          <a:ln w="12700">
            <a:solidFill>
              <a:srgbClr val="F3EAD7"/>
            </a:solidFill>
            <a:prstDash val="solid"/>
          </a:ln>
        </p:spPr>
      </p:sp>
      <p:sp>
        <p:nvSpPr>
          <p:cNvPr id="22" name="Text 19"/>
          <p:cNvSpPr txBox="1"/>
          <p:nvPr/>
        </p:nvSpPr>
        <p:spPr>
          <a:xfrm>
            <a:off x="8412480" y="3063240"/>
            <a:ext cx="2834640" cy="685800"/>
          </a:xfrm>
          <a:prstGeom prst="rect">
            <a:avLst/>
          </a:prstGeom>
          <a:noFill/>
          <a:ln/>
        </p:spPr>
        <p:txBody>
          <a:bodyPr wrap="square" lIns="635" tIns="635" rIns="635" bIns="635" rtlCol="0" anchor="ctr"/>
          <a:lstStyle/>
          <a:p>
            <a:pPr algn="ctr" indent="0" marL="0">
              <a:buNone/>
            </a:pPr>
            <a:r>
              <a:rPr lang="en-US" sz="1800" dirty="0">
                <a:solidFill>
                  <a:srgbClr val="1B2430"/>
                </a:solidFill>
              </a:rPr>
              <a:t>= </a:t>
            </a:r>
            <a:r>
              <a:rPr lang="en-US" sz="1800" b="1" dirty="0">
                <a:solidFill>
                  <a:srgbClr val="1B2430"/>
                </a:solidFill>
              </a:rPr>
              <a:t>20 020</a:t>
            </a:r>
            <a:endParaRPr lang="en-US" sz="1800" dirty="0"/>
          </a:p>
        </p:txBody>
      </p:sp>
      <p:sp>
        <p:nvSpPr>
          <p:cNvPr id="23" name="box"/>
          <p:cNvSpPr/>
          <p:nvPr/>
        </p:nvSpPr>
        <p:spPr>
          <a:xfrm>
            <a:off x="548640" y="3931920"/>
            <a:ext cx="2788920" cy="411480"/>
          </a:xfrm>
          <a:prstGeom prst="rect">
            <a:avLst/>
          </a:prstGeom>
          <a:solidFill>
            <a:srgbClr val="1F3A5F"/>
          </a:solidFill>
          <a:ln w="12700">
            <a:solidFill>
              <a:srgbClr val="1F3A5F"/>
            </a:solidFill>
            <a:prstDash val="solid"/>
          </a:ln>
        </p:spPr>
      </p:sp>
      <p:sp>
        <p:nvSpPr>
          <p:cNvPr id="24" name="Text 21"/>
          <p:cNvSpPr txBox="1"/>
          <p:nvPr/>
        </p:nvSpPr>
        <p:spPr>
          <a:xfrm>
            <a:off x="548640" y="3931920"/>
            <a:ext cx="278892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Command</a:t>
            </a:r>
            <a:endParaRPr lang="en-US" sz="1300" dirty="0"/>
          </a:p>
        </p:txBody>
      </p:sp>
      <p:sp>
        <p:nvSpPr>
          <p:cNvPr id="25" name="box"/>
          <p:cNvSpPr/>
          <p:nvPr/>
        </p:nvSpPr>
        <p:spPr>
          <a:xfrm>
            <a:off x="3383280" y="3931920"/>
            <a:ext cx="8183880" cy="411480"/>
          </a:xfrm>
          <a:prstGeom prst="rect">
            <a:avLst/>
          </a:prstGeom>
          <a:solidFill>
            <a:srgbClr val="1F3A5F"/>
          </a:solidFill>
          <a:ln w="12700">
            <a:solidFill>
              <a:srgbClr val="1F3A5F"/>
            </a:solidFill>
            <a:prstDash val="solid"/>
          </a:ln>
        </p:spPr>
      </p:sp>
      <p:sp>
        <p:nvSpPr>
          <p:cNvPr id="26" name="Text 23"/>
          <p:cNvSpPr txBox="1"/>
          <p:nvPr/>
        </p:nvSpPr>
        <p:spPr>
          <a:xfrm>
            <a:off x="3383280" y="3931920"/>
            <a:ext cx="818388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Form</a:t>
            </a:r>
            <a:endParaRPr lang="en-US" sz="1300" dirty="0"/>
          </a:p>
        </p:txBody>
      </p:sp>
      <p:sp>
        <p:nvSpPr>
          <p:cNvPr id="27" name="box"/>
          <p:cNvSpPr/>
          <p:nvPr/>
        </p:nvSpPr>
        <p:spPr>
          <a:xfrm>
            <a:off x="548640" y="4389120"/>
            <a:ext cx="2788920" cy="384048"/>
          </a:xfrm>
          <a:prstGeom prst="rect">
            <a:avLst/>
          </a:prstGeom>
          <a:solidFill>
            <a:srgbClr val="EEF2F6"/>
          </a:solidFill>
          <a:ln w="12700">
            <a:solidFill>
              <a:srgbClr val="EEF2F6"/>
            </a:solidFill>
            <a:prstDash val="solid"/>
          </a:ln>
        </p:spPr>
      </p:sp>
      <p:sp>
        <p:nvSpPr>
          <p:cNvPr id="28" name="Text 25"/>
          <p:cNvSpPr txBox="1"/>
          <p:nvPr/>
        </p:nvSpPr>
        <p:spPr>
          <a:xfrm>
            <a:off x="548640" y="4389120"/>
            <a:ext cx="2788920" cy="384048"/>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PORT / PASV (227)</a:t>
            </a:r>
            <a:endParaRPr lang="en-US" sz="1300" dirty="0"/>
          </a:p>
        </p:txBody>
      </p:sp>
      <p:sp>
        <p:nvSpPr>
          <p:cNvPr id="29" name="box"/>
          <p:cNvSpPr/>
          <p:nvPr/>
        </p:nvSpPr>
        <p:spPr>
          <a:xfrm>
            <a:off x="3383280" y="4389120"/>
            <a:ext cx="8183880" cy="384048"/>
          </a:xfrm>
          <a:prstGeom prst="rect">
            <a:avLst/>
          </a:prstGeom>
          <a:solidFill>
            <a:srgbClr val="F7F9FB"/>
          </a:solidFill>
          <a:ln w="12700">
            <a:solidFill>
              <a:srgbClr val="F7F9FB"/>
            </a:solidFill>
            <a:prstDash val="solid"/>
          </a:ln>
        </p:spPr>
      </p:sp>
      <p:sp>
        <p:nvSpPr>
          <p:cNvPr id="30" name="Text 27"/>
          <p:cNvSpPr txBox="1"/>
          <p:nvPr/>
        </p:nvSpPr>
        <p:spPr>
          <a:xfrm>
            <a:off x="3383280" y="4389120"/>
            <a:ext cx="8183880" cy="384048"/>
          </a:xfrm>
          <a:prstGeom prst="rect">
            <a:avLst/>
          </a:prstGeom>
          <a:noFill/>
          <a:ln/>
        </p:spPr>
        <p:txBody>
          <a:bodyPr wrap="square" lIns="1270" tIns="1270" rIns="1270" bIns="1270" rtlCol="0" anchor="ctr"/>
          <a:lstStyle/>
          <a:p>
            <a:pPr algn="l" indent="0" marL="0">
              <a:buNone/>
            </a:pPr>
            <a:r>
              <a:rPr lang="en-US" sz="1300" dirty="0">
                <a:solidFill>
                  <a:srgbClr val="1B2430"/>
                </a:solidFill>
              </a:rPr>
              <a:t>h1,h2,h3,h4,p1,p2 — IPv4 only</a:t>
            </a:r>
            <a:endParaRPr lang="en-US" sz="1300" dirty="0"/>
          </a:p>
        </p:txBody>
      </p:sp>
      <p:sp>
        <p:nvSpPr>
          <p:cNvPr id="31" name="box"/>
          <p:cNvSpPr/>
          <p:nvPr/>
        </p:nvSpPr>
        <p:spPr>
          <a:xfrm>
            <a:off x="548640" y="4818888"/>
            <a:ext cx="2788920" cy="384048"/>
          </a:xfrm>
          <a:prstGeom prst="rect">
            <a:avLst/>
          </a:prstGeom>
          <a:solidFill>
            <a:srgbClr val="EEF2F6"/>
          </a:solidFill>
          <a:ln w="12700">
            <a:solidFill>
              <a:srgbClr val="EEF2F6"/>
            </a:solidFill>
            <a:prstDash val="solid"/>
          </a:ln>
        </p:spPr>
      </p:sp>
      <p:sp>
        <p:nvSpPr>
          <p:cNvPr id="32" name="Text 29"/>
          <p:cNvSpPr txBox="1"/>
          <p:nvPr/>
        </p:nvSpPr>
        <p:spPr>
          <a:xfrm>
            <a:off x="548640" y="4818888"/>
            <a:ext cx="2788920" cy="384048"/>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EPRT</a:t>
            </a:r>
            <a:endParaRPr lang="en-US" sz="1300" dirty="0"/>
          </a:p>
        </p:txBody>
      </p:sp>
      <p:sp>
        <p:nvSpPr>
          <p:cNvPr id="33" name="box"/>
          <p:cNvSpPr/>
          <p:nvPr/>
        </p:nvSpPr>
        <p:spPr>
          <a:xfrm>
            <a:off x="3383280" y="4818888"/>
            <a:ext cx="8183880" cy="384048"/>
          </a:xfrm>
          <a:prstGeom prst="rect">
            <a:avLst/>
          </a:prstGeom>
          <a:solidFill>
            <a:srgbClr val="F7F9FB"/>
          </a:solidFill>
          <a:ln w="12700">
            <a:solidFill>
              <a:srgbClr val="F7F9FB"/>
            </a:solidFill>
            <a:prstDash val="solid"/>
          </a:ln>
        </p:spPr>
      </p:sp>
      <p:sp>
        <p:nvSpPr>
          <p:cNvPr id="34" name="Text 31"/>
          <p:cNvSpPr txBox="1"/>
          <p:nvPr/>
        </p:nvSpPr>
        <p:spPr>
          <a:xfrm>
            <a:off x="3383280" y="4818888"/>
            <a:ext cx="8183880" cy="384048"/>
          </a:xfrm>
          <a:prstGeom prst="rect">
            <a:avLst/>
          </a:prstGeom>
          <a:noFill/>
          <a:ln/>
        </p:spPr>
        <p:txBody>
          <a:bodyPr wrap="square" lIns="1270" tIns="1270" rIns="1270" bIns="1270" rtlCol="0" anchor="ctr"/>
          <a:lstStyle/>
          <a:p>
            <a:pPr algn="l" indent="0" marL="0">
              <a:buNone/>
            </a:pPr>
            <a:r>
              <a:rPr lang="en-US" sz="1300" dirty="0">
                <a:solidFill>
                  <a:srgbClr val="1B2430"/>
                </a:solidFill>
              </a:rPr>
              <a:t>|2|2001:db8::5|51001| — family, address, port</a:t>
            </a:r>
            <a:endParaRPr lang="en-US" sz="1300" dirty="0"/>
          </a:p>
        </p:txBody>
      </p:sp>
      <p:sp>
        <p:nvSpPr>
          <p:cNvPr id="35" name="box"/>
          <p:cNvSpPr/>
          <p:nvPr/>
        </p:nvSpPr>
        <p:spPr>
          <a:xfrm>
            <a:off x="548640" y="5248656"/>
            <a:ext cx="2788920" cy="384048"/>
          </a:xfrm>
          <a:prstGeom prst="rect">
            <a:avLst/>
          </a:prstGeom>
          <a:solidFill>
            <a:srgbClr val="EEF2F6"/>
          </a:solidFill>
          <a:ln w="12700">
            <a:solidFill>
              <a:srgbClr val="EEF2F6"/>
            </a:solidFill>
            <a:prstDash val="solid"/>
          </a:ln>
        </p:spPr>
      </p:sp>
      <p:sp>
        <p:nvSpPr>
          <p:cNvPr id="36" name="Text 33"/>
          <p:cNvSpPr txBox="1"/>
          <p:nvPr/>
        </p:nvSpPr>
        <p:spPr>
          <a:xfrm>
            <a:off x="548640" y="5248656"/>
            <a:ext cx="2788920" cy="384048"/>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EPSV (229)</a:t>
            </a:r>
            <a:endParaRPr lang="en-US" sz="1300" dirty="0"/>
          </a:p>
        </p:txBody>
      </p:sp>
      <p:sp>
        <p:nvSpPr>
          <p:cNvPr id="37" name="box"/>
          <p:cNvSpPr/>
          <p:nvPr/>
        </p:nvSpPr>
        <p:spPr>
          <a:xfrm>
            <a:off x="3383280" y="5248656"/>
            <a:ext cx="8183880" cy="384048"/>
          </a:xfrm>
          <a:prstGeom prst="rect">
            <a:avLst/>
          </a:prstGeom>
          <a:solidFill>
            <a:srgbClr val="F7F9FB"/>
          </a:solidFill>
          <a:ln w="12700">
            <a:solidFill>
              <a:srgbClr val="F7F9FB"/>
            </a:solidFill>
            <a:prstDash val="solid"/>
          </a:ln>
        </p:spPr>
      </p:sp>
      <p:sp>
        <p:nvSpPr>
          <p:cNvPr id="38" name="Text 35"/>
          <p:cNvSpPr txBox="1"/>
          <p:nvPr/>
        </p:nvSpPr>
        <p:spPr>
          <a:xfrm>
            <a:off x="3383280" y="5248656"/>
            <a:ext cx="8183880" cy="384048"/>
          </a:xfrm>
          <a:prstGeom prst="rect">
            <a:avLst/>
          </a:prstGeom>
          <a:noFill/>
          <a:ln/>
        </p:spPr>
        <p:txBody>
          <a:bodyPr wrap="square" lIns="1270" tIns="1270" rIns="1270" bIns="1270" rtlCol="0" anchor="ctr"/>
          <a:lstStyle/>
          <a:p>
            <a:pPr algn="l" indent="0" marL="0">
              <a:buNone/>
            </a:pPr>
            <a:r>
              <a:rPr lang="en-US" sz="1300" dirty="0">
                <a:solidFill>
                  <a:srgbClr val="1B2430"/>
                </a:solidFill>
              </a:rPr>
              <a:t>(|||50123|) — port only: the address is the control connection’s</a:t>
            </a:r>
            <a:endParaRPr lang="en-US" sz="1300" dirty="0"/>
          </a:p>
        </p:txBody>
      </p:sp>
      <p:sp>
        <p:nvSpPr>
          <p:cNvPr id="39"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40" name="Text 37"/>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port = p1 × 256 + p2 — the address inside the message is what breaks behind NAT.</a:t>
            </a:r>
            <a:endParaRPr lang="en-US" sz="1400" dirty="0"/>
          </a:p>
        </p:txBody>
      </p:sp>
      <p:sp>
        <p:nvSpPr>
          <p:cNvPr id="41" name="Text 38"/>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IPv4 (Internet Protocol version 4) · PASV (passive) · EPSV (extended passive) · EPRT (extended port) · NAT (network address translation)</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Commands and three-digit replies</a:t>
            </a:r>
            <a:endParaRPr lang="en-US" sz="3000" dirty="0"/>
          </a:p>
        </p:txBody>
      </p:sp>
      <p:sp>
        <p:nvSpPr>
          <p:cNvPr id="4" name="box"/>
          <p:cNvSpPr/>
          <p:nvPr/>
        </p:nvSpPr>
        <p:spPr>
          <a:xfrm>
            <a:off x="548640" y="1280160"/>
            <a:ext cx="2148840" cy="411480"/>
          </a:xfrm>
          <a:prstGeom prst="rect">
            <a:avLst/>
          </a:prstGeom>
          <a:solidFill>
            <a:srgbClr val="1F3A5F"/>
          </a:solidFill>
          <a:ln w="12700">
            <a:solidFill>
              <a:srgbClr val="1F3A5F"/>
            </a:solidFill>
            <a:prstDash val="solid"/>
          </a:ln>
        </p:spPr>
      </p:sp>
      <p:sp>
        <p:nvSpPr>
          <p:cNvPr id="5" name="Text 2"/>
          <p:cNvSpPr txBox="1"/>
          <p:nvPr/>
        </p:nvSpPr>
        <p:spPr>
          <a:xfrm>
            <a:off x="548640" y="1280160"/>
            <a:ext cx="21488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Group</a:t>
            </a:r>
            <a:endParaRPr lang="en-US" sz="1300" dirty="0"/>
          </a:p>
        </p:txBody>
      </p:sp>
      <p:sp>
        <p:nvSpPr>
          <p:cNvPr id="6" name="box"/>
          <p:cNvSpPr/>
          <p:nvPr/>
        </p:nvSpPr>
        <p:spPr>
          <a:xfrm>
            <a:off x="2743200" y="1280160"/>
            <a:ext cx="3611880" cy="411480"/>
          </a:xfrm>
          <a:prstGeom prst="rect">
            <a:avLst/>
          </a:prstGeom>
          <a:solidFill>
            <a:srgbClr val="1F3A5F"/>
          </a:solidFill>
          <a:ln w="12700">
            <a:solidFill>
              <a:srgbClr val="1F3A5F"/>
            </a:solidFill>
            <a:prstDash val="solid"/>
          </a:ln>
        </p:spPr>
      </p:sp>
      <p:sp>
        <p:nvSpPr>
          <p:cNvPr id="7" name="Text 4"/>
          <p:cNvSpPr txBox="1"/>
          <p:nvPr/>
        </p:nvSpPr>
        <p:spPr>
          <a:xfrm>
            <a:off x="2743200" y="1280160"/>
            <a:ext cx="361188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Commands</a:t>
            </a:r>
            <a:endParaRPr lang="en-US" sz="1300" dirty="0"/>
          </a:p>
        </p:txBody>
      </p:sp>
      <p:sp>
        <p:nvSpPr>
          <p:cNvPr id="8" name="box"/>
          <p:cNvSpPr/>
          <p:nvPr/>
        </p:nvSpPr>
        <p:spPr>
          <a:xfrm>
            <a:off x="548640" y="1737360"/>
            <a:ext cx="2148840" cy="457200"/>
          </a:xfrm>
          <a:prstGeom prst="rect">
            <a:avLst/>
          </a:prstGeom>
          <a:solidFill>
            <a:srgbClr val="EEF2F6"/>
          </a:solidFill>
          <a:ln w="12700">
            <a:solidFill>
              <a:srgbClr val="EEF2F6"/>
            </a:solidFill>
            <a:prstDash val="solid"/>
          </a:ln>
        </p:spPr>
      </p:sp>
      <p:sp>
        <p:nvSpPr>
          <p:cNvPr id="9" name="Text 6"/>
          <p:cNvSpPr txBox="1"/>
          <p:nvPr/>
        </p:nvSpPr>
        <p:spPr>
          <a:xfrm>
            <a:off x="548640" y="1737360"/>
            <a:ext cx="2148840" cy="457200"/>
          </a:xfrm>
          <a:prstGeom prst="rect">
            <a:avLst/>
          </a:prstGeom>
          <a:noFill/>
          <a:ln/>
        </p:spPr>
        <p:txBody>
          <a:bodyPr wrap="square" lIns="1270" tIns="1270" rIns="1270" bIns="1270" rtlCol="0" anchor="ctr"/>
          <a:lstStyle/>
          <a:p>
            <a:pPr algn="ctr" indent="0" marL="0">
              <a:buNone/>
            </a:pPr>
            <a:r>
              <a:rPr lang="en-US" sz="1200" dirty="0">
                <a:solidFill>
                  <a:srgbClr val="1B2430"/>
                </a:solidFill>
              </a:rPr>
              <a:t>Access</a:t>
            </a:r>
            <a:endParaRPr lang="en-US" sz="1200" dirty="0"/>
          </a:p>
        </p:txBody>
      </p:sp>
      <p:sp>
        <p:nvSpPr>
          <p:cNvPr id="10" name="box"/>
          <p:cNvSpPr/>
          <p:nvPr/>
        </p:nvSpPr>
        <p:spPr>
          <a:xfrm>
            <a:off x="2743200" y="1737360"/>
            <a:ext cx="3611880" cy="457200"/>
          </a:xfrm>
          <a:prstGeom prst="rect">
            <a:avLst/>
          </a:prstGeom>
          <a:solidFill>
            <a:srgbClr val="F7F9FB"/>
          </a:solidFill>
          <a:ln w="12700">
            <a:solidFill>
              <a:srgbClr val="F7F9FB"/>
            </a:solidFill>
            <a:prstDash val="solid"/>
          </a:ln>
        </p:spPr>
      </p:sp>
      <p:sp>
        <p:nvSpPr>
          <p:cNvPr id="11" name="Text 8"/>
          <p:cNvSpPr txBox="1"/>
          <p:nvPr/>
        </p:nvSpPr>
        <p:spPr>
          <a:xfrm>
            <a:off x="2743200" y="1737360"/>
            <a:ext cx="361188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USER PASS QUIT</a:t>
            </a:r>
            <a:endParaRPr lang="en-US" sz="1200" dirty="0"/>
          </a:p>
        </p:txBody>
      </p:sp>
      <p:sp>
        <p:nvSpPr>
          <p:cNvPr id="12" name="box"/>
          <p:cNvSpPr/>
          <p:nvPr/>
        </p:nvSpPr>
        <p:spPr>
          <a:xfrm>
            <a:off x="548640" y="2240280"/>
            <a:ext cx="2148840" cy="457200"/>
          </a:xfrm>
          <a:prstGeom prst="rect">
            <a:avLst/>
          </a:prstGeom>
          <a:solidFill>
            <a:srgbClr val="EEF2F6"/>
          </a:solidFill>
          <a:ln w="12700">
            <a:solidFill>
              <a:srgbClr val="EEF2F6"/>
            </a:solidFill>
            <a:prstDash val="solid"/>
          </a:ln>
        </p:spPr>
      </p:sp>
      <p:sp>
        <p:nvSpPr>
          <p:cNvPr id="13" name="Text 10"/>
          <p:cNvSpPr txBox="1"/>
          <p:nvPr/>
        </p:nvSpPr>
        <p:spPr>
          <a:xfrm>
            <a:off x="548640" y="2240280"/>
            <a:ext cx="2148840" cy="457200"/>
          </a:xfrm>
          <a:prstGeom prst="rect">
            <a:avLst/>
          </a:prstGeom>
          <a:noFill/>
          <a:ln/>
        </p:spPr>
        <p:txBody>
          <a:bodyPr wrap="square" lIns="1270" tIns="1270" rIns="1270" bIns="1270" rtlCol="0" anchor="ctr"/>
          <a:lstStyle/>
          <a:p>
            <a:pPr algn="ctr" indent="0" marL="0">
              <a:buNone/>
            </a:pPr>
            <a:r>
              <a:rPr lang="en-US" sz="1200" dirty="0">
                <a:solidFill>
                  <a:srgbClr val="1B2430"/>
                </a:solidFill>
              </a:rPr>
              <a:t>Navigation</a:t>
            </a:r>
            <a:endParaRPr lang="en-US" sz="1200" dirty="0"/>
          </a:p>
        </p:txBody>
      </p:sp>
      <p:sp>
        <p:nvSpPr>
          <p:cNvPr id="14" name="box"/>
          <p:cNvSpPr/>
          <p:nvPr/>
        </p:nvSpPr>
        <p:spPr>
          <a:xfrm>
            <a:off x="2743200" y="2240280"/>
            <a:ext cx="3611880" cy="457200"/>
          </a:xfrm>
          <a:prstGeom prst="rect">
            <a:avLst/>
          </a:prstGeom>
          <a:solidFill>
            <a:srgbClr val="F7F9FB"/>
          </a:solidFill>
          <a:ln w="12700">
            <a:solidFill>
              <a:srgbClr val="F7F9FB"/>
            </a:solidFill>
            <a:prstDash val="solid"/>
          </a:ln>
        </p:spPr>
      </p:sp>
      <p:sp>
        <p:nvSpPr>
          <p:cNvPr id="15" name="Text 12"/>
          <p:cNvSpPr txBox="1"/>
          <p:nvPr/>
        </p:nvSpPr>
        <p:spPr>
          <a:xfrm>
            <a:off x="2743200" y="2240280"/>
            <a:ext cx="361188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PWD CWD LIST NLST MLSD</a:t>
            </a:r>
            <a:endParaRPr lang="en-US" sz="1200" dirty="0"/>
          </a:p>
        </p:txBody>
      </p:sp>
      <p:sp>
        <p:nvSpPr>
          <p:cNvPr id="16" name="box"/>
          <p:cNvSpPr/>
          <p:nvPr/>
        </p:nvSpPr>
        <p:spPr>
          <a:xfrm>
            <a:off x="548640" y="2743200"/>
            <a:ext cx="2148840" cy="457200"/>
          </a:xfrm>
          <a:prstGeom prst="rect">
            <a:avLst/>
          </a:prstGeom>
          <a:solidFill>
            <a:srgbClr val="EEF2F6"/>
          </a:solidFill>
          <a:ln w="12700">
            <a:solidFill>
              <a:srgbClr val="EEF2F6"/>
            </a:solidFill>
            <a:prstDash val="solid"/>
          </a:ln>
        </p:spPr>
      </p:sp>
      <p:sp>
        <p:nvSpPr>
          <p:cNvPr id="17" name="Text 14"/>
          <p:cNvSpPr txBox="1"/>
          <p:nvPr/>
        </p:nvSpPr>
        <p:spPr>
          <a:xfrm>
            <a:off x="548640" y="2743200"/>
            <a:ext cx="2148840" cy="457200"/>
          </a:xfrm>
          <a:prstGeom prst="rect">
            <a:avLst/>
          </a:prstGeom>
          <a:noFill/>
          <a:ln/>
        </p:spPr>
        <p:txBody>
          <a:bodyPr wrap="square" lIns="1270" tIns="1270" rIns="1270" bIns="1270" rtlCol="0" anchor="ctr"/>
          <a:lstStyle/>
          <a:p>
            <a:pPr algn="ctr" indent="0" marL="0">
              <a:buNone/>
            </a:pPr>
            <a:r>
              <a:rPr lang="en-US" sz="1200" dirty="0">
                <a:solidFill>
                  <a:srgbClr val="1B2430"/>
                </a:solidFill>
              </a:rPr>
              <a:t>Transfer</a:t>
            </a:r>
            <a:endParaRPr lang="en-US" sz="1200" dirty="0"/>
          </a:p>
        </p:txBody>
      </p:sp>
      <p:sp>
        <p:nvSpPr>
          <p:cNvPr id="18" name="box"/>
          <p:cNvSpPr/>
          <p:nvPr/>
        </p:nvSpPr>
        <p:spPr>
          <a:xfrm>
            <a:off x="2743200" y="2743200"/>
            <a:ext cx="3611880" cy="457200"/>
          </a:xfrm>
          <a:prstGeom prst="rect">
            <a:avLst/>
          </a:prstGeom>
          <a:solidFill>
            <a:srgbClr val="F7F9FB"/>
          </a:solidFill>
          <a:ln w="12700">
            <a:solidFill>
              <a:srgbClr val="F7F9FB"/>
            </a:solidFill>
            <a:prstDash val="solid"/>
          </a:ln>
        </p:spPr>
      </p:sp>
      <p:sp>
        <p:nvSpPr>
          <p:cNvPr id="19" name="Text 16"/>
          <p:cNvSpPr txBox="1"/>
          <p:nvPr/>
        </p:nvSpPr>
        <p:spPr>
          <a:xfrm>
            <a:off x="2743200" y="2743200"/>
            <a:ext cx="361188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RETR STOR APPE REST ABOR</a:t>
            </a:r>
            <a:endParaRPr lang="en-US" sz="1200" dirty="0"/>
          </a:p>
        </p:txBody>
      </p:sp>
      <p:sp>
        <p:nvSpPr>
          <p:cNvPr id="20" name="box"/>
          <p:cNvSpPr/>
          <p:nvPr/>
        </p:nvSpPr>
        <p:spPr>
          <a:xfrm>
            <a:off x="548640" y="3246120"/>
            <a:ext cx="2148840" cy="457200"/>
          </a:xfrm>
          <a:prstGeom prst="rect">
            <a:avLst/>
          </a:prstGeom>
          <a:solidFill>
            <a:srgbClr val="EEF2F6"/>
          </a:solidFill>
          <a:ln w="12700">
            <a:solidFill>
              <a:srgbClr val="EEF2F6"/>
            </a:solidFill>
            <a:prstDash val="solid"/>
          </a:ln>
        </p:spPr>
      </p:sp>
      <p:sp>
        <p:nvSpPr>
          <p:cNvPr id="21" name="Text 18"/>
          <p:cNvSpPr txBox="1"/>
          <p:nvPr/>
        </p:nvSpPr>
        <p:spPr>
          <a:xfrm>
            <a:off x="548640" y="3246120"/>
            <a:ext cx="2148840" cy="457200"/>
          </a:xfrm>
          <a:prstGeom prst="rect">
            <a:avLst/>
          </a:prstGeom>
          <a:noFill/>
          <a:ln/>
        </p:spPr>
        <p:txBody>
          <a:bodyPr wrap="square" lIns="1270" tIns="1270" rIns="1270" bIns="1270" rtlCol="0" anchor="ctr"/>
          <a:lstStyle/>
          <a:p>
            <a:pPr algn="ctr" indent="0" marL="0">
              <a:buNone/>
            </a:pPr>
            <a:r>
              <a:rPr lang="en-US" sz="1200" dirty="0">
                <a:solidFill>
                  <a:srgbClr val="1B2430"/>
                </a:solidFill>
              </a:rPr>
              <a:t>Files</a:t>
            </a:r>
            <a:endParaRPr lang="en-US" sz="1200" dirty="0"/>
          </a:p>
        </p:txBody>
      </p:sp>
      <p:sp>
        <p:nvSpPr>
          <p:cNvPr id="22" name="box"/>
          <p:cNvSpPr/>
          <p:nvPr/>
        </p:nvSpPr>
        <p:spPr>
          <a:xfrm>
            <a:off x="2743200" y="3246120"/>
            <a:ext cx="3611880" cy="457200"/>
          </a:xfrm>
          <a:prstGeom prst="rect">
            <a:avLst/>
          </a:prstGeom>
          <a:solidFill>
            <a:srgbClr val="F7F9FB"/>
          </a:solidFill>
          <a:ln w="12700">
            <a:solidFill>
              <a:srgbClr val="F7F9FB"/>
            </a:solidFill>
            <a:prstDash val="solid"/>
          </a:ln>
        </p:spPr>
      </p:sp>
      <p:sp>
        <p:nvSpPr>
          <p:cNvPr id="23" name="Text 20"/>
          <p:cNvSpPr txBox="1"/>
          <p:nvPr/>
        </p:nvSpPr>
        <p:spPr>
          <a:xfrm>
            <a:off x="2743200" y="3246120"/>
            <a:ext cx="361188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DELE RNFR RNTO MKD RMD SIZE</a:t>
            </a:r>
            <a:endParaRPr lang="en-US" sz="1200" dirty="0"/>
          </a:p>
        </p:txBody>
      </p:sp>
      <p:sp>
        <p:nvSpPr>
          <p:cNvPr id="24" name="box"/>
          <p:cNvSpPr/>
          <p:nvPr/>
        </p:nvSpPr>
        <p:spPr>
          <a:xfrm>
            <a:off x="548640" y="3749040"/>
            <a:ext cx="2148840" cy="457200"/>
          </a:xfrm>
          <a:prstGeom prst="rect">
            <a:avLst/>
          </a:prstGeom>
          <a:solidFill>
            <a:srgbClr val="EEF2F6"/>
          </a:solidFill>
          <a:ln w="12700">
            <a:solidFill>
              <a:srgbClr val="EEF2F6"/>
            </a:solidFill>
            <a:prstDash val="solid"/>
          </a:ln>
        </p:spPr>
      </p:sp>
      <p:sp>
        <p:nvSpPr>
          <p:cNvPr id="25" name="Text 22"/>
          <p:cNvSpPr txBox="1"/>
          <p:nvPr/>
        </p:nvSpPr>
        <p:spPr>
          <a:xfrm>
            <a:off x="548640" y="3749040"/>
            <a:ext cx="2148840" cy="457200"/>
          </a:xfrm>
          <a:prstGeom prst="rect">
            <a:avLst/>
          </a:prstGeom>
          <a:noFill/>
          <a:ln/>
        </p:spPr>
        <p:txBody>
          <a:bodyPr wrap="square" lIns="1270" tIns="1270" rIns="1270" bIns="1270" rtlCol="0" anchor="ctr"/>
          <a:lstStyle/>
          <a:p>
            <a:pPr algn="ctr" indent="0" marL="0">
              <a:buNone/>
            </a:pPr>
            <a:r>
              <a:rPr lang="en-US" sz="1200" dirty="0">
                <a:solidFill>
                  <a:srgbClr val="1B2430"/>
                </a:solidFill>
              </a:rPr>
              <a:t>Parameters</a:t>
            </a:r>
            <a:endParaRPr lang="en-US" sz="1200" dirty="0"/>
          </a:p>
        </p:txBody>
      </p:sp>
      <p:sp>
        <p:nvSpPr>
          <p:cNvPr id="26" name="box"/>
          <p:cNvSpPr/>
          <p:nvPr/>
        </p:nvSpPr>
        <p:spPr>
          <a:xfrm>
            <a:off x="2743200" y="3749040"/>
            <a:ext cx="3611880" cy="457200"/>
          </a:xfrm>
          <a:prstGeom prst="rect">
            <a:avLst/>
          </a:prstGeom>
          <a:solidFill>
            <a:srgbClr val="F7F9FB"/>
          </a:solidFill>
          <a:ln w="12700">
            <a:solidFill>
              <a:srgbClr val="F7F9FB"/>
            </a:solidFill>
            <a:prstDash val="solid"/>
          </a:ln>
        </p:spPr>
      </p:sp>
      <p:sp>
        <p:nvSpPr>
          <p:cNvPr id="27" name="Text 24"/>
          <p:cNvSpPr txBox="1"/>
          <p:nvPr/>
        </p:nvSpPr>
        <p:spPr>
          <a:xfrm>
            <a:off x="2743200" y="3749040"/>
            <a:ext cx="361188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TYPE STRU MODE PORT PASV EPSV</a:t>
            </a:r>
            <a:endParaRPr lang="en-US" sz="1200" dirty="0"/>
          </a:p>
        </p:txBody>
      </p:sp>
      <p:sp>
        <p:nvSpPr>
          <p:cNvPr id="28" name="box"/>
          <p:cNvSpPr/>
          <p:nvPr/>
        </p:nvSpPr>
        <p:spPr>
          <a:xfrm>
            <a:off x="548640" y="4251960"/>
            <a:ext cx="2148840" cy="457200"/>
          </a:xfrm>
          <a:prstGeom prst="rect">
            <a:avLst/>
          </a:prstGeom>
          <a:solidFill>
            <a:srgbClr val="EEF2F6"/>
          </a:solidFill>
          <a:ln w="12700">
            <a:solidFill>
              <a:srgbClr val="EEF2F6"/>
            </a:solidFill>
            <a:prstDash val="solid"/>
          </a:ln>
        </p:spPr>
      </p:sp>
      <p:sp>
        <p:nvSpPr>
          <p:cNvPr id="29" name="Text 26"/>
          <p:cNvSpPr txBox="1"/>
          <p:nvPr/>
        </p:nvSpPr>
        <p:spPr>
          <a:xfrm>
            <a:off x="548640" y="4251960"/>
            <a:ext cx="2148840" cy="457200"/>
          </a:xfrm>
          <a:prstGeom prst="rect">
            <a:avLst/>
          </a:prstGeom>
          <a:noFill/>
          <a:ln/>
        </p:spPr>
        <p:txBody>
          <a:bodyPr wrap="square" lIns="1270" tIns="1270" rIns="1270" bIns="1270" rtlCol="0" anchor="ctr"/>
          <a:lstStyle/>
          <a:p>
            <a:pPr algn="ctr" indent="0" marL="0">
              <a:buNone/>
            </a:pPr>
            <a:r>
              <a:rPr lang="en-US" sz="1200" dirty="0">
                <a:solidFill>
                  <a:srgbClr val="1B2430"/>
                </a:solidFill>
              </a:rPr>
              <a:t>Information</a:t>
            </a:r>
            <a:endParaRPr lang="en-US" sz="1200" dirty="0"/>
          </a:p>
        </p:txBody>
      </p:sp>
      <p:sp>
        <p:nvSpPr>
          <p:cNvPr id="30" name="box"/>
          <p:cNvSpPr/>
          <p:nvPr/>
        </p:nvSpPr>
        <p:spPr>
          <a:xfrm>
            <a:off x="2743200" y="4251960"/>
            <a:ext cx="3611880" cy="457200"/>
          </a:xfrm>
          <a:prstGeom prst="rect">
            <a:avLst/>
          </a:prstGeom>
          <a:solidFill>
            <a:srgbClr val="F7F9FB"/>
          </a:solidFill>
          <a:ln w="12700">
            <a:solidFill>
              <a:srgbClr val="F7F9FB"/>
            </a:solidFill>
            <a:prstDash val="solid"/>
          </a:ln>
        </p:spPr>
      </p:sp>
      <p:sp>
        <p:nvSpPr>
          <p:cNvPr id="31" name="Text 28"/>
          <p:cNvSpPr txBox="1"/>
          <p:nvPr/>
        </p:nvSpPr>
        <p:spPr>
          <a:xfrm>
            <a:off x="2743200" y="4251960"/>
            <a:ext cx="361188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SYST FEAT HELP NOOP</a:t>
            </a:r>
            <a:endParaRPr lang="en-US" sz="1200" dirty="0"/>
          </a:p>
        </p:txBody>
      </p:sp>
      <p:sp>
        <p:nvSpPr>
          <p:cNvPr id="32" name="box"/>
          <p:cNvSpPr/>
          <p:nvPr/>
        </p:nvSpPr>
        <p:spPr>
          <a:xfrm>
            <a:off x="6675120" y="1280160"/>
            <a:ext cx="1005840" cy="566928"/>
          </a:xfrm>
          <a:prstGeom prst="roundRect">
            <a:avLst>
              <a:gd name="adj" fmla="val 12903"/>
            </a:avLst>
          </a:prstGeom>
          <a:solidFill>
            <a:srgbClr val="2A7F8E"/>
          </a:solidFill>
          <a:ln w="12700">
            <a:solidFill>
              <a:srgbClr val="2A7F8E"/>
            </a:solidFill>
            <a:prstDash val="solid"/>
          </a:ln>
        </p:spPr>
      </p:sp>
      <p:sp>
        <p:nvSpPr>
          <p:cNvPr id="33" name="Text 30"/>
          <p:cNvSpPr txBox="1"/>
          <p:nvPr/>
        </p:nvSpPr>
        <p:spPr>
          <a:xfrm>
            <a:off x="6675120" y="1280160"/>
            <a:ext cx="1005840" cy="566928"/>
          </a:xfrm>
          <a:prstGeom prst="rect">
            <a:avLst/>
          </a:prstGeom>
          <a:noFill/>
          <a:ln/>
        </p:spPr>
        <p:txBody>
          <a:bodyPr wrap="square" lIns="635" tIns="635" rIns="635" bIns="635"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1yz</a:t>
            </a:r>
            <a:endParaRPr lang="en-US" sz="1400" dirty="0"/>
          </a:p>
        </p:txBody>
      </p:sp>
      <p:sp>
        <p:nvSpPr>
          <p:cNvPr id="34" name="Text 31"/>
          <p:cNvSpPr txBox="1"/>
          <p:nvPr/>
        </p:nvSpPr>
        <p:spPr>
          <a:xfrm>
            <a:off x="7818120" y="1298448"/>
            <a:ext cx="2194560" cy="5486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started — wait for more</a:t>
            </a:r>
            <a:endParaRPr lang="en-US" sz="1200" dirty="0"/>
          </a:p>
        </p:txBody>
      </p:sp>
      <p:sp>
        <p:nvSpPr>
          <p:cNvPr id="35" name="box"/>
          <p:cNvSpPr/>
          <p:nvPr/>
        </p:nvSpPr>
        <p:spPr>
          <a:xfrm>
            <a:off x="9966960" y="1280160"/>
            <a:ext cx="1645920" cy="566928"/>
          </a:xfrm>
          <a:prstGeom prst="roundRect">
            <a:avLst>
              <a:gd name="adj" fmla="val 12903"/>
            </a:avLst>
          </a:prstGeom>
          <a:solidFill>
            <a:srgbClr val="EEF2F6"/>
          </a:solidFill>
          <a:ln w="12700">
            <a:solidFill>
              <a:srgbClr val="EEF2F6"/>
            </a:solidFill>
            <a:prstDash val="solid"/>
          </a:ln>
        </p:spPr>
      </p:sp>
      <p:sp>
        <p:nvSpPr>
          <p:cNvPr id="36" name="Text 33"/>
          <p:cNvSpPr txBox="1"/>
          <p:nvPr/>
        </p:nvSpPr>
        <p:spPr>
          <a:xfrm>
            <a:off x="9966960" y="1280160"/>
            <a:ext cx="1645920" cy="566928"/>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150</a:t>
            </a:r>
            <a:endParaRPr lang="en-US" sz="1100" dirty="0"/>
          </a:p>
        </p:txBody>
      </p:sp>
      <p:sp>
        <p:nvSpPr>
          <p:cNvPr id="37" name="box"/>
          <p:cNvSpPr/>
          <p:nvPr/>
        </p:nvSpPr>
        <p:spPr>
          <a:xfrm>
            <a:off x="6675120" y="1965960"/>
            <a:ext cx="1005840" cy="566928"/>
          </a:xfrm>
          <a:prstGeom prst="roundRect">
            <a:avLst>
              <a:gd name="adj" fmla="val 12903"/>
            </a:avLst>
          </a:prstGeom>
          <a:solidFill>
            <a:srgbClr val="2E7D4F"/>
          </a:solidFill>
          <a:ln w="12700">
            <a:solidFill>
              <a:srgbClr val="2E7D4F"/>
            </a:solidFill>
            <a:prstDash val="solid"/>
          </a:ln>
        </p:spPr>
      </p:sp>
      <p:sp>
        <p:nvSpPr>
          <p:cNvPr id="38" name="Text 35"/>
          <p:cNvSpPr txBox="1"/>
          <p:nvPr/>
        </p:nvSpPr>
        <p:spPr>
          <a:xfrm>
            <a:off x="6675120" y="1965960"/>
            <a:ext cx="1005840" cy="566928"/>
          </a:xfrm>
          <a:prstGeom prst="rect">
            <a:avLst/>
          </a:prstGeom>
          <a:noFill/>
          <a:ln/>
        </p:spPr>
        <p:txBody>
          <a:bodyPr wrap="square" lIns="635" tIns="635" rIns="635" bIns="635"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2yz</a:t>
            </a:r>
            <a:endParaRPr lang="en-US" sz="1400" dirty="0"/>
          </a:p>
        </p:txBody>
      </p:sp>
      <p:sp>
        <p:nvSpPr>
          <p:cNvPr id="39" name="Text 36"/>
          <p:cNvSpPr txBox="1"/>
          <p:nvPr/>
        </p:nvSpPr>
        <p:spPr>
          <a:xfrm>
            <a:off x="7818120" y="1984248"/>
            <a:ext cx="2194560" cy="5486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completed</a:t>
            </a:r>
            <a:endParaRPr lang="en-US" sz="1200" dirty="0"/>
          </a:p>
        </p:txBody>
      </p:sp>
      <p:sp>
        <p:nvSpPr>
          <p:cNvPr id="40" name="box"/>
          <p:cNvSpPr/>
          <p:nvPr/>
        </p:nvSpPr>
        <p:spPr>
          <a:xfrm>
            <a:off x="9966960" y="1965960"/>
            <a:ext cx="1645920" cy="566928"/>
          </a:xfrm>
          <a:prstGeom prst="roundRect">
            <a:avLst>
              <a:gd name="adj" fmla="val 12903"/>
            </a:avLst>
          </a:prstGeom>
          <a:solidFill>
            <a:srgbClr val="EEF2F6"/>
          </a:solidFill>
          <a:ln w="12700">
            <a:solidFill>
              <a:srgbClr val="EEF2F6"/>
            </a:solidFill>
            <a:prstDash val="solid"/>
          </a:ln>
        </p:spPr>
      </p:sp>
      <p:sp>
        <p:nvSpPr>
          <p:cNvPr id="41" name="Text 38"/>
          <p:cNvSpPr txBox="1"/>
          <p:nvPr/>
        </p:nvSpPr>
        <p:spPr>
          <a:xfrm>
            <a:off x="9966960" y="1965960"/>
            <a:ext cx="1645920" cy="566928"/>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200 220 226 230</a:t>
            </a:r>
            <a:endParaRPr lang="en-US" sz="1100" dirty="0"/>
          </a:p>
        </p:txBody>
      </p:sp>
      <p:sp>
        <p:nvSpPr>
          <p:cNvPr id="42" name="box"/>
          <p:cNvSpPr/>
          <p:nvPr/>
        </p:nvSpPr>
        <p:spPr>
          <a:xfrm>
            <a:off x="6675120" y="2651760"/>
            <a:ext cx="1005840" cy="566928"/>
          </a:xfrm>
          <a:prstGeom prst="roundRect">
            <a:avLst>
              <a:gd name="adj" fmla="val 12903"/>
            </a:avLst>
          </a:prstGeom>
          <a:solidFill>
            <a:srgbClr val="B9772A"/>
          </a:solidFill>
          <a:ln w="12700">
            <a:solidFill>
              <a:srgbClr val="B9772A"/>
            </a:solidFill>
            <a:prstDash val="solid"/>
          </a:ln>
        </p:spPr>
      </p:sp>
      <p:sp>
        <p:nvSpPr>
          <p:cNvPr id="43" name="Text 40"/>
          <p:cNvSpPr txBox="1"/>
          <p:nvPr/>
        </p:nvSpPr>
        <p:spPr>
          <a:xfrm>
            <a:off x="6675120" y="2651760"/>
            <a:ext cx="1005840" cy="566928"/>
          </a:xfrm>
          <a:prstGeom prst="rect">
            <a:avLst/>
          </a:prstGeom>
          <a:noFill/>
          <a:ln/>
        </p:spPr>
        <p:txBody>
          <a:bodyPr wrap="square" lIns="635" tIns="635" rIns="635" bIns="635"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3yz</a:t>
            </a:r>
            <a:endParaRPr lang="en-US" sz="1400" dirty="0"/>
          </a:p>
        </p:txBody>
      </p:sp>
      <p:sp>
        <p:nvSpPr>
          <p:cNvPr id="44" name="Text 41"/>
          <p:cNvSpPr txBox="1"/>
          <p:nvPr/>
        </p:nvSpPr>
        <p:spPr>
          <a:xfrm>
            <a:off x="7818120" y="2670048"/>
            <a:ext cx="2194560" cy="5486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send more</a:t>
            </a:r>
            <a:endParaRPr lang="en-US" sz="1200" dirty="0"/>
          </a:p>
        </p:txBody>
      </p:sp>
      <p:sp>
        <p:nvSpPr>
          <p:cNvPr id="45" name="box"/>
          <p:cNvSpPr/>
          <p:nvPr/>
        </p:nvSpPr>
        <p:spPr>
          <a:xfrm>
            <a:off x="9966960" y="2651760"/>
            <a:ext cx="1645920" cy="566928"/>
          </a:xfrm>
          <a:prstGeom prst="roundRect">
            <a:avLst>
              <a:gd name="adj" fmla="val 12903"/>
            </a:avLst>
          </a:prstGeom>
          <a:solidFill>
            <a:srgbClr val="EEF2F6"/>
          </a:solidFill>
          <a:ln w="12700">
            <a:solidFill>
              <a:srgbClr val="EEF2F6"/>
            </a:solidFill>
            <a:prstDash val="solid"/>
          </a:ln>
        </p:spPr>
      </p:sp>
      <p:sp>
        <p:nvSpPr>
          <p:cNvPr id="46" name="Text 43"/>
          <p:cNvSpPr txBox="1"/>
          <p:nvPr/>
        </p:nvSpPr>
        <p:spPr>
          <a:xfrm>
            <a:off x="9966960" y="2651760"/>
            <a:ext cx="1645920" cy="566928"/>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331 350</a:t>
            </a:r>
            <a:endParaRPr lang="en-US" sz="1100" dirty="0"/>
          </a:p>
        </p:txBody>
      </p:sp>
      <p:sp>
        <p:nvSpPr>
          <p:cNvPr id="47" name="box"/>
          <p:cNvSpPr/>
          <p:nvPr/>
        </p:nvSpPr>
        <p:spPr>
          <a:xfrm>
            <a:off x="6675120" y="3337560"/>
            <a:ext cx="1005840" cy="566928"/>
          </a:xfrm>
          <a:prstGeom prst="roundRect">
            <a:avLst>
              <a:gd name="adj" fmla="val 12903"/>
            </a:avLst>
          </a:prstGeom>
          <a:solidFill>
            <a:srgbClr val="C9762B"/>
          </a:solidFill>
          <a:ln w="12700">
            <a:solidFill>
              <a:srgbClr val="C9762B"/>
            </a:solidFill>
            <a:prstDash val="solid"/>
          </a:ln>
        </p:spPr>
      </p:sp>
      <p:sp>
        <p:nvSpPr>
          <p:cNvPr id="48" name="Text 45"/>
          <p:cNvSpPr txBox="1"/>
          <p:nvPr/>
        </p:nvSpPr>
        <p:spPr>
          <a:xfrm>
            <a:off x="6675120" y="3337560"/>
            <a:ext cx="1005840" cy="566928"/>
          </a:xfrm>
          <a:prstGeom prst="rect">
            <a:avLst/>
          </a:prstGeom>
          <a:noFill/>
          <a:ln/>
        </p:spPr>
        <p:txBody>
          <a:bodyPr wrap="square" lIns="635" tIns="635" rIns="635" bIns="635"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4yz</a:t>
            </a:r>
            <a:endParaRPr lang="en-US" sz="1400" dirty="0"/>
          </a:p>
        </p:txBody>
      </p:sp>
      <p:sp>
        <p:nvSpPr>
          <p:cNvPr id="49" name="Text 46"/>
          <p:cNvSpPr txBox="1"/>
          <p:nvPr/>
        </p:nvSpPr>
        <p:spPr>
          <a:xfrm>
            <a:off x="7818120" y="3355848"/>
            <a:ext cx="2194560" cy="5486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transient failure</a:t>
            </a:r>
            <a:endParaRPr lang="en-US" sz="1200" dirty="0"/>
          </a:p>
        </p:txBody>
      </p:sp>
      <p:sp>
        <p:nvSpPr>
          <p:cNvPr id="50" name="box"/>
          <p:cNvSpPr/>
          <p:nvPr/>
        </p:nvSpPr>
        <p:spPr>
          <a:xfrm>
            <a:off x="9966960" y="3337560"/>
            <a:ext cx="1645920" cy="566928"/>
          </a:xfrm>
          <a:prstGeom prst="roundRect">
            <a:avLst>
              <a:gd name="adj" fmla="val 12903"/>
            </a:avLst>
          </a:prstGeom>
          <a:solidFill>
            <a:srgbClr val="EEF2F6"/>
          </a:solidFill>
          <a:ln w="12700">
            <a:solidFill>
              <a:srgbClr val="EEF2F6"/>
            </a:solidFill>
            <a:prstDash val="solid"/>
          </a:ln>
        </p:spPr>
      </p:sp>
      <p:sp>
        <p:nvSpPr>
          <p:cNvPr id="51" name="Text 48"/>
          <p:cNvSpPr txBox="1"/>
          <p:nvPr/>
        </p:nvSpPr>
        <p:spPr>
          <a:xfrm>
            <a:off x="9966960" y="3337560"/>
            <a:ext cx="1645920" cy="566928"/>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421 425 450</a:t>
            </a:r>
            <a:endParaRPr lang="en-US" sz="1100" dirty="0"/>
          </a:p>
        </p:txBody>
      </p:sp>
      <p:sp>
        <p:nvSpPr>
          <p:cNvPr id="52" name="box"/>
          <p:cNvSpPr/>
          <p:nvPr/>
        </p:nvSpPr>
        <p:spPr>
          <a:xfrm>
            <a:off x="6675120" y="4023360"/>
            <a:ext cx="1005840" cy="566928"/>
          </a:xfrm>
          <a:prstGeom prst="roundRect">
            <a:avLst>
              <a:gd name="adj" fmla="val 12903"/>
            </a:avLst>
          </a:prstGeom>
          <a:solidFill>
            <a:srgbClr val="A23B3B"/>
          </a:solidFill>
          <a:ln w="12700">
            <a:solidFill>
              <a:srgbClr val="A23B3B"/>
            </a:solidFill>
            <a:prstDash val="solid"/>
          </a:ln>
        </p:spPr>
      </p:sp>
      <p:sp>
        <p:nvSpPr>
          <p:cNvPr id="53" name="Text 50"/>
          <p:cNvSpPr txBox="1"/>
          <p:nvPr/>
        </p:nvSpPr>
        <p:spPr>
          <a:xfrm>
            <a:off x="6675120" y="4023360"/>
            <a:ext cx="1005840" cy="566928"/>
          </a:xfrm>
          <a:prstGeom prst="rect">
            <a:avLst/>
          </a:prstGeom>
          <a:noFill/>
          <a:ln/>
        </p:spPr>
        <p:txBody>
          <a:bodyPr wrap="square" lIns="635" tIns="635" rIns="635" bIns="635"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5yz</a:t>
            </a:r>
            <a:endParaRPr lang="en-US" sz="1400" dirty="0"/>
          </a:p>
        </p:txBody>
      </p:sp>
      <p:sp>
        <p:nvSpPr>
          <p:cNvPr id="54" name="Text 51"/>
          <p:cNvSpPr txBox="1"/>
          <p:nvPr/>
        </p:nvSpPr>
        <p:spPr>
          <a:xfrm>
            <a:off x="7818120" y="4041648"/>
            <a:ext cx="2194560" cy="5486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permanent failure</a:t>
            </a:r>
            <a:endParaRPr lang="en-US" sz="1200" dirty="0"/>
          </a:p>
        </p:txBody>
      </p:sp>
      <p:sp>
        <p:nvSpPr>
          <p:cNvPr id="55" name="box"/>
          <p:cNvSpPr/>
          <p:nvPr/>
        </p:nvSpPr>
        <p:spPr>
          <a:xfrm>
            <a:off x="9966960" y="4023360"/>
            <a:ext cx="1645920" cy="566928"/>
          </a:xfrm>
          <a:prstGeom prst="roundRect">
            <a:avLst>
              <a:gd name="adj" fmla="val 12903"/>
            </a:avLst>
          </a:prstGeom>
          <a:solidFill>
            <a:srgbClr val="EEF2F6"/>
          </a:solidFill>
          <a:ln w="12700">
            <a:solidFill>
              <a:srgbClr val="EEF2F6"/>
            </a:solidFill>
            <a:prstDash val="solid"/>
          </a:ln>
        </p:spPr>
      </p:sp>
      <p:sp>
        <p:nvSpPr>
          <p:cNvPr id="56" name="Text 53"/>
          <p:cNvSpPr txBox="1"/>
          <p:nvPr/>
        </p:nvSpPr>
        <p:spPr>
          <a:xfrm>
            <a:off x="9966960" y="4023360"/>
            <a:ext cx="1645920" cy="566928"/>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500 530 550</a:t>
            </a:r>
            <a:endParaRPr lang="en-US" sz="1100" dirty="0"/>
          </a:p>
        </p:txBody>
      </p:sp>
      <p:sp>
        <p:nvSpPr>
          <p:cNvPr id="57" name="Text 54"/>
          <p:cNvSpPr txBox="1"/>
          <p:nvPr/>
        </p:nvSpPr>
        <p:spPr>
          <a:xfrm>
            <a:off x="6675120" y="4800600"/>
            <a:ext cx="4937760" cy="73152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Multi-line: </a:t>
            </a:r>
            <a:r>
              <a:rPr lang="en-US" sz="1100" dirty="0">
                <a:solidFill>
                  <a:srgbClr val="5B6770"/>
                </a:solidFill>
                <a:latin typeface="Consolas" pitchFamily="34" charset="0"/>
                <a:ea typeface="Consolas" pitchFamily="34" charset="-122"/>
                <a:cs typeface="Consolas" pitchFamily="34" charset="-120"/>
              </a:rPr>
              <a:t>220-Welcome</a:t>
            </a:r>
            <a:r>
              <a:rPr lang="en-US" sz="1100" dirty="0">
                <a:solidFill>
                  <a:srgbClr val="5B6770"/>
                </a:solidFill>
              </a:rPr>
              <a:t> … </a:t>
            </a:r>
            <a:r>
              <a:rPr lang="en-US" sz="1100" dirty="0">
                <a:solidFill>
                  <a:srgbClr val="5B6770"/>
                </a:solidFill>
                <a:latin typeface="Consolas" pitchFamily="34" charset="0"/>
                <a:ea typeface="Consolas" pitchFamily="34" charset="-122"/>
                <a:cs typeface="Consolas" pitchFamily="34" charset="-120"/>
              </a:rPr>
              <a:t>220 ready</a:t>
            </a:r>
            <a:r>
              <a:rPr lang="en-US" sz="1100" dirty="0">
                <a:solidFill>
                  <a:srgbClr val="5B6770"/>
                </a:solidFill>
              </a:rPr>
              <a:t>. Second digit: 0 syntax · 1 information · 2 connections · 3 authentication · 5 file system.</a:t>
            </a:r>
            <a:endParaRPr lang="en-US" sz="1100" dirty="0"/>
          </a:p>
        </p:txBody>
      </p:sp>
      <p:sp>
        <p:nvSpPr>
          <p:cNvPr id="5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59" name="Text 5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HTTP borrowed the idea of reply classes from FTP and SMTP.</a:t>
            </a:r>
            <a:endParaRPr lang="en-US" sz="1400" dirty="0"/>
          </a:p>
        </p:txBody>
      </p:sp>
      <p:sp>
        <p:nvSpPr>
          <p:cNvPr id="60" name="Text 57"/>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HTTP (HyperText Transfer Protocol) · SMTP (Simple Mail Transfer Protocol) · PASV (passive) · EPSV (extended passive) · RETR (retrieve) · STOR (store) · LIST (list a directory) · RNFR (rename from) · RNTO (rename to) · MLSD (machine-readable listing) · FEAT (list features) · STRU (file structure) · FTP (File Transfer Protocol)</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Data organisation: TYPE, STRU, MODE</a:t>
            </a:r>
            <a:endParaRPr lang="en-US" sz="3000" dirty="0"/>
          </a:p>
        </p:txBody>
      </p:sp>
      <p:sp>
        <p:nvSpPr>
          <p:cNvPr id="4" name="box"/>
          <p:cNvSpPr/>
          <p:nvPr/>
        </p:nvSpPr>
        <p:spPr>
          <a:xfrm>
            <a:off x="548640" y="1280160"/>
            <a:ext cx="3566160" cy="685800"/>
          </a:xfrm>
          <a:prstGeom prst="roundRect">
            <a:avLst>
              <a:gd name="adj" fmla="val 10667"/>
            </a:avLst>
          </a:prstGeom>
          <a:solidFill>
            <a:srgbClr val="1F3A5F"/>
          </a:solidFill>
          <a:ln w="12700">
            <a:solidFill>
              <a:srgbClr val="1F3A5F"/>
            </a:solidFill>
            <a:prstDash val="solid"/>
          </a:ln>
        </p:spPr>
      </p:sp>
      <p:sp>
        <p:nvSpPr>
          <p:cNvPr id="5" name="Text 2"/>
          <p:cNvSpPr txBox="1"/>
          <p:nvPr/>
        </p:nvSpPr>
        <p:spPr>
          <a:xfrm>
            <a:off x="548640" y="1280160"/>
            <a:ext cx="3566160" cy="685800"/>
          </a:xfrm>
          <a:prstGeom prst="rect">
            <a:avLst/>
          </a:prstGeom>
          <a:noFill/>
          <a:ln/>
        </p:spPr>
        <p:txBody>
          <a:bodyPr wrap="square" lIns="635" tIns="635" rIns="635" bIns="635" rtlCol="0" anchor="ctr"/>
          <a:lstStyle/>
          <a:p>
            <a:pPr algn="ctr" indent="0" marL="0">
              <a:buNone/>
            </a:pPr>
            <a:r>
              <a:rPr lang="en-US" sz="1300" b="1" dirty="0">
                <a:solidFill>
                  <a:srgbClr val="FFFFFF"/>
                </a:solidFill>
              </a:rPr>
              <a:t>TYPE</a:t>
            </a:r>
            <a:endParaRPr lang="en-US" sz="1300" dirty="0"/>
          </a:p>
          <a:p>
            <a:pPr algn="ctr" indent="0" marL="0">
              <a:buNone/>
            </a:pPr>
            <a:r>
              <a:rPr lang="en-US" sz="1300" dirty="0">
                <a:solidFill>
                  <a:srgbClr val="FFFFFF"/>
                </a:solidFill>
              </a:rPr>
              <a:t>representation</a:t>
            </a:r>
            <a:endParaRPr lang="en-US" sz="1300" dirty="0"/>
          </a:p>
        </p:txBody>
      </p:sp>
      <p:sp>
        <p:nvSpPr>
          <p:cNvPr id="6" name="box"/>
          <p:cNvSpPr/>
          <p:nvPr/>
        </p:nvSpPr>
        <p:spPr>
          <a:xfrm>
            <a:off x="548640" y="2103120"/>
            <a:ext cx="685800" cy="640080"/>
          </a:xfrm>
          <a:prstGeom prst="roundRect">
            <a:avLst>
              <a:gd name="adj" fmla="val 11429"/>
            </a:avLst>
          </a:prstGeom>
          <a:solidFill>
            <a:srgbClr val="F3EAD7"/>
          </a:solidFill>
          <a:ln w="12700">
            <a:solidFill>
              <a:srgbClr val="F3EAD7"/>
            </a:solidFill>
            <a:prstDash val="solid"/>
          </a:ln>
        </p:spPr>
      </p:sp>
      <p:sp>
        <p:nvSpPr>
          <p:cNvPr id="7" name="Text 4"/>
          <p:cNvSpPr txBox="1"/>
          <p:nvPr/>
        </p:nvSpPr>
        <p:spPr>
          <a:xfrm>
            <a:off x="548640" y="2103120"/>
            <a:ext cx="685800" cy="640080"/>
          </a:xfrm>
          <a:prstGeom prst="rect">
            <a:avLst/>
          </a:prstGeom>
          <a:noFill/>
          <a:ln/>
        </p:spPr>
        <p:txBody>
          <a:bodyPr wrap="square" lIns="635" tIns="635" rIns="635" bIns="635" rtlCol="0" anchor="ctr"/>
          <a:lstStyle/>
          <a:p>
            <a:pPr algn="ctr" indent="0" marL="0">
              <a:buNone/>
            </a:pPr>
            <a:r>
              <a:rPr lang="en-US" sz="1300" b="1" dirty="0">
                <a:solidFill>
                  <a:srgbClr val="1B2430"/>
                </a:solidFill>
                <a:latin typeface="Consolas" pitchFamily="34" charset="0"/>
                <a:ea typeface="Consolas" pitchFamily="34" charset="-122"/>
                <a:cs typeface="Consolas" pitchFamily="34" charset="-120"/>
              </a:rPr>
              <a:t>A</a:t>
            </a:r>
            <a:endParaRPr lang="en-US" sz="1300" dirty="0"/>
          </a:p>
        </p:txBody>
      </p:sp>
      <p:sp>
        <p:nvSpPr>
          <p:cNvPr id="8" name="box"/>
          <p:cNvSpPr/>
          <p:nvPr/>
        </p:nvSpPr>
        <p:spPr>
          <a:xfrm>
            <a:off x="1280160" y="2103120"/>
            <a:ext cx="2834640" cy="640080"/>
          </a:xfrm>
          <a:prstGeom prst="roundRect">
            <a:avLst>
              <a:gd name="adj" fmla="val 11429"/>
            </a:avLst>
          </a:prstGeom>
          <a:solidFill>
            <a:srgbClr val="EEF2F6"/>
          </a:solidFill>
          <a:ln w="12700">
            <a:solidFill>
              <a:srgbClr val="EEF2F6"/>
            </a:solidFill>
            <a:prstDash val="solid"/>
          </a:ln>
        </p:spPr>
      </p:sp>
      <p:sp>
        <p:nvSpPr>
          <p:cNvPr id="9" name="Text 6"/>
          <p:cNvSpPr txBox="1"/>
          <p:nvPr/>
        </p:nvSpPr>
        <p:spPr>
          <a:xfrm>
            <a:off x="1280160" y="2103120"/>
            <a:ext cx="2834640" cy="640080"/>
          </a:xfrm>
          <a:prstGeom prst="rect">
            <a:avLst/>
          </a:prstGeom>
          <a:noFill/>
          <a:ln/>
        </p:spPr>
        <p:txBody>
          <a:bodyPr wrap="square" lIns="1016" tIns="1016" rIns="1016" bIns="1016" rtlCol="0" anchor="ctr"/>
          <a:lstStyle/>
          <a:p>
            <a:pPr algn="l" indent="0" marL="0">
              <a:buNone/>
            </a:pPr>
            <a:r>
              <a:rPr lang="en-US" sz="1100" dirty="0">
                <a:solidFill>
                  <a:srgbClr val="1B2430"/>
                </a:solidFill>
              </a:rPr>
              <a:t>ASCII (default) — text, line ends converted to CR LF</a:t>
            </a:r>
            <a:endParaRPr lang="en-US" sz="1100" dirty="0"/>
          </a:p>
        </p:txBody>
      </p:sp>
      <p:sp>
        <p:nvSpPr>
          <p:cNvPr id="10" name="box"/>
          <p:cNvSpPr/>
          <p:nvPr/>
        </p:nvSpPr>
        <p:spPr>
          <a:xfrm>
            <a:off x="548640" y="2852928"/>
            <a:ext cx="685800" cy="640080"/>
          </a:xfrm>
          <a:prstGeom prst="roundRect">
            <a:avLst>
              <a:gd name="adj" fmla="val 11429"/>
            </a:avLst>
          </a:prstGeom>
          <a:solidFill>
            <a:srgbClr val="F3EAD7"/>
          </a:solidFill>
          <a:ln w="12700">
            <a:solidFill>
              <a:srgbClr val="F3EAD7"/>
            </a:solidFill>
            <a:prstDash val="solid"/>
          </a:ln>
        </p:spPr>
      </p:sp>
      <p:sp>
        <p:nvSpPr>
          <p:cNvPr id="11" name="Text 8"/>
          <p:cNvSpPr txBox="1"/>
          <p:nvPr/>
        </p:nvSpPr>
        <p:spPr>
          <a:xfrm>
            <a:off x="548640" y="2852928"/>
            <a:ext cx="685800" cy="640080"/>
          </a:xfrm>
          <a:prstGeom prst="rect">
            <a:avLst/>
          </a:prstGeom>
          <a:noFill/>
          <a:ln/>
        </p:spPr>
        <p:txBody>
          <a:bodyPr wrap="square" lIns="635" tIns="635" rIns="635" bIns="635" rtlCol="0" anchor="ctr"/>
          <a:lstStyle/>
          <a:p>
            <a:pPr algn="ctr" indent="0" marL="0">
              <a:buNone/>
            </a:pPr>
            <a:r>
              <a:rPr lang="en-US" sz="1300" b="1" dirty="0">
                <a:solidFill>
                  <a:srgbClr val="1B2430"/>
                </a:solidFill>
                <a:latin typeface="Consolas" pitchFamily="34" charset="0"/>
                <a:ea typeface="Consolas" pitchFamily="34" charset="-122"/>
                <a:cs typeface="Consolas" pitchFamily="34" charset="-120"/>
              </a:rPr>
              <a:t>E</a:t>
            </a:r>
            <a:endParaRPr lang="en-US" sz="1300" dirty="0"/>
          </a:p>
        </p:txBody>
      </p:sp>
      <p:sp>
        <p:nvSpPr>
          <p:cNvPr id="12" name="box"/>
          <p:cNvSpPr/>
          <p:nvPr/>
        </p:nvSpPr>
        <p:spPr>
          <a:xfrm>
            <a:off x="1280160" y="2852928"/>
            <a:ext cx="2834640" cy="640080"/>
          </a:xfrm>
          <a:prstGeom prst="roundRect">
            <a:avLst>
              <a:gd name="adj" fmla="val 11429"/>
            </a:avLst>
          </a:prstGeom>
          <a:solidFill>
            <a:srgbClr val="EEF2F6"/>
          </a:solidFill>
          <a:ln w="12700">
            <a:solidFill>
              <a:srgbClr val="EEF2F6"/>
            </a:solidFill>
            <a:prstDash val="solid"/>
          </a:ln>
        </p:spPr>
      </p:sp>
      <p:sp>
        <p:nvSpPr>
          <p:cNvPr id="13" name="Text 10"/>
          <p:cNvSpPr txBox="1"/>
          <p:nvPr/>
        </p:nvSpPr>
        <p:spPr>
          <a:xfrm>
            <a:off x="1280160" y="2852928"/>
            <a:ext cx="2834640" cy="640080"/>
          </a:xfrm>
          <a:prstGeom prst="rect">
            <a:avLst/>
          </a:prstGeom>
          <a:noFill/>
          <a:ln/>
        </p:spPr>
        <p:txBody>
          <a:bodyPr wrap="square" lIns="1016" tIns="1016" rIns="1016" bIns="1016" rtlCol="0" anchor="ctr"/>
          <a:lstStyle/>
          <a:p>
            <a:pPr algn="l" indent="0" marL="0">
              <a:buNone/>
            </a:pPr>
            <a:r>
              <a:rPr lang="en-US" sz="1100" dirty="0">
                <a:solidFill>
                  <a:srgbClr val="1B2430"/>
                </a:solidFill>
              </a:rPr>
              <a:t>EBCDIC</a:t>
            </a:r>
            <a:endParaRPr lang="en-US" sz="1100" dirty="0"/>
          </a:p>
        </p:txBody>
      </p:sp>
      <p:sp>
        <p:nvSpPr>
          <p:cNvPr id="14" name="box"/>
          <p:cNvSpPr/>
          <p:nvPr/>
        </p:nvSpPr>
        <p:spPr>
          <a:xfrm>
            <a:off x="548640" y="3602736"/>
            <a:ext cx="685800" cy="640080"/>
          </a:xfrm>
          <a:prstGeom prst="roundRect">
            <a:avLst>
              <a:gd name="adj" fmla="val 11429"/>
            </a:avLst>
          </a:prstGeom>
          <a:solidFill>
            <a:srgbClr val="F3EAD7"/>
          </a:solidFill>
          <a:ln w="12700">
            <a:solidFill>
              <a:srgbClr val="F3EAD7"/>
            </a:solidFill>
            <a:prstDash val="solid"/>
          </a:ln>
        </p:spPr>
      </p:sp>
      <p:sp>
        <p:nvSpPr>
          <p:cNvPr id="15" name="Text 12"/>
          <p:cNvSpPr txBox="1"/>
          <p:nvPr/>
        </p:nvSpPr>
        <p:spPr>
          <a:xfrm>
            <a:off x="548640" y="3602736"/>
            <a:ext cx="685800" cy="640080"/>
          </a:xfrm>
          <a:prstGeom prst="rect">
            <a:avLst/>
          </a:prstGeom>
          <a:noFill/>
          <a:ln/>
        </p:spPr>
        <p:txBody>
          <a:bodyPr wrap="square" lIns="635" tIns="635" rIns="635" bIns="635" rtlCol="0" anchor="ctr"/>
          <a:lstStyle/>
          <a:p>
            <a:pPr algn="ctr" indent="0" marL="0">
              <a:buNone/>
            </a:pPr>
            <a:r>
              <a:rPr lang="en-US" sz="1300" b="1" dirty="0">
                <a:solidFill>
                  <a:srgbClr val="1B2430"/>
                </a:solidFill>
                <a:latin typeface="Consolas" pitchFamily="34" charset="0"/>
                <a:ea typeface="Consolas" pitchFamily="34" charset="-122"/>
                <a:cs typeface="Consolas" pitchFamily="34" charset="-120"/>
              </a:rPr>
              <a:t>I</a:t>
            </a:r>
            <a:endParaRPr lang="en-US" sz="1300" dirty="0"/>
          </a:p>
        </p:txBody>
      </p:sp>
      <p:sp>
        <p:nvSpPr>
          <p:cNvPr id="16" name="box"/>
          <p:cNvSpPr/>
          <p:nvPr/>
        </p:nvSpPr>
        <p:spPr>
          <a:xfrm>
            <a:off x="1280160" y="3602736"/>
            <a:ext cx="2834640" cy="640080"/>
          </a:xfrm>
          <a:prstGeom prst="roundRect">
            <a:avLst>
              <a:gd name="adj" fmla="val 11429"/>
            </a:avLst>
          </a:prstGeom>
          <a:solidFill>
            <a:srgbClr val="EEF2F6"/>
          </a:solidFill>
          <a:ln w="12700">
            <a:solidFill>
              <a:srgbClr val="EEF2F6"/>
            </a:solidFill>
            <a:prstDash val="solid"/>
          </a:ln>
        </p:spPr>
      </p:sp>
      <p:sp>
        <p:nvSpPr>
          <p:cNvPr id="17" name="Text 14"/>
          <p:cNvSpPr txBox="1"/>
          <p:nvPr/>
        </p:nvSpPr>
        <p:spPr>
          <a:xfrm>
            <a:off x="1280160" y="3602736"/>
            <a:ext cx="2834640" cy="640080"/>
          </a:xfrm>
          <a:prstGeom prst="rect">
            <a:avLst/>
          </a:prstGeom>
          <a:noFill/>
          <a:ln/>
        </p:spPr>
        <p:txBody>
          <a:bodyPr wrap="square" lIns="1016" tIns="1016" rIns="1016" bIns="1016" rtlCol="0" anchor="ctr"/>
          <a:lstStyle/>
          <a:p>
            <a:pPr algn="l" indent="0" marL="0">
              <a:buNone/>
            </a:pPr>
            <a:r>
              <a:rPr lang="en-US" sz="1100" dirty="0">
                <a:solidFill>
                  <a:srgbClr val="1B2430"/>
                </a:solidFill>
              </a:rPr>
              <a:t>image: bytes </a:t>
            </a:r>
            <a:r>
              <a:rPr lang="en-US" sz="1100" b="1" dirty="0">
                <a:solidFill>
                  <a:srgbClr val="1B2430"/>
                </a:solidFill>
              </a:rPr>
              <a:t>unchanged</a:t>
            </a:r>
            <a:endParaRPr lang="en-US" sz="1100" dirty="0"/>
          </a:p>
        </p:txBody>
      </p:sp>
      <p:sp>
        <p:nvSpPr>
          <p:cNvPr id="18" name="box"/>
          <p:cNvSpPr/>
          <p:nvPr/>
        </p:nvSpPr>
        <p:spPr>
          <a:xfrm>
            <a:off x="548640" y="4352544"/>
            <a:ext cx="685800" cy="640080"/>
          </a:xfrm>
          <a:prstGeom prst="roundRect">
            <a:avLst>
              <a:gd name="adj" fmla="val 11429"/>
            </a:avLst>
          </a:prstGeom>
          <a:solidFill>
            <a:srgbClr val="F3EAD7"/>
          </a:solidFill>
          <a:ln w="12700">
            <a:solidFill>
              <a:srgbClr val="F3EAD7"/>
            </a:solidFill>
            <a:prstDash val="solid"/>
          </a:ln>
        </p:spPr>
      </p:sp>
      <p:sp>
        <p:nvSpPr>
          <p:cNvPr id="19" name="Text 16"/>
          <p:cNvSpPr txBox="1"/>
          <p:nvPr/>
        </p:nvSpPr>
        <p:spPr>
          <a:xfrm>
            <a:off x="548640" y="4352544"/>
            <a:ext cx="685800" cy="640080"/>
          </a:xfrm>
          <a:prstGeom prst="rect">
            <a:avLst/>
          </a:prstGeom>
          <a:noFill/>
          <a:ln/>
        </p:spPr>
        <p:txBody>
          <a:bodyPr wrap="square" lIns="635" tIns="635" rIns="635" bIns="635" rtlCol="0" anchor="ctr"/>
          <a:lstStyle/>
          <a:p>
            <a:pPr algn="ctr" indent="0" marL="0">
              <a:buNone/>
            </a:pPr>
            <a:r>
              <a:rPr lang="en-US" sz="1300" b="1" dirty="0">
                <a:solidFill>
                  <a:srgbClr val="1B2430"/>
                </a:solidFill>
                <a:latin typeface="Consolas" pitchFamily="34" charset="0"/>
                <a:ea typeface="Consolas" pitchFamily="34" charset="-122"/>
                <a:cs typeface="Consolas" pitchFamily="34" charset="-120"/>
              </a:rPr>
              <a:t>L n</a:t>
            </a:r>
            <a:endParaRPr lang="en-US" sz="1300" dirty="0"/>
          </a:p>
        </p:txBody>
      </p:sp>
      <p:sp>
        <p:nvSpPr>
          <p:cNvPr id="20" name="box"/>
          <p:cNvSpPr/>
          <p:nvPr/>
        </p:nvSpPr>
        <p:spPr>
          <a:xfrm>
            <a:off x="1280160" y="4352544"/>
            <a:ext cx="2834640" cy="640080"/>
          </a:xfrm>
          <a:prstGeom prst="roundRect">
            <a:avLst>
              <a:gd name="adj" fmla="val 11429"/>
            </a:avLst>
          </a:prstGeom>
          <a:solidFill>
            <a:srgbClr val="EEF2F6"/>
          </a:solidFill>
          <a:ln w="12700">
            <a:solidFill>
              <a:srgbClr val="EEF2F6"/>
            </a:solidFill>
            <a:prstDash val="solid"/>
          </a:ln>
        </p:spPr>
      </p:sp>
      <p:sp>
        <p:nvSpPr>
          <p:cNvPr id="21" name="Text 18"/>
          <p:cNvSpPr txBox="1"/>
          <p:nvPr/>
        </p:nvSpPr>
        <p:spPr>
          <a:xfrm>
            <a:off x="1280160" y="4352544"/>
            <a:ext cx="2834640" cy="640080"/>
          </a:xfrm>
          <a:prstGeom prst="rect">
            <a:avLst/>
          </a:prstGeom>
          <a:noFill/>
          <a:ln/>
        </p:spPr>
        <p:txBody>
          <a:bodyPr wrap="square" lIns="1016" tIns="1016" rIns="1016" bIns="1016" rtlCol="0" anchor="ctr"/>
          <a:lstStyle/>
          <a:p>
            <a:pPr algn="l" indent="0" marL="0">
              <a:buNone/>
            </a:pPr>
            <a:r>
              <a:rPr lang="en-US" sz="1100" dirty="0">
                <a:solidFill>
                  <a:srgbClr val="1B2430"/>
                </a:solidFill>
              </a:rPr>
              <a:t>local byte size n</a:t>
            </a:r>
            <a:endParaRPr lang="en-US" sz="1100" dirty="0"/>
          </a:p>
        </p:txBody>
      </p:sp>
      <p:sp>
        <p:nvSpPr>
          <p:cNvPr id="22" name="box"/>
          <p:cNvSpPr/>
          <p:nvPr/>
        </p:nvSpPr>
        <p:spPr>
          <a:xfrm>
            <a:off x="4297680" y="1280160"/>
            <a:ext cx="3566160" cy="685800"/>
          </a:xfrm>
          <a:prstGeom prst="roundRect">
            <a:avLst>
              <a:gd name="adj" fmla="val 10667"/>
            </a:avLst>
          </a:prstGeom>
          <a:solidFill>
            <a:srgbClr val="2A7F8E"/>
          </a:solidFill>
          <a:ln w="12700">
            <a:solidFill>
              <a:srgbClr val="2A7F8E"/>
            </a:solidFill>
            <a:prstDash val="solid"/>
          </a:ln>
        </p:spPr>
      </p:sp>
      <p:sp>
        <p:nvSpPr>
          <p:cNvPr id="23" name="Text 20"/>
          <p:cNvSpPr txBox="1"/>
          <p:nvPr/>
        </p:nvSpPr>
        <p:spPr>
          <a:xfrm>
            <a:off x="4297680" y="1280160"/>
            <a:ext cx="3566160" cy="685800"/>
          </a:xfrm>
          <a:prstGeom prst="rect">
            <a:avLst/>
          </a:prstGeom>
          <a:noFill/>
          <a:ln/>
        </p:spPr>
        <p:txBody>
          <a:bodyPr wrap="square" lIns="635" tIns="635" rIns="635" bIns="635" rtlCol="0" anchor="ctr"/>
          <a:lstStyle/>
          <a:p>
            <a:pPr algn="ctr" indent="0" marL="0">
              <a:buNone/>
            </a:pPr>
            <a:r>
              <a:rPr lang="en-US" sz="1300" b="1" dirty="0">
                <a:solidFill>
                  <a:srgbClr val="FFFFFF"/>
                </a:solidFill>
              </a:rPr>
              <a:t>STRU</a:t>
            </a:r>
            <a:endParaRPr lang="en-US" sz="1300" dirty="0"/>
          </a:p>
          <a:p>
            <a:pPr algn="ctr" indent="0" marL="0">
              <a:buNone/>
            </a:pPr>
            <a:r>
              <a:rPr lang="en-US" sz="1300" dirty="0">
                <a:solidFill>
                  <a:srgbClr val="FFFFFF"/>
                </a:solidFill>
              </a:rPr>
              <a:t>structure</a:t>
            </a:r>
            <a:endParaRPr lang="en-US" sz="1300" dirty="0"/>
          </a:p>
        </p:txBody>
      </p:sp>
      <p:sp>
        <p:nvSpPr>
          <p:cNvPr id="24" name="box"/>
          <p:cNvSpPr/>
          <p:nvPr/>
        </p:nvSpPr>
        <p:spPr>
          <a:xfrm>
            <a:off x="4297680" y="2103120"/>
            <a:ext cx="685800" cy="640080"/>
          </a:xfrm>
          <a:prstGeom prst="roundRect">
            <a:avLst>
              <a:gd name="adj" fmla="val 11429"/>
            </a:avLst>
          </a:prstGeom>
          <a:solidFill>
            <a:srgbClr val="F3EAD7"/>
          </a:solidFill>
          <a:ln w="12700">
            <a:solidFill>
              <a:srgbClr val="F3EAD7"/>
            </a:solidFill>
            <a:prstDash val="solid"/>
          </a:ln>
        </p:spPr>
      </p:sp>
      <p:sp>
        <p:nvSpPr>
          <p:cNvPr id="25" name="Text 22"/>
          <p:cNvSpPr txBox="1"/>
          <p:nvPr/>
        </p:nvSpPr>
        <p:spPr>
          <a:xfrm>
            <a:off x="4297680" y="2103120"/>
            <a:ext cx="685800" cy="640080"/>
          </a:xfrm>
          <a:prstGeom prst="rect">
            <a:avLst/>
          </a:prstGeom>
          <a:noFill/>
          <a:ln/>
        </p:spPr>
        <p:txBody>
          <a:bodyPr wrap="square" lIns="635" tIns="635" rIns="635" bIns="635" rtlCol="0" anchor="ctr"/>
          <a:lstStyle/>
          <a:p>
            <a:pPr algn="ctr" indent="0" marL="0">
              <a:buNone/>
            </a:pPr>
            <a:r>
              <a:rPr lang="en-US" sz="1300" b="1" dirty="0">
                <a:solidFill>
                  <a:srgbClr val="1B2430"/>
                </a:solidFill>
                <a:latin typeface="Consolas" pitchFamily="34" charset="0"/>
                <a:ea typeface="Consolas" pitchFamily="34" charset="-122"/>
                <a:cs typeface="Consolas" pitchFamily="34" charset="-120"/>
              </a:rPr>
              <a:t>F</a:t>
            </a:r>
            <a:endParaRPr lang="en-US" sz="1300" dirty="0"/>
          </a:p>
        </p:txBody>
      </p:sp>
      <p:sp>
        <p:nvSpPr>
          <p:cNvPr id="26" name="box"/>
          <p:cNvSpPr/>
          <p:nvPr/>
        </p:nvSpPr>
        <p:spPr>
          <a:xfrm>
            <a:off x="5029200" y="2103120"/>
            <a:ext cx="2834640" cy="640080"/>
          </a:xfrm>
          <a:prstGeom prst="roundRect">
            <a:avLst>
              <a:gd name="adj" fmla="val 11429"/>
            </a:avLst>
          </a:prstGeom>
          <a:solidFill>
            <a:srgbClr val="EEF2F6"/>
          </a:solidFill>
          <a:ln w="12700">
            <a:solidFill>
              <a:srgbClr val="EEF2F6"/>
            </a:solidFill>
            <a:prstDash val="solid"/>
          </a:ln>
        </p:spPr>
      </p:sp>
      <p:sp>
        <p:nvSpPr>
          <p:cNvPr id="27" name="Text 24"/>
          <p:cNvSpPr txBox="1"/>
          <p:nvPr/>
        </p:nvSpPr>
        <p:spPr>
          <a:xfrm>
            <a:off x="5029200" y="2103120"/>
            <a:ext cx="2834640" cy="640080"/>
          </a:xfrm>
          <a:prstGeom prst="rect">
            <a:avLst/>
          </a:prstGeom>
          <a:noFill/>
          <a:ln/>
        </p:spPr>
        <p:txBody>
          <a:bodyPr wrap="square" lIns="1016" tIns="1016" rIns="1016" bIns="1016" rtlCol="0" anchor="ctr"/>
          <a:lstStyle/>
          <a:p>
            <a:pPr algn="l" indent="0" marL="0">
              <a:buNone/>
            </a:pPr>
            <a:r>
              <a:rPr lang="en-US" sz="1100" dirty="0">
                <a:solidFill>
                  <a:srgbClr val="1B2430"/>
                </a:solidFill>
              </a:rPr>
              <a:t>file: a stream of bytes (default)</a:t>
            </a:r>
            <a:endParaRPr lang="en-US" sz="1100" dirty="0"/>
          </a:p>
        </p:txBody>
      </p:sp>
      <p:sp>
        <p:nvSpPr>
          <p:cNvPr id="28" name="box"/>
          <p:cNvSpPr/>
          <p:nvPr/>
        </p:nvSpPr>
        <p:spPr>
          <a:xfrm>
            <a:off x="4297680" y="2852928"/>
            <a:ext cx="685800" cy="640080"/>
          </a:xfrm>
          <a:prstGeom prst="roundRect">
            <a:avLst>
              <a:gd name="adj" fmla="val 11429"/>
            </a:avLst>
          </a:prstGeom>
          <a:solidFill>
            <a:srgbClr val="F3EAD7"/>
          </a:solidFill>
          <a:ln w="12700">
            <a:solidFill>
              <a:srgbClr val="F3EAD7"/>
            </a:solidFill>
            <a:prstDash val="solid"/>
          </a:ln>
        </p:spPr>
      </p:sp>
      <p:sp>
        <p:nvSpPr>
          <p:cNvPr id="29" name="Text 26"/>
          <p:cNvSpPr txBox="1"/>
          <p:nvPr/>
        </p:nvSpPr>
        <p:spPr>
          <a:xfrm>
            <a:off x="4297680" y="2852928"/>
            <a:ext cx="685800" cy="640080"/>
          </a:xfrm>
          <a:prstGeom prst="rect">
            <a:avLst/>
          </a:prstGeom>
          <a:noFill/>
          <a:ln/>
        </p:spPr>
        <p:txBody>
          <a:bodyPr wrap="square" lIns="635" tIns="635" rIns="635" bIns="635" rtlCol="0" anchor="ctr"/>
          <a:lstStyle/>
          <a:p>
            <a:pPr algn="ctr" indent="0" marL="0">
              <a:buNone/>
            </a:pPr>
            <a:r>
              <a:rPr lang="en-US" sz="1300" b="1" dirty="0">
                <a:solidFill>
                  <a:srgbClr val="1B2430"/>
                </a:solidFill>
                <a:latin typeface="Consolas" pitchFamily="34" charset="0"/>
                <a:ea typeface="Consolas" pitchFamily="34" charset="-122"/>
                <a:cs typeface="Consolas" pitchFamily="34" charset="-120"/>
              </a:rPr>
              <a:t>R</a:t>
            </a:r>
            <a:endParaRPr lang="en-US" sz="1300" dirty="0"/>
          </a:p>
        </p:txBody>
      </p:sp>
      <p:sp>
        <p:nvSpPr>
          <p:cNvPr id="30" name="box"/>
          <p:cNvSpPr/>
          <p:nvPr/>
        </p:nvSpPr>
        <p:spPr>
          <a:xfrm>
            <a:off x="5029200" y="2852928"/>
            <a:ext cx="2834640" cy="640080"/>
          </a:xfrm>
          <a:prstGeom prst="roundRect">
            <a:avLst>
              <a:gd name="adj" fmla="val 11429"/>
            </a:avLst>
          </a:prstGeom>
          <a:solidFill>
            <a:srgbClr val="EEF2F6"/>
          </a:solidFill>
          <a:ln w="12700">
            <a:solidFill>
              <a:srgbClr val="EEF2F6"/>
            </a:solidFill>
            <a:prstDash val="solid"/>
          </a:ln>
        </p:spPr>
      </p:sp>
      <p:sp>
        <p:nvSpPr>
          <p:cNvPr id="31" name="Text 28"/>
          <p:cNvSpPr txBox="1"/>
          <p:nvPr/>
        </p:nvSpPr>
        <p:spPr>
          <a:xfrm>
            <a:off x="5029200" y="2852928"/>
            <a:ext cx="2834640" cy="640080"/>
          </a:xfrm>
          <a:prstGeom prst="rect">
            <a:avLst/>
          </a:prstGeom>
          <a:noFill/>
          <a:ln/>
        </p:spPr>
        <p:txBody>
          <a:bodyPr wrap="square" lIns="1016" tIns="1016" rIns="1016" bIns="1016" rtlCol="0" anchor="ctr"/>
          <a:lstStyle/>
          <a:p>
            <a:pPr algn="l" indent="0" marL="0">
              <a:buNone/>
            </a:pPr>
            <a:r>
              <a:rPr lang="en-US" sz="1100" dirty="0">
                <a:solidFill>
                  <a:srgbClr val="1B2430"/>
                </a:solidFill>
              </a:rPr>
              <a:t>records</a:t>
            </a:r>
            <a:endParaRPr lang="en-US" sz="1100" dirty="0"/>
          </a:p>
        </p:txBody>
      </p:sp>
      <p:sp>
        <p:nvSpPr>
          <p:cNvPr id="32" name="box"/>
          <p:cNvSpPr/>
          <p:nvPr/>
        </p:nvSpPr>
        <p:spPr>
          <a:xfrm>
            <a:off x="4297680" y="3602736"/>
            <a:ext cx="685800" cy="640080"/>
          </a:xfrm>
          <a:prstGeom prst="roundRect">
            <a:avLst>
              <a:gd name="adj" fmla="val 11429"/>
            </a:avLst>
          </a:prstGeom>
          <a:solidFill>
            <a:srgbClr val="F3EAD7"/>
          </a:solidFill>
          <a:ln w="12700">
            <a:solidFill>
              <a:srgbClr val="F3EAD7"/>
            </a:solidFill>
            <a:prstDash val="solid"/>
          </a:ln>
        </p:spPr>
      </p:sp>
      <p:sp>
        <p:nvSpPr>
          <p:cNvPr id="33" name="Text 30"/>
          <p:cNvSpPr txBox="1"/>
          <p:nvPr/>
        </p:nvSpPr>
        <p:spPr>
          <a:xfrm>
            <a:off x="4297680" y="3602736"/>
            <a:ext cx="685800" cy="640080"/>
          </a:xfrm>
          <a:prstGeom prst="rect">
            <a:avLst/>
          </a:prstGeom>
          <a:noFill/>
          <a:ln/>
        </p:spPr>
        <p:txBody>
          <a:bodyPr wrap="square" lIns="635" tIns="635" rIns="635" bIns="635" rtlCol="0" anchor="ctr"/>
          <a:lstStyle/>
          <a:p>
            <a:pPr algn="ctr" indent="0" marL="0">
              <a:buNone/>
            </a:pPr>
            <a:r>
              <a:rPr lang="en-US" sz="1300" b="1" dirty="0">
                <a:solidFill>
                  <a:srgbClr val="1B2430"/>
                </a:solidFill>
                <a:latin typeface="Consolas" pitchFamily="34" charset="0"/>
                <a:ea typeface="Consolas" pitchFamily="34" charset="-122"/>
                <a:cs typeface="Consolas" pitchFamily="34" charset="-120"/>
              </a:rPr>
              <a:t>P</a:t>
            </a:r>
            <a:endParaRPr lang="en-US" sz="1300" dirty="0"/>
          </a:p>
        </p:txBody>
      </p:sp>
      <p:sp>
        <p:nvSpPr>
          <p:cNvPr id="34" name="box"/>
          <p:cNvSpPr/>
          <p:nvPr/>
        </p:nvSpPr>
        <p:spPr>
          <a:xfrm>
            <a:off x="5029200" y="3602736"/>
            <a:ext cx="2834640" cy="640080"/>
          </a:xfrm>
          <a:prstGeom prst="roundRect">
            <a:avLst>
              <a:gd name="adj" fmla="val 11429"/>
            </a:avLst>
          </a:prstGeom>
          <a:solidFill>
            <a:srgbClr val="EEF2F6"/>
          </a:solidFill>
          <a:ln w="12700">
            <a:solidFill>
              <a:srgbClr val="EEF2F6"/>
            </a:solidFill>
            <a:prstDash val="solid"/>
          </a:ln>
        </p:spPr>
      </p:sp>
      <p:sp>
        <p:nvSpPr>
          <p:cNvPr id="35" name="Text 32"/>
          <p:cNvSpPr txBox="1"/>
          <p:nvPr/>
        </p:nvSpPr>
        <p:spPr>
          <a:xfrm>
            <a:off x="5029200" y="3602736"/>
            <a:ext cx="2834640" cy="640080"/>
          </a:xfrm>
          <a:prstGeom prst="rect">
            <a:avLst/>
          </a:prstGeom>
          <a:noFill/>
          <a:ln/>
        </p:spPr>
        <p:txBody>
          <a:bodyPr wrap="square" lIns="1016" tIns="1016" rIns="1016" bIns="1016" rtlCol="0" anchor="ctr"/>
          <a:lstStyle/>
          <a:p>
            <a:pPr algn="l" indent="0" marL="0">
              <a:buNone/>
            </a:pPr>
            <a:r>
              <a:rPr lang="en-US" sz="1100" dirty="0">
                <a:solidFill>
                  <a:srgbClr val="1B2430"/>
                </a:solidFill>
              </a:rPr>
              <a:t>pages, indexed</a:t>
            </a:r>
            <a:endParaRPr lang="en-US" sz="1100" dirty="0"/>
          </a:p>
        </p:txBody>
      </p:sp>
      <p:sp>
        <p:nvSpPr>
          <p:cNvPr id="36" name="box"/>
          <p:cNvSpPr/>
          <p:nvPr/>
        </p:nvSpPr>
        <p:spPr>
          <a:xfrm>
            <a:off x="8046720" y="1280160"/>
            <a:ext cx="3566160" cy="685800"/>
          </a:xfrm>
          <a:prstGeom prst="roundRect">
            <a:avLst>
              <a:gd name="adj" fmla="val 10667"/>
            </a:avLst>
          </a:prstGeom>
          <a:solidFill>
            <a:srgbClr val="B9772A"/>
          </a:solidFill>
          <a:ln w="12700">
            <a:solidFill>
              <a:srgbClr val="B9772A"/>
            </a:solidFill>
            <a:prstDash val="solid"/>
          </a:ln>
        </p:spPr>
      </p:sp>
      <p:sp>
        <p:nvSpPr>
          <p:cNvPr id="37" name="Text 34"/>
          <p:cNvSpPr txBox="1"/>
          <p:nvPr/>
        </p:nvSpPr>
        <p:spPr>
          <a:xfrm>
            <a:off x="8046720" y="1280160"/>
            <a:ext cx="3566160" cy="685800"/>
          </a:xfrm>
          <a:prstGeom prst="rect">
            <a:avLst/>
          </a:prstGeom>
          <a:noFill/>
          <a:ln/>
        </p:spPr>
        <p:txBody>
          <a:bodyPr wrap="square" lIns="635" tIns="635" rIns="635" bIns="635" rtlCol="0" anchor="ctr"/>
          <a:lstStyle/>
          <a:p>
            <a:pPr algn="ctr" indent="0" marL="0">
              <a:buNone/>
            </a:pPr>
            <a:r>
              <a:rPr lang="en-US" sz="1300" b="1" dirty="0">
                <a:solidFill>
                  <a:srgbClr val="FFFFFF"/>
                </a:solidFill>
              </a:rPr>
              <a:t>MODE</a:t>
            </a:r>
            <a:endParaRPr lang="en-US" sz="1300" dirty="0"/>
          </a:p>
          <a:p>
            <a:pPr algn="ctr" indent="0" marL="0">
              <a:buNone/>
            </a:pPr>
            <a:r>
              <a:rPr lang="en-US" sz="1300" dirty="0">
                <a:solidFill>
                  <a:srgbClr val="FFFFFF"/>
                </a:solidFill>
              </a:rPr>
              <a:t>transmission</a:t>
            </a:r>
            <a:endParaRPr lang="en-US" sz="1300" dirty="0"/>
          </a:p>
        </p:txBody>
      </p:sp>
      <p:sp>
        <p:nvSpPr>
          <p:cNvPr id="38" name="box"/>
          <p:cNvSpPr/>
          <p:nvPr/>
        </p:nvSpPr>
        <p:spPr>
          <a:xfrm>
            <a:off x="8046720" y="2103120"/>
            <a:ext cx="685800" cy="640080"/>
          </a:xfrm>
          <a:prstGeom prst="roundRect">
            <a:avLst>
              <a:gd name="adj" fmla="val 11429"/>
            </a:avLst>
          </a:prstGeom>
          <a:solidFill>
            <a:srgbClr val="F3EAD7"/>
          </a:solidFill>
          <a:ln w="12700">
            <a:solidFill>
              <a:srgbClr val="F3EAD7"/>
            </a:solidFill>
            <a:prstDash val="solid"/>
          </a:ln>
        </p:spPr>
      </p:sp>
      <p:sp>
        <p:nvSpPr>
          <p:cNvPr id="39" name="Text 36"/>
          <p:cNvSpPr txBox="1"/>
          <p:nvPr/>
        </p:nvSpPr>
        <p:spPr>
          <a:xfrm>
            <a:off x="8046720" y="2103120"/>
            <a:ext cx="685800" cy="640080"/>
          </a:xfrm>
          <a:prstGeom prst="rect">
            <a:avLst/>
          </a:prstGeom>
          <a:noFill/>
          <a:ln/>
        </p:spPr>
        <p:txBody>
          <a:bodyPr wrap="square" lIns="635" tIns="635" rIns="635" bIns="635" rtlCol="0" anchor="ctr"/>
          <a:lstStyle/>
          <a:p>
            <a:pPr algn="ctr" indent="0" marL="0">
              <a:buNone/>
            </a:pPr>
            <a:r>
              <a:rPr lang="en-US" sz="1300" b="1" dirty="0">
                <a:solidFill>
                  <a:srgbClr val="1B2430"/>
                </a:solidFill>
                <a:latin typeface="Consolas" pitchFamily="34" charset="0"/>
                <a:ea typeface="Consolas" pitchFamily="34" charset="-122"/>
                <a:cs typeface="Consolas" pitchFamily="34" charset="-120"/>
              </a:rPr>
              <a:t>S</a:t>
            </a:r>
            <a:endParaRPr lang="en-US" sz="1300" dirty="0"/>
          </a:p>
        </p:txBody>
      </p:sp>
      <p:sp>
        <p:nvSpPr>
          <p:cNvPr id="40" name="box"/>
          <p:cNvSpPr/>
          <p:nvPr/>
        </p:nvSpPr>
        <p:spPr>
          <a:xfrm>
            <a:off x="8778240" y="2103120"/>
            <a:ext cx="2834640" cy="640080"/>
          </a:xfrm>
          <a:prstGeom prst="roundRect">
            <a:avLst>
              <a:gd name="adj" fmla="val 11429"/>
            </a:avLst>
          </a:prstGeom>
          <a:solidFill>
            <a:srgbClr val="EEF2F6"/>
          </a:solidFill>
          <a:ln w="12700">
            <a:solidFill>
              <a:srgbClr val="EEF2F6"/>
            </a:solidFill>
            <a:prstDash val="solid"/>
          </a:ln>
        </p:spPr>
      </p:sp>
      <p:sp>
        <p:nvSpPr>
          <p:cNvPr id="41" name="Text 38"/>
          <p:cNvSpPr txBox="1"/>
          <p:nvPr/>
        </p:nvSpPr>
        <p:spPr>
          <a:xfrm>
            <a:off x="8778240" y="2103120"/>
            <a:ext cx="2834640" cy="640080"/>
          </a:xfrm>
          <a:prstGeom prst="rect">
            <a:avLst/>
          </a:prstGeom>
          <a:noFill/>
          <a:ln/>
        </p:spPr>
        <p:txBody>
          <a:bodyPr wrap="square" lIns="1016" tIns="1016" rIns="1016" bIns="1016" rtlCol="0" anchor="ctr"/>
          <a:lstStyle/>
          <a:p>
            <a:pPr algn="l" indent="0" marL="0">
              <a:buNone/>
            </a:pPr>
            <a:r>
              <a:rPr lang="en-US" sz="1100" dirty="0">
                <a:solidFill>
                  <a:srgbClr val="1B2430"/>
                </a:solidFill>
              </a:rPr>
              <a:t>stream: end = close the connection</a:t>
            </a:r>
            <a:endParaRPr lang="en-US" sz="1100" dirty="0"/>
          </a:p>
        </p:txBody>
      </p:sp>
      <p:sp>
        <p:nvSpPr>
          <p:cNvPr id="42" name="box"/>
          <p:cNvSpPr/>
          <p:nvPr/>
        </p:nvSpPr>
        <p:spPr>
          <a:xfrm>
            <a:off x="8046720" y="2852928"/>
            <a:ext cx="685800" cy="640080"/>
          </a:xfrm>
          <a:prstGeom prst="roundRect">
            <a:avLst>
              <a:gd name="adj" fmla="val 11429"/>
            </a:avLst>
          </a:prstGeom>
          <a:solidFill>
            <a:srgbClr val="F3EAD7"/>
          </a:solidFill>
          <a:ln w="12700">
            <a:solidFill>
              <a:srgbClr val="F3EAD7"/>
            </a:solidFill>
            <a:prstDash val="solid"/>
          </a:ln>
        </p:spPr>
      </p:sp>
      <p:sp>
        <p:nvSpPr>
          <p:cNvPr id="43" name="Text 40"/>
          <p:cNvSpPr txBox="1"/>
          <p:nvPr/>
        </p:nvSpPr>
        <p:spPr>
          <a:xfrm>
            <a:off x="8046720" y="2852928"/>
            <a:ext cx="685800" cy="640080"/>
          </a:xfrm>
          <a:prstGeom prst="rect">
            <a:avLst/>
          </a:prstGeom>
          <a:noFill/>
          <a:ln/>
        </p:spPr>
        <p:txBody>
          <a:bodyPr wrap="square" lIns="635" tIns="635" rIns="635" bIns="635" rtlCol="0" anchor="ctr"/>
          <a:lstStyle/>
          <a:p>
            <a:pPr algn="ctr" indent="0" marL="0">
              <a:buNone/>
            </a:pPr>
            <a:r>
              <a:rPr lang="en-US" sz="1300" b="1" dirty="0">
                <a:solidFill>
                  <a:srgbClr val="1B2430"/>
                </a:solidFill>
                <a:latin typeface="Consolas" pitchFamily="34" charset="0"/>
                <a:ea typeface="Consolas" pitchFamily="34" charset="-122"/>
                <a:cs typeface="Consolas" pitchFamily="34" charset="-120"/>
              </a:rPr>
              <a:t>B</a:t>
            </a:r>
            <a:endParaRPr lang="en-US" sz="1300" dirty="0"/>
          </a:p>
        </p:txBody>
      </p:sp>
      <p:sp>
        <p:nvSpPr>
          <p:cNvPr id="44" name="box"/>
          <p:cNvSpPr/>
          <p:nvPr/>
        </p:nvSpPr>
        <p:spPr>
          <a:xfrm>
            <a:off x="8778240" y="2852928"/>
            <a:ext cx="2834640" cy="640080"/>
          </a:xfrm>
          <a:prstGeom prst="roundRect">
            <a:avLst>
              <a:gd name="adj" fmla="val 11429"/>
            </a:avLst>
          </a:prstGeom>
          <a:solidFill>
            <a:srgbClr val="EEF2F6"/>
          </a:solidFill>
          <a:ln w="12700">
            <a:solidFill>
              <a:srgbClr val="EEF2F6"/>
            </a:solidFill>
            <a:prstDash val="solid"/>
          </a:ln>
        </p:spPr>
      </p:sp>
      <p:sp>
        <p:nvSpPr>
          <p:cNvPr id="45" name="Text 42"/>
          <p:cNvSpPr txBox="1"/>
          <p:nvPr/>
        </p:nvSpPr>
        <p:spPr>
          <a:xfrm>
            <a:off x="8778240" y="2852928"/>
            <a:ext cx="2834640" cy="640080"/>
          </a:xfrm>
          <a:prstGeom prst="rect">
            <a:avLst/>
          </a:prstGeom>
          <a:noFill/>
          <a:ln/>
        </p:spPr>
        <p:txBody>
          <a:bodyPr wrap="square" lIns="1016" tIns="1016" rIns="1016" bIns="1016" rtlCol="0" anchor="ctr"/>
          <a:lstStyle/>
          <a:p>
            <a:pPr algn="l" indent="0" marL="0">
              <a:buNone/>
            </a:pPr>
            <a:r>
              <a:rPr lang="en-US" sz="1100" dirty="0">
                <a:solidFill>
                  <a:srgbClr val="1B2430"/>
                </a:solidFill>
              </a:rPr>
              <a:t>block: headers, restart markers</a:t>
            </a:r>
            <a:endParaRPr lang="en-US" sz="1100" dirty="0"/>
          </a:p>
        </p:txBody>
      </p:sp>
      <p:sp>
        <p:nvSpPr>
          <p:cNvPr id="46" name="box"/>
          <p:cNvSpPr/>
          <p:nvPr/>
        </p:nvSpPr>
        <p:spPr>
          <a:xfrm>
            <a:off x="8046720" y="3602736"/>
            <a:ext cx="685800" cy="640080"/>
          </a:xfrm>
          <a:prstGeom prst="roundRect">
            <a:avLst>
              <a:gd name="adj" fmla="val 11429"/>
            </a:avLst>
          </a:prstGeom>
          <a:solidFill>
            <a:srgbClr val="F3EAD7"/>
          </a:solidFill>
          <a:ln w="12700">
            <a:solidFill>
              <a:srgbClr val="F3EAD7"/>
            </a:solidFill>
            <a:prstDash val="solid"/>
          </a:ln>
        </p:spPr>
      </p:sp>
      <p:sp>
        <p:nvSpPr>
          <p:cNvPr id="47" name="Text 44"/>
          <p:cNvSpPr txBox="1"/>
          <p:nvPr/>
        </p:nvSpPr>
        <p:spPr>
          <a:xfrm>
            <a:off x="8046720" y="3602736"/>
            <a:ext cx="685800" cy="640080"/>
          </a:xfrm>
          <a:prstGeom prst="rect">
            <a:avLst/>
          </a:prstGeom>
          <a:noFill/>
          <a:ln/>
        </p:spPr>
        <p:txBody>
          <a:bodyPr wrap="square" lIns="635" tIns="635" rIns="635" bIns="635" rtlCol="0" anchor="ctr"/>
          <a:lstStyle/>
          <a:p>
            <a:pPr algn="ctr" indent="0" marL="0">
              <a:buNone/>
            </a:pPr>
            <a:r>
              <a:rPr lang="en-US" sz="1300" b="1" dirty="0">
                <a:solidFill>
                  <a:srgbClr val="1B2430"/>
                </a:solidFill>
                <a:latin typeface="Consolas" pitchFamily="34" charset="0"/>
                <a:ea typeface="Consolas" pitchFamily="34" charset="-122"/>
                <a:cs typeface="Consolas" pitchFamily="34" charset="-120"/>
              </a:rPr>
              <a:t>C</a:t>
            </a:r>
            <a:endParaRPr lang="en-US" sz="1300" dirty="0"/>
          </a:p>
        </p:txBody>
      </p:sp>
      <p:sp>
        <p:nvSpPr>
          <p:cNvPr id="48" name="box"/>
          <p:cNvSpPr/>
          <p:nvPr/>
        </p:nvSpPr>
        <p:spPr>
          <a:xfrm>
            <a:off x="8778240" y="3602736"/>
            <a:ext cx="2834640" cy="640080"/>
          </a:xfrm>
          <a:prstGeom prst="roundRect">
            <a:avLst>
              <a:gd name="adj" fmla="val 11429"/>
            </a:avLst>
          </a:prstGeom>
          <a:solidFill>
            <a:srgbClr val="EEF2F6"/>
          </a:solidFill>
          <a:ln w="12700">
            <a:solidFill>
              <a:srgbClr val="EEF2F6"/>
            </a:solidFill>
            <a:prstDash val="solid"/>
          </a:ln>
        </p:spPr>
      </p:sp>
      <p:sp>
        <p:nvSpPr>
          <p:cNvPr id="49" name="Text 46"/>
          <p:cNvSpPr txBox="1"/>
          <p:nvPr/>
        </p:nvSpPr>
        <p:spPr>
          <a:xfrm>
            <a:off x="8778240" y="3602736"/>
            <a:ext cx="2834640" cy="640080"/>
          </a:xfrm>
          <a:prstGeom prst="rect">
            <a:avLst/>
          </a:prstGeom>
          <a:noFill/>
          <a:ln/>
        </p:spPr>
        <p:txBody>
          <a:bodyPr wrap="square" lIns="1016" tIns="1016" rIns="1016" bIns="1016" rtlCol="0" anchor="ctr"/>
          <a:lstStyle/>
          <a:p>
            <a:pPr algn="l" indent="0" marL="0">
              <a:buNone/>
            </a:pPr>
            <a:r>
              <a:rPr lang="en-US" sz="1100" dirty="0">
                <a:solidFill>
                  <a:srgbClr val="1B2430"/>
                </a:solidFill>
              </a:rPr>
              <a:t>compressed: run-length</a:t>
            </a:r>
            <a:endParaRPr lang="en-US" sz="1100" dirty="0"/>
          </a:p>
        </p:txBody>
      </p:sp>
      <p:sp>
        <p:nvSpPr>
          <p:cNvPr id="50" name="Shape 47"/>
          <p:cNvSpPr/>
          <p:nvPr/>
        </p:nvSpPr>
        <p:spPr>
          <a:xfrm>
            <a:off x="548640" y="5184648"/>
            <a:ext cx="384048" cy="384048"/>
          </a:xfrm>
          <a:prstGeom prst="ellipse">
            <a:avLst/>
          </a:prstGeom>
          <a:solidFill>
            <a:srgbClr val="B9772A"/>
          </a:solidFill>
          <a:ln w="12700">
            <a:solidFill>
              <a:srgbClr val="B9772A"/>
            </a:solidFill>
            <a:prstDash val="solid"/>
          </a:ln>
        </p:spPr>
      </p:sp>
      <p:sp>
        <p:nvSpPr>
          <p:cNvPr id="51" name="Text 48"/>
          <p:cNvSpPr txBox="1"/>
          <p:nvPr/>
        </p:nvSpPr>
        <p:spPr>
          <a:xfrm>
            <a:off x="548640" y="5184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2" name="Text 49"/>
          <p:cNvSpPr txBox="1"/>
          <p:nvPr/>
        </p:nvSpPr>
        <p:spPr>
          <a:xfrm>
            <a:off x="1051560" y="5166360"/>
            <a:ext cx="10561320" cy="5486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Today only </a:t>
            </a:r>
            <a:r>
              <a:rPr lang="en-US" sz="1300" b="1" dirty="0">
                <a:solidFill>
                  <a:srgbClr val="1B2430"/>
                </a:solidFill>
              </a:rPr>
              <a:t>TYPE A vs TYPE I</a:t>
            </a:r>
            <a:r>
              <a:rPr lang="en-US" sz="1300" dirty="0">
                <a:solidFill>
                  <a:srgbClr val="1B2430"/>
                </a:solidFill>
              </a:rPr>
              <a:t> matters: a photo sent as A between Windows and Linux is corrupted.</a:t>
            </a:r>
            <a:endParaRPr lang="en-US" sz="1300" dirty="0"/>
          </a:p>
        </p:txBody>
      </p:sp>
      <p:sp>
        <p:nvSpPr>
          <p:cNvPr id="53"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54" name="Text 51"/>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Defaults: TYPE A, STRU F, MODE S — and switch to TYPE I for anything that is not plain text.</a:t>
            </a:r>
            <a:endParaRPr lang="en-US" sz="1400" dirty="0"/>
          </a:p>
        </p:txBody>
      </p:sp>
      <p:sp>
        <p:nvSpPr>
          <p:cNvPr id="55" name="Text 52"/>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EBCDIC (Extended Binary Coded Decimal Interchange Code) · ASCII (American Standard Code for Information Interchange) · STRU (file structure) · CR (carriage return) · LF (line feed)</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Why ASCII mode corrupts a binary file</a:t>
            </a:r>
            <a:endParaRPr lang="en-US" sz="3000" dirty="0"/>
          </a:p>
        </p:txBody>
      </p:sp>
      <p:sp>
        <p:nvSpPr>
          <p:cNvPr id="4" name="box"/>
          <p:cNvSpPr/>
          <p:nvPr/>
        </p:nvSpPr>
        <p:spPr>
          <a:xfrm>
            <a:off x="548640" y="1463040"/>
            <a:ext cx="777240" cy="640080"/>
          </a:xfrm>
          <a:prstGeom prst="rect">
            <a:avLst/>
          </a:prstGeom>
          <a:solidFill>
            <a:srgbClr val="EEF2F6"/>
          </a:solidFill>
          <a:ln w="12700">
            <a:solidFill>
              <a:srgbClr val="EEF2F6"/>
            </a:solidFill>
            <a:prstDash val="solid"/>
          </a:ln>
        </p:spPr>
      </p:sp>
      <p:sp>
        <p:nvSpPr>
          <p:cNvPr id="5" name="Text 2"/>
          <p:cNvSpPr txBox="1"/>
          <p:nvPr/>
        </p:nvSpPr>
        <p:spPr>
          <a:xfrm>
            <a:off x="548640" y="146304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89</a:t>
            </a:r>
            <a:endParaRPr lang="en-US" sz="1500" dirty="0"/>
          </a:p>
        </p:txBody>
      </p:sp>
      <p:sp>
        <p:nvSpPr>
          <p:cNvPr id="6" name="box"/>
          <p:cNvSpPr/>
          <p:nvPr/>
        </p:nvSpPr>
        <p:spPr>
          <a:xfrm>
            <a:off x="1417320" y="1463040"/>
            <a:ext cx="777240" cy="640080"/>
          </a:xfrm>
          <a:prstGeom prst="rect">
            <a:avLst/>
          </a:prstGeom>
          <a:solidFill>
            <a:srgbClr val="EEF2F6"/>
          </a:solidFill>
          <a:ln w="12700">
            <a:solidFill>
              <a:srgbClr val="EEF2F6"/>
            </a:solidFill>
            <a:prstDash val="solid"/>
          </a:ln>
        </p:spPr>
      </p:sp>
      <p:sp>
        <p:nvSpPr>
          <p:cNvPr id="7" name="Text 4"/>
          <p:cNvSpPr txBox="1"/>
          <p:nvPr/>
        </p:nvSpPr>
        <p:spPr>
          <a:xfrm>
            <a:off x="1417320" y="146304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50</a:t>
            </a:r>
            <a:endParaRPr lang="en-US" sz="1500" dirty="0"/>
          </a:p>
        </p:txBody>
      </p:sp>
      <p:sp>
        <p:nvSpPr>
          <p:cNvPr id="8" name="box"/>
          <p:cNvSpPr/>
          <p:nvPr/>
        </p:nvSpPr>
        <p:spPr>
          <a:xfrm>
            <a:off x="2286000" y="1463040"/>
            <a:ext cx="777240" cy="640080"/>
          </a:xfrm>
          <a:prstGeom prst="rect">
            <a:avLst/>
          </a:prstGeom>
          <a:solidFill>
            <a:srgbClr val="B9772A"/>
          </a:solidFill>
          <a:ln w="12700">
            <a:solidFill>
              <a:srgbClr val="B9772A"/>
            </a:solidFill>
            <a:prstDash val="solid"/>
          </a:ln>
        </p:spPr>
      </p:sp>
      <p:sp>
        <p:nvSpPr>
          <p:cNvPr id="9" name="Text 6"/>
          <p:cNvSpPr txBox="1"/>
          <p:nvPr/>
        </p:nvSpPr>
        <p:spPr>
          <a:xfrm>
            <a:off x="2286000" y="146304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0A</a:t>
            </a:r>
            <a:endParaRPr lang="en-US" sz="1500" dirty="0"/>
          </a:p>
        </p:txBody>
      </p:sp>
      <p:sp>
        <p:nvSpPr>
          <p:cNvPr id="10" name="box"/>
          <p:cNvSpPr/>
          <p:nvPr/>
        </p:nvSpPr>
        <p:spPr>
          <a:xfrm>
            <a:off x="3154680" y="1463040"/>
            <a:ext cx="777240" cy="640080"/>
          </a:xfrm>
          <a:prstGeom prst="rect">
            <a:avLst/>
          </a:prstGeom>
          <a:solidFill>
            <a:srgbClr val="EEF2F6"/>
          </a:solidFill>
          <a:ln w="12700">
            <a:solidFill>
              <a:srgbClr val="EEF2F6"/>
            </a:solidFill>
            <a:prstDash val="solid"/>
          </a:ln>
        </p:spPr>
      </p:sp>
      <p:sp>
        <p:nvSpPr>
          <p:cNvPr id="11" name="Text 8"/>
          <p:cNvSpPr txBox="1"/>
          <p:nvPr/>
        </p:nvSpPr>
        <p:spPr>
          <a:xfrm>
            <a:off x="3154680" y="146304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1A</a:t>
            </a:r>
            <a:endParaRPr lang="en-US" sz="1500" dirty="0"/>
          </a:p>
        </p:txBody>
      </p:sp>
      <p:sp>
        <p:nvSpPr>
          <p:cNvPr id="12" name="box"/>
          <p:cNvSpPr/>
          <p:nvPr/>
        </p:nvSpPr>
        <p:spPr>
          <a:xfrm>
            <a:off x="4023360" y="1463040"/>
            <a:ext cx="777240" cy="640080"/>
          </a:xfrm>
          <a:prstGeom prst="rect">
            <a:avLst/>
          </a:prstGeom>
          <a:solidFill>
            <a:srgbClr val="EEF2F6"/>
          </a:solidFill>
          <a:ln w="12700">
            <a:solidFill>
              <a:srgbClr val="EEF2F6"/>
            </a:solidFill>
            <a:prstDash val="solid"/>
          </a:ln>
        </p:spPr>
      </p:sp>
      <p:sp>
        <p:nvSpPr>
          <p:cNvPr id="13" name="Text 10"/>
          <p:cNvSpPr txBox="1"/>
          <p:nvPr/>
        </p:nvSpPr>
        <p:spPr>
          <a:xfrm>
            <a:off x="4023360" y="146304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0D</a:t>
            </a:r>
            <a:endParaRPr lang="en-US" sz="1500" dirty="0"/>
          </a:p>
        </p:txBody>
      </p:sp>
      <p:sp>
        <p:nvSpPr>
          <p:cNvPr id="14" name="box"/>
          <p:cNvSpPr/>
          <p:nvPr/>
        </p:nvSpPr>
        <p:spPr>
          <a:xfrm>
            <a:off x="4892040" y="1463040"/>
            <a:ext cx="777240" cy="640080"/>
          </a:xfrm>
          <a:prstGeom prst="rect">
            <a:avLst/>
          </a:prstGeom>
          <a:solidFill>
            <a:srgbClr val="B9772A"/>
          </a:solidFill>
          <a:ln w="12700">
            <a:solidFill>
              <a:srgbClr val="B9772A"/>
            </a:solidFill>
            <a:prstDash val="solid"/>
          </a:ln>
        </p:spPr>
      </p:sp>
      <p:sp>
        <p:nvSpPr>
          <p:cNvPr id="15" name="Text 12"/>
          <p:cNvSpPr txBox="1"/>
          <p:nvPr/>
        </p:nvSpPr>
        <p:spPr>
          <a:xfrm>
            <a:off x="4892040" y="146304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0A</a:t>
            </a:r>
            <a:endParaRPr lang="en-US" sz="1500" dirty="0"/>
          </a:p>
        </p:txBody>
      </p:sp>
      <p:sp>
        <p:nvSpPr>
          <p:cNvPr id="16" name="box"/>
          <p:cNvSpPr/>
          <p:nvPr/>
        </p:nvSpPr>
        <p:spPr>
          <a:xfrm>
            <a:off x="5760720" y="1463040"/>
            <a:ext cx="777240" cy="640080"/>
          </a:xfrm>
          <a:prstGeom prst="rect">
            <a:avLst/>
          </a:prstGeom>
          <a:solidFill>
            <a:srgbClr val="EEF2F6"/>
          </a:solidFill>
          <a:ln w="12700">
            <a:solidFill>
              <a:srgbClr val="EEF2F6"/>
            </a:solidFill>
            <a:prstDash val="solid"/>
          </a:ln>
        </p:spPr>
      </p:sp>
      <p:sp>
        <p:nvSpPr>
          <p:cNvPr id="17" name="Text 14"/>
          <p:cNvSpPr txBox="1"/>
          <p:nvPr/>
        </p:nvSpPr>
        <p:spPr>
          <a:xfrm>
            <a:off x="5760720" y="146304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00</a:t>
            </a:r>
            <a:endParaRPr lang="en-US" sz="1500" dirty="0"/>
          </a:p>
        </p:txBody>
      </p:sp>
      <p:sp>
        <p:nvSpPr>
          <p:cNvPr id="18" name="Text 15"/>
          <p:cNvSpPr txBox="1"/>
          <p:nvPr/>
        </p:nvSpPr>
        <p:spPr>
          <a:xfrm>
            <a:off x="548640" y="2194560"/>
            <a:ext cx="6035040" cy="365760"/>
          </a:xfrm>
          <a:prstGeom prst="rect">
            <a:avLst/>
          </a:prstGeom>
          <a:noFill/>
          <a:ln/>
        </p:spPr>
        <p:txBody>
          <a:bodyPr wrap="square" lIns="0" tIns="0" rIns="0" bIns="0" rtlCol="0" anchor="t"/>
          <a:lstStyle/>
          <a:p>
            <a:pPr algn="l" indent="0" marL="0">
              <a:spcAft>
                <a:spcPts val="400"/>
              </a:spcAft>
              <a:buNone/>
            </a:pPr>
            <a:r>
              <a:rPr lang="en-US" sz="1200" dirty="0">
                <a:solidFill>
                  <a:srgbClr val="5B6770"/>
                </a:solidFill>
              </a:rPr>
              <a:t>Linux server, original PNG bytes</a:t>
            </a:r>
            <a:endParaRPr lang="en-US" sz="1200" dirty="0"/>
          </a:p>
        </p:txBody>
      </p:sp>
      <p:sp>
        <p:nvSpPr>
          <p:cNvPr id="19" name="Shape 16"/>
          <p:cNvSpPr/>
          <p:nvPr/>
        </p:nvSpPr>
        <p:spPr>
          <a:xfrm>
            <a:off x="3474720" y="2606040"/>
            <a:ext cx="914" cy="502920"/>
          </a:xfrm>
          <a:prstGeom prst="line">
            <a:avLst/>
          </a:prstGeom>
          <a:noFill/>
          <a:ln w="31750">
            <a:solidFill>
              <a:srgbClr val="A23B3B"/>
            </a:solidFill>
            <a:prstDash val="solid"/>
            <a:tailEnd type="triangle"/>
          </a:ln>
        </p:spPr>
      </p:sp>
      <p:sp>
        <p:nvSpPr>
          <p:cNvPr id="20" name="Text 17"/>
          <p:cNvSpPr txBox="1"/>
          <p:nvPr/>
        </p:nvSpPr>
        <p:spPr>
          <a:xfrm>
            <a:off x="3931920" y="2697480"/>
            <a:ext cx="237744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A23B3B"/>
                </a:solidFill>
              </a:rPr>
              <a:t>TYPE A: 0A → 0D 0A</a:t>
            </a:r>
            <a:endParaRPr lang="en-US" sz="1200" dirty="0"/>
          </a:p>
        </p:txBody>
      </p:sp>
      <p:sp>
        <p:nvSpPr>
          <p:cNvPr id="21" name="box"/>
          <p:cNvSpPr/>
          <p:nvPr/>
        </p:nvSpPr>
        <p:spPr>
          <a:xfrm>
            <a:off x="548640" y="3200400"/>
            <a:ext cx="777240" cy="640080"/>
          </a:xfrm>
          <a:prstGeom prst="rect">
            <a:avLst/>
          </a:prstGeom>
          <a:solidFill>
            <a:srgbClr val="EEF2F6"/>
          </a:solidFill>
          <a:ln w="12700">
            <a:solidFill>
              <a:srgbClr val="EEF2F6"/>
            </a:solidFill>
            <a:prstDash val="solid"/>
          </a:ln>
        </p:spPr>
      </p:sp>
      <p:sp>
        <p:nvSpPr>
          <p:cNvPr id="22" name="Text 19"/>
          <p:cNvSpPr txBox="1"/>
          <p:nvPr/>
        </p:nvSpPr>
        <p:spPr>
          <a:xfrm>
            <a:off x="548640" y="320040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89</a:t>
            </a:r>
            <a:endParaRPr lang="en-US" sz="1500" dirty="0"/>
          </a:p>
        </p:txBody>
      </p:sp>
      <p:sp>
        <p:nvSpPr>
          <p:cNvPr id="23" name="box"/>
          <p:cNvSpPr/>
          <p:nvPr/>
        </p:nvSpPr>
        <p:spPr>
          <a:xfrm>
            <a:off x="1417320" y="3200400"/>
            <a:ext cx="777240" cy="640080"/>
          </a:xfrm>
          <a:prstGeom prst="rect">
            <a:avLst/>
          </a:prstGeom>
          <a:solidFill>
            <a:srgbClr val="EEF2F6"/>
          </a:solidFill>
          <a:ln w="12700">
            <a:solidFill>
              <a:srgbClr val="EEF2F6"/>
            </a:solidFill>
            <a:prstDash val="solid"/>
          </a:ln>
        </p:spPr>
      </p:sp>
      <p:sp>
        <p:nvSpPr>
          <p:cNvPr id="24" name="Text 21"/>
          <p:cNvSpPr txBox="1"/>
          <p:nvPr/>
        </p:nvSpPr>
        <p:spPr>
          <a:xfrm>
            <a:off x="1417320" y="320040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50</a:t>
            </a:r>
            <a:endParaRPr lang="en-US" sz="1500" dirty="0"/>
          </a:p>
        </p:txBody>
      </p:sp>
      <p:sp>
        <p:nvSpPr>
          <p:cNvPr id="25" name="box"/>
          <p:cNvSpPr/>
          <p:nvPr/>
        </p:nvSpPr>
        <p:spPr>
          <a:xfrm>
            <a:off x="2286000" y="3200400"/>
            <a:ext cx="777240" cy="640080"/>
          </a:xfrm>
          <a:prstGeom prst="rect">
            <a:avLst/>
          </a:prstGeom>
          <a:solidFill>
            <a:srgbClr val="F2D6D6"/>
          </a:solidFill>
          <a:ln w="12700">
            <a:solidFill>
              <a:srgbClr val="F2D6D6"/>
            </a:solidFill>
            <a:prstDash val="solid"/>
          </a:ln>
        </p:spPr>
      </p:sp>
      <p:sp>
        <p:nvSpPr>
          <p:cNvPr id="26" name="Text 23"/>
          <p:cNvSpPr txBox="1"/>
          <p:nvPr/>
        </p:nvSpPr>
        <p:spPr>
          <a:xfrm>
            <a:off x="2286000" y="320040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0D</a:t>
            </a:r>
            <a:endParaRPr lang="en-US" sz="1500" dirty="0"/>
          </a:p>
        </p:txBody>
      </p:sp>
      <p:sp>
        <p:nvSpPr>
          <p:cNvPr id="27" name="box"/>
          <p:cNvSpPr/>
          <p:nvPr/>
        </p:nvSpPr>
        <p:spPr>
          <a:xfrm>
            <a:off x="3154680" y="3200400"/>
            <a:ext cx="777240" cy="640080"/>
          </a:xfrm>
          <a:prstGeom prst="rect">
            <a:avLst/>
          </a:prstGeom>
          <a:solidFill>
            <a:srgbClr val="EEF2F6"/>
          </a:solidFill>
          <a:ln w="12700">
            <a:solidFill>
              <a:srgbClr val="EEF2F6"/>
            </a:solidFill>
            <a:prstDash val="solid"/>
          </a:ln>
        </p:spPr>
      </p:sp>
      <p:sp>
        <p:nvSpPr>
          <p:cNvPr id="28" name="Text 25"/>
          <p:cNvSpPr txBox="1"/>
          <p:nvPr/>
        </p:nvSpPr>
        <p:spPr>
          <a:xfrm>
            <a:off x="3154680" y="320040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0A</a:t>
            </a:r>
            <a:endParaRPr lang="en-US" sz="1500" dirty="0"/>
          </a:p>
        </p:txBody>
      </p:sp>
      <p:sp>
        <p:nvSpPr>
          <p:cNvPr id="29" name="box"/>
          <p:cNvSpPr/>
          <p:nvPr/>
        </p:nvSpPr>
        <p:spPr>
          <a:xfrm>
            <a:off x="4023360" y="3200400"/>
            <a:ext cx="777240" cy="640080"/>
          </a:xfrm>
          <a:prstGeom prst="rect">
            <a:avLst/>
          </a:prstGeom>
          <a:solidFill>
            <a:srgbClr val="EEF2F6"/>
          </a:solidFill>
          <a:ln w="12700">
            <a:solidFill>
              <a:srgbClr val="EEF2F6"/>
            </a:solidFill>
            <a:prstDash val="solid"/>
          </a:ln>
        </p:spPr>
      </p:sp>
      <p:sp>
        <p:nvSpPr>
          <p:cNvPr id="30" name="Text 27"/>
          <p:cNvSpPr txBox="1"/>
          <p:nvPr/>
        </p:nvSpPr>
        <p:spPr>
          <a:xfrm>
            <a:off x="4023360" y="320040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1A</a:t>
            </a:r>
            <a:endParaRPr lang="en-US" sz="1500" dirty="0"/>
          </a:p>
        </p:txBody>
      </p:sp>
      <p:sp>
        <p:nvSpPr>
          <p:cNvPr id="31" name="box"/>
          <p:cNvSpPr/>
          <p:nvPr/>
        </p:nvSpPr>
        <p:spPr>
          <a:xfrm>
            <a:off x="4892040" y="3200400"/>
            <a:ext cx="777240" cy="640080"/>
          </a:xfrm>
          <a:prstGeom prst="rect">
            <a:avLst/>
          </a:prstGeom>
          <a:solidFill>
            <a:srgbClr val="EEF2F6"/>
          </a:solidFill>
          <a:ln w="12700">
            <a:solidFill>
              <a:srgbClr val="EEF2F6"/>
            </a:solidFill>
            <a:prstDash val="solid"/>
          </a:ln>
        </p:spPr>
      </p:sp>
      <p:sp>
        <p:nvSpPr>
          <p:cNvPr id="32" name="Text 29"/>
          <p:cNvSpPr txBox="1"/>
          <p:nvPr/>
        </p:nvSpPr>
        <p:spPr>
          <a:xfrm>
            <a:off x="4892040" y="320040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0D</a:t>
            </a:r>
            <a:endParaRPr lang="en-US" sz="1500" dirty="0"/>
          </a:p>
        </p:txBody>
      </p:sp>
      <p:sp>
        <p:nvSpPr>
          <p:cNvPr id="33" name="box"/>
          <p:cNvSpPr/>
          <p:nvPr/>
        </p:nvSpPr>
        <p:spPr>
          <a:xfrm>
            <a:off x="5760720" y="3200400"/>
            <a:ext cx="777240" cy="640080"/>
          </a:xfrm>
          <a:prstGeom prst="rect">
            <a:avLst/>
          </a:prstGeom>
          <a:solidFill>
            <a:srgbClr val="F2D6D6"/>
          </a:solidFill>
          <a:ln w="12700">
            <a:solidFill>
              <a:srgbClr val="F2D6D6"/>
            </a:solidFill>
            <a:prstDash val="solid"/>
          </a:ln>
        </p:spPr>
      </p:sp>
      <p:sp>
        <p:nvSpPr>
          <p:cNvPr id="34" name="Text 31"/>
          <p:cNvSpPr txBox="1"/>
          <p:nvPr/>
        </p:nvSpPr>
        <p:spPr>
          <a:xfrm>
            <a:off x="5760720" y="320040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0D</a:t>
            </a:r>
            <a:endParaRPr lang="en-US" sz="1500" dirty="0"/>
          </a:p>
        </p:txBody>
      </p:sp>
      <p:sp>
        <p:nvSpPr>
          <p:cNvPr id="35" name="box"/>
          <p:cNvSpPr/>
          <p:nvPr/>
        </p:nvSpPr>
        <p:spPr>
          <a:xfrm>
            <a:off x="6629400" y="3200400"/>
            <a:ext cx="777240" cy="640080"/>
          </a:xfrm>
          <a:prstGeom prst="rect">
            <a:avLst/>
          </a:prstGeom>
          <a:solidFill>
            <a:srgbClr val="EEF2F6"/>
          </a:solidFill>
          <a:ln w="12700">
            <a:solidFill>
              <a:srgbClr val="EEF2F6"/>
            </a:solidFill>
            <a:prstDash val="solid"/>
          </a:ln>
        </p:spPr>
      </p:sp>
      <p:sp>
        <p:nvSpPr>
          <p:cNvPr id="36" name="Text 33"/>
          <p:cNvSpPr txBox="1"/>
          <p:nvPr/>
        </p:nvSpPr>
        <p:spPr>
          <a:xfrm>
            <a:off x="6629400" y="320040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0A</a:t>
            </a:r>
            <a:endParaRPr lang="en-US" sz="1500" dirty="0"/>
          </a:p>
        </p:txBody>
      </p:sp>
      <p:sp>
        <p:nvSpPr>
          <p:cNvPr id="37" name="box"/>
          <p:cNvSpPr/>
          <p:nvPr/>
        </p:nvSpPr>
        <p:spPr>
          <a:xfrm>
            <a:off x="7498080" y="3200400"/>
            <a:ext cx="777240" cy="640080"/>
          </a:xfrm>
          <a:prstGeom prst="rect">
            <a:avLst/>
          </a:prstGeom>
          <a:solidFill>
            <a:srgbClr val="EEF2F6"/>
          </a:solidFill>
          <a:ln w="12700">
            <a:solidFill>
              <a:srgbClr val="EEF2F6"/>
            </a:solidFill>
            <a:prstDash val="solid"/>
          </a:ln>
        </p:spPr>
      </p:sp>
      <p:sp>
        <p:nvSpPr>
          <p:cNvPr id="38" name="Text 35"/>
          <p:cNvSpPr txBox="1"/>
          <p:nvPr/>
        </p:nvSpPr>
        <p:spPr>
          <a:xfrm>
            <a:off x="7498080" y="3200400"/>
            <a:ext cx="777240" cy="64008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00</a:t>
            </a:r>
            <a:endParaRPr lang="en-US" sz="1500" dirty="0"/>
          </a:p>
        </p:txBody>
      </p:sp>
      <p:sp>
        <p:nvSpPr>
          <p:cNvPr id="39" name="Text 36"/>
          <p:cNvSpPr txBox="1"/>
          <p:nvPr/>
        </p:nvSpPr>
        <p:spPr>
          <a:xfrm>
            <a:off x="548640" y="3931920"/>
            <a:ext cx="7863840" cy="365760"/>
          </a:xfrm>
          <a:prstGeom prst="rect">
            <a:avLst/>
          </a:prstGeom>
          <a:noFill/>
          <a:ln/>
        </p:spPr>
        <p:txBody>
          <a:bodyPr wrap="square" lIns="0" tIns="0" rIns="0" bIns="0" rtlCol="0" anchor="t"/>
          <a:lstStyle/>
          <a:p>
            <a:pPr algn="l" indent="0" marL="0">
              <a:spcAft>
                <a:spcPts val="400"/>
              </a:spcAft>
              <a:buNone/>
            </a:pPr>
            <a:r>
              <a:rPr lang="en-US" sz="1200" dirty="0">
                <a:solidFill>
                  <a:srgbClr val="A23B3B"/>
                </a:solidFill>
              </a:rPr>
              <a:t>Windows client: two bytes inserted — every later byte shifts</a:t>
            </a:r>
            <a:endParaRPr lang="en-US" sz="1200" dirty="0"/>
          </a:p>
        </p:txBody>
      </p:sp>
      <p:sp>
        <p:nvSpPr>
          <p:cNvPr id="40" name="box"/>
          <p:cNvSpPr/>
          <p:nvPr/>
        </p:nvSpPr>
        <p:spPr>
          <a:xfrm>
            <a:off x="8595360" y="1463040"/>
            <a:ext cx="3017520" cy="2377440"/>
          </a:xfrm>
          <a:prstGeom prst="roundRect">
            <a:avLst>
              <a:gd name="adj" fmla="val 3077"/>
            </a:avLst>
          </a:prstGeom>
          <a:solidFill>
            <a:srgbClr val="F2D6D6"/>
          </a:solidFill>
          <a:ln w="12700">
            <a:solidFill>
              <a:srgbClr val="F2D6D6"/>
            </a:solidFill>
            <a:prstDash val="solid"/>
          </a:ln>
        </p:spPr>
      </p:sp>
      <p:sp>
        <p:nvSpPr>
          <p:cNvPr id="41" name="Text 38"/>
          <p:cNvSpPr txBox="1"/>
          <p:nvPr/>
        </p:nvSpPr>
        <p:spPr>
          <a:xfrm>
            <a:off x="8595360" y="1463040"/>
            <a:ext cx="3017520" cy="2377440"/>
          </a:xfrm>
          <a:prstGeom prst="rect">
            <a:avLst/>
          </a:prstGeom>
          <a:noFill/>
          <a:ln/>
        </p:spPr>
        <p:txBody>
          <a:bodyPr wrap="square" lIns="635" tIns="635" rIns="635" bIns="635" rtlCol="0" anchor="ctr"/>
          <a:lstStyle/>
          <a:p>
            <a:pPr algn="ctr" indent="0" marL="0">
              <a:spcAft>
                <a:spcPts val="400"/>
              </a:spcAft>
              <a:buNone/>
            </a:pPr>
            <a:r>
              <a:rPr lang="en-US" sz="1400" b="1" dirty="0">
                <a:solidFill>
                  <a:srgbClr val="1B2430"/>
                </a:solidFill>
              </a:rPr>
              <a:t>10 000-byte PNG</a:t>
            </a:r>
            <a:endParaRPr lang="en-US" sz="1400" dirty="0"/>
          </a:p>
          <a:p>
            <a:pPr algn="ctr" indent="0" marL="0">
              <a:spcAft>
                <a:spcPts val="400"/>
              </a:spcAft>
              <a:buNone/>
            </a:pPr>
            <a:r>
              <a:rPr lang="en-US" sz="1400" dirty="0">
                <a:solidFill>
                  <a:srgbClr val="1B2430"/>
                </a:solidFill>
              </a:rPr>
              <a:t>40 × 0A</a:t>
            </a:r>
            <a:endParaRPr lang="en-US" sz="1400" dirty="0"/>
          </a:p>
          <a:p>
            <a:pPr algn="ctr" indent="0" marL="0">
              <a:spcAft>
                <a:spcPts val="400"/>
              </a:spcAft>
              <a:buNone/>
            </a:pPr>
            <a:r>
              <a:rPr lang="en-US" sz="1400" dirty="0">
                <a:solidFill>
                  <a:srgbClr val="1B2430"/>
                </a:solidFill>
              </a:rPr>
              <a:t>→ </a:t>
            </a:r>
            <a:r>
              <a:rPr lang="en-US" sz="1400" b="1" dirty="0">
                <a:solidFill>
                  <a:srgbClr val="1B2430"/>
                </a:solidFill>
              </a:rPr>
              <a:t>10 040</a:t>
            </a:r>
            <a:r>
              <a:rPr lang="en-US" sz="1400" dirty="0">
                <a:solidFill>
                  <a:srgbClr val="1B2430"/>
                </a:solidFill>
              </a:rPr>
              <a:t> bytes</a:t>
            </a:r>
            <a:endParaRPr lang="en-US" sz="1400" dirty="0"/>
          </a:p>
          <a:p>
            <a:pPr algn="ctr" indent="0" marL="0">
              <a:spcAft>
                <a:spcPts val="400"/>
              </a:spcAft>
              <a:buNone/>
            </a:pPr>
            <a:r>
              <a:rPr lang="en-US" sz="1400" dirty="0">
                <a:solidFill>
                  <a:srgbClr val="1B2430"/>
                </a:solidFill>
              </a:rPr>
              <a:t>image unusable</a:t>
            </a:r>
            <a:endParaRPr lang="en-US" sz="1400" dirty="0"/>
          </a:p>
        </p:txBody>
      </p:sp>
      <p:sp>
        <p:nvSpPr>
          <p:cNvPr id="42" name="Shape 39"/>
          <p:cNvSpPr/>
          <p:nvPr/>
        </p:nvSpPr>
        <p:spPr>
          <a:xfrm>
            <a:off x="548640" y="4590288"/>
            <a:ext cx="384048" cy="384048"/>
          </a:xfrm>
          <a:prstGeom prst="ellipse">
            <a:avLst/>
          </a:prstGeom>
          <a:solidFill>
            <a:srgbClr val="B9772A"/>
          </a:solidFill>
          <a:ln w="12700">
            <a:solidFill>
              <a:srgbClr val="B9772A"/>
            </a:solidFill>
            <a:prstDash val="solid"/>
          </a:ln>
        </p:spPr>
      </p:sp>
      <p:sp>
        <p:nvSpPr>
          <p:cNvPr id="43" name="Text 40"/>
          <p:cNvSpPr txBox="1"/>
          <p:nvPr/>
        </p:nvSpPr>
        <p:spPr>
          <a:xfrm>
            <a:off x="548640" y="4590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44" name="Text 41"/>
          <p:cNvSpPr txBox="1"/>
          <p:nvPr/>
        </p:nvSpPr>
        <p:spPr>
          <a:xfrm>
            <a:off x="1051560" y="4572000"/>
            <a:ext cx="10561320" cy="9144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TYPE I sends bytes unchanged — the only correct choice for images, archives and programs. Modern clients switch to binary automatically.</a:t>
            </a:r>
            <a:endParaRPr lang="en-US" sz="1300" dirty="0"/>
          </a:p>
        </p:txBody>
      </p:sp>
      <p:sp>
        <p:nvSpPr>
          <p:cNvPr id="45"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46" name="Text 43"/>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Text conversion is a feature for text and a bug for everything else.</a:t>
            </a:r>
            <a:endParaRPr lang="en-US" sz="1400" dirty="0"/>
          </a:p>
        </p:txBody>
      </p:sp>
      <p:sp>
        <p:nvSpPr>
          <p:cNvPr id="47" name="Text 44"/>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ASCII (American Standard Code for Information Interchange) · PNG (Portable Network Graphics)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FTP keeps state; plain FTP sends passwords in clear</a:t>
            </a:r>
            <a:endParaRPr lang="en-US" sz="3000" dirty="0"/>
          </a:p>
        </p:txBody>
      </p:sp>
      <p:sp>
        <p:nvSpPr>
          <p:cNvPr id="4" name="box"/>
          <p:cNvSpPr/>
          <p:nvPr/>
        </p:nvSpPr>
        <p:spPr>
          <a:xfrm>
            <a:off x="548640" y="1325880"/>
            <a:ext cx="5394960" cy="2926080"/>
          </a:xfrm>
          <a:prstGeom prst="roundRect">
            <a:avLst>
              <a:gd name="adj" fmla="val 2500"/>
            </a:avLst>
          </a:prstGeom>
          <a:solidFill>
            <a:srgbClr val="EEF2F6"/>
          </a:solidFill>
          <a:ln w="12700">
            <a:solidFill>
              <a:srgbClr val="EEF2F6"/>
            </a:solidFill>
            <a:prstDash val="solid"/>
          </a:ln>
        </p:spPr>
      </p:sp>
      <p:sp>
        <p:nvSpPr>
          <p:cNvPr id="5" name="Text 2"/>
          <p:cNvSpPr txBox="1"/>
          <p:nvPr/>
        </p:nvSpPr>
        <p:spPr>
          <a:xfrm>
            <a:off x="548640" y="1325880"/>
            <a:ext cx="5394960" cy="2926080"/>
          </a:xfrm>
          <a:prstGeom prst="rect">
            <a:avLst/>
          </a:prstGeom>
          <a:noFill/>
          <a:ln/>
        </p:spPr>
        <p:txBody>
          <a:bodyPr wrap="square" lIns="635" tIns="635" rIns="635" bIns="635" rtlCol="0" anchor="ctr"/>
          <a:lstStyle/>
          <a:p>
            <a:pPr algn="ctr" indent="0" marL="0">
              <a:spcAft>
                <a:spcPts val="500"/>
              </a:spcAft>
              <a:buNone/>
            </a:pPr>
            <a:r>
              <a:rPr lang="en-US" sz="1400" b="1" dirty="0">
                <a:solidFill>
                  <a:srgbClr val="1B2430"/>
                </a:solidFill>
              </a:rPr>
              <a:t>per-session state on the server</a:t>
            </a:r>
            <a:endParaRPr lang="en-US" sz="1400" dirty="0"/>
          </a:p>
          <a:p>
            <a:pPr algn="ctr" indent="0" marL="0">
              <a:spcAft>
                <a:spcPts val="500"/>
              </a:spcAft>
              <a:buNone/>
            </a:pPr>
            <a:r>
              <a:rPr lang="en-US" sz="1400" dirty="0">
                <a:solidFill>
                  <a:srgbClr val="1B2430"/>
                </a:solidFill>
              </a:rPr>
              <a:t>logged in? as whom?</a:t>
            </a:r>
            <a:endParaRPr lang="en-US" sz="1400" dirty="0"/>
          </a:p>
          <a:p>
            <a:pPr algn="ctr" indent="0" marL="0">
              <a:spcAft>
                <a:spcPts val="500"/>
              </a:spcAft>
              <a:buNone/>
            </a:pPr>
            <a:r>
              <a:rPr lang="en-US" sz="1400" dirty="0">
                <a:solidFill>
                  <a:srgbClr val="1B2430"/>
                </a:solidFill>
              </a:rPr>
              <a:t>current directory</a:t>
            </a:r>
            <a:endParaRPr lang="en-US" sz="1400" dirty="0"/>
          </a:p>
          <a:p>
            <a:pPr algn="ctr" indent="0" marL="0">
              <a:spcAft>
                <a:spcPts val="500"/>
              </a:spcAft>
              <a:buNone/>
            </a:pPr>
            <a:r>
              <a:rPr lang="en-US" sz="1400" dirty="0">
                <a:solidFill>
                  <a:srgbClr val="1B2430"/>
                </a:solidFill>
              </a:rPr>
              <a:t>TYPE · STRU · MODE in force</a:t>
            </a:r>
            <a:endParaRPr lang="en-US" sz="1400" dirty="0"/>
          </a:p>
          <a:p>
            <a:pPr algn="ctr" indent="0" marL="0">
              <a:spcAft>
                <a:spcPts val="500"/>
              </a:spcAft>
              <a:buNone/>
            </a:pPr>
            <a:r>
              <a:rPr lang="en-US" sz="1400" dirty="0">
                <a:solidFill>
                  <a:srgbClr val="1B2430"/>
                </a:solidFill>
              </a:rPr>
              <a:t>a pending RNFR (rename)</a:t>
            </a:r>
            <a:endParaRPr lang="en-US" sz="1400" dirty="0"/>
          </a:p>
        </p:txBody>
      </p:sp>
      <p:sp>
        <p:nvSpPr>
          <p:cNvPr id="6" name="Text 3"/>
          <p:cNvSpPr txBox="1"/>
          <p:nvPr/>
        </p:nvSpPr>
        <p:spPr>
          <a:xfrm>
            <a:off x="6217920" y="1325880"/>
            <a:ext cx="5394960" cy="365760"/>
          </a:xfrm>
          <a:prstGeom prst="rect">
            <a:avLst/>
          </a:prstGeom>
          <a:noFill/>
          <a:ln/>
        </p:spPr>
        <p:txBody>
          <a:bodyPr wrap="square" lIns="0" tIns="0" rIns="0" bIns="0" rtlCol="0" anchor="t"/>
          <a:lstStyle/>
          <a:p>
            <a:pPr algn="l" indent="0" marL="0">
              <a:spcAft>
                <a:spcPts val="400"/>
              </a:spcAft>
              <a:buNone/>
            </a:pPr>
            <a:r>
              <a:rPr lang="en-US" sz="1500" b="1" dirty="0">
                <a:solidFill>
                  <a:srgbClr val="2E7D4F"/>
                </a:solidFill>
              </a:rPr>
              <a:t>secure alternatives</a:t>
            </a:r>
            <a:endParaRPr lang="en-US" sz="1500" dirty="0"/>
          </a:p>
        </p:txBody>
      </p:sp>
      <p:sp>
        <p:nvSpPr>
          <p:cNvPr id="7" name="box"/>
          <p:cNvSpPr/>
          <p:nvPr/>
        </p:nvSpPr>
        <p:spPr>
          <a:xfrm>
            <a:off x="6217920" y="1783080"/>
            <a:ext cx="1645920" cy="685800"/>
          </a:xfrm>
          <a:prstGeom prst="roundRect">
            <a:avLst>
              <a:gd name="adj" fmla="val 10667"/>
            </a:avLst>
          </a:prstGeom>
          <a:solidFill>
            <a:srgbClr val="2E7D4F"/>
          </a:solidFill>
          <a:ln w="12700">
            <a:solidFill>
              <a:srgbClr val="2E7D4F"/>
            </a:solidFill>
            <a:prstDash val="solid"/>
          </a:ln>
        </p:spPr>
      </p:sp>
      <p:sp>
        <p:nvSpPr>
          <p:cNvPr id="8" name="Text 5"/>
          <p:cNvSpPr txBox="1"/>
          <p:nvPr/>
        </p:nvSpPr>
        <p:spPr>
          <a:xfrm>
            <a:off x="6217920" y="1783080"/>
            <a:ext cx="1645920" cy="685800"/>
          </a:xfrm>
          <a:prstGeom prst="rect">
            <a:avLst/>
          </a:prstGeom>
          <a:noFill/>
          <a:ln/>
        </p:spPr>
        <p:txBody>
          <a:bodyPr wrap="square" lIns="635" tIns="635" rIns="635" bIns="635" rtlCol="0" anchor="ctr"/>
          <a:lstStyle/>
          <a:p>
            <a:pPr algn="ctr" indent="0" marL="0">
              <a:buNone/>
            </a:pPr>
            <a:r>
              <a:rPr lang="en-US" sz="1300" b="1" dirty="0">
                <a:solidFill>
                  <a:srgbClr val="FFFFFF"/>
                </a:solidFill>
              </a:rPr>
              <a:t>FTPS</a:t>
            </a:r>
            <a:endParaRPr lang="en-US" sz="1300" dirty="0"/>
          </a:p>
        </p:txBody>
      </p:sp>
      <p:sp>
        <p:nvSpPr>
          <p:cNvPr id="9" name="Text 6"/>
          <p:cNvSpPr txBox="1"/>
          <p:nvPr/>
        </p:nvSpPr>
        <p:spPr>
          <a:xfrm>
            <a:off x="8001000" y="1874520"/>
            <a:ext cx="3611880" cy="5943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FTP over TLS: AUTH TLS (RFC 4217) or port 990</a:t>
            </a:r>
            <a:endParaRPr lang="en-US" sz="1200" dirty="0"/>
          </a:p>
        </p:txBody>
      </p:sp>
      <p:sp>
        <p:nvSpPr>
          <p:cNvPr id="10" name="box"/>
          <p:cNvSpPr/>
          <p:nvPr/>
        </p:nvSpPr>
        <p:spPr>
          <a:xfrm>
            <a:off x="6217920" y="2606040"/>
            <a:ext cx="1645920" cy="685800"/>
          </a:xfrm>
          <a:prstGeom prst="roundRect">
            <a:avLst>
              <a:gd name="adj" fmla="val 10667"/>
            </a:avLst>
          </a:prstGeom>
          <a:solidFill>
            <a:srgbClr val="2E7D4F"/>
          </a:solidFill>
          <a:ln w="12700">
            <a:solidFill>
              <a:srgbClr val="2E7D4F"/>
            </a:solidFill>
            <a:prstDash val="solid"/>
          </a:ln>
        </p:spPr>
      </p:sp>
      <p:sp>
        <p:nvSpPr>
          <p:cNvPr id="11" name="Text 8"/>
          <p:cNvSpPr txBox="1"/>
          <p:nvPr/>
        </p:nvSpPr>
        <p:spPr>
          <a:xfrm>
            <a:off x="6217920" y="2606040"/>
            <a:ext cx="1645920" cy="685800"/>
          </a:xfrm>
          <a:prstGeom prst="rect">
            <a:avLst/>
          </a:prstGeom>
          <a:noFill/>
          <a:ln/>
        </p:spPr>
        <p:txBody>
          <a:bodyPr wrap="square" lIns="635" tIns="635" rIns="635" bIns="635" rtlCol="0" anchor="ctr"/>
          <a:lstStyle/>
          <a:p>
            <a:pPr algn="ctr" indent="0" marL="0">
              <a:buNone/>
            </a:pPr>
            <a:r>
              <a:rPr lang="en-US" sz="1300" b="1" dirty="0">
                <a:solidFill>
                  <a:srgbClr val="FFFFFF"/>
                </a:solidFill>
              </a:rPr>
              <a:t>SFTP / scp</a:t>
            </a:r>
            <a:endParaRPr lang="en-US" sz="1300" dirty="0"/>
          </a:p>
        </p:txBody>
      </p:sp>
      <p:sp>
        <p:nvSpPr>
          <p:cNvPr id="12" name="Text 9"/>
          <p:cNvSpPr txBox="1"/>
          <p:nvPr/>
        </p:nvSpPr>
        <p:spPr>
          <a:xfrm>
            <a:off x="8001000" y="2697480"/>
            <a:ext cx="3611880" cy="5943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file transfer over SSH, port 22</a:t>
            </a:r>
            <a:endParaRPr lang="en-US" sz="1200" dirty="0"/>
          </a:p>
        </p:txBody>
      </p:sp>
      <p:sp>
        <p:nvSpPr>
          <p:cNvPr id="13" name="box"/>
          <p:cNvSpPr/>
          <p:nvPr/>
        </p:nvSpPr>
        <p:spPr>
          <a:xfrm>
            <a:off x="6217920" y="3429000"/>
            <a:ext cx="1645920" cy="685800"/>
          </a:xfrm>
          <a:prstGeom prst="roundRect">
            <a:avLst>
              <a:gd name="adj" fmla="val 10667"/>
            </a:avLst>
          </a:prstGeom>
          <a:solidFill>
            <a:srgbClr val="2E7D4F"/>
          </a:solidFill>
          <a:ln w="12700">
            <a:solidFill>
              <a:srgbClr val="2E7D4F"/>
            </a:solidFill>
            <a:prstDash val="solid"/>
          </a:ln>
        </p:spPr>
      </p:sp>
      <p:sp>
        <p:nvSpPr>
          <p:cNvPr id="14" name="Text 11"/>
          <p:cNvSpPr txBox="1"/>
          <p:nvPr/>
        </p:nvSpPr>
        <p:spPr>
          <a:xfrm>
            <a:off x="6217920" y="3429000"/>
            <a:ext cx="1645920" cy="685800"/>
          </a:xfrm>
          <a:prstGeom prst="rect">
            <a:avLst/>
          </a:prstGeom>
          <a:noFill/>
          <a:ln/>
        </p:spPr>
        <p:txBody>
          <a:bodyPr wrap="square" lIns="635" tIns="635" rIns="635" bIns="635" rtlCol="0" anchor="ctr"/>
          <a:lstStyle/>
          <a:p>
            <a:pPr algn="ctr" indent="0" marL="0">
              <a:buNone/>
            </a:pPr>
            <a:r>
              <a:rPr lang="en-US" sz="1300" b="1" dirty="0">
                <a:solidFill>
                  <a:srgbClr val="FFFFFF"/>
                </a:solidFill>
              </a:rPr>
              <a:t>HTTPS</a:t>
            </a:r>
            <a:endParaRPr lang="en-US" sz="1300" dirty="0"/>
          </a:p>
        </p:txBody>
      </p:sp>
      <p:sp>
        <p:nvSpPr>
          <p:cNvPr id="15" name="Text 12"/>
          <p:cNvSpPr txBox="1"/>
          <p:nvPr/>
        </p:nvSpPr>
        <p:spPr>
          <a:xfrm>
            <a:off x="8001000" y="3520440"/>
            <a:ext cx="3611880" cy="5943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for most downloads today</a:t>
            </a:r>
            <a:endParaRPr lang="en-US" sz="1200" dirty="0"/>
          </a:p>
        </p:txBody>
      </p:sp>
      <p:sp>
        <p:nvSpPr>
          <p:cNvPr id="16" name="box"/>
          <p:cNvSpPr/>
          <p:nvPr/>
        </p:nvSpPr>
        <p:spPr>
          <a:xfrm>
            <a:off x="548640" y="4480560"/>
            <a:ext cx="11064240" cy="1051560"/>
          </a:xfrm>
          <a:prstGeom prst="roundRect">
            <a:avLst>
              <a:gd name="adj" fmla="val 6957"/>
            </a:avLst>
          </a:prstGeom>
          <a:solidFill>
            <a:srgbClr val="F3EAD7"/>
          </a:solidFill>
          <a:ln w="12700">
            <a:solidFill>
              <a:srgbClr val="F3EAD7"/>
            </a:solidFill>
            <a:prstDash val="solid"/>
          </a:ln>
        </p:spPr>
      </p:sp>
      <p:sp>
        <p:nvSpPr>
          <p:cNvPr id="17" name="Text 14"/>
          <p:cNvSpPr txBox="1"/>
          <p:nvPr/>
        </p:nvSpPr>
        <p:spPr>
          <a:xfrm>
            <a:off x="548640" y="4480560"/>
            <a:ext cx="11064240" cy="1051560"/>
          </a:xfrm>
          <a:prstGeom prst="rect">
            <a:avLst/>
          </a:prstGeom>
          <a:noFill/>
          <a:ln/>
        </p:spPr>
        <p:txBody>
          <a:bodyPr wrap="square" lIns="635" tIns="635" rIns="635" bIns="635" rtlCol="0" anchor="ctr"/>
          <a:lstStyle/>
          <a:p>
            <a:pPr algn="ctr" indent="0" marL="0">
              <a:buNone/>
            </a:pPr>
            <a:r>
              <a:rPr lang="en-US" sz="1200" dirty="0">
                <a:solidFill>
                  <a:srgbClr val="1B2430"/>
                </a:solidFill>
              </a:rPr>
              <a:t>Browsers removed FTP in 2021. It survives in scientific and public archives, web hosting, industrial and legacy systems —</a:t>
            </a:r>
            <a:endParaRPr lang="en-US" sz="1200" dirty="0"/>
          </a:p>
          <a:p>
            <a:pPr algn="ctr" indent="0" marL="0">
              <a:buNone/>
            </a:pPr>
            <a:r>
              <a:rPr lang="en-US" sz="1200" dirty="0">
                <a:solidFill>
                  <a:srgbClr val="1B2430"/>
                </a:solidFill>
              </a:rPr>
              <a:t>and through NAT it needs an </a:t>
            </a:r>
            <a:r>
              <a:rPr lang="en-US" sz="1200" b="1" dirty="0">
                <a:solidFill>
                  <a:srgbClr val="1B2430"/>
                </a:solidFill>
              </a:rPr>
              <a:t>ALG</a:t>
            </a:r>
            <a:r>
              <a:rPr lang="en-US" sz="1200" dirty="0">
                <a:solidFill>
                  <a:srgbClr val="1B2430"/>
                </a:solidFill>
              </a:rPr>
              <a:t> that rewrites PORT: impossible once the control connection is encrypted (Week 5).</a:t>
            </a:r>
            <a:endParaRPr lang="en-US" sz="1200" dirty="0"/>
          </a:p>
        </p:txBody>
      </p:sp>
      <p:sp>
        <p:nvSpPr>
          <p:cNvPr id="1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9" name="Text 1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Statefulness costs scalability; clear text costs security — two reasons FTP gave way to HTTPS and SFTP.</a:t>
            </a:r>
            <a:endParaRPr lang="en-US" sz="1400" dirty="0"/>
          </a:p>
        </p:txBody>
      </p:sp>
      <p:sp>
        <p:nvSpPr>
          <p:cNvPr id="20" name="Text 17"/>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HTTPS (HyperText Transfer Protocol Secure) · SFTP (SSH File Transfer Protocol) · RNFR (rename from) · STRU (file structure) · TLS (Transport Layer Security) · SSH (Secure Shell) · RFC (Request for Comments) · NAT (network address translation) · FTP (File Transfer Protocol) · scp (secure copy) · ALG (application-level gateway)</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Lecture 4 summary</a:t>
            </a:r>
            <a:endParaRPr lang="en-US" sz="3000" dirty="0"/>
          </a:p>
        </p:txBody>
      </p:sp>
      <p:sp>
        <p:nvSpPr>
          <p:cNvPr id="4" name="box"/>
          <p:cNvSpPr/>
          <p:nvPr/>
        </p:nvSpPr>
        <p:spPr>
          <a:xfrm>
            <a:off x="4709160" y="2606040"/>
            <a:ext cx="2743200" cy="1097280"/>
          </a:xfrm>
          <a:prstGeom prst="roundRect">
            <a:avLst>
              <a:gd name="adj" fmla="val 6667"/>
            </a:avLst>
          </a:prstGeom>
          <a:solidFill>
            <a:srgbClr val="1F3A5F"/>
          </a:solidFill>
          <a:ln w="12700">
            <a:solidFill>
              <a:srgbClr val="1F3A5F"/>
            </a:solidFill>
            <a:prstDash val="solid"/>
          </a:ln>
        </p:spPr>
      </p:sp>
      <p:sp>
        <p:nvSpPr>
          <p:cNvPr id="5" name="Text 2"/>
          <p:cNvSpPr txBox="1"/>
          <p:nvPr/>
        </p:nvSpPr>
        <p:spPr>
          <a:xfrm>
            <a:off x="4709160" y="2606040"/>
            <a:ext cx="2743200" cy="1097280"/>
          </a:xfrm>
          <a:prstGeom prst="rect">
            <a:avLst/>
          </a:prstGeom>
          <a:noFill/>
          <a:ln/>
        </p:spPr>
        <p:txBody>
          <a:bodyPr wrap="square" lIns="635" tIns="635" rIns="635" bIns="635" rtlCol="0" anchor="ctr"/>
          <a:lstStyle/>
          <a:p>
            <a:pPr algn="ctr" indent="0" marL="0">
              <a:buNone/>
            </a:pPr>
            <a:r>
              <a:rPr lang="en-US" sz="1800" b="1" dirty="0">
                <a:solidFill>
                  <a:srgbClr val="FFFFFF"/>
                </a:solidFill>
              </a:rPr>
              <a:t>Week 4</a:t>
            </a:r>
            <a:endParaRPr lang="en-US" sz="1800" dirty="0"/>
          </a:p>
        </p:txBody>
      </p:sp>
      <p:sp>
        <p:nvSpPr>
          <p:cNvPr id="6" name="box"/>
          <p:cNvSpPr/>
          <p:nvPr/>
        </p:nvSpPr>
        <p:spPr>
          <a:xfrm>
            <a:off x="4617720" y="1005840"/>
            <a:ext cx="2926080" cy="914400"/>
          </a:xfrm>
          <a:prstGeom prst="roundRect">
            <a:avLst>
              <a:gd name="adj" fmla="val 8000"/>
            </a:avLst>
          </a:prstGeom>
          <a:solidFill>
            <a:srgbClr val="EEF2F6"/>
          </a:solidFill>
          <a:ln w="12700">
            <a:solidFill>
              <a:srgbClr val="EEF2F6"/>
            </a:solidFill>
            <a:prstDash val="solid"/>
          </a:ln>
        </p:spPr>
      </p:sp>
      <p:sp>
        <p:nvSpPr>
          <p:cNvPr id="7" name="Text 4"/>
          <p:cNvSpPr txBox="1"/>
          <p:nvPr/>
        </p:nvSpPr>
        <p:spPr>
          <a:xfrm>
            <a:off x="4617720" y="100584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Cookies</a:t>
            </a:r>
            <a:endParaRPr lang="en-US" sz="1100" dirty="0"/>
          </a:p>
          <a:p>
            <a:pPr algn="ctr" indent="0" marL="0">
              <a:buNone/>
            </a:pPr>
            <a:r>
              <a:rPr lang="en-US" sz="1100" dirty="0">
                <a:solidFill>
                  <a:srgbClr val="1B2430"/>
                </a:solidFill>
              </a:rPr>
              <a:t>state at the ends; third parties track</a:t>
            </a:r>
            <a:endParaRPr lang="en-US" sz="1100" dirty="0"/>
          </a:p>
        </p:txBody>
      </p:sp>
      <p:sp>
        <p:nvSpPr>
          <p:cNvPr id="8" name="box"/>
          <p:cNvSpPr/>
          <p:nvPr/>
        </p:nvSpPr>
        <p:spPr>
          <a:xfrm>
            <a:off x="7688968" y="1501310"/>
            <a:ext cx="2926080" cy="914400"/>
          </a:xfrm>
          <a:prstGeom prst="roundRect">
            <a:avLst>
              <a:gd name="adj" fmla="val 8000"/>
            </a:avLst>
          </a:prstGeom>
          <a:solidFill>
            <a:srgbClr val="EEF2F6"/>
          </a:solidFill>
          <a:ln w="12700">
            <a:solidFill>
              <a:srgbClr val="EEF2F6"/>
            </a:solidFill>
            <a:prstDash val="solid"/>
          </a:ln>
        </p:spPr>
      </p:sp>
      <p:sp>
        <p:nvSpPr>
          <p:cNvPr id="9" name="Text 6"/>
          <p:cNvSpPr txBox="1"/>
          <p:nvPr/>
        </p:nvSpPr>
        <p:spPr>
          <a:xfrm>
            <a:off x="7688968" y="150131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Caching</a:t>
            </a:r>
            <a:endParaRPr lang="en-US" sz="1100" dirty="0"/>
          </a:p>
          <a:p>
            <a:pPr algn="ctr" indent="0" marL="0">
              <a:buNone/>
            </a:pPr>
            <a:r>
              <a:rPr lang="en-US" sz="1100" dirty="0">
                <a:solidFill>
                  <a:srgbClr val="1B2430"/>
                </a:solidFill>
              </a:rPr>
              <a:t>freshness (max-age) + validation (304)</a:t>
            </a:r>
            <a:endParaRPr lang="en-US" sz="1100" dirty="0"/>
          </a:p>
        </p:txBody>
      </p:sp>
      <p:sp>
        <p:nvSpPr>
          <p:cNvPr id="10" name="box"/>
          <p:cNvSpPr/>
          <p:nvPr/>
        </p:nvSpPr>
        <p:spPr>
          <a:xfrm>
            <a:off x="8961120" y="2697480"/>
            <a:ext cx="2926080" cy="914400"/>
          </a:xfrm>
          <a:prstGeom prst="roundRect">
            <a:avLst>
              <a:gd name="adj" fmla="val 8000"/>
            </a:avLst>
          </a:prstGeom>
          <a:solidFill>
            <a:srgbClr val="EEF2F6"/>
          </a:solidFill>
          <a:ln w="12700">
            <a:solidFill>
              <a:srgbClr val="EEF2F6"/>
            </a:solidFill>
            <a:prstDash val="solid"/>
          </a:ln>
        </p:spPr>
      </p:sp>
      <p:sp>
        <p:nvSpPr>
          <p:cNvPr id="11" name="Text 8"/>
          <p:cNvSpPr txBox="1"/>
          <p:nvPr/>
        </p:nvSpPr>
        <p:spPr>
          <a:xfrm>
            <a:off x="8961120" y="269748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CDN</a:t>
            </a:r>
            <a:endParaRPr lang="en-US" sz="1100" dirty="0"/>
          </a:p>
          <a:p>
            <a:pPr algn="ctr" indent="0" marL="0">
              <a:buNone/>
            </a:pPr>
            <a:r>
              <a:rPr lang="en-US" sz="1100" dirty="0">
                <a:solidFill>
                  <a:srgbClr val="1B2430"/>
                </a:solidFill>
              </a:rPr>
              <a:t>copies near the users, chosen by DNS</a:t>
            </a:r>
            <a:endParaRPr lang="en-US" sz="1100" dirty="0"/>
          </a:p>
        </p:txBody>
      </p:sp>
      <p:sp>
        <p:nvSpPr>
          <p:cNvPr id="12" name="box"/>
          <p:cNvSpPr/>
          <p:nvPr/>
        </p:nvSpPr>
        <p:spPr>
          <a:xfrm>
            <a:off x="7688968" y="3893650"/>
            <a:ext cx="2926080" cy="914400"/>
          </a:xfrm>
          <a:prstGeom prst="roundRect">
            <a:avLst>
              <a:gd name="adj" fmla="val 8000"/>
            </a:avLst>
          </a:prstGeom>
          <a:solidFill>
            <a:srgbClr val="EEF2F6"/>
          </a:solidFill>
          <a:ln w="12700">
            <a:solidFill>
              <a:srgbClr val="EEF2F6"/>
            </a:solidFill>
            <a:prstDash val="solid"/>
          </a:ln>
        </p:spPr>
      </p:sp>
      <p:sp>
        <p:nvSpPr>
          <p:cNvPr id="13" name="Text 10"/>
          <p:cNvSpPr txBox="1"/>
          <p:nvPr/>
        </p:nvSpPr>
        <p:spPr>
          <a:xfrm>
            <a:off x="7688968" y="389365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HTTP/2 · HTTP/3</a:t>
            </a:r>
            <a:endParaRPr lang="en-US" sz="1100" dirty="0"/>
          </a:p>
          <a:p>
            <a:pPr algn="ctr" indent="0" marL="0">
              <a:buNone/>
            </a:pPr>
            <a:r>
              <a:rPr lang="en-US" sz="1100" dirty="0">
                <a:solidFill>
                  <a:srgbClr val="1B2430"/>
                </a:solidFill>
              </a:rPr>
              <a:t>streams on one connection; QUIC over UDP</a:t>
            </a:r>
            <a:endParaRPr lang="en-US" sz="1100" dirty="0"/>
          </a:p>
        </p:txBody>
      </p:sp>
      <p:sp>
        <p:nvSpPr>
          <p:cNvPr id="14" name="box"/>
          <p:cNvSpPr/>
          <p:nvPr/>
        </p:nvSpPr>
        <p:spPr>
          <a:xfrm>
            <a:off x="4617720" y="4389120"/>
            <a:ext cx="2926080" cy="914400"/>
          </a:xfrm>
          <a:prstGeom prst="roundRect">
            <a:avLst>
              <a:gd name="adj" fmla="val 8000"/>
            </a:avLst>
          </a:prstGeom>
          <a:solidFill>
            <a:srgbClr val="EEF2F6"/>
          </a:solidFill>
          <a:ln w="12700">
            <a:solidFill>
              <a:srgbClr val="EEF2F6"/>
            </a:solidFill>
            <a:prstDash val="solid"/>
          </a:ln>
        </p:spPr>
      </p:sp>
      <p:sp>
        <p:nvSpPr>
          <p:cNvPr id="15" name="Text 12"/>
          <p:cNvSpPr txBox="1"/>
          <p:nvPr/>
        </p:nvSpPr>
        <p:spPr>
          <a:xfrm>
            <a:off x="4617720" y="438912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HTTPS</a:t>
            </a:r>
            <a:endParaRPr lang="en-US" sz="1100" dirty="0"/>
          </a:p>
          <a:p>
            <a:pPr algn="ctr" indent="0" marL="0">
              <a:buNone/>
            </a:pPr>
            <a:r>
              <a:rPr lang="en-US" sz="1100" dirty="0">
                <a:solidFill>
                  <a:srgbClr val="1B2430"/>
                </a:solidFill>
              </a:rPr>
              <a:t>TLS: confidentiality, integrity, authentication</a:t>
            </a:r>
            <a:endParaRPr lang="en-US" sz="1100" dirty="0"/>
          </a:p>
        </p:txBody>
      </p:sp>
      <p:sp>
        <p:nvSpPr>
          <p:cNvPr id="16" name="box"/>
          <p:cNvSpPr/>
          <p:nvPr/>
        </p:nvSpPr>
        <p:spPr>
          <a:xfrm>
            <a:off x="1546472" y="3893650"/>
            <a:ext cx="2926080" cy="914400"/>
          </a:xfrm>
          <a:prstGeom prst="roundRect">
            <a:avLst>
              <a:gd name="adj" fmla="val 8000"/>
            </a:avLst>
          </a:prstGeom>
          <a:solidFill>
            <a:srgbClr val="EEF2F6"/>
          </a:solidFill>
          <a:ln w="12700">
            <a:solidFill>
              <a:srgbClr val="EEF2F6"/>
            </a:solidFill>
            <a:prstDash val="solid"/>
          </a:ln>
        </p:spPr>
      </p:sp>
      <p:sp>
        <p:nvSpPr>
          <p:cNvPr id="17" name="Text 14"/>
          <p:cNvSpPr txBox="1"/>
          <p:nvPr/>
        </p:nvSpPr>
        <p:spPr>
          <a:xfrm>
            <a:off x="1546472" y="389365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TELNET</a:t>
            </a:r>
            <a:endParaRPr lang="en-US" sz="1100" dirty="0"/>
          </a:p>
          <a:p>
            <a:pPr algn="ctr" indent="0" marL="0">
              <a:buNone/>
            </a:pPr>
            <a:r>
              <a:rPr lang="en-US" sz="1100" dirty="0">
                <a:solidFill>
                  <a:srgbClr val="1B2430"/>
                </a:solidFill>
              </a:rPr>
              <a:t>remote terminal, IAC options, all in clear</a:t>
            </a:r>
            <a:endParaRPr lang="en-US" sz="1100" dirty="0"/>
          </a:p>
        </p:txBody>
      </p:sp>
      <p:sp>
        <p:nvSpPr>
          <p:cNvPr id="18" name="box"/>
          <p:cNvSpPr/>
          <p:nvPr/>
        </p:nvSpPr>
        <p:spPr>
          <a:xfrm>
            <a:off x="274320" y="2697480"/>
            <a:ext cx="2926080" cy="914400"/>
          </a:xfrm>
          <a:prstGeom prst="roundRect">
            <a:avLst>
              <a:gd name="adj" fmla="val 8000"/>
            </a:avLst>
          </a:prstGeom>
          <a:solidFill>
            <a:srgbClr val="EEF2F6"/>
          </a:solidFill>
          <a:ln w="12700">
            <a:solidFill>
              <a:srgbClr val="EEF2F6"/>
            </a:solidFill>
            <a:prstDash val="solid"/>
          </a:ln>
        </p:spPr>
      </p:sp>
      <p:sp>
        <p:nvSpPr>
          <p:cNvPr id="19" name="Text 16"/>
          <p:cNvSpPr txBox="1"/>
          <p:nvPr/>
        </p:nvSpPr>
        <p:spPr>
          <a:xfrm>
            <a:off x="274320" y="269748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SSH</a:t>
            </a:r>
            <a:endParaRPr lang="en-US" sz="1100" dirty="0"/>
          </a:p>
          <a:p>
            <a:pPr algn="ctr" indent="0" marL="0">
              <a:buNone/>
            </a:pPr>
            <a:r>
              <a:rPr lang="en-US" sz="1100" dirty="0">
                <a:solidFill>
                  <a:srgbClr val="1B2430"/>
                </a:solidFill>
              </a:rPr>
              <a:t>host keys, public-key login, channels, tunnels</a:t>
            </a:r>
            <a:endParaRPr lang="en-US" sz="1100" dirty="0"/>
          </a:p>
        </p:txBody>
      </p:sp>
      <p:sp>
        <p:nvSpPr>
          <p:cNvPr id="20" name="box"/>
          <p:cNvSpPr/>
          <p:nvPr/>
        </p:nvSpPr>
        <p:spPr>
          <a:xfrm>
            <a:off x="1546472" y="1501310"/>
            <a:ext cx="2926080" cy="914400"/>
          </a:xfrm>
          <a:prstGeom prst="roundRect">
            <a:avLst>
              <a:gd name="adj" fmla="val 8000"/>
            </a:avLst>
          </a:prstGeom>
          <a:solidFill>
            <a:srgbClr val="EEF2F6"/>
          </a:solidFill>
          <a:ln w="12700">
            <a:solidFill>
              <a:srgbClr val="EEF2F6"/>
            </a:solidFill>
            <a:prstDash val="solid"/>
          </a:ln>
        </p:spPr>
      </p:sp>
      <p:sp>
        <p:nvSpPr>
          <p:cNvPr id="21" name="Text 18"/>
          <p:cNvSpPr txBox="1"/>
          <p:nvPr/>
        </p:nvSpPr>
        <p:spPr>
          <a:xfrm>
            <a:off x="1546472" y="150131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FTP</a:t>
            </a:r>
            <a:endParaRPr lang="en-US" sz="1100" dirty="0"/>
          </a:p>
          <a:p>
            <a:pPr algn="ctr" indent="0" marL="0">
              <a:buNone/>
            </a:pPr>
            <a:r>
              <a:rPr lang="en-US" sz="1100" dirty="0">
                <a:solidFill>
                  <a:srgbClr val="1B2430"/>
                </a:solidFill>
              </a:rPr>
              <a:t>control + data, active/passive, TYPE/STRU/MODE</a:t>
            </a:r>
            <a:endParaRPr lang="en-US" sz="1100" dirty="0"/>
          </a:p>
        </p:txBody>
      </p:sp>
      <p:sp>
        <p:nvSpPr>
          <p:cNvPr id="2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3" name="Text 2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State, speed, security, remote work and file transfer: the Web and its companions as they run today.</a:t>
            </a:r>
            <a:endParaRPr lang="en-US" sz="1400" dirty="0"/>
          </a:p>
        </p:txBody>
      </p:sp>
      <p:sp>
        <p:nvSpPr>
          <p:cNvPr id="24" name="Text 21"/>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HTTPS (HyperText Transfer Protocol Secure) · HTTP (HyperText Transfer Protocol) · QUIC (a transport protocol over UDP, User Datagram Protocol; first named Quick UDP Internet Connections) · STRU (file structure) · UDP (User Datagram Protocol) · TLS (Transport Layer Security) · DNS (Domain Name System) · SSH (Secure Shell) · CDN (content distribution network) · IAC (interpret as command) · FTP (File Transfer Protocol)</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Part B · Seminar 4: problems with solutions</a:t>
            </a:r>
            <a:endParaRPr lang="en-US" sz="3600" dirty="0"/>
          </a:p>
        </p:txBody>
      </p:sp>
      <p:sp>
        <p:nvSpPr>
          <p:cNvPr id="3" name="box"/>
          <p:cNvSpPr/>
          <p:nvPr/>
        </p:nvSpPr>
        <p:spPr>
          <a:xfrm>
            <a:off x="731520" y="1645920"/>
            <a:ext cx="2514600" cy="1371600"/>
          </a:xfrm>
          <a:prstGeom prst="roundRect">
            <a:avLst>
              <a:gd name="adj" fmla="val 5333"/>
            </a:avLst>
          </a:prstGeom>
          <a:solidFill>
            <a:srgbClr val="2B4A70"/>
          </a:solidFill>
          <a:ln w="12700">
            <a:solidFill>
              <a:srgbClr val="2B4A70"/>
            </a:solidFill>
            <a:prstDash val="solid"/>
          </a:ln>
        </p:spPr>
      </p:sp>
      <p:sp>
        <p:nvSpPr>
          <p:cNvPr id="4" name="Text 2"/>
          <p:cNvSpPr txBox="1"/>
          <p:nvPr/>
        </p:nvSpPr>
        <p:spPr>
          <a:xfrm>
            <a:off x="73152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A · Lecture 4</a:t>
            </a:r>
            <a:endParaRPr lang="en-US" sz="1500" dirty="0"/>
          </a:p>
          <a:p>
            <a:pPr algn="ctr" indent="0" marL="0">
              <a:spcAft>
                <a:spcPts val="400"/>
              </a:spcAft>
              <a:buNone/>
            </a:pPr>
            <a:r>
              <a:rPr lang="en-US" sz="1500" dirty="0">
                <a:solidFill>
                  <a:srgbClr val="FFFFFF"/>
                </a:solidFill>
              </a:rPr>
              <a:t>Sessions, speed, security</a:t>
            </a:r>
            <a:endParaRPr lang="en-US" sz="1500" dirty="0"/>
          </a:p>
        </p:txBody>
      </p:sp>
      <p:sp>
        <p:nvSpPr>
          <p:cNvPr id="5" name="Shape 3"/>
          <p:cNvSpPr/>
          <p:nvPr/>
        </p:nvSpPr>
        <p:spPr>
          <a:xfrm>
            <a:off x="3273552" y="2331720"/>
            <a:ext cx="219456" cy="914"/>
          </a:xfrm>
          <a:prstGeom prst="line">
            <a:avLst/>
          </a:prstGeom>
          <a:noFill/>
          <a:ln w="25400">
            <a:solidFill>
              <a:srgbClr val="9FB3C8"/>
            </a:solidFill>
            <a:prstDash val="solid"/>
            <a:tailEnd type="triangle"/>
          </a:ln>
        </p:spPr>
      </p:sp>
      <p:sp>
        <p:nvSpPr>
          <p:cNvPr id="6" name="box"/>
          <p:cNvSpPr/>
          <p:nvPr/>
        </p:nvSpPr>
        <p:spPr>
          <a:xfrm>
            <a:off x="3520440" y="1645920"/>
            <a:ext cx="2514600" cy="1371600"/>
          </a:xfrm>
          <a:prstGeom prst="roundRect">
            <a:avLst>
              <a:gd name="adj" fmla="val 5333"/>
            </a:avLst>
          </a:prstGeom>
          <a:solidFill>
            <a:srgbClr val="2A7F8E"/>
          </a:solidFill>
          <a:ln w="12700">
            <a:solidFill>
              <a:srgbClr val="2A7F8E"/>
            </a:solidFill>
            <a:prstDash val="solid"/>
          </a:ln>
        </p:spPr>
      </p:sp>
      <p:sp>
        <p:nvSpPr>
          <p:cNvPr id="7" name="Text 5"/>
          <p:cNvSpPr txBox="1"/>
          <p:nvPr/>
        </p:nvSpPr>
        <p:spPr>
          <a:xfrm>
            <a:off x="352044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B · Seminar 4</a:t>
            </a:r>
            <a:endParaRPr lang="en-US" sz="1500" dirty="0"/>
          </a:p>
          <a:p>
            <a:pPr algn="ctr" indent="0" marL="0">
              <a:spcAft>
                <a:spcPts val="400"/>
              </a:spcAft>
              <a:buNone/>
            </a:pPr>
            <a:r>
              <a:rPr lang="en-US" sz="1500" dirty="0">
                <a:solidFill>
                  <a:srgbClr val="FFFFFF"/>
                </a:solidFill>
              </a:rPr>
              <a:t>Problems with solutions</a:t>
            </a:r>
            <a:endParaRPr lang="en-US" sz="1500" dirty="0"/>
          </a:p>
        </p:txBody>
      </p:sp>
      <p:sp>
        <p:nvSpPr>
          <p:cNvPr id="8" name="Shape 6"/>
          <p:cNvSpPr/>
          <p:nvPr/>
        </p:nvSpPr>
        <p:spPr>
          <a:xfrm>
            <a:off x="6062472" y="2331720"/>
            <a:ext cx="219456" cy="914"/>
          </a:xfrm>
          <a:prstGeom prst="line">
            <a:avLst/>
          </a:prstGeom>
          <a:noFill/>
          <a:ln w="25400">
            <a:solidFill>
              <a:srgbClr val="9FB3C8"/>
            </a:solidFill>
            <a:prstDash val="solid"/>
            <a:tailEnd type="triangle"/>
          </a:ln>
        </p:spPr>
      </p:sp>
      <p:sp>
        <p:nvSpPr>
          <p:cNvPr id="9" name="box"/>
          <p:cNvSpPr/>
          <p:nvPr/>
        </p:nvSpPr>
        <p:spPr>
          <a:xfrm>
            <a:off x="6309360" y="1645920"/>
            <a:ext cx="2514600" cy="1371600"/>
          </a:xfrm>
          <a:prstGeom prst="roundRect">
            <a:avLst>
              <a:gd name="adj" fmla="val 5333"/>
            </a:avLst>
          </a:prstGeom>
          <a:solidFill>
            <a:srgbClr val="2B4A70"/>
          </a:solidFill>
          <a:ln w="12700">
            <a:solidFill>
              <a:srgbClr val="2B4A70"/>
            </a:solidFill>
            <a:prstDash val="solid"/>
          </a:ln>
        </p:spPr>
      </p:sp>
      <p:sp>
        <p:nvSpPr>
          <p:cNvPr id="10" name="Text 8"/>
          <p:cNvSpPr txBox="1"/>
          <p:nvPr/>
        </p:nvSpPr>
        <p:spPr>
          <a:xfrm>
            <a:off x="630936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C · Laboratory 4 · Linux</a:t>
            </a:r>
            <a:endParaRPr lang="en-US" sz="1500" dirty="0"/>
          </a:p>
          <a:p>
            <a:pPr algn="ctr" indent="0" marL="0">
              <a:spcAft>
                <a:spcPts val="400"/>
              </a:spcAft>
              <a:buNone/>
            </a:pPr>
            <a:r>
              <a:rPr lang="en-US" sz="1500" dirty="0">
                <a:solidFill>
                  <a:srgbClr val="FFFFFF"/>
                </a:solidFill>
              </a:rPr>
              <a:t>curl, openssl, ssh, ftp, C</a:t>
            </a:r>
            <a:endParaRPr lang="en-US" sz="1500" dirty="0"/>
          </a:p>
        </p:txBody>
      </p:sp>
      <p:sp>
        <p:nvSpPr>
          <p:cNvPr id="11" name="Shape 9"/>
          <p:cNvSpPr/>
          <p:nvPr/>
        </p:nvSpPr>
        <p:spPr>
          <a:xfrm>
            <a:off x="8851392" y="2331720"/>
            <a:ext cx="219456" cy="914"/>
          </a:xfrm>
          <a:prstGeom prst="line">
            <a:avLst/>
          </a:prstGeom>
          <a:noFill/>
          <a:ln w="25400">
            <a:solidFill>
              <a:srgbClr val="9FB3C8"/>
            </a:solidFill>
            <a:prstDash val="solid"/>
            <a:tailEnd type="triangle"/>
          </a:ln>
        </p:spPr>
      </p:sp>
      <p:sp>
        <p:nvSpPr>
          <p:cNvPr id="12" name="box"/>
          <p:cNvSpPr/>
          <p:nvPr/>
        </p:nvSpPr>
        <p:spPr>
          <a:xfrm>
            <a:off x="9098280" y="1645920"/>
            <a:ext cx="2514600" cy="1371600"/>
          </a:xfrm>
          <a:prstGeom prst="roundRect">
            <a:avLst>
              <a:gd name="adj" fmla="val 5333"/>
            </a:avLst>
          </a:prstGeom>
          <a:solidFill>
            <a:srgbClr val="2B4A70"/>
          </a:solidFill>
          <a:ln w="12700">
            <a:solidFill>
              <a:srgbClr val="2B4A70"/>
            </a:solidFill>
            <a:prstDash val="solid"/>
          </a:ln>
        </p:spPr>
      </p:sp>
      <p:sp>
        <p:nvSpPr>
          <p:cNvPr id="13" name="Text 11"/>
          <p:cNvSpPr txBox="1"/>
          <p:nvPr/>
        </p:nvSpPr>
        <p:spPr>
          <a:xfrm>
            <a:off x="909828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D · Laboratory 4 · Windows</a:t>
            </a:r>
            <a:endParaRPr lang="en-US" sz="1500" dirty="0"/>
          </a:p>
          <a:p>
            <a:pPr algn="ctr" indent="0" marL="0">
              <a:spcAft>
                <a:spcPts val="400"/>
              </a:spcAft>
              <a:buNone/>
            </a:pPr>
            <a:r>
              <a:rPr lang="en-US" sz="1500" dirty="0">
                <a:solidFill>
                  <a:srgbClr val="FFFFFF"/>
                </a:solidFill>
              </a:rPr>
              <a:t>PowerShell, OpenSSH, Winsock</a:t>
            </a:r>
            <a:endParaRPr lang="en-US" sz="1500" dirty="0"/>
          </a:p>
        </p:txBody>
      </p:sp>
      <p:sp>
        <p:nvSpPr>
          <p:cNvPr id="14" name="Text 12"/>
          <p:cNvSpPr txBox="1"/>
          <p:nvPr/>
        </p:nvSpPr>
        <p:spPr>
          <a:xfrm>
            <a:off x="731520" y="3429000"/>
            <a:ext cx="10698480" cy="365760"/>
          </a:xfrm>
          <a:prstGeom prst="rect">
            <a:avLst/>
          </a:prstGeom>
          <a:noFill/>
          <a:ln/>
        </p:spPr>
        <p:txBody>
          <a:bodyPr wrap="square" lIns="0" tIns="0" rIns="0" bIns="0" rtlCol="0" anchor="ctr"/>
          <a:lstStyle/>
          <a:p>
            <a:pPr indent="0" marL="0">
              <a:buNone/>
            </a:pPr>
            <a:r>
              <a:rPr lang="en-US" sz="1600" b="1" dirty="0">
                <a:solidFill>
                  <a:srgbClr val="DDF0F2"/>
                </a:solidFill>
              </a:rPr>
              <a:t>In this part</a:t>
            </a:r>
            <a:endParaRPr lang="en-US" sz="1600" dirty="0"/>
          </a:p>
        </p:txBody>
      </p:sp>
      <p:sp>
        <p:nvSpPr>
          <p:cNvPr id="15" name="Text 13"/>
          <p:cNvSpPr txBox="1"/>
          <p:nvPr/>
        </p:nvSpPr>
        <p:spPr>
          <a:xfrm>
            <a:off x="7315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Problem 1 · Following cookies</a:t>
            </a:r>
            <a:endParaRPr lang="en-US" sz="1500" dirty="0"/>
          </a:p>
        </p:txBody>
      </p:sp>
      <p:sp>
        <p:nvSpPr>
          <p:cNvPr id="16" name="Text 14"/>
          <p:cNvSpPr txBox="1"/>
          <p:nvPr/>
        </p:nvSpPr>
        <p:spPr>
          <a:xfrm>
            <a:off x="62179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Problems 2–3 · Caches and freshness</a:t>
            </a:r>
            <a:endParaRPr lang="en-US" sz="1500" dirty="0"/>
          </a:p>
        </p:txBody>
      </p:sp>
      <p:sp>
        <p:nvSpPr>
          <p:cNvPr id="17" name="Text 15"/>
          <p:cNvSpPr txBox="1"/>
          <p:nvPr/>
        </p:nvSpPr>
        <p:spPr>
          <a:xfrm>
            <a:off x="7315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Problem 4 · One connection, many streams</a:t>
            </a:r>
            <a:endParaRPr lang="en-US" sz="1500" dirty="0"/>
          </a:p>
        </p:txBody>
      </p:sp>
      <p:sp>
        <p:nvSpPr>
          <p:cNvPr id="18" name="Text 16"/>
          <p:cNvSpPr txBox="1"/>
          <p:nvPr/>
        </p:nvSpPr>
        <p:spPr>
          <a:xfrm>
            <a:off x="62179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Problems 5–6 · TLS round trips, certificates</a:t>
            </a:r>
            <a:endParaRPr lang="en-US" sz="1500" dirty="0"/>
          </a:p>
        </p:txBody>
      </p:sp>
      <p:sp>
        <p:nvSpPr>
          <p:cNvPr id="19" name="Text 17"/>
          <p:cNvSpPr txBox="1"/>
          <p:nvPr/>
        </p:nvSpPr>
        <p:spPr>
          <a:xfrm>
            <a:off x="7315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Problems 7–9 · TELNET bytes, SSH keys, tunnels</a:t>
            </a:r>
            <a:endParaRPr lang="en-US" sz="1500" dirty="0"/>
          </a:p>
        </p:txBody>
      </p:sp>
      <p:sp>
        <p:nvSpPr>
          <p:cNvPr id="20" name="Text 18"/>
          <p:cNvSpPr txBox="1"/>
          <p:nvPr/>
        </p:nvSpPr>
        <p:spPr>
          <a:xfrm>
            <a:off x="62179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Problems 10–12 · Reading FTP, types, small files</a:t>
            </a:r>
            <a:endParaRPr lang="en-US" sz="1500" dirty="0"/>
          </a:p>
        </p:txBody>
      </p:sp>
      <p:sp>
        <p:nvSpPr>
          <p:cNvPr id="22" name="Text 19"/>
          <p:cNvSpPr txBox="1"/>
          <p:nvPr/>
        </p:nvSpPr>
        <p:spPr>
          <a:xfrm>
            <a:off x="731520" y="6172200"/>
            <a:ext cx="10698480" cy="457200"/>
          </a:xfrm>
          <a:prstGeom prst="rect">
            <a:avLst/>
          </a:prstGeom>
          <a:noFill/>
          <a:ln/>
        </p:spPr>
        <p:txBody>
          <a:bodyPr wrap="square" lIns="0" tIns="0" rIns="0" bIns="0" rtlCol="0" anchor="t"/>
          <a:lstStyle/>
          <a:p>
            <a:pPr indent="0" marL="0">
              <a:buNone/>
            </a:pPr>
            <a:r>
              <a:rPr lang="en-US" sz="1100" dirty="0">
                <a:solidFill>
                  <a:srgbClr val="C9D6E3"/>
                </a:solidFill>
              </a:rPr>
              <a:t>TLS (Transport Layer Security) · SSH (Secure Shell) · FTP (File Transfer Protocol)</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1 · Which cookie travels with which request?</a:t>
            </a:r>
            <a:endParaRPr lang="en-US" sz="3000" dirty="0"/>
          </a:p>
        </p:txBody>
      </p:sp>
      <p:sp>
        <p:nvSpPr>
          <p:cNvPr id="4" name="box"/>
          <p:cNvSpPr/>
          <p:nvPr/>
        </p:nvSpPr>
        <p:spPr>
          <a:xfrm>
            <a:off x="548640" y="1280160"/>
            <a:ext cx="5074920" cy="411480"/>
          </a:xfrm>
          <a:prstGeom prst="rect">
            <a:avLst/>
          </a:prstGeom>
          <a:solidFill>
            <a:srgbClr val="1F3A5F"/>
          </a:solidFill>
          <a:ln w="12700">
            <a:solidFill>
              <a:srgbClr val="1F3A5F"/>
            </a:solidFill>
            <a:prstDash val="solid"/>
          </a:ln>
        </p:spPr>
      </p:sp>
      <p:sp>
        <p:nvSpPr>
          <p:cNvPr id="5" name="Text 2"/>
          <p:cNvSpPr txBox="1"/>
          <p:nvPr/>
        </p:nvSpPr>
        <p:spPr>
          <a:xfrm>
            <a:off x="548640" y="1280160"/>
            <a:ext cx="507492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Request</a:t>
            </a:r>
            <a:endParaRPr lang="en-US" sz="1300" dirty="0"/>
          </a:p>
        </p:txBody>
      </p:sp>
      <p:sp>
        <p:nvSpPr>
          <p:cNvPr id="6" name="box"/>
          <p:cNvSpPr/>
          <p:nvPr/>
        </p:nvSpPr>
        <p:spPr>
          <a:xfrm>
            <a:off x="5669280" y="1280160"/>
            <a:ext cx="2331720" cy="411480"/>
          </a:xfrm>
          <a:prstGeom prst="rect">
            <a:avLst/>
          </a:prstGeom>
          <a:solidFill>
            <a:srgbClr val="1F3A5F"/>
          </a:solidFill>
          <a:ln w="12700">
            <a:solidFill>
              <a:srgbClr val="1F3A5F"/>
            </a:solidFill>
            <a:prstDash val="solid"/>
          </a:ln>
        </p:spPr>
      </p:sp>
      <p:sp>
        <p:nvSpPr>
          <p:cNvPr id="7" name="Text 4"/>
          <p:cNvSpPr txBox="1"/>
          <p:nvPr/>
        </p:nvSpPr>
        <p:spPr>
          <a:xfrm>
            <a:off x="5669280" y="1280160"/>
            <a:ext cx="233172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Cookie: sent</a:t>
            </a:r>
            <a:endParaRPr lang="en-US" sz="1300" dirty="0"/>
          </a:p>
        </p:txBody>
      </p:sp>
      <p:sp>
        <p:nvSpPr>
          <p:cNvPr id="8" name="box"/>
          <p:cNvSpPr/>
          <p:nvPr/>
        </p:nvSpPr>
        <p:spPr>
          <a:xfrm>
            <a:off x="8046720" y="1280160"/>
            <a:ext cx="3520440" cy="411480"/>
          </a:xfrm>
          <a:prstGeom prst="rect">
            <a:avLst/>
          </a:prstGeom>
          <a:solidFill>
            <a:srgbClr val="1F3A5F"/>
          </a:solidFill>
          <a:ln w="12700">
            <a:solidFill>
              <a:srgbClr val="1F3A5F"/>
            </a:solidFill>
            <a:prstDash val="solid"/>
          </a:ln>
        </p:spPr>
      </p:sp>
      <p:sp>
        <p:nvSpPr>
          <p:cNvPr id="9" name="Text 6"/>
          <p:cNvSpPr txBox="1"/>
          <p:nvPr/>
        </p:nvSpPr>
        <p:spPr>
          <a:xfrm>
            <a:off x="8046720" y="1280160"/>
            <a:ext cx="35204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Note</a:t>
            </a:r>
            <a:endParaRPr lang="en-US" sz="1300" dirty="0"/>
          </a:p>
        </p:txBody>
      </p:sp>
      <p:sp>
        <p:nvSpPr>
          <p:cNvPr id="10" name="box"/>
          <p:cNvSpPr/>
          <p:nvPr/>
        </p:nvSpPr>
        <p:spPr>
          <a:xfrm>
            <a:off x="548640" y="1737360"/>
            <a:ext cx="5074920" cy="457200"/>
          </a:xfrm>
          <a:prstGeom prst="rect">
            <a:avLst/>
          </a:prstGeom>
          <a:solidFill>
            <a:srgbClr val="EEF2F6"/>
          </a:solidFill>
          <a:ln w="12700">
            <a:solidFill>
              <a:srgbClr val="EEF2F6"/>
            </a:solidFill>
            <a:prstDash val="solid"/>
          </a:ln>
        </p:spPr>
      </p:sp>
      <p:sp>
        <p:nvSpPr>
          <p:cNvPr id="11" name="Text 8"/>
          <p:cNvSpPr txBox="1"/>
          <p:nvPr/>
        </p:nvSpPr>
        <p:spPr>
          <a:xfrm>
            <a:off x="548640" y="1737360"/>
            <a:ext cx="5074920" cy="457200"/>
          </a:xfrm>
          <a:prstGeom prst="rect">
            <a:avLst/>
          </a:prstGeom>
          <a:noFill/>
          <a:ln/>
        </p:spPr>
        <p:txBody>
          <a:bodyPr wrap="square" lIns="1270" tIns="1270" rIns="1270" bIns="1270" rtlCol="0" anchor="ctr"/>
          <a:lstStyle/>
          <a:p>
            <a:pPr algn="l" indent="0" marL="0">
              <a:buNone/>
            </a:pPr>
            <a:r>
              <a:rPr lang="en-US" sz="1200" dirty="0">
                <a:solidFill>
                  <a:srgbClr val="1B2430"/>
                </a:solidFill>
              </a:rPr>
              <a:t>GET shop.example.ro/</a:t>
            </a:r>
            <a:endParaRPr lang="en-US" sz="1200" dirty="0"/>
          </a:p>
        </p:txBody>
      </p:sp>
      <p:sp>
        <p:nvSpPr>
          <p:cNvPr id="12" name="box"/>
          <p:cNvSpPr/>
          <p:nvPr/>
        </p:nvSpPr>
        <p:spPr>
          <a:xfrm>
            <a:off x="5669280" y="1737360"/>
            <a:ext cx="2331720" cy="457200"/>
          </a:xfrm>
          <a:prstGeom prst="rect">
            <a:avLst/>
          </a:prstGeom>
          <a:solidFill>
            <a:srgbClr val="F7F9FB"/>
          </a:solidFill>
          <a:ln w="12700">
            <a:solidFill>
              <a:srgbClr val="F7F9FB"/>
            </a:solidFill>
            <a:prstDash val="solid"/>
          </a:ln>
        </p:spPr>
      </p:sp>
      <p:sp>
        <p:nvSpPr>
          <p:cNvPr id="13" name="Text 10"/>
          <p:cNvSpPr txBox="1"/>
          <p:nvPr/>
        </p:nvSpPr>
        <p:spPr>
          <a:xfrm>
            <a:off x="5669280" y="1737360"/>
            <a:ext cx="233172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a:t>
            </a:r>
            <a:endParaRPr lang="en-US" sz="1200" dirty="0"/>
          </a:p>
        </p:txBody>
      </p:sp>
      <p:sp>
        <p:nvSpPr>
          <p:cNvPr id="14" name="box"/>
          <p:cNvSpPr/>
          <p:nvPr/>
        </p:nvSpPr>
        <p:spPr>
          <a:xfrm>
            <a:off x="8046720" y="1737360"/>
            <a:ext cx="3520440" cy="457200"/>
          </a:xfrm>
          <a:prstGeom prst="rect">
            <a:avLst/>
          </a:prstGeom>
          <a:solidFill>
            <a:srgbClr val="F7F9FB"/>
          </a:solidFill>
          <a:ln w="12700">
            <a:solidFill>
              <a:srgbClr val="F7F9FB"/>
            </a:solidFill>
            <a:prstDash val="solid"/>
          </a:ln>
        </p:spPr>
      </p:sp>
      <p:sp>
        <p:nvSpPr>
          <p:cNvPr id="15" name="Text 12"/>
          <p:cNvSpPr txBox="1"/>
          <p:nvPr/>
        </p:nvSpPr>
        <p:spPr>
          <a:xfrm>
            <a:off x="8046720" y="1737360"/>
            <a:ext cx="3520440" cy="457200"/>
          </a:xfrm>
          <a:prstGeom prst="rect">
            <a:avLst/>
          </a:prstGeom>
          <a:noFill/>
          <a:ln/>
        </p:spPr>
        <p:txBody>
          <a:bodyPr wrap="square" lIns="1270" tIns="1270" rIns="1270" bIns="1270" rtlCol="0" anchor="ctr"/>
          <a:lstStyle/>
          <a:p>
            <a:pPr algn="l" indent="0" marL="0">
              <a:buNone/>
            </a:pPr>
            <a:r>
              <a:rPr lang="en-US" sz="1200" dirty="0">
                <a:solidFill>
                  <a:srgbClr val="1B2430"/>
                </a:solidFill>
              </a:rPr>
              <a:t>← Set-Cookie: sid=a91f</a:t>
            </a:r>
            <a:endParaRPr lang="en-US" sz="1200" dirty="0"/>
          </a:p>
        </p:txBody>
      </p:sp>
      <p:sp>
        <p:nvSpPr>
          <p:cNvPr id="16" name="box"/>
          <p:cNvSpPr/>
          <p:nvPr/>
        </p:nvSpPr>
        <p:spPr>
          <a:xfrm>
            <a:off x="548640" y="2240280"/>
            <a:ext cx="5074920" cy="457200"/>
          </a:xfrm>
          <a:prstGeom prst="rect">
            <a:avLst/>
          </a:prstGeom>
          <a:solidFill>
            <a:srgbClr val="EEF2F6"/>
          </a:solidFill>
          <a:ln w="12700">
            <a:solidFill>
              <a:srgbClr val="EEF2F6"/>
            </a:solidFill>
            <a:prstDash val="solid"/>
          </a:ln>
        </p:spPr>
      </p:sp>
      <p:sp>
        <p:nvSpPr>
          <p:cNvPr id="17" name="Text 14"/>
          <p:cNvSpPr txBox="1"/>
          <p:nvPr/>
        </p:nvSpPr>
        <p:spPr>
          <a:xfrm>
            <a:off x="548640" y="2240280"/>
            <a:ext cx="5074920" cy="457200"/>
          </a:xfrm>
          <a:prstGeom prst="rect">
            <a:avLst/>
          </a:prstGeom>
          <a:noFill/>
          <a:ln/>
        </p:spPr>
        <p:txBody>
          <a:bodyPr wrap="square" lIns="1270" tIns="1270" rIns="1270" bIns="1270" rtlCol="0" anchor="ctr"/>
          <a:lstStyle/>
          <a:p>
            <a:pPr algn="l" indent="0" marL="0">
              <a:buNone/>
            </a:pPr>
            <a:r>
              <a:rPr lang="en-US" sz="1200" dirty="0">
                <a:solidFill>
                  <a:srgbClr val="1B2430"/>
                </a:solidFill>
              </a:rPr>
              <a:t>GET ads.tracker.net/pixel.gif (from shop)</a:t>
            </a:r>
            <a:endParaRPr lang="en-US" sz="1200" dirty="0"/>
          </a:p>
        </p:txBody>
      </p:sp>
      <p:sp>
        <p:nvSpPr>
          <p:cNvPr id="18" name="box"/>
          <p:cNvSpPr/>
          <p:nvPr/>
        </p:nvSpPr>
        <p:spPr>
          <a:xfrm>
            <a:off x="5669280" y="2240280"/>
            <a:ext cx="2331720" cy="457200"/>
          </a:xfrm>
          <a:prstGeom prst="rect">
            <a:avLst/>
          </a:prstGeom>
          <a:solidFill>
            <a:srgbClr val="F7F9FB"/>
          </a:solidFill>
          <a:ln w="12700">
            <a:solidFill>
              <a:srgbClr val="F7F9FB"/>
            </a:solidFill>
            <a:prstDash val="solid"/>
          </a:ln>
        </p:spPr>
      </p:sp>
      <p:sp>
        <p:nvSpPr>
          <p:cNvPr id="19" name="Text 16"/>
          <p:cNvSpPr txBox="1"/>
          <p:nvPr/>
        </p:nvSpPr>
        <p:spPr>
          <a:xfrm>
            <a:off x="5669280" y="2240280"/>
            <a:ext cx="233172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a:t>
            </a:r>
            <a:endParaRPr lang="en-US" sz="1200" dirty="0"/>
          </a:p>
        </p:txBody>
      </p:sp>
      <p:sp>
        <p:nvSpPr>
          <p:cNvPr id="20" name="box"/>
          <p:cNvSpPr/>
          <p:nvPr/>
        </p:nvSpPr>
        <p:spPr>
          <a:xfrm>
            <a:off x="8046720" y="2240280"/>
            <a:ext cx="3520440" cy="457200"/>
          </a:xfrm>
          <a:prstGeom prst="rect">
            <a:avLst/>
          </a:prstGeom>
          <a:solidFill>
            <a:srgbClr val="F7F9FB"/>
          </a:solidFill>
          <a:ln w="12700">
            <a:solidFill>
              <a:srgbClr val="F7F9FB"/>
            </a:solidFill>
            <a:prstDash val="solid"/>
          </a:ln>
        </p:spPr>
      </p:sp>
      <p:sp>
        <p:nvSpPr>
          <p:cNvPr id="21" name="Text 18"/>
          <p:cNvSpPr txBox="1"/>
          <p:nvPr/>
        </p:nvSpPr>
        <p:spPr>
          <a:xfrm>
            <a:off x="8046720" y="2240280"/>
            <a:ext cx="3520440" cy="457200"/>
          </a:xfrm>
          <a:prstGeom prst="rect">
            <a:avLst/>
          </a:prstGeom>
          <a:noFill/>
          <a:ln/>
        </p:spPr>
        <p:txBody>
          <a:bodyPr wrap="square" lIns="1270" tIns="1270" rIns="1270" bIns="1270" rtlCol="0" anchor="ctr"/>
          <a:lstStyle/>
          <a:p>
            <a:pPr algn="l" indent="0" marL="0">
              <a:buNone/>
            </a:pPr>
            <a:r>
              <a:rPr lang="en-US" sz="1200" dirty="0">
                <a:solidFill>
                  <a:srgbClr val="1B2430"/>
                </a:solidFill>
              </a:rPr>
              <a:t>← Set-Cookie: uid=77c2</a:t>
            </a:r>
            <a:endParaRPr lang="en-US" sz="1200" dirty="0"/>
          </a:p>
        </p:txBody>
      </p:sp>
      <p:sp>
        <p:nvSpPr>
          <p:cNvPr id="22" name="box"/>
          <p:cNvSpPr/>
          <p:nvPr/>
        </p:nvSpPr>
        <p:spPr>
          <a:xfrm>
            <a:off x="548640" y="2743200"/>
            <a:ext cx="5074920" cy="457200"/>
          </a:xfrm>
          <a:prstGeom prst="rect">
            <a:avLst/>
          </a:prstGeom>
          <a:solidFill>
            <a:srgbClr val="EEF2F6"/>
          </a:solidFill>
          <a:ln w="12700">
            <a:solidFill>
              <a:srgbClr val="EEF2F6"/>
            </a:solidFill>
            <a:prstDash val="solid"/>
          </a:ln>
        </p:spPr>
      </p:sp>
      <p:sp>
        <p:nvSpPr>
          <p:cNvPr id="23" name="Text 20"/>
          <p:cNvSpPr txBox="1"/>
          <p:nvPr/>
        </p:nvSpPr>
        <p:spPr>
          <a:xfrm>
            <a:off x="548640" y="2743200"/>
            <a:ext cx="5074920" cy="457200"/>
          </a:xfrm>
          <a:prstGeom prst="rect">
            <a:avLst/>
          </a:prstGeom>
          <a:noFill/>
          <a:ln/>
        </p:spPr>
        <p:txBody>
          <a:bodyPr wrap="square" lIns="1270" tIns="1270" rIns="1270" bIns="1270" rtlCol="0" anchor="ctr"/>
          <a:lstStyle/>
          <a:p>
            <a:pPr algn="l" indent="0" marL="0">
              <a:buNone/>
            </a:pPr>
            <a:r>
              <a:rPr lang="en-US" sz="1200" dirty="0">
                <a:solidFill>
                  <a:srgbClr val="1B2430"/>
                </a:solidFill>
              </a:rPr>
              <a:t>GET shop.example.ro/cart</a:t>
            </a:r>
            <a:endParaRPr lang="en-US" sz="1200" dirty="0"/>
          </a:p>
        </p:txBody>
      </p:sp>
      <p:sp>
        <p:nvSpPr>
          <p:cNvPr id="24" name="box"/>
          <p:cNvSpPr/>
          <p:nvPr/>
        </p:nvSpPr>
        <p:spPr>
          <a:xfrm>
            <a:off x="5669280" y="2743200"/>
            <a:ext cx="2331720" cy="457200"/>
          </a:xfrm>
          <a:prstGeom prst="rect">
            <a:avLst/>
          </a:prstGeom>
          <a:solidFill>
            <a:srgbClr val="D7EBDD"/>
          </a:solidFill>
          <a:ln w="12700">
            <a:solidFill>
              <a:srgbClr val="D7EBDD"/>
            </a:solidFill>
            <a:prstDash val="solid"/>
          </a:ln>
        </p:spPr>
      </p:sp>
      <p:sp>
        <p:nvSpPr>
          <p:cNvPr id="25" name="Text 22"/>
          <p:cNvSpPr txBox="1"/>
          <p:nvPr/>
        </p:nvSpPr>
        <p:spPr>
          <a:xfrm>
            <a:off x="5669280" y="2743200"/>
            <a:ext cx="233172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sid=a91f</a:t>
            </a:r>
            <a:endParaRPr lang="en-US" sz="1200" dirty="0"/>
          </a:p>
        </p:txBody>
      </p:sp>
      <p:sp>
        <p:nvSpPr>
          <p:cNvPr id="26" name="box"/>
          <p:cNvSpPr/>
          <p:nvPr/>
        </p:nvSpPr>
        <p:spPr>
          <a:xfrm>
            <a:off x="8046720" y="2743200"/>
            <a:ext cx="3520440" cy="457200"/>
          </a:xfrm>
          <a:prstGeom prst="rect">
            <a:avLst/>
          </a:prstGeom>
          <a:solidFill>
            <a:srgbClr val="F7F9FB"/>
          </a:solidFill>
          <a:ln w="12700">
            <a:solidFill>
              <a:srgbClr val="F7F9FB"/>
            </a:solidFill>
            <a:prstDash val="solid"/>
          </a:ln>
        </p:spPr>
      </p:sp>
      <p:sp>
        <p:nvSpPr>
          <p:cNvPr id="27" name="box"/>
          <p:cNvSpPr/>
          <p:nvPr/>
        </p:nvSpPr>
        <p:spPr>
          <a:xfrm>
            <a:off x="548640" y="3246120"/>
            <a:ext cx="5074920" cy="457200"/>
          </a:xfrm>
          <a:prstGeom prst="rect">
            <a:avLst/>
          </a:prstGeom>
          <a:solidFill>
            <a:srgbClr val="EEF2F6"/>
          </a:solidFill>
          <a:ln w="12700">
            <a:solidFill>
              <a:srgbClr val="EEF2F6"/>
            </a:solidFill>
            <a:prstDash val="solid"/>
          </a:ln>
        </p:spPr>
      </p:sp>
      <p:sp>
        <p:nvSpPr>
          <p:cNvPr id="28" name="Text 25"/>
          <p:cNvSpPr txBox="1"/>
          <p:nvPr/>
        </p:nvSpPr>
        <p:spPr>
          <a:xfrm>
            <a:off x="548640" y="3246120"/>
            <a:ext cx="5074920" cy="457200"/>
          </a:xfrm>
          <a:prstGeom prst="rect">
            <a:avLst/>
          </a:prstGeom>
          <a:noFill/>
          <a:ln/>
        </p:spPr>
        <p:txBody>
          <a:bodyPr wrap="square" lIns="1270" tIns="1270" rIns="1270" bIns="1270" rtlCol="0" anchor="ctr"/>
          <a:lstStyle/>
          <a:p>
            <a:pPr algn="l" indent="0" marL="0">
              <a:buNone/>
            </a:pPr>
            <a:r>
              <a:rPr lang="en-US" sz="1200" dirty="0">
                <a:solidFill>
                  <a:srgbClr val="1B2430"/>
                </a:solidFill>
              </a:rPr>
              <a:t>GET ads.tracker.net/pixel.gif (from cart)</a:t>
            </a:r>
            <a:endParaRPr lang="en-US" sz="1200" dirty="0"/>
          </a:p>
        </p:txBody>
      </p:sp>
      <p:sp>
        <p:nvSpPr>
          <p:cNvPr id="29" name="box"/>
          <p:cNvSpPr/>
          <p:nvPr/>
        </p:nvSpPr>
        <p:spPr>
          <a:xfrm>
            <a:off x="5669280" y="3246120"/>
            <a:ext cx="2331720" cy="457200"/>
          </a:xfrm>
          <a:prstGeom prst="rect">
            <a:avLst/>
          </a:prstGeom>
          <a:solidFill>
            <a:srgbClr val="F2D6D6"/>
          </a:solidFill>
          <a:ln w="12700">
            <a:solidFill>
              <a:srgbClr val="F2D6D6"/>
            </a:solidFill>
            <a:prstDash val="solid"/>
          </a:ln>
        </p:spPr>
      </p:sp>
      <p:sp>
        <p:nvSpPr>
          <p:cNvPr id="30" name="Text 27"/>
          <p:cNvSpPr txBox="1"/>
          <p:nvPr/>
        </p:nvSpPr>
        <p:spPr>
          <a:xfrm>
            <a:off x="5669280" y="3246120"/>
            <a:ext cx="233172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uid=77c2</a:t>
            </a:r>
            <a:endParaRPr lang="en-US" sz="1200" dirty="0"/>
          </a:p>
        </p:txBody>
      </p:sp>
      <p:sp>
        <p:nvSpPr>
          <p:cNvPr id="31" name="box"/>
          <p:cNvSpPr/>
          <p:nvPr/>
        </p:nvSpPr>
        <p:spPr>
          <a:xfrm>
            <a:off x="8046720" y="3246120"/>
            <a:ext cx="3520440" cy="457200"/>
          </a:xfrm>
          <a:prstGeom prst="rect">
            <a:avLst/>
          </a:prstGeom>
          <a:solidFill>
            <a:srgbClr val="F7F9FB"/>
          </a:solidFill>
          <a:ln w="12700">
            <a:solidFill>
              <a:srgbClr val="F7F9FB"/>
            </a:solidFill>
            <a:prstDash val="solid"/>
          </a:ln>
        </p:spPr>
      </p:sp>
      <p:sp>
        <p:nvSpPr>
          <p:cNvPr id="32" name="Text 29"/>
          <p:cNvSpPr txBox="1"/>
          <p:nvPr/>
        </p:nvSpPr>
        <p:spPr>
          <a:xfrm>
            <a:off x="8046720" y="3246120"/>
            <a:ext cx="3520440" cy="457200"/>
          </a:xfrm>
          <a:prstGeom prst="rect">
            <a:avLst/>
          </a:prstGeom>
          <a:noFill/>
          <a:ln/>
        </p:spPr>
        <p:txBody>
          <a:bodyPr wrap="square" lIns="1270" tIns="1270" rIns="1270" bIns="1270" rtlCol="0" anchor="ctr"/>
          <a:lstStyle/>
          <a:p>
            <a:pPr algn="l" indent="0" marL="0">
              <a:buNone/>
            </a:pPr>
            <a:r>
              <a:rPr lang="en-US" sz="1200" dirty="0">
                <a:solidFill>
                  <a:srgbClr val="1B2430"/>
                </a:solidFill>
              </a:rPr>
              <a:t>Referer: shop…/cart</a:t>
            </a:r>
            <a:endParaRPr lang="en-US" sz="1200" dirty="0"/>
          </a:p>
        </p:txBody>
      </p:sp>
      <p:sp>
        <p:nvSpPr>
          <p:cNvPr id="33" name="box"/>
          <p:cNvSpPr/>
          <p:nvPr/>
        </p:nvSpPr>
        <p:spPr>
          <a:xfrm>
            <a:off x="548640" y="3749040"/>
            <a:ext cx="5074920" cy="457200"/>
          </a:xfrm>
          <a:prstGeom prst="rect">
            <a:avLst/>
          </a:prstGeom>
          <a:solidFill>
            <a:srgbClr val="EEF2F6"/>
          </a:solidFill>
          <a:ln w="12700">
            <a:solidFill>
              <a:srgbClr val="EEF2F6"/>
            </a:solidFill>
            <a:prstDash val="solid"/>
          </a:ln>
        </p:spPr>
      </p:sp>
      <p:sp>
        <p:nvSpPr>
          <p:cNvPr id="34" name="Text 31"/>
          <p:cNvSpPr txBox="1"/>
          <p:nvPr/>
        </p:nvSpPr>
        <p:spPr>
          <a:xfrm>
            <a:off x="548640" y="3749040"/>
            <a:ext cx="5074920" cy="457200"/>
          </a:xfrm>
          <a:prstGeom prst="rect">
            <a:avLst/>
          </a:prstGeom>
          <a:noFill/>
          <a:ln/>
        </p:spPr>
        <p:txBody>
          <a:bodyPr wrap="square" lIns="1270" tIns="1270" rIns="1270" bIns="1270" rtlCol="0" anchor="ctr"/>
          <a:lstStyle/>
          <a:p>
            <a:pPr algn="l" indent="0" marL="0">
              <a:buNone/>
            </a:pPr>
            <a:r>
              <a:rPr lang="en-US" sz="1200" dirty="0">
                <a:solidFill>
                  <a:srgbClr val="1B2430"/>
                </a:solidFill>
              </a:rPr>
              <a:t>GET news.example.com/</a:t>
            </a:r>
            <a:endParaRPr lang="en-US" sz="1200" dirty="0"/>
          </a:p>
        </p:txBody>
      </p:sp>
      <p:sp>
        <p:nvSpPr>
          <p:cNvPr id="35" name="box"/>
          <p:cNvSpPr/>
          <p:nvPr/>
        </p:nvSpPr>
        <p:spPr>
          <a:xfrm>
            <a:off x="5669280" y="3749040"/>
            <a:ext cx="2331720" cy="457200"/>
          </a:xfrm>
          <a:prstGeom prst="rect">
            <a:avLst/>
          </a:prstGeom>
          <a:solidFill>
            <a:srgbClr val="F7F9FB"/>
          </a:solidFill>
          <a:ln w="12700">
            <a:solidFill>
              <a:srgbClr val="F7F9FB"/>
            </a:solidFill>
            <a:prstDash val="solid"/>
          </a:ln>
        </p:spPr>
      </p:sp>
      <p:sp>
        <p:nvSpPr>
          <p:cNvPr id="36" name="Text 33"/>
          <p:cNvSpPr txBox="1"/>
          <p:nvPr/>
        </p:nvSpPr>
        <p:spPr>
          <a:xfrm>
            <a:off x="5669280" y="3749040"/>
            <a:ext cx="233172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a:t>
            </a:r>
            <a:endParaRPr lang="en-US" sz="1200" dirty="0"/>
          </a:p>
        </p:txBody>
      </p:sp>
      <p:sp>
        <p:nvSpPr>
          <p:cNvPr id="37" name="box"/>
          <p:cNvSpPr/>
          <p:nvPr/>
        </p:nvSpPr>
        <p:spPr>
          <a:xfrm>
            <a:off x="8046720" y="3749040"/>
            <a:ext cx="3520440" cy="457200"/>
          </a:xfrm>
          <a:prstGeom prst="rect">
            <a:avLst/>
          </a:prstGeom>
          <a:solidFill>
            <a:srgbClr val="F7F9FB"/>
          </a:solidFill>
          <a:ln w="12700">
            <a:solidFill>
              <a:srgbClr val="F7F9FB"/>
            </a:solidFill>
            <a:prstDash val="solid"/>
          </a:ln>
        </p:spPr>
      </p:sp>
      <p:sp>
        <p:nvSpPr>
          <p:cNvPr id="38" name="box"/>
          <p:cNvSpPr/>
          <p:nvPr/>
        </p:nvSpPr>
        <p:spPr>
          <a:xfrm>
            <a:off x="548640" y="4251960"/>
            <a:ext cx="5074920" cy="457200"/>
          </a:xfrm>
          <a:prstGeom prst="rect">
            <a:avLst/>
          </a:prstGeom>
          <a:solidFill>
            <a:srgbClr val="EEF2F6"/>
          </a:solidFill>
          <a:ln w="12700">
            <a:solidFill>
              <a:srgbClr val="EEF2F6"/>
            </a:solidFill>
            <a:prstDash val="solid"/>
          </a:ln>
        </p:spPr>
      </p:sp>
      <p:sp>
        <p:nvSpPr>
          <p:cNvPr id="39" name="Text 36"/>
          <p:cNvSpPr txBox="1"/>
          <p:nvPr/>
        </p:nvSpPr>
        <p:spPr>
          <a:xfrm>
            <a:off x="548640" y="4251960"/>
            <a:ext cx="5074920" cy="457200"/>
          </a:xfrm>
          <a:prstGeom prst="rect">
            <a:avLst/>
          </a:prstGeom>
          <a:noFill/>
          <a:ln/>
        </p:spPr>
        <p:txBody>
          <a:bodyPr wrap="square" lIns="1270" tIns="1270" rIns="1270" bIns="1270" rtlCol="0" anchor="ctr"/>
          <a:lstStyle/>
          <a:p>
            <a:pPr algn="l" indent="0" marL="0">
              <a:buNone/>
            </a:pPr>
            <a:r>
              <a:rPr lang="en-US" sz="1200" dirty="0">
                <a:solidFill>
                  <a:srgbClr val="1B2430"/>
                </a:solidFill>
              </a:rPr>
              <a:t>GET ads.tracker.net/pixel.gif (from news)</a:t>
            </a:r>
            <a:endParaRPr lang="en-US" sz="1200" dirty="0"/>
          </a:p>
        </p:txBody>
      </p:sp>
      <p:sp>
        <p:nvSpPr>
          <p:cNvPr id="40" name="box"/>
          <p:cNvSpPr/>
          <p:nvPr/>
        </p:nvSpPr>
        <p:spPr>
          <a:xfrm>
            <a:off x="5669280" y="4251960"/>
            <a:ext cx="2331720" cy="457200"/>
          </a:xfrm>
          <a:prstGeom prst="rect">
            <a:avLst/>
          </a:prstGeom>
          <a:solidFill>
            <a:srgbClr val="F2D6D6"/>
          </a:solidFill>
          <a:ln w="12700">
            <a:solidFill>
              <a:srgbClr val="F2D6D6"/>
            </a:solidFill>
            <a:prstDash val="solid"/>
          </a:ln>
        </p:spPr>
      </p:sp>
      <p:sp>
        <p:nvSpPr>
          <p:cNvPr id="41" name="Text 38"/>
          <p:cNvSpPr txBox="1"/>
          <p:nvPr/>
        </p:nvSpPr>
        <p:spPr>
          <a:xfrm>
            <a:off x="5669280" y="4251960"/>
            <a:ext cx="233172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uid=77c2</a:t>
            </a:r>
            <a:endParaRPr lang="en-US" sz="1200" dirty="0"/>
          </a:p>
        </p:txBody>
      </p:sp>
      <p:sp>
        <p:nvSpPr>
          <p:cNvPr id="42" name="box"/>
          <p:cNvSpPr/>
          <p:nvPr/>
        </p:nvSpPr>
        <p:spPr>
          <a:xfrm>
            <a:off x="8046720" y="4251960"/>
            <a:ext cx="3520440" cy="457200"/>
          </a:xfrm>
          <a:prstGeom prst="rect">
            <a:avLst/>
          </a:prstGeom>
          <a:solidFill>
            <a:srgbClr val="F7F9FB"/>
          </a:solidFill>
          <a:ln w="12700">
            <a:solidFill>
              <a:srgbClr val="F7F9FB"/>
            </a:solidFill>
            <a:prstDash val="solid"/>
          </a:ln>
        </p:spPr>
      </p:sp>
      <p:sp>
        <p:nvSpPr>
          <p:cNvPr id="43" name="Text 40"/>
          <p:cNvSpPr txBox="1"/>
          <p:nvPr/>
        </p:nvSpPr>
        <p:spPr>
          <a:xfrm>
            <a:off x="8046720" y="4251960"/>
            <a:ext cx="3520440" cy="457200"/>
          </a:xfrm>
          <a:prstGeom prst="rect">
            <a:avLst/>
          </a:prstGeom>
          <a:noFill/>
          <a:ln/>
        </p:spPr>
        <p:txBody>
          <a:bodyPr wrap="square" lIns="1270" tIns="1270" rIns="1270" bIns="1270" rtlCol="0" anchor="ctr"/>
          <a:lstStyle/>
          <a:p>
            <a:pPr algn="l" indent="0" marL="0">
              <a:buNone/>
            </a:pPr>
            <a:r>
              <a:rPr lang="en-US" sz="1200" dirty="0">
                <a:solidFill>
                  <a:srgbClr val="1B2430"/>
                </a:solidFill>
              </a:rPr>
              <a:t>Referer: news…</a:t>
            </a:r>
            <a:endParaRPr lang="en-US" sz="1200" dirty="0"/>
          </a:p>
        </p:txBody>
      </p:sp>
      <p:sp>
        <p:nvSpPr>
          <p:cNvPr id="44" name="Shape 41"/>
          <p:cNvSpPr/>
          <p:nvPr/>
        </p:nvSpPr>
        <p:spPr>
          <a:xfrm>
            <a:off x="548640" y="4910328"/>
            <a:ext cx="384048" cy="384048"/>
          </a:xfrm>
          <a:prstGeom prst="ellipse">
            <a:avLst/>
          </a:prstGeom>
          <a:solidFill>
            <a:srgbClr val="B9772A"/>
          </a:solidFill>
          <a:ln w="12700">
            <a:solidFill>
              <a:srgbClr val="B9772A"/>
            </a:solidFill>
            <a:prstDash val="solid"/>
          </a:ln>
        </p:spPr>
      </p:sp>
      <p:sp>
        <p:nvSpPr>
          <p:cNvPr id="45" name="Text 42"/>
          <p:cNvSpPr txBox="1"/>
          <p:nvPr/>
        </p:nvSpPr>
        <p:spPr>
          <a:xfrm>
            <a:off x="548640" y="4910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46" name="Text 43"/>
          <p:cNvSpPr txBox="1"/>
          <p:nvPr/>
        </p:nvSpPr>
        <p:spPr>
          <a:xfrm>
            <a:off x="1051560" y="4892040"/>
            <a:ext cx="4983480" cy="7772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sid: no Expires/Max-Age → gone when the browser closes. uid: 31 536 000 s = one year.</a:t>
            </a:r>
            <a:endParaRPr lang="en-US" sz="1200" dirty="0"/>
          </a:p>
        </p:txBody>
      </p:sp>
      <p:sp>
        <p:nvSpPr>
          <p:cNvPr id="47" name="Shape 44"/>
          <p:cNvSpPr/>
          <p:nvPr/>
        </p:nvSpPr>
        <p:spPr>
          <a:xfrm>
            <a:off x="6217920" y="4910328"/>
            <a:ext cx="384048" cy="384048"/>
          </a:xfrm>
          <a:prstGeom prst="ellipse">
            <a:avLst/>
          </a:prstGeom>
          <a:solidFill>
            <a:srgbClr val="B9772A"/>
          </a:solidFill>
          <a:ln w="12700">
            <a:solidFill>
              <a:srgbClr val="B9772A"/>
            </a:solidFill>
            <a:prstDash val="solid"/>
          </a:ln>
        </p:spPr>
      </p:sp>
      <p:sp>
        <p:nvSpPr>
          <p:cNvPr id="48" name="Text 45"/>
          <p:cNvSpPr txBox="1"/>
          <p:nvPr/>
        </p:nvSpPr>
        <p:spPr>
          <a:xfrm>
            <a:off x="6217920" y="4910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49" name="Text 46"/>
          <p:cNvSpPr txBox="1"/>
          <p:nvPr/>
        </p:nvSpPr>
        <p:spPr>
          <a:xfrm>
            <a:off x="6720840" y="4892040"/>
            <a:ext cx="4892040" cy="7772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Block third-party cookies → the red cells disappear and cross-site tracking by cookie stops.</a:t>
            </a:r>
            <a:endParaRPr lang="en-US" sz="1200" dirty="0"/>
          </a:p>
        </p:txBody>
      </p:sp>
      <p:sp>
        <p:nvSpPr>
          <p:cNvPr id="5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51" name="Text 4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The tracker learns the same browser visited the cart and the news site — from uid + Referer.</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2 · Upgrade the link or install a cache?</a:t>
            </a:r>
            <a:endParaRPr lang="en-US" sz="3000" dirty="0"/>
          </a:p>
        </p:txBody>
      </p:sp>
      <p:sp>
        <p:nvSpPr>
          <p:cNvPr id="4" name="Text 1"/>
          <p:cNvSpPr txBox="1"/>
          <p:nvPr/>
        </p:nvSpPr>
        <p:spPr>
          <a:xfrm>
            <a:off x="548640" y="1371600"/>
            <a:ext cx="3108960" cy="82296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Today</a:t>
            </a:r>
            <a:endParaRPr lang="en-US" sz="1200" dirty="0"/>
          </a:p>
          <a:p>
            <a:pPr algn="l" indent="0" marL="0">
              <a:spcAft>
                <a:spcPts val="400"/>
              </a:spcAft>
              <a:buNone/>
            </a:pPr>
            <a:r>
              <a:rPr lang="en-US" sz="1200" dirty="0">
                <a:solidFill>
                  <a:srgbClr val="1B2430"/>
                </a:solidFill>
              </a:rPr>
              <a:t>ρ = 0.8 · d = 5/0.2 = 25 ms</a:t>
            </a:r>
            <a:endParaRPr lang="en-US" sz="1200" dirty="0"/>
          </a:p>
        </p:txBody>
      </p:sp>
      <p:sp>
        <p:nvSpPr>
          <p:cNvPr id="5" name="box"/>
          <p:cNvSpPr/>
          <p:nvPr/>
        </p:nvSpPr>
        <p:spPr>
          <a:xfrm>
            <a:off x="3749040" y="1463040"/>
            <a:ext cx="6858000" cy="640080"/>
          </a:xfrm>
          <a:prstGeom prst="rect">
            <a:avLst/>
          </a:prstGeom>
          <a:solidFill>
            <a:srgbClr val="A23B3B"/>
          </a:solidFill>
          <a:ln w="12700">
            <a:solidFill>
              <a:srgbClr val="A23B3B"/>
            </a:solidFill>
            <a:prstDash val="solid"/>
          </a:ln>
        </p:spPr>
      </p:sp>
      <p:sp>
        <p:nvSpPr>
          <p:cNvPr id="6" name="Text 3"/>
          <p:cNvSpPr txBox="1"/>
          <p:nvPr/>
        </p:nvSpPr>
        <p:spPr>
          <a:xfrm>
            <a:off x="3749040" y="1463040"/>
            <a:ext cx="6858000" cy="640080"/>
          </a:xfrm>
          <a:prstGeom prst="rect">
            <a:avLst/>
          </a:prstGeom>
          <a:noFill/>
          <a:ln/>
        </p:spPr>
        <p:txBody>
          <a:bodyPr wrap="square" lIns="635" tIns="635" rIns="635" bIns="635" rtlCol="0" anchor="ctr"/>
          <a:lstStyle/>
          <a:p>
            <a:pPr algn="ctr" indent="0" marL="0">
              <a:buNone/>
            </a:pPr>
            <a:r>
              <a:rPr lang="en-US" sz="1500" b="1" dirty="0">
                <a:solidFill>
                  <a:srgbClr val="FFFFFF"/>
                </a:solidFill>
              </a:rPr>
              <a:t>0.625 s</a:t>
            </a:r>
            <a:endParaRPr lang="en-US" sz="1500" dirty="0"/>
          </a:p>
        </p:txBody>
      </p:sp>
      <p:sp>
        <p:nvSpPr>
          <p:cNvPr id="7" name="Text 4"/>
          <p:cNvSpPr txBox="1"/>
          <p:nvPr/>
        </p:nvSpPr>
        <p:spPr>
          <a:xfrm>
            <a:off x="548640" y="2423160"/>
            <a:ext cx="3108960" cy="82296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1 Gbit/s link</a:t>
            </a:r>
            <a:endParaRPr lang="en-US" sz="1200" dirty="0"/>
          </a:p>
          <a:p>
            <a:pPr algn="l" indent="0" marL="0">
              <a:spcAft>
                <a:spcPts val="400"/>
              </a:spcAft>
              <a:buNone/>
            </a:pPr>
            <a:r>
              <a:rPr lang="en-US" sz="1200" dirty="0">
                <a:solidFill>
                  <a:srgbClr val="1B2430"/>
                </a:solidFill>
              </a:rPr>
              <a:t>ρ = 0.16 · d ≈ 1.2 ms</a:t>
            </a:r>
            <a:endParaRPr lang="en-US" sz="1200" dirty="0"/>
          </a:p>
        </p:txBody>
      </p:sp>
      <p:sp>
        <p:nvSpPr>
          <p:cNvPr id="8" name="box"/>
          <p:cNvSpPr/>
          <p:nvPr/>
        </p:nvSpPr>
        <p:spPr>
          <a:xfrm>
            <a:off x="3749040" y="2514600"/>
            <a:ext cx="6594653" cy="640080"/>
          </a:xfrm>
          <a:prstGeom prst="rect">
            <a:avLst/>
          </a:prstGeom>
          <a:solidFill>
            <a:srgbClr val="B9772A"/>
          </a:solidFill>
          <a:ln w="12700">
            <a:solidFill>
              <a:srgbClr val="B9772A"/>
            </a:solidFill>
            <a:prstDash val="solid"/>
          </a:ln>
        </p:spPr>
      </p:sp>
      <p:sp>
        <p:nvSpPr>
          <p:cNvPr id="9" name="Text 6"/>
          <p:cNvSpPr txBox="1"/>
          <p:nvPr/>
        </p:nvSpPr>
        <p:spPr>
          <a:xfrm>
            <a:off x="3749040" y="2514600"/>
            <a:ext cx="6594653" cy="640080"/>
          </a:xfrm>
          <a:prstGeom prst="rect">
            <a:avLst/>
          </a:prstGeom>
          <a:noFill/>
          <a:ln/>
        </p:spPr>
        <p:txBody>
          <a:bodyPr wrap="square" lIns="635" tIns="635" rIns="635" bIns="635" rtlCol="0" anchor="ctr"/>
          <a:lstStyle/>
          <a:p>
            <a:pPr algn="ctr" indent="0" marL="0">
              <a:buNone/>
            </a:pPr>
            <a:r>
              <a:rPr lang="en-US" sz="1500" b="1" dirty="0">
                <a:solidFill>
                  <a:srgbClr val="FFFFFF"/>
                </a:solidFill>
              </a:rPr>
              <a:t>0.601 s</a:t>
            </a:r>
            <a:endParaRPr lang="en-US" sz="1500" dirty="0"/>
          </a:p>
        </p:txBody>
      </p:sp>
      <p:sp>
        <p:nvSpPr>
          <p:cNvPr id="10" name="Text 7"/>
          <p:cNvSpPr txBox="1"/>
          <p:nvPr/>
        </p:nvSpPr>
        <p:spPr>
          <a:xfrm>
            <a:off x="548640" y="3474720"/>
            <a:ext cx="3108960" cy="82296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Cache, 35 % hits (4 ms)</a:t>
            </a:r>
            <a:endParaRPr lang="en-US" sz="1200" dirty="0"/>
          </a:p>
          <a:p>
            <a:pPr algn="l" indent="0" marL="0">
              <a:spcAft>
                <a:spcPts val="400"/>
              </a:spcAft>
              <a:buNone/>
            </a:pPr>
            <a:r>
              <a:rPr lang="en-US" sz="1200" dirty="0">
                <a:solidFill>
                  <a:srgbClr val="1B2430"/>
                </a:solidFill>
              </a:rPr>
              <a:t>ρ = 0.52 · d ≈ 10.4 ms</a:t>
            </a:r>
            <a:endParaRPr lang="en-US" sz="1200" dirty="0"/>
          </a:p>
        </p:txBody>
      </p:sp>
      <p:sp>
        <p:nvSpPr>
          <p:cNvPr id="11" name="box"/>
          <p:cNvSpPr/>
          <p:nvPr/>
        </p:nvSpPr>
        <p:spPr>
          <a:xfrm>
            <a:off x="3749040" y="3566160"/>
            <a:ext cx="4389120" cy="640080"/>
          </a:xfrm>
          <a:prstGeom prst="rect">
            <a:avLst/>
          </a:prstGeom>
          <a:solidFill>
            <a:srgbClr val="2E7D4F"/>
          </a:solidFill>
          <a:ln w="12700">
            <a:solidFill>
              <a:srgbClr val="2E7D4F"/>
            </a:solidFill>
            <a:prstDash val="solid"/>
          </a:ln>
        </p:spPr>
      </p:sp>
      <p:sp>
        <p:nvSpPr>
          <p:cNvPr id="12" name="Text 9"/>
          <p:cNvSpPr txBox="1"/>
          <p:nvPr/>
        </p:nvSpPr>
        <p:spPr>
          <a:xfrm>
            <a:off x="3749040" y="3566160"/>
            <a:ext cx="4389120" cy="640080"/>
          </a:xfrm>
          <a:prstGeom prst="rect">
            <a:avLst/>
          </a:prstGeom>
          <a:noFill/>
          <a:ln/>
        </p:spPr>
        <p:txBody>
          <a:bodyPr wrap="square" lIns="635" tIns="635" rIns="635" bIns="635" rtlCol="0" anchor="ctr"/>
          <a:lstStyle/>
          <a:p>
            <a:pPr algn="ctr" indent="0" marL="0">
              <a:buNone/>
            </a:pPr>
            <a:r>
              <a:rPr lang="en-US" sz="1500" b="1" dirty="0">
                <a:solidFill>
                  <a:srgbClr val="FFFFFF"/>
                </a:solidFill>
              </a:rPr>
              <a:t>0.4 s</a:t>
            </a:r>
            <a:endParaRPr lang="en-US" sz="1500" dirty="0"/>
          </a:p>
        </p:txBody>
      </p:sp>
      <p:sp>
        <p:nvSpPr>
          <p:cNvPr id="13" name="Shape 10"/>
          <p:cNvSpPr/>
          <p:nvPr/>
        </p:nvSpPr>
        <p:spPr>
          <a:xfrm>
            <a:off x="548640" y="4590288"/>
            <a:ext cx="384048" cy="384048"/>
          </a:xfrm>
          <a:prstGeom prst="ellipse">
            <a:avLst/>
          </a:prstGeom>
          <a:solidFill>
            <a:srgbClr val="B9772A"/>
          </a:solidFill>
          <a:ln w="12700">
            <a:solidFill>
              <a:srgbClr val="B9772A"/>
            </a:solidFill>
            <a:prstDash val="solid"/>
          </a:ln>
        </p:spPr>
      </p:sp>
      <p:sp>
        <p:nvSpPr>
          <p:cNvPr id="14" name="Text 11"/>
          <p:cNvSpPr txBox="1"/>
          <p:nvPr/>
        </p:nvSpPr>
        <p:spPr>
          <a:xfrm>
            <a:off x="548640" y="4590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2"/>
          <p:cNvSpPr txBox="1"/>
          <p:nvPr/>
        </p:nvSpPr>
        <p:spPr>
          <a:xfrm>
            <a:off x="1051560" y="4572000"/>
            <a:ext cx="4983480" cy="105156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The faster link gains </a:t>
            </a:r>
            <a:r>
              <a:rPr lang="en-US" sz="1300" b="1" dirty="0">
                <a:solidFill>
                  <a:srgbClr val="1B2430"/>
                </a:solidFill>
              </a:rPr>
              <a:t>almost nothing</a:t>
            </a:r>
            <a:r>
              <a:rPr lang="en-US" sz="1300" dirty="0">
                <a:solidFill>
                  <a:srgbClr val="1B2430"/>
                </a:solidFill>
              </a:rPr>
              <a:t>: the 0.6 s of the Internet path dominates.</a:t>
            </a:r>
            <a:endParaRPr lang="en-US" sz="1300" dirty="0"/>
          </a:p>
        </p:txBody>
      </p:sp>
      <p:sp>
        <p:nvSpPr>
          <p:cNvPr id="16" name="Shape 13"/>
          <p:cNvSpPr/>
          <p:nvPr/>
        </p:nvSpPr>
        <p:spPr>
          <a:xfrm>
            <a:off x="6217920" y="4590288"/>
            <a:ext cx="384048" cy="384048"/>
          </a:xfrm>
          <a:prstGeom prst="ellipse">
            <a:avLst/>
          </a:prstGeom>
          <a:solidFill>
            <a:srgbClr val="B9772A"/>
          </a:solidFill>
          <a:ln w="12700">
            <a:solidFill>
              <a:srgbClr val="B9772A"/>
            </a:solidFill>
            <a:prstDash val="solid"/>
          </a:ln>
        </p:spPr>
      </p:sp>
      <p:sp>
        <p:nvSpPr>
          <p:cNvPr id="17" name="Text 14"/>
          <p:cNvSpPr txBox="1"/>
          <p:nvPr/>
        </p:nvSpPr>
        <p:spPr>
          <a:xfrm>
            <a:off x="6217920" y="4590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8" name="Text 15"/>
          <p:cNvSpPr txBox="1"/>
          <p:nvPr/>
        </p:nvSpPr>
        <p:spPr>
          <a:xfrm>
            <a:off x="6720840" y="4572000"/>
            <a:ext cx="4892040" cy="105156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The cache cuts response time by a third and link load from 80 % to 52 % — cheaper, too.</a:t>
            </a:r>
            <a:endParaRPr lang="en-US" sz="1300" dirty="0"/>
          </a:p>
        </p:txBody>
      </p:sp>
      <p:sp>
        <p:nvSpPr>
          <p:cNvPr id="19"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0" name="Text 17"/>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Find the dominant delay first: here it is the distance to the origin, which only a cache removes.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3 · A cached page through time</a:t>
            </a:r>
            <a:endParaRPr lang="en-US" sz="3000" dirty="0"/>
          </a:p>
        </p:txBody>
      </p:sp>
      <p:sp>
        <p:nvSpPr>
          <p:cNvPr id="4" name="Shape 1"/>
          <p:cNvSpPr/>
          <p:nvPr/>
        </p:nvSpPr>
        <p:spPr>
          <a:xfrm>
            <a:off x="822960" y="2743200"/>
            <a:ext cx="10607040" cy="914"/>
          </a:xfrm>
          <a:prstGeom prst="line">
            <a:avLst/>
          </a:prstGeom>
          <a:noFill/>
          <a:ln w="31750">
            <a:solidFill>
              <a:srgbClr val="1F3A5F"/>
            </a:solidFill>
            <a:prstDash val="solid"/>
            <a:tailEnd type="triangle"/>
          </a:ln>
        </p:spPr>
      </p:sp>
      <p:sp>
        <p:nvSpPr>
          <p:cNvPr id="5" name="box"/>
          <p:cNvSpPr/>
          <p:nvPr/>
        </p:nvSpPr>
        <p:spPr>
          <a:xfrm>
            <a:off x="822960" y="2148840"/>
            <a:ext cx="3257550" cy="457200"/>
          </a:xfrm>
          <a:prstGeom prst="rect">
            <a:avLst/>
          </a:prstGeom>
          <a:solidFill>
            <a:srgbClr val="D7EBDD"/>
          </a:solidFill>
          <a:ln w="12700">
            <a:solidFill>
              <a:srgbClr val="D7EBDD"/>
            </a:solidFill>
            <a:prstDash val="solid"/>
          </a:ln>
        </p:spPr>
      </p:sp>
      <p:sp>
        <p:nvSpPr>
          <p:cNvPr id="6" name="Text 3"/>
          <p:cNvSpPr txBox="1"/>
          <p:nvPr/>
        </p:nvSpPr>
        <p:spPr>
          <a:xfrm>
            <a:off x="822960" y="2148840"/>
            <a:ext cx="3257550" cy="457200"/>
          </a:xfrm>
          <a:prstGeom prst="rect">
            <a:avLst/>
          </a:prstGeom>
          <a:noFill/>
          <a:ln/>
        </p:spPr>
        <p:txBody>
          <a:bodyPr wrap="square" lIns="635" tIns="635" rIns="635" bIns="635" rtlCol="0" anchor="ctr"/>
          <a:lstStyle/>
          <a:p>
            <a:pPr algn="ctr" indent="0" marL="0">
              <a:buNone/>
            </a:pPr>
            <a:r>
              <a:rPr lang="en-US" sz="1100" dirty="0">
                <a:solidFill>
                  <a:srgbClr val="1B2430"/>
                </a:solidFill>
              </a:rPr>
              <a:t>fresh until 10:10</a:t>
            </a:r>
            <a:endParaRPr lang="en-US" sz="1100" dirty="0"/>
          </a:p>
        </p:txBody>
      </p:sp>
      <p:sp>
        <p:nvSpPr>
          <p:cNvPr id="7" name="box"/>
          <p:cNvSpPr/>
          <p:nvPr/>
        </p:nvSpPr>
        <p:spPr>
          <a:xfrm>
            <a:off x="4732020" y="2148840"/>
            <a:ext cx="3257550" cy="457200"/>
          </a:xfrm>
          <a:prstGeom prst="rect">
            <a:avLst/>
          </a:prstGeom>
          <a:solidFill>
            <a:srgbClr val="D7EBDD"/>
          </a:solidFill>
          <a:ln w="12700">
            <a:solidFill>
              <a:srgbClr val="D7EBDD"/>
            </a:solidFill>
            <a:prstDash val="solid"/>
          </a:ln>
        </p:spPr>
      </p:sp>
      <p:sp>
        <p:nvSpPr>
          <p:cNvPr id="8" name="Text 5"/>
          <p:cNvSpPr txBox="1"/>
          <p:nvPr/>
        </p:nvSpPr>
        <p:spPr>
          <a:xfrm>
            <a:off x="4732020" y="2148840"/>
            <a:ext cx="3257550" cy="457200"/>
          </a:xfrm>
          <a:prstGeom prst="rect">
            <a:avLst/>
          </a:prstGeom>
          <a:noFill/>
          <a:ln/>
        </p:spPr>
        <p:txBody>
          <a:bodyPr wrap="square" lIns="635" tIns="635" rIns="635" bIns="635" rtlCol="0" anchor="ctr"/>
          <a:lstStyle/>
          <a:p>
            <a:pPr algn="ctr" indent="0" marL="0">
              <a:buNone/>
            </a:pPr>
            <a:r>
              <a:rPr lang="en-US" sz="1100" dirty="0">
                <a:solidFill>
                  <a:srgbClr val="1B2430"/>
                </a:solidFill>
              </a:rPr>
              <a:t>fresh 10:12 – 10:22</a:t>
            </a:r>
            <a:endParaRPr lang="en-US" sz="1100" dirty="0"/>
          </a:p>
        </p:txBody>
      </p:sp>
      <p:sp>
        <p:nvSpPr>
          <p:cNvPr id="9" name="box"/>
          <p:cNvSpPr/>
          <p:nvPr/>
        </p:nvSpPr>
        <p:spPr>
          <a:xfrm>
            <a:off x="8921115" y="1325880"/>
            <a:ext cx="1463040" cy="502920"/>
          </a:xfrm>
          <a:prstGeom prst="roundRect">
            <a:avLst>
              <a:gd name="adj" fmla="val 14545"/>
            </a:avLst>
          </a:prstGeom>
          <a:solidFill>
            <a:srgbClr val="A23B3B"/>
          </a:solidFill>
          <a:ln w="12700">
            <a:solidFill>
              <a:srgbClr val="A23B3B"/>
            </a:solidFill>
            <a:prstDash val="solid"/>
          </a:ln>
        </p:spPr>
      </p:sp>
      <p:sp>
        <p:nvSpPr>
          <p:cNvPr id="10" name="Text 7"/>
          <p:cNvSpPr txBox="1"/>
          <p:nvPr/>
        </p:nvSpPr>
        <p:spPr>
          <a:xfrm>
            <a:off x="8921115" y="1325880"/>
            <a:ext cx="1463040" cy="502920"/>
          </a:xfrm>
          <a:prstGeom prst="rect">
            <a:avLst/>
          </a:prstGeom>
          <a:noFill/>
          <a:ln/>
        </p:spPr>
        <p:txBody>
          <a:bodyPr wrap="square" lIns="635" tIns="635" rIns="635" bIns="635" rtlCol="0" anchor="ctr"/>
          <a:lstStyle/>
          <a:p>
            <a:pPr algn="ctr" indent="0" marL="0">
              <a:buNone/>
            </a:pPr>
            <a:r>
              <a:rPr lang="en-US" sz="1000" dirty="0">
                <a:solidFill>
                  <a:srgbClr val="FFFFFF"/>
                </a:solidFill>
              </a:rPr>
              <a:t>10:25 page → v2</a:t>
            </a:r>
            <a:endParaRPr lang="en-US" sz="1000" dirty="0"/>
          </a:p>
        </p:txBody>
      </p:sp>
      <p:sp>
        <p:nvSpPr>
          <p:cNvPr id="11" name="Shape 8"/>
          <p:cNvSpPr/>
          <p:nvPr/>
        </p:nvSpPr>
        <p:spPr>
          <a:xfrm>
            <a:off x="8966835" y="1828800"/>
            <a:ext cx="914" cy="868680"/>
          </a:xfrm>
          <a:prstGeom prst="line">
            <a:avLst/>
          </a:prstGeom>
          <a:noFill/>
          <a:ln w="19050">
            <a:solidFill>
              <a:srgbClr val="A23B3B"/>
            </a:solidFill>
            <a:prstDash val="dash"/>
            <a:tailEnd type="triangle"/>
          </a:ln>
        </p:spPr>
      </p:sp>
      <p:sp>
        <p:nvSpPr>
          <p:cNvPr id="12" name="Shape 9"/>
          <p:cNvSpPr/>
          <p:nvPr/>
        </p:nvSpPr>
        <p:spPr>
          <a:xfrm>
            <a:off x="2451735" y="2788920"/>
            <a:ext cx="914" cy="365760"/>
          </a:xfrm>
          <a:prstGeom prst="line">
            <a:avLst/>
          </a:prstGeom>
          <a:noFill/>
          <a:ln w="15875">
            <a:solidFill>
              <a:srgbClr val="5B6770"/>
            </a:solidFill>
            <a:prstDash val="solid"/>
            <a:tailEnd type="triangle"/>
          </a:ln>
        </p:spPr>
      </p:sp>
      <p:sp>
        <p:nvSpPr>
          <p:cNvPr id="13" name="box"/>
          <p:cNvSpPr/>
          <p:nvPr/>
        </p:nvSpPr>
        <p:spPr>
          <a:xfrm>
            <a:off x="1263015" y="3200400"/>
            <a:ext cx="2651760" cy="777240"/>
          </a:xfrm>
          <a:prstGeom prst="roundRect">
            <a:avLst>
              <a:gd name="adj" fmla="val 9412"/>
            </a:avLst>
          </a:prstGeom>
          <a:solidFill>
            <a:srgbClr val="D7EBDD"/>
          </a:solidFill>
          <a:ln w="12700">
            <a:solidFill>
              <a:srgbClr val="D7EBDD"/>
            </a:solidFill>
            <a:prstDash val="solid"/>
          </a:ln>
        </p:spPr>
      </p:sp>
      <p:sp>
        <p:nvSpPr>
          <p:cNvPr id="14" name="Text 11"/>
          <p:cNvSpPr txBox="1"/>
          <p:nvPr/>
        </p:nvSpPr>
        <p:spPr>
          <a:xfrm>
            <a:off x="1263015" y="3200400"/>
            <a:ext cx="2651760" cy="777240"/>
          </a:xfrm>
          <a:prstGeom prst="rect">
            <a:avLst/>
          </a:prstGeom>
          <a:noFill/>
          <a:ln/>
        </p:spPr>
        <p:txBody>
          <a:bodyPr wrap="square" lIns="635" tIns="635" rIns="635" bIns="635" rtlCol="0" anchor="ctr"/>
          <a:lstStyle/>
          <a:p>
            <a:pPr algn="ctr" indent="0" marL="0">
              <a:buNone/>
            </a:pPr>
            <a:r>
              <a:rPr lang="en-US" sz="1100" b="1" dirty="0">
                <a:solidFill>
                  <a:srgbClr val="1B2430"/>
                </a:solidFill>
              </a:rPr>
              <a:t>10:05</a:t>
            </a:r>
            <a:endParaRPr lang="en-US" sz="1100" dirty="0"/>
          </a:p>
          <a:p>
            <a:pPr algn="ctr" indent="0" marL="0">
              <a:buNone/>
            </a:pPr>
            <a:r>
              <a:rPr lang="en-US" sz="1100" dirty="0">
                <a:solidFill>
                  <a:srgbClr val="1B2430"/>
                </a:solidFill>
              </a:rPr>
              <a:t>from cache · no request · 0 bytes</a:t>
            </a:r>
            <a:endParaRPr lang="en-US" sz="1100" dirty="0"/>
          </a:p>
        </p:txBody>
      </p:sp>
      <p:sp>
        <p:nvSpPr>
          <p:cNvPr id="15" name="Shape 12"/>
          <p:cNvSpPr/>
          <p:nvPr/>
        </p:nvSpPr>
        <p:spPr>
          <a:xfrm>
            <a:off x="4732020" y="2788920"/>
            <a:ext cx="914" cy="1280160"/>
          </a:xfrm>
          <a:prstGeom prst="line">
            <a:avLst/>
          </a:prstGeom>
          <a:noFill/>
          <a:ln w="15875">
            <a:solidFill>
              <a:srgbClr val="5B6770"/>
            </a:solidFill>
            <a:prstDash val="solid"/>
            <a:tailEnd type="triangle"/>
          </a:ln>
        </p:spPr>
      </p:sp>
      <p:sp>
        <p:nvSpPr>
          <p:cNvPr id="16" name="box"/>
          <p:cNvSpPr/>
          <p:nvPr/>
        </p:nvSpPr>
        <p:spPr>
          <a:xfrm>
            <a:off x="3543300" y="4114800"/>
            <a:ext cx="2651760" cy="777240"/>
          </a:xfrm>
          <a:prstGeom prst="roundRect">
            <a:avLst>
              <a:gd name="adj" fmla="val 9412"/>
            </a:avLst>
          </a:prstGeom>
          <a:solidFill>
            <a:srgbClr val="F3EAD7"/>
          </a:solidFill>
          <a:ln w="12700">
            <a:solidFill>
              <a:srgbClr val="F3EAD7"/>
            </a:solidFill>
            <a:prstDash val="solid"/>
          </a:ln>
        </p:spPr>
      </p:sp>
      <p:sp>
        <p:nvSpPr>
          <p:cNvPr id="17" name="Text 14"/>
          <p:cNvSpPr txBox="1"/>
          <p:nvPr/>
        </p:nvSpPr>
        <p:spPr>
          <a:xfrm>
            <a:off x="3543300" y="4114800"/>
            <a:ext cx="2651760" cy="777240"/>
          </a:xfrm>
          <a:prstGeom prst="rect">
            <a:avLst/>
          </a:prstGeom>
          <a:noFill/>
          <a:ln/>
        </p:spPr>
        <p:txBody>
          <a:bodyPr wrap="square" lIns="635" tIns="635" rIns="635" bIns="635" rtlCol="0" anchor="ctr"/>
          <a:lstStyle/>
          <a:p>
            <a:pPr algn="ctr" indent="0" marL="0">
              <a:buNone/>
            </a:pPr>
            <a:r>
              <a:rPr lang="en-US" sz="1100" b="1" dirty="0">
                <a:solidFill>
                  <a:srgbClr val="1B2430"/>
                </a:solidFill>
              </a:rPr>
              <a:t>10:12</a:t>
            </a:r>
            <a:endParaRPr lang="en-US" sz="1100" dirty="0"/>
          </a:p>
          <a:p>
            <a:pPr algn="ctr" indent="0" marL="0">
              <a:buNone/>
            </a:pPr>
            <a:r>
              <a:rPr lang="en-US" sz="1100" dirty="0">
                <a:solidFill>
                  <a:srgbClr val="1B2430"/>
                </a:solidFill>
              </a:rPr>
              <a:t>If-None-Match "v1" → 304 · 0 bytes</a:t>
            </a:r>
            <a:endParaRPr lang="en-US" sz="1100" dirty="0"/>
          </a:p>
        </p:txBody>
      </p:sp>
      <p:sp>
        <p:nvSpPr>
          <p:cNvPr id="18" name="Shape 15"/>
          <p:cNvSpPr/>
          <p:nvPr/>
        </p:nvSpPr>
        <p:spPr>
          <a:xfrm>
            <a:off x="7338060" y="2788920"/>
            <a:ext cx="914" cy="365760"/>
          </a:xfrm>
          <a:prstGeom prst="line">
            <a:avLst/>
          </a:prstGeom>
          <a:noFill/>
          <a:ln w="15875">
            <a:solidFill>
              <a:srgbClr val="5B6770"/>
            </a:solidFill>
            <a:prstDash val="solid"/>
            <a:tailEnd type="triangle"/>
          </a:ln>
        </p:spPr>
      </p:sp>
      <p:sp>
        <p:nvSpPr>
          <p:cNvPr id="19" name="box"/>
          <p:cNvSpPr/>
          <p:nvPr/>
        </p:nvSpPr>
        <p:spPr>
          <a:xfrm>
            <a:off x="6149340" y="3200400"/>
            <a:ext cx="2651760" cy="777240"/>
          </a:xfrm>
          <a:prstGeom prst="roundRect">
            <a:avLst>
              <a:gd name="adj" fmla="val 9412"/>
            </a:avLst>
          </a:prstGeom>
          <a:solidFill>
            <a:srgbClr val="D7EBDD"/>
          </a:solidFill>
          <a:ln w="12700">
            <a:solidFill>
              <a:srgbClr val="D7EBDD"/>
            </a:solidFill>
            <a:prstDash val="solid"/>
          </a:ln>
        </p:spPr>
      </p:sp>
      <p:sp>
        <p:nvSpPr>
          <p:cNvPr id="20" name="Text 17"/>
          <p:cNvSpPr txBox="1"/>
          <p:nvPr/>
        </p:nvSpPr>
        <p:spPr>
          <a:xfrm>
            <a:off x="6149340" y="3200400"/>
            <a:ext cx="2651760" cy="777240"/>
          </a:xfrm>
          <a:prstGeom prst="rect">
            <a:avLst/>
          </a:prstGeom>
          <a:noFill/>
          <a:ln/>
        </p:spPr>
        <p:txBody>
          <a:bodyPr wrap="square" lIns="635" tIns="635" rIns="635" bIns="635" rtlCol="0" anchor="ctr"/>
          <a:lstStyle/>
          <a:p>
            <a:pPr algn="ctr" indent="0" marL="0">
              <a:buNone/>
            </a:pPr>
            <a:r>
              <a:rPr lang="en-US" sz="1100" b="1" dirty="0">
                <a:solidFill>
                  <a:srgbClr val="1B2430"/>
                </a:solidFill>
              </a:rPr>
              <a:t>10:20</a:t>
            </a:r>
            <a:endParaRPr lang="en-US" sz="1100" dirty="0"/>
          </a:p>
          <a:p>
            <a:pPr algn="ctr" indent="0" marL="0">
              <a:buNone/>
            </a:pPr>
            <a:r>
              <a:rPr lang="en-US" sz="1100" dirty="0">
                <a:solidFill>
                  <a:srgbClr val="1B2430"/>
                </a:solidFill>
              </a:rPr>
              <a:t>from cache · no request</a:t>
            </a:r>
            <a:endParaRPr lang="en-US" sz="1100" dirty="0"/>
          </a:p>
        </p:txBody>
      </p:sp>
      <p:sp>
        <p:nvSpPr>
          <p:cNvPr id="21" name="Shape 18"/>
          <p:cNvSpPr/>
          <p:nvPr/>
        </p:nvSpPr>
        <p:spPr>
          <a:xfrm>
            <a:off x="10595610" y="2788920"/>
            <a:ext cx="914" cy="1280160"/>
          </a:xfrm>
          <a:prstGeom prst="line">
            <a:avLst/>
          </a:prstGeom>
          <a:noFill/>
          <a:ln w="15875">
            <a:solidFill>
              <a:srgbClr val="5B6770"/>
            </a:solidFill>
            <a:prstDash val="solid"/>
            <a:tailEnd type="triangle"/>
          </a:ln>
        </p:spPr>
      </p:sp>
      <p:sp>
        <p:nvSpPr>
          <p:cNvPr id="22" name="box"/>
          <p:cNvSpPr/>
          <p:nvPr/>
        </p:nvSpPr>
        <p:spPr>
          <a:xfrm>
            <a:off x="8961120" y="4114800"/>
            <a:ext cx="2651760" cy="777240"/>
          </a:xfrm>
          <a:prstGeom prst="roundRect">
            <a:avLst>
              <a:gd name="adj" fmla="val 9412"/>
            </a:avLst>
          </a:prstGeom>
          <a:solidFill>
            <a:srgbClr val="F2D6D6"/>
          </a:solidFill>
          <a:ln w="12700">
            <a:solidFill>
              <a:srgbClr val="F2D6D6"/>
            </a:solidFill>
            <a:prstDash val="solid"/>
          </a:ln>
        </p:spPr>
      </p:sp>
      <p:sp>
        <p:nvSpPr>
          <p:cNvPr id="23" name="Text 20"/>
          <p:cNvSpPr txBox="1"/>
          <p:nvPr/>
        </p:nvSpPr>
        <p:spPr>
          <a:xfrm>
            <a:off x="8961120" y="4114800"/>
            <a:ext cx="2651760" cy="777240"/>
          </a:xfrm>
          <a:prstGeom prst="rect">
            <a:avLst/>
          </a:prstGeom>
          <a:noFill/>
          <a:ln/>
        </p:spPr>
        <p:txBody>
          <a:bodyPr wrap="square" lIns="635" tIns="635" rIns="635" bIns="635" rtlCol="0" anchor="ctr"/>
          <a:lstStyle/>
          <a:p>
            <a:pPr algn="ctr" indent="0" marL="0">
              <a:buNone/>
            </a:pPr>
            <a:r>
              <a:rPr lang="en-US" sz="1100" b="1" dirty="0">
                <a:solidFill>
                  <a:srgbClr val="1B2430"/>
                </a:solidFill>
              </a:rPr>
              <a:t>10:30</a:t>
            </a:r>
            <a:endParaRPr lang="en-US" sz="1100" dirty="0"/>
          </a:p>
          <a:p>
            <a:pPr algn="ctr" indent="0" marL="0">
              <a:buNone/>
            </a:pPr>
            <a:r>
              <a:rPr lang="en-US" sz="1100" dirty="0">
                <a:solidFill>
                  <a:srgbClr val="1B2430"/>
                </a:solidFill>
              </a:rPr>
              <a:t>If-None-Match "v1" → 200 "v2" · 40 KB</a:t>
            </a:r>
            <a:endParaRPr lang="en-US" sz="1100" dirty="0"/>
          </a:p>
        </p:txBody>
      </p:sp>
      <p:sp>
        <p:nvSpPr>
          <p:cNvPr id="24" name="Text 21"/>
          <p:cNvSpPr txBox="1"/>
          <p:nvPr/>
        </p:nvSpPr>
        <p:spPr>
          <a:xfrm>
            <a:off x="548640" y="5120640"/>
            <a:ext cx="10972800" cy="457200"/>
          </a:xfrm>
          <a:prstGeom prst="rect">
            <a:avLst/>
          </a:prstGeom>
          <a:noFill/>
          <a:ln/>
        </p:spPr>
        <p:txBody>
          <a:bodyPr wrap="square" lIns="0" tIns="0" rIns="0" bIns="0" rtlCol="0" anchor="t"/>
          <a:lstStyle/>
          <a:p>
            <a:pPr algn="l" indent="0" marL="0">
              <a:spcAft>
                <a:spcPts val="400"/>
              </a:spcAft>
              <a:buNone/>
            </a:pPr>
            <a:r>
              <a:rPr lang="en-US" sz="1200" dirty="0">
                <a:solidFill>
                  <a:srgbClr val="5B6770"/>
                </a:solidFill>
              </a:rPr>
              <a:t>40 KB sent once instead of four times. Between 10:25 and 10:30 the user could have seen the old page: max-age trades freshness for speed.</a:t>
            </a:r>
            <a:endParaRPr lang="en-US" sz="1200" dirty="0"/>
          </a:p>
        </p:txBody>
      </p:sp>
      <p:sp>
        <p:nvSpPr>
          <p:cNvPr id="25"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6" name="Text 23"/>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Fresh → no question asked; stale → a conditional GET; changed → the full object.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4 · A video and ten icons on one connection</a:t>
            </a:r>
            <a:endParaRPr lang="en-US" sz="3000" dirty="0"/>
          </a:p>
        </p:txBody>
      </p:sp>
      <p:sp>
        <p:nvSpPr>
          <p:cNvPr id="4" name="Text 1"/>
          <p:cNvSpPr txBox="1"/>
          <p:nvPr/>
        </p:nvSpPr>
        <p:spPr>
          <a:xfrm>
            <a:off x="548640" y="1234440"/>
            <a:ext cx="5486400" cy="32004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HTTP/1.1</a:t>
            </a:r>
            <a:r>
              <a:rPr lang="en-US" sz="1300" dirty="0">
                <a:solidFill>
                  <a:srgbClr val="1B2430"/>
                </a:solidFill>
              </a:rPr>
              <a:t> — one response after another</a:t>
            </a:r>
            <a:endParaRPr lang="en-US" sz="1300" dirty="0"/>
          </a:p>
        </p:txBody>
      </p:sp>
      <p:sp>
        <p:nvSpPr>
          <p:cNvPr id="5" name="box"/>
          <p:cNvSpPr/>
          <p:nvPr/>
        </p:nvSpPr>
        <p:spPr>
          <a:xfrm>
            <a:off x="548640" y="1600200"/>
            <a:ext cx="8046720" cy="502920"/>
          </a:xfrm>
          <a:prstGeom prst="rect">
            <a:avLst/>
          </a:prstGeom>
          <a:solidFill>
            <a:srgbClr val="1F3A5F"/>
          </a:solidFill>
          <a:ln w="12700">
            <a:solidFill>
              <a:srgbClr val="1F3A5F"/>
            </a:solidFill>
            <a:prstDash val="solid"/>
          </a:ln>
        </p:spPr>
      </p:sp>
      <p:sp>
        <p:nvSpPr>
          <p:cNvPr id="6" name="Text 3"/>
          <p:cNvSpPr txBox="1"/>
          <p:nvPr/>
        </p:nvSpPr>
        <p:spPr>
          <a:xfrm>
            <a:off x="548640" y="1600200"/>
            <a:ext cx="8046720" cy="502920"/>
          </a:xfrm>
          <a:prstGeom prst="rect">
            <a:avLst/>
          </a:prstGeom>
          <a:noFill/>
          <a:ln/>
        </p:spPr>
        <p:txBody>
          <a:bodyPr wrap="square" lIns="635" tIns="635" rIns="635" bIns="635" rtlCol="0" anchor="ctr"/>
          <a:lstStyle/>
          <a:p>
            <a:pPr algn="ctr" indent="0" marL="0">
              <a:buNone/>
            </a:pPr>
            <a:r>
              <a:rPr lang="en-US" sz="1200" dirty="0">
                <a:solidFill>
                  <a:srgbClr val="FFFFFF"/>
                </a:solidFill>
              </a:rPr>
              <a:t>video 0.8 s</a:t>
            </a:r>
            <a:endParaRPr lang="en-US" sz="1200" dirty="0"/>
          </a:p>
        </p:txBody>
      </p:sp>
      <p:sp>
        <p:nvSpPr>
          <p:cNvPr id="7" name="box"/>
          <p:cNvSpPr/>
          <p:nvPr/>
        </p:nvSpPr>
        <p:spPr>
          <a:xfrm>
            <a:off x="8595360" y="1600200"/>
            <a:ext cx="804672" cy="502920"/>
          </a:xfrm>
          <a:prstGeom prst="rect">
            <a:avLst/>
          </a:prstGeom>
          <a:solidFill>
            <a:srgbClr val="B9772A"/>
          </a:solidFill>
          <a:ln w="12700">
            <a:solidFill>
              <a:srgbClr val="B9772A"/>
            </a:solidFill>
            <a:prstDash val="solid"/>
          </a:ln>
        </p:spPr>
      </p:sp>
      <p:sp>
        <p:nvSpPr>
          <p:cNvPr id="8" name="Text 5"/>
          <p:cNvSpPr txBox="1"/>
          <p:nvPr/>
        </p:nvSpPr>
        <p:spPr>
          <a:xfrm>
            <a:off x="6949440" y="2148840"/>
            <a:ext cx="4572000" cy="320040"/>
          </a:xfrm>
          <a:prstGeom prst="rect">
            <a:avLst/>
          </a:prstGeom>
          <a:noFill/>
          <a:ln/>
        </p:spPr>
        <p:txBody>
          <a:bodyPr wrap="square" lIns="0" tIns="0" rIns="0" bIns="0" rtlCol="0" anchor="t"/>
          <a:lstStyle/>
          <a:p>
            <a:pPr algn="r" indent="0" marL="0">
              <a:spcAft>
                <a:spcPts val="400"/>
              </a:spcAft>
              <a:buNone/>
            </a:pPr>
            <a:r>
              <a:rPr lang="en-US" sz="1200" dirty="0">
                <a:solidFill>
                  <a:srgbClr val="A23B3B"/>
                </a:solidFill>
              </a:rPr>
              <a:t>icons: first at 0.808 s, last at 0.88 s</a:t>
            </a:r>
            <a:endParaRPr lang="en-US" sz="1200" dirty="0"/>
          </a:p>
        </p:txBody>
      </p:sp>
      <p:sp>
        <p:nvSpPr>
          <p:cNvPr id="9" name="Text 6"/>
          <p:cNvSpPr txBox="1"/>
          <p:nvPr/>
        </p:nvSpPr>
        <p:spPr>
          <a:xfrm>
            <a:off x="548640" y="2697480"/>
            <a:ext cx="5486400" cy="32004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HTTP/2</a:t>
            </a:r>
            <a:r>
              <a:rPr lang="en-US" sz="1300" dirty="0">
                <a:solidFill>
                  <a:srgbClr val="1B2430"/>
                </a:solidFill>
              </a:rPr>
              <a:t> — 11 streams share the link</a:t>
            </a:r>
            <a:endParaRPr lang="en-US" sz="1300" dirty="0"/>
          </a:p>
        </p:txBody>
      </p:sp>
      <p:sp>
        <p:nvSpPr>
          <p:cNvPr id="10" name="box"/>
          <p:cNvSpPr/>
          <p:nvPr/>
        </p:nvSpPr>
        <p:spPr>
          <a:xfrm>
            <a:off x="548640" y="3063240"/>
            <a:ext cx="885139" cy="502920"/>
          </a:xfrm>
          <a:prstGeom prst="rect">
            <a:avLst/>
          </a:prstGeom>
          <a:solidFill>
            <a:srgbClr val="B9772A"/>
          </a:solidFill>
          <a:ln w="12700">
            <a:solidFill>
              <a:srgbClr val="B9772A"/>
            </a:solidFill>
            <a:prstDash val="solid"/>
          </a:ln>
        </p:spPr>
      </p:sp>
      <p:sp>
        <p:nvSpPr>
          <p:cNvPr id="11" name="box"/>
          <p:cNvSpPr/>
          <p:nvPr/>
        </p:nvSpPr>
        <p:spPr>
          <a:xfrm>
            <a:off x="548640" y="3611880"/>
            <a:ext cx="8851392" cy="502920"/>
          </a:xfrm>
          <a:prstGeom prst="rect">
            <a:avLst/>
          </a:prstGeom>
          <a:solidFill>
            <a:srgbClr val="1F3A5F"/>
          </a:solidFill>
          <a:ln w="12700">
            <a:solidFill>
              <a:srgbClr val="1F3A5F"/>
            </a:solidFill>
            <a:prstDash val="solid"/>
          </a:ln>
        </p:spPr>
      </p:sp>
      <p:sp>
        <p:nvSpPr>
          <p:cNvPr id="12" name="Text 9"/>
          <p:cNvSpPr txBox="1"/>
          <p:nvPr/>
        </p:nvSpPr>
        <p:spPr>
          <a:xfrm>
            <a:off x="548640" y="3611880"/>
            <a:ext cx="8851392" cy="502920"/>
          </a:xfrm>
          <a:prstGeom prst="rect">
            <a:avLst/>
          </a:prstGeom>
          <a:noFill/>
          <a:ln/>
        </p:spPr>
        <p:txBody>
          <a:bodyPr wrap="square" lIns="635" tIns="635" rIns="635" bIns="635" rtlCol="0" anchor="ctr"/>
          <a:lstStyle/>
          <a:p>
            <a:pPr algn="ctr" indent="0" marL="0">
              <a:buNone/>
            </a:pPr>
            <a:r>
              <a:rPr lang="en-US" sz="1200" dirty="0">
                <a:solidFill>
                  <a:srgbClr val="FFFFFF"/>
                </a:solidFill>
              </a:rPr>
              <a:t>video finishes at 0.88 s</a:t>
            </a:r>
            <a:endParaRPr lang="en-US" sz="1200" dirty="0"/>
          </a:p>
        </p:txBody>
      </p:sp>
      <p:sp>
        <p:nvSpPr>
          <p:cNvPr id="13" name="Text 10"/>
          <p:cNvSpPr txBox="1"/>
          <p:nvPr/>
        </p:nvSpPr>
        <p:spPr>
          <a:xfrm>
            <a:off x="1554480" y="3108960"/>
            <a:ext cx="5486400" cy="411480"/>
          </a:xfrm>
          <a:prstGeom prst="rect">
            <a:avLst/>
          </a:prstGeom>
          <a:noFill/>
          <a:ln/>
        </p:spPr>
        <p:txBody>
          <a:bodyPr wrap="square" lIns="0" tIns="0" rIns="0" bIns="0" rtlCol="0" anchor="t"/>
          <a:lstStyle/>
          <a:p>
            <a:pPr algn="l" indent="0" marL="0">
              <a:spcAft>
                <a:spcPts val="400"/>
              </a:spcAft>
              <a:buNone/>
            </a:pPr>
            <a:r>
              <a:rPr lang="en-US" sz="1200" dirty="0">
                <a:solidFill>
                  <a:srgbClr val="2E7D4F"/>
                </a:solidFill>
              </a:rPr>
              <a:t>← all ten icons done at ≈ 88 ms</a:t>
            </a:r>
            <a:endParaRPr lang="en-US" sz="1200" dirty="0"/>
          </a:p>
        </p:txBody>
      </p:sp>
      <p:sp>
        <p:nvSpPr>
          <p:cNvPr id="14" name="Shape 11"/>
          <p:cNvSpPr/>
          <p:nvPr/>
        </p:nvSpPr>
        <p:spPr>
          <a:xfrm>
            <a:off x="548640" y="4453128"/>
            <a:ext cx="384048" cy="384048"/>
          </a:xfrm>
          <a:prstGeom prst="ellipse">
            <a:avLst/>
          </a:prstGeom>
          <a:solidFill>
            <a:srgbClr val="B9772A"/>
          </a:solidFill>
          <a:ln w="12700">
            <a:solidFill>
              <a:srgbClr val="B9772A"/>
            </a:solidFill>
            <a:prstDash val="solid"/>
          </a:ln>
        </p:spPr>
      </p:sp>
      <p:sp>
        <p:nvSpPr>
          <p:cNvPr id="15" name="Text 12"/>
          <p:cNvSpPr txBox="1"/>
          <p:nvPr/>
        </p:nvSpPr>
        <p:spPr>
          <a:xfrm>
            <a:off x="54864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6" name="Text 13"/>
          <p:cNvSpPr txBox="1"/>
          <p:nvPr/>
        </p:nvSpPr>
        <p:spPr>
          <a:xfrm>
            <a:off x="1051560" y="4434840"/>
            <a:ext cx="4983480" cy="118872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Same total time; the small objects stop waiting for the big one.</a:t>
            </a:r>
            <a:endParaRPr lang="en-US" sz="1300" dirty="0"/>
          </a:p>
        </p:txBody>
      </p:sp>
      <p:sp>
        <p:nvSpPr>
          <p:cNvPr id="17" name="Shape 14"/>
          <p:cNvSpPr/>
          <p:nvPr/>
        </p:nvSpPr>
        <p:spPr>
          <a:xfrm>
            <a:off x="6217920" y="4453128"/>
            <a:ext cx="384048" cy="384048"/>
          </a:xfrm>
          <a:prstGeom prst="ellipse">
            <a:avLst/>
          </a:prstGeom>
          <a:solidFill>
            <a:srgbClr val="B9772A"/>
          </a:solidFill>
          <a:ln w="12700">
            <a:solidFill>
              <a:srgbClr val="B9772A"/>
            </a:solidFill>
            <a:prstDash val="solid"/>
          </a:ln>
        </p:spPr>
      </p:sp>
      <p:sp>
        <p:nvSpPr>
          <p:cNvPr id="18" name="Text 15"/>
          <p:cNvSpPr txBox="1"/>
          <p:nvPr/>
        </p:nvSpPr>
        <p:spPr>
          <a:xfrm>
            <a:off x="621792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9" name="Text 16"/>
          <p:cNvSpPr txBox="1"/>
          <p:nvPr/>
        </p:nvSpPr>
        <p:spPr>
          <a:xfrm>
            <a:off x="6720840" y="4434840"/>
            <a:ext cx="4892040" cy="118872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One lost TCP segment (100 ms) delays </a:t>
            </a:r>
            <a:r>
              <a:rPr lang="en-US" sz="1300" b="1" dirty="0">
                <a:solidFill>
                  <a:srgbClr val="1B2430"/>
                </a:solidFill>
              </a:rPr>
              <a:t>every</a:t>
            </a:r>
            <a:r>
              <a:rPr lang="en-US" sz="1300" dirty="0">
                <a:solidFill>
                  <a:srgbClr val="1B2430"/>
                </a:solidFill>
              </a:rPr>
              <a:t> stream after it; with HTTP/3 only the video waits.</a:t>
            </a:r>
            <a:endParaRPr lang="en-US" sz="1300" dirty="0"/>
          </a:p>
        </p:txBody>
      </p:sp>
      <p:sp>
        <p:nvSpPr>
          <p:cNvPr id="2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1" name="Text 1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Multiplexing does not create bandwidth; it changes who waits for whom.</a:t>
            </a:r>
            <a:endParaRPr lang="en-US" sz="1400" dirty="0"/>
          </a:p>
        </p:txBody>
      </p:sp>
      <p:sp>
        <p:nvSpPr>
          <p:cNvPr id="22" name="Text 19"/>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HTTP (HyperText Transfer Protocol) · TCP (Transmission Control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5 · TLS on the café Wi-Fi</a:t>
            </a:r>
            <a:endParaRPr lang="en-US" sz="3000" dirty="0"/>
          </a:p>
        </p:txBody>
      </p:sp>
      <p:sp>
        <p:nvSpPr>
          <p:cNvPr id="4" name="Text 1"/>
          <p:cNvSpPr txBox="1"/>
          <p:nvPr/>
        </p:nvSpPr>
        <p:spPr>
          <a:xfrm>
            <a:off x="548640" y="1417320"/>
            <a:ext cx="2377440" cy="41148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TCP + TLS 1.3</a:t>
            </a:r>
            <a:endParaRPr lang="en-US" sz="1300" dirty="0"/>
          </a:p>
        </p:txBody>
      </p:sp>
      <p:sp>
        <p:nvSpPr>
          <p:cNvPr id="5" name="box"/>
          <p:cNvSpPr/>
          <p:nvPr/>
        </p:nvSpPr>
        <p:spPr>
          <a:xfrm>
            <a:off x="2743200" y="1325880"/>
            <a:ext cx="1005840" cy="530352"/>
          </a:xfrm>
          <a:prstGeom prst="rect">
            <a:avLst/>
          </a:prstGeom>
          <a:solidFill>
            <a:srgbClr val="2A7F8E"/>
          </a:solidFill>
          <a:ln w="12700">
            <a:solidFill>
              <a:srgbClr val="2A7F8E"/>
            </a:solidFill>
            <a:prstDash val="solid"/>
          </a:ln>
        </p:spPr>
      </p:sp>
      <p:sp>
        <p:nvSpPr>
          <p:cNvPr id="6" name="Text 3"/>
          <p:cNvSpPr txBox="1"/>
          <p:nvPr/>
        </p:nvSpPr>
        <p:spPr>
          <a:xfrm>
            <a:off x="2743200" y="1325880"/>
            <a:ext cx="1005840" cy="530352"/>
          </a:xfrm>
          <a:prstGeom prst="rect">
            <a:avLst/>
          </a:prstGeom>
          <a:noFill/>
          <a:ln/>
        </p:spPr>
        <p:txBody>
          <a:bodyPr wrap="square" lIns="635" tIns="635" rIns="635" bIns="635" rtlCol="0" anchor="ctr"/>
          <a:lstStyle/>
          <a:p>
            <a:pPr algn="ctr" indent="0" marL="0">
              <a:buNone/>
            </a:pPr>
            <a:r>
              <a:rPr lang="en-US" sz="1100" dirty="0">
                <a:solidFill>
                  <a:srgbClr val="FFFFFF"/>
                </a:solidFill>
              </a:rPr>
              <a:t>50 ms</a:t>
            </a:r>
            <a:endParaRPr lang="en-US" sz="1100" dirty="0"/>
          </a:p>
        </p:txBody>
      </p:sp>
      <p:sp>
        <p:nvSpPr>
          <p:cNvPr id="7" name="box"/>
          <p:cNvSpPr/>
          <p:nvPr/>
        </p:nvSpPr>
        <p:spPr>
          <a:xfrm>
            <a:off x="3794760" y="1325880"/>
            <a:ext cx="1005840" cy="530352"/>
          </a:xfrm>
          <a:prstGeom prst="rect">
            <a:avLst/>
          </a:prstGeom>
          <a:solidFill>
            <a:srgbClr val="2A7F8E"/>
          </a:solidFill>
          <a:ln w="12700">
            <a:solidFill>
              <a:srgbClr val="2A7F8E"/>
            </a:solidFill>
            <a:prstDash val="solid"/>
          </a:ln>
        </p:spPr>
      </p:sp>
      <p:sp>
        <p:nvSpPr>
          <p:cNvPr id="8" name="Text 5"/>
          <p:cNvSpPr txBox="1"/>
          <p:nvPr/>
        </p:nvSpPr>
        <p:spPr>
          <a:xfrm>
            <a:off x="3794760" y="1325880"/>
            <a:ext cx="1005840" cy="530352"/>
          </a:xfrm>
          <a:prstGeom prst="rect">
            <a:avLst/>
          </a:prstGeom>
          <a:noFill/>
          <a:ln/>
        </p:spPr>
        <p:txBody>
          <a:bodyPr wrap="square" lIns="635" tIns="635" rIns="635" bIns="635" rtlCol="0" anchor="ctr"/>
          <a:lstStyle/>
          <a:p>
            <a:pPr algn="ctr" indent="0" marL="0">
              <a:buNone/>
            </a:pPr>
            <a:r>
              <a:rPr lang="en-US" sz="1100" dirty="0">
                <a:solidFill>
                  <a:srgbClr val="FFFFFF"/>
                </a:solidFill>
              </a:rPr>
              <a:t>50 ms</a:t>
            </a:r>
            <a:endParaRPr lang="en-US" sz="1100" dirty="0"/>
          </a:p>
        </p:txBody>
      </p:sp>
      <p:sp>
        <p:nvSpPr>
          <p:cNvPr id="9" name="box"/>
          <p:cNvSpPr/>
          <p:nvPr/>
        </p:nvSpPr>
        <p:spPr>
          <a:xfrm>
            <a:off x="4846320" y="1325880"/>
            <a:ext cx="1005840" cy="530352"/>
          </a:xfrm>
          <a:prstGeom prst="rect">
            <a:avLst/>
          </a:prstGeom>
          <a:solidFill>
            <a:srgbClr val="2A7F8E"/>
          </a:solidFill>
          <a:ln w="12700">
            <a:solidFill>
              <a:srgbClr val="2A7F8E"/>
            </a:solidFill>
            <a:prstDash val="solid"/>
          </a:ln>
        </p:spPr>
      </p:sp>
      <p:sp>
        <p:nvSpPr>
          <p:cNvPr id="10" name="Text 7"/>
          <p:cNvSpPr txBox="1"/>
          <p:nvPr/>
        </p:nvSpPr>
        <p:spPr>
          <a:xfrm>
            <a:off x="4846320" y="1325880"/>
            <a:ext cx="1005840" cy="530352"/>
          </a:xfrm>
          <a:prstGeom prst="rect">
            <a:avLst/>
          </a:prstGeom>
          <a:noFill/>
          <a:ln/>
        </p:spPr>
        <p:txBody>
          <a:bodyPr wrap="square" lIns="635" tIns="635" rIns="635" bIns="635" rtlCol="0" anchor="ctr"/>
          <a:lstStyle/>
          <a:p>
            <a:pPr algn="ctr" indent="0" marL="0">
              <a:buNone/>
            </a:pPr>
            <a:r>
              <a:rPr lang="en-US" sz="1100" dirty="0">
                <a:solidFill>
                  <a:srgbClr val="FFFFFF"/>
                </a:solidFill>
              </a:rPr>
              <a:t>50 ms</a:t>
            </a:r>
            <a:endParaRPr lang="en-US" sz="1100" dirty="0"/>
          </a:p>
        </p:txBody>
      </p:sp>
      <p:sp>
        <p:nvSpPr>
          <p:cNvPr id="11" name="Text 8"/>
          <p:cNvSpPr txBox="1"/>
          <p:nvPr/>
        </p:nvSpPr>
        <p:spPr>
          <a:xfrm>
            <a:off x="5989320" y="1417320"/>
            <a:ext cx="1280160" cy="411480"/>
          </a:xfrm>
          <a:prstGeom prst="rect">
            <a:avLst/>
          </a:prstGeom>
          <a:noFill/>
          <a:ln/>
        </p:spPr>
        <p:txBody>
          <a:bodyPr wrap="square" lIns="0" tIns="0" rIns="0" bIns="0" rtlCol="0" anchor="t"/>
          <a:lstStyle/>
          <a:p>
            <a:pPr algn="l" indent="0" marL="0">
              <a:spcAft>
                <a:spcPts val="400"/>
              </a:spcAft>
              <a:buNone/>
            </a:pPr>
            <a:r>
              <a:rPr lang="en-US" sz="1400" b="1" dirty="0">
                <a:solidFill>
                  <a:srgbClr val="1B2430"/>
                </a:solidFill>
              </a:rPr>
              <a:t>150 ms</a:t>
            </a:r>
            <a:endParaRPr lang="en-US" sz="1400" dirty="0"/>
          </a:p>
        </p:txBody>
      </p:sp>
      <p:sp>
        <p:nvSpPr>
          <p:cNvPr id="12" name="Text 9"/>
          <p:cNvSpPr txBox="1"/>
          <p:nvPr/>
        </p:nvSpPr>
        <p:spPr>
          <a:xfrm>
            <a:off x="548640" y="2103120"/>
            <a:ext cx="2377440" cy="41148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TCP + TLS 1.2</a:t>
            </a:r>
            <a:endParaRPr lang="en-US" sz="1300" dirty="0"/>
          </a:p>
        </p:txBody>
      </p:sp>
      <p:sp>
        <p:nvSpPr>
          <p:cNvPr id="13" name="box"/>
          <p:cNvSpPr/>
          <p:nvPr/>
        </p:nvSpPr>
        <p:spPr>
          <a:xfrm>
            <a:off x="2743200" y="2011680"/>
            <a:ext cx="1005840" cy="530352"/>
          </a:xfrm>
          <a:prstGeom prst="rect">
            <a:avLst/>
          </a:prstGeom>
          <a:solidFill>
            <a:srgbClr val="B9772A"/>
          </a:solidFill>
          <a:ln w="12700">
            <a:solidFill>
              <a:srgbClr val="B9772A"/>
            </a:solidFill>
            <a:prstDash val="solid"/>
          </a:ln>
        </p:spPr>
      </p:sp>
      <p:sp>
        <p:nvSpPr>
          <p:cNvPr id="14" name="Text 11"/>
          <p:cNvSpPr txBox="1"/>
          <p:nvPr/>
        </p:nvSpPr>
        <p:spPr>
          <a:xfrm>
            <a:off x="2743200" y="2011680"/>
            <a:ext cx="1005840" cy="530352"/>
          </a:xfrm>
          <a:prstGeom prst="rect">
            <a:avLst/>
          </a:prstGeom>
          <a:noFill/>
          <a:ln/>
        </p:spPr>
        <p:txBody>
          <a:bodyPr wrap="square" lIns="635" tIns="635" rIns="635" bIns="635" rtlCol="0" anchor="ctr"/>
          <a:lstStyle/>
          <a:p>
            <a:pPr algn="ctr" indent="0" marL="0">
              <a:buNone/>
            </a:pPr>
            <a:r>
              <a:rPr lang="en-US" sz="1100" dirty="0">
                <a:solidFill>
                  <a:srgbClr val="FFFFFF"/>
                </a:solidFill>
              </a:rPr>
              <a:t>50 ms</a:t>
            </a:r>
            <a:endParaRPr lang="en-US" sz="1100" dirty="0"/>
          </a:p>
        </p:txBody>
      </p:sp>
      <p:sp>
        <p:nvSpPr>
          <p:cNvPr id="15" name="box"/>
          <p:cNvSpPr/>
          <p:nvPr/>
        </p:nvSpPr>
        <p:spPr>
          <a:xfrm>
            <a:off x="3794760" y="2011680"/>
            <a:ext cx="1005840" cy="530352"/>
          </a:xfrm>
          <a:prstGeom prst="rect">
            <a:avLst/>
          </a:prstGeom>
          <a:solidFill>
            <a:srgbClr val="B9772A"/>
          </a:solidFill>
          <a:ln w="12700">
            <a:solidFill>
              <a:srgbClr val="B9772A"/>
            </a:solidFill>
            <a:prstDash val="solid"/>
          </a:ln>
        </p:spPr>
      </p:sp>
      <p:sp>
        <p:nvSpPr>
          <p:cNvPr id="16" name="Text 13"/>
          <p:cNvSpPr txBox="1"/>
          <p:nvPr/>
        </p:nvSpPr>
        <p:spPr>
          <a:xfrm>
            <a:off x="3794760" y="2011680"/>
            <a:ext cx="1005840" cy="530352"/>
          </a:xfrm>
          <a:prstGeom prst="rect">
            <a:avLst/>
          </a:prstGeom>
          <a:noFill/>
          <a:ln/>
        </p:spPr>
        <p:txBody>
          <a:bodyPr wrap="square" lIns="635" tIns="635" rIns="635" bIns="635" rtlCol="0" anchor="ctr"/>
          <a:lstStyle/>
          <a:p>
            <a:pPr algn="ctr" indent="0" marL="0">
              <a:buNone/>
            </a:pPr>
            <a:r>
              <a:rPr lang="en-US" sz="1100" dirty="0">
                <a:solidFill>
                  <a:srgbClr val="FFFFFF"/>
                </a:solidFill>
              </a:rPr>
              <a:t>50 ms</a:t>
            </a:r>
            <a:endParaRPr lang="en-US" sz="1100" dirty="0"/>
          </a:p>
        </p:txBody>
      </p:sp>
      <p:sp>
        <p:nvSpPr>
          <p:cNvPr id="17" name="box"/>
          <p:cNvSpPr/>
          <p:nvPr/>
        </p:nvSpPr>
        <p:spPr>
          <a:xfrm>
            <a:off x="4846320" y="2011680"/>
            <a:ext cx="1005840" cy="530352"/>
          </a:xfrm>
          <a:prstGeom prst="rect">
            <a:avLst/>
          </a:prstGeom>
          <a:solidFill>
            <a:srgbClr val="B9772A"/>
          </a:solidFill>
          <a:ln w="12700">
            <a:solidFill>
              <a:srgbClr val="B9772A"/>
            </a:solidFill>
            <a:prstDash val="solid"/>
          </a:ln>
        </p:spPr>
      </p:sp>
      <p:sp>
        <p:nvSpPr>
          <p:cNvPr id="18" name="Text 15"/>
          <p:cNvSpPr txBox="1"/>
          <p:nvPr/>
        </p:nvSpPr>
        <p:spPr>
          <a:xfrm>
            <a:off x="4846320" y="2011680"/>
            <a:ext cx="1005840" cy="530352"/>
          </a:xfrm>
          <a:prstGeom prst="rect">
            <a:avLst/>
          </a:prstGeom>
          <a:noFill/>
          <a:ln/>
        </p:spPr>
        <p:txBody>
          <a:bodyPr wrap="square" lIns="635" tIns="635" rIns="635" bIns="635" rtlCol="0" anchor="ctr"/>
          <a:lstStyle/>
          <a:p>
            <a:pPr algn="ctr" indent="0" marL="0">
              <a:buNone/>
            </a:pPr>
            <a:r>
              <a:rPr lang="en-US" sz="1100" dirty="0">
                <a:solidFill>
                  <a:srgbClr val="FFFFFF"/>
                </a:solidFill>
              </a:rPr>
              <a:t>50 ms</a:t>
            </a:r>
            <a:endParaRPr lang="en-US" sz="1100" dirty="0"/>
          </a:p>
        </p:txBody>
      </p:sp>
      <p:sp>
        <p:nvSpPr>
          <p:cNvPr id="19" name="box"/>
          <p:cNvSpPr/>
          <p:nvPr/>
        </p:nvSpPr>
        <p:spPr>
          <a:xfrm>
            <a:off x="5897880" y="2011680"/>
            <a:ext cx="1005840" cy="530352"/>
          </a:xfrm>
          <a:prstGeom prst="rect">
            <a:avLst/>
          </a:prstGeom>
          <a:solidFill>
            <a:srgbClr val="B9772A"/>
          </a:solidFill>
          <a:ln w="12700">
            <a:solidFill>
              <a:srgbClr val="B9772A"/>
            </a:solidFill>
            <a:prstDash val="solid"/>
          </a:ln>
        </p:spPr>
      </p:sp>
      <p:sp>
        <p:nvSpPr>
          <p:cNvPr id="20" name="Text 17"/>
          <p:cNvSpPr txBox="1"/>
          <p:nvPr/>
        </p:nvSpPr>
        <p:spPr>
          <a:xfrm>
            <a:off x="5897880" y="2011680"/>
            <a:ext cx="1005840" cy="530352"/>
          </a:xfrm>
          <a:prstGeom prst="rect">
            <a:avLst/>
          </a:prstGeom>
          <a:noFill/>
          <a:ln/>
        </p:spPr>
        <p:txBody>
          <a:bodyPr wrap="square" lIns="635" tIns="635" rIns="635" bIns="635" rtlCol="0" anchor="ctr"/>
          <a:lstStyle/>
          <a:p>
            <a:pPr algn="ctr" indent="0" marL="0">
              <a:buNone/>
            </a:pPr>
            <a:r>
              <a:rPr lang="en-US" sz="1100" dirty="0">
                <a:solidFill>
                  <a:srgbClr val="FFFFFF"/>
                </a:solidFill>
              </a:rPr>
              <a:t>50 ms</a:t>
            </a:r>
            <a:endParaRPr lang="en-US" sz="1100" dirty="0"/>
          </a:p>
        </p:txBody>
      </p:sp>
      <p:sp>
        <p:nvSpPr>
          <p:cNvPr id="21" name="Text 18"/>
          <p:cNvSpPr txBox="1"/>
          <p:nvPr/>
        </p:nvSpPr>
        <p:spPr>
          <a:xfrm>
            <a:off x="7040880" y="2103120"/>
            <a:ext cx="1280160" cy="411480"/>
          </a:xfrm>
          <a:prstGeom prst="rect">
            <a:avLst/>
          </a:prstGeom>
          <a:noFill/>
          <a:ln/>
        </p:spPr>
        <p:txBody>
          <a:bodyPr wrap="square" lIns="0" tIns="0" rIns="0" bIns="0" rtlCol="0" anchor="t"/>
          <a:lstStyle/>
          <a:p>
            <a:pPr algn="l" indent="0" marL="0">
              <a:spcAft>
                <a:spcPts val="400"/>
              </a:spcAft>
              <a:buNone/>
            </a:pPr>
            <a:r>
              <a:rPr lang="en-US" sz="1400" b="1" dirty="0">
                <a:solidFill>
                  <a:srgbClr val="1B2430"/>
                </a:solidFill>
              </a:rPr>
              <a:t>200 ms</a:t>
            </a:r>
            <a:endParaRPr lang="en-US" sz="1400" dirty="0"/>
          </a:p>
        </p:txBody>
      </p:sp>
      <p:sp>
        <p:nvSpPr>
          <p:cNvPr id="22" name="Text 19"/>
          <p:cNvSpPr txBox="1"/>
          <p:nvPr/>
        </p:nvSpPr>
        <p:spPr>
          <a:xfrm>
            <a:off x="548640" y="2788920"/>
            <a:ext cx="2377440" cy="41148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HTTP/3</a:t>
            </a:r>
            <a:endParaRPr lang="en-US" sz="1300" dirty="0"/>
          </a:p>
        </p:txBody>
      </p:sp>
      <p:sp>
        <p:nvSpPr>
          <p:cNvPr id="23" name="box"/>
          <p:cNvSpPr/>
          <p:nvPr/>
        </p:nvSpPr>
        <p:spPr>
          <a:xfrm>
            <a:off x="2743200" y="2697480"/>
            <a:ext cx="1005840" cy="530352"/>
          </a:xfrm>
          <a:prstGeom prst="rect">
            <a:avLst/>
          </a:prstGeom>
          <a:solidFill>
            <a:srgbClr val="2E7D4F"/>
          </a:solidFill>
          <a:ln w="12700">
            <a:solidFill>
              <a:srgbClr val="2E7D4F"/>
            </a:solidFill>
            <a:prstDash val="solid"/>
          </a:ln>
        </p:spPr>
      </p:sp>
      <p:sp>
        <p:nvSpPr>
          <p:cNvPr id="24" name="Text 21"/>
          <p:cNvSpPr txBox="1"/>
          <p:nvPr/>
        </p:nvSpPr>
        <p:spPr>
          <a:xfrm>
            <a:off x="2743200" y="2697480"/>
            <a:ext cx="1005840" cy="530352"/>
          </a:xfrm>
          <a:prstGeom prst="rect">
            <a:avLst/>
          </a:prstGeom>
          <a:noFill/>
          <a:ln/>
        </p:spPr>
        <p:txBody>
          <a:bodyPr wrap="square" lIns="635" tIns="635" rIns="635" bIns="635" rtlCol="0" anchor="ctr"/>
          <a:lstStyle/>
          <a:p>
            <a:pPr algn="ctr" indent="0" marL="0">
              <a:buNone/>
            </a:pPr>
            <a:r>
              <a:rPr lang="en-US" sz="1100" dirty="0">
                <a:solidFill>
                  <a:srgbClr val="FFFFFF"/>
                </a:solidFill>
              </a:rPr>
              <a:t>50 ms</a:t>
            </a:r>
            <a:endParaRPr lang="en-US" sz="1100" dirty="0"/>
          </a:p>
        </p:txBody>
      </p:sp>
      <p:sp>
        <p:nvSpPr>
          <p:cNvPr id="25" name="box"/>
          <p:cNvSpPr/>
          <p:nvPr/>
        </p:nvSpPr>
        <p:spPr>
          <a:xfrm>
            <a:off x="3794760" y="2697480"/>
            <a:ext cx="1005840" cy="530352"/>
          </a:xfrm>
          <a:prstGeom prst="rect">
            <a:avLst/>
          </a:prstGeom>
          <a:solidFill>
            <a:srgbClr val="2E7D4F"/>
          </a:solidFill>
          <a:ln w="12700">
            <a:solidFill>
              <a:srgbClr val="2E7D4F"/>
            </a:solidFill>
            <a:prstDash val="solid"/>
          </a:ln>
        </p:spPr>
      </p:sp>
      <p:sp>
        <p:nvSpPr>
          <p:cNvPr id="26" name="Text 23"/>
          <p:cNvSpPr txBox="1"/>
          <p:nvPr/>
        </p:nvSpPr>
        <p:spPr>
          <a:xfrm>
            <a:off x="3794760" y="2697480"/>
            <a:ext cx="1005840" cy="530352"/>
          </a:xfrm>
          <a:prstGeom prst="rect">
            <a:avLst/>
          </a:prstGeom>
          <a:noFill/>
          <a:ln/>
        </p:spPr>
        <p:txBody>
          <a:bodyPr wrap="square" lIns="635" tIns="635" rIns="635" bIns="635" rtlCol="0" anchor="ctr"/>
          <a:lstStyle/>
          <a:p>
            <a:pPr algn="ctr" indent="0" marL="0">
              <a:buNone/>
            </a:pPr>
            <a:r>
              <a:rPr lang="en-US" sz="1100" dirty="0">
                <a:solidFill>
                  <a:srgbClr val="FFFFFF"/>
                </a:solidFill>
              </a:rPr>
              <a:t>50 ms</a:t>
            </a:r>
            <a:endParaRPr lang="en-US" sz="1100" dirty="0"/>
          </a:p>
        </p:txBody>
      </p:sp>
      <p:sp>
        <p:nvSpPr>
          <p:cNvPr id="27" name="Text 24"/>
          <p:cNvSpPr txBox="1"/>
          <p:nvPr/>
        </p:nvSpPr>
        <p:spPr>
          <a:xfrm>
            <a:off x="4937760" y="2788920"/>
            <a:ext cx="1280160" cy="411480"/>
          </a:xfrm>
          <a:prstGeom prst="rect">
            <a:avLst/>
          </a:prstGeom>
          <a:noFill/>
          <a:ln/>
        </p:spPr>
        <p:txBody>
          <a:bodyPr wrap="square" lIns="0" tIns="0" rIns="0" bIns="0" rtlCol="0" anchor="t"/>
          <a:lstStyle/>
          <a:p>
            <a:pPr algn="l" indent="0" marL="0">
              <a:spcAft>
                <a:spcPts val="400"/>
              </a:spcAft>
              <a:buNone/>
            </a:pPr>
            <a:r>
              <a:rPr lang="en-US" sz="1400" b="1" dirty="0">
                <a:solidFill>
                  <a:srgbClr val="1B2430"/>
                </a:solidFill>
              </a:rPr>
              <a:t>100 ms</a:t>
            </a:r>
            <a:endParaRPr lang="en-US" sz="1400" dirty="0"/>
          </a:p>
        </p:txBody>
      </p:sp>
      <p:sp>
        <p:nvSpPr>
          <p:cNvPr id="28" name="box"/>
          <p:cNvSpPr/>
          <p:nvPr/>
        </p:nvSpPr>
        <p:spPr>
          <a:xfrm>
            <a:off x="9052560" y="1325880"/>
            <a:ext cx="2560320" cy="1920240"/>
          </a:xfrm>
          <a:prstGeom prst="roundRect">
            <a:avLst>
              <a:gd name="adj" fmla="val 3810"/>
            </a:avLst>
          </a:prstGeom>
          <a:solidFill>
            <a:srgbClr val="F3EAD7"/>
          </a:solidFill>
          <a:ln w="12700">
            <a:solidFill>
              <a:srgbClr val="F3EAD7"/>
            </a:solidFill>
            <a:prstDash val="solid"/>
          </a:ln>
        </p:spPr>
      </p:sp>
      <p:sp>
        <p:nvSpPr>
          <p:cNvPr id="29" name="Text 26"/>
          <p:cNvSpPr txBox="1"/>
          <p:nvPr/>
        </p:nvSpPr>
        <p:spPr>
          <a:xfrm>
            <a:off x="9052560" y="1325880"/>
            <a:ext cx="2560320" cy="1920240"/>
          </a:xfrm>
          <a:prstGeom prst="rect">
            <a:avLst/>
          </a:prstGeom>
          <a:noFill/>
          <a:ln/>
        </p:spPr>
        <p:txBody>
          <a:bodyPr wrap="square" lIns="635" tIns="635" rIns="635" bIns="635" rtlCol="0" anchor="ctr"/>
          <a:lstStyle/>
          <a:p>
            <a:pPr algn="ctr" indent="0" marL="0">
              <a:spcAft>
                <a:spcPts val="300"/>
              </a:spcAft>
              <a:buNone/>
            </a:pPr>
            <a:r>
              <a:rPr lang="en-US" sz="1200" b="1" dirty="0">
                <a:solidFill>
                  <a:srgbClr val="1B2430"/>
                </a:solidFill>
              </a:rPr>
              <a:t>0-RTT next morning</a:t>
            </a:r>
            <a:endParaRPr lang="en-US" sz="1200" dirty="0"/>
          </a:p>
          <a:p>
            <a:pPr algn="ctr" indent="0" marL="0">
              <a:spcAft>
                <a:spcPts val="300"/>
              </a:spcAft>
              <a:buNone/>
            </a:pPr>
            <a:r>
              <a:rPr lang="en-US" sz="1200" dirty="0">
                <a:solidFill>
                  <a:srgbClr val="1B2430"/>
                </a:solidFill>
              </a:rPr>
              <a:t>only safe, idempotent requests:</a:t>
            </a:r>
            <a:endParaRPr lang="en-US" sz="1200" dirty="0"/>
          </a:p>
          <a:p>
            <a:pPr algn="ctr" indent="0" marL="0">
              <a:spcAft>
                <a:spcPts val="300"/>
              </a:spcAft>
              <a:buNone/>
            </a:pPr>
            <a:r>
              <a:rPr lang="en-US" sz="1200" dirty="0">
                <a:solidFill>
                  <a:srgbClr val="1B2430"/>
                </a:solidFill>
              </a:rPr>
              <a:t>recorded 0-RTT data can be </a:t>
            </a:r>
            <a:r>
              <a:rPr lang="en-US" sz="1200" b="1" dirty="0">
                <a:solidFill>
                  <a:srgbClr val="1B2430"/>
                </a:solidFill>
              </a:rPr>
              <a:t>replayed</a:t>
            </a:r>
            <a:endParaRPr lang="en-US" sz="1200" dirty="0"/>
          </a:p>
        </p:txBody>
      </p:sp>
      <p:sp>
        <p:nvSpPr>
          <p:cNvPr id="30" name="box"/>
          <p:cNvSpPr/>
          <p:nvPr/>
        </p:nvSpPr>
        <p:spPr>
          <a:xfrm>
            <a:off x="548640" y="3611880"/>
            <a:ext cx="5394960" cy="1965960"/>
          </a:xfrm>
          <a:prstGeom prst="roundRect">
            <a:avLst>
              <a:gd name="adj" fmla="val 3721"/>
            </a:avLst>
          </a:prstGeom>
          <a:solidFill>
            <a:srgbClr val="F2D6D6"/>
          </a:solidFill>
          <a:ln w="12700">
            <a:solidFill>
              <a:srgbClr val="F2D6D6"/>
            </a:solidFill>
            <a:prstDash val="solid"/>
          </a:ln>
        </p:spPr>
      </p:sp>
      <p:sp>
        <p:nvSpPr>
          <p:cNvPr id="31" name="Text 28"/>
          <p:cNvSpPr txBox="1"/>
          <p:nvPr/>
        </p:nvSpPr>
        <p:spPr>
          <a:xfrm>
            <a:off x="548640" y="3611880"/>
            <a:ext cx="5394960" cy="1965960"/>
          </a:xfrm>
          <a:prstGeom prst="rect">
            <a:avLst/>
          </a:prstGeom>
          <a:noFill/>
          <a:ln/>
        </p:spPr>
        <p:txBody>
          <a:bodyPr wrap="square" lIns="635" tIns="635" rIns="635" bIns="635" rtlCol="0" anchor="ctr"/>
          <a:lstStyle/>
          <a:p>
            <a:pPr algn="ctr" indent="0" marL="0">
              <a:spcAft>
                <a:spcPts val="400"/>
              </a:spcAft>
              <a:buNone/>
            </a:pPr>
            <a:r>
              <a:rPr lang="en-US" sz="1200" b="1" dirty="0">
                <a:solidFill>
                  <a:srgbClr val="1B2430"/>
                </a:solidFill>
              </a:rPr>
              <a:t>visible</a:t>
            </a:r>
            <a:r>
              <a:rPr lang="en-US" sz="1200" dirty="0">
                <a:solidFill>
                  <a:srgbClr val="1B2430"/>
                </a:solidFill>
              </a:rPr>
              <a:t>: both IP addresses · port 443 ·</a:t>
            </a:r>
            <a:endParaRPr lang="en-US" sz="1200" dirty="0"/>
          </a:p>
          <a:p>
            <a:pPr algn="ctr" indent="0" marL="0">
              <a:spcAft>
                <a:spcPts val="400"/>
              </a:spcAft>
              <a:buNone/>
            </a:pPr>
            <a:r>
              <a:rPr lang="en-US" sz="1200" b="1" dirty="0">
                <a:solidFill>
                  <a:srgbClr val="1B2430"/>
                </a:solidFill>
              </a:rPr>
              <a:t>mail.example.com</a:t>
            </a:r>
            <a:r>
              <a:rPr lang="en-US" sz="1200" dirty="0">
                <a:solidFill>
                  <a:srgbClr val="1B2430"/>
                </a:solidFill>
              </a:rPr>
              <a:t> (SNI, and the earlier DNS query) ·</a:t>
            </a:r>
            <a:endParaRPr lang="en-US" sz="1200" dirty="0"/>
          </a:p>
          <a:p>
            <a:pPr algn="ctr" indent="0" marL="0">
              <a:spcAft>
                <a:spcPts val="400"/>
              </a:spcAft>
              <a:buNone/>
            </a:pPr>
            <a:r>
              <a:rPr lang="en-US" sz="1200" dirty="0">
                <a:solidFill>
                  <a:srgbClr val="1B2430"/>
                </a:solidFill>
              </a:rPr>
              <a:t>times, number and sizes of records</a:t>
            </a:r>
            <a:endParaRPr lang="en-US" sz="1200" dirty="0"/>
          </a:p>
        </p:txBody>
      </p:sp>
      <p:sp>
        <p:nvSpPr>
          <p:cNvPr id="32" name="box"/>
          <p:cNvSpPr/>
          <p:nvPr/>
        </p:nvSpPr>
        <p:spPr>
          <a:xfrm>
            <a:off x="6217920" y="3611880"/>
            <a:ext cx="5394960" cy="1965960"/>
          </a:xfrm>
          <a:prstGeom prst="roundRect">
            <a:avLst>
              <a:gd name="adj" fmla="val 3721"/>
            </a:avLst>
          </a:prstGeom>
          <a:solidFill>
            <a:srgbClr val="D7EBDD"/>
          </a:solidFill>
          <a:ln w="12700">
            <a:solidFill>
              <a:srgbClr val="D7EBDD"/>
            </a:solidFill>
            <a:prstDash val="solid"/>
          </a:ln>
        </p:spPr>
      </p:sp>
      <p:sp>
        <p:nvSpPr>
          <p:cNvPr id="33" name="Text 30"/>
          <p:cNvSpPr txBox="1"/>
          <p:nvPr/>
        </p:nvSpPr>
        <p:spPr>
          <a:xfrm>
            <a:off x="6217920" y="3611880"/>
            <a:ext cx="5394960" cy="1965960"/>
          </a:xfrm>
          <a:prstGeom prst="rect">
            <a:avLst/>
          </a:prstGeom>
          <a:noFill/>
          <a:ln/>
        </p:spPr>
        <p:txBody>
          <a:bodyPr wrap="square" lIns="635" tIns="635" rIns="635" bIns="635" rtlCol="0" anchor="ctr"/>
          <a:lstStyle/>
          <a:p>
            <a:pPr algn="ctr" indent="0" marL="0">
              <a:spcAft>
                <a:spcPts val="400"/>
              </a:spcAft>
              <a:buNone/>
            </a:pPr>
            <a:r>
              <a:rPr lang="en-US" sz="1200" b="1" dirty="0">
                <a:solidFill>
                  <a:srgbClr val="1B2430"/>
                </a:solidFill>
              </a:rPr>
              <a:t>hidden</a:t>
            </a:r>
            <a:r>
              <a:rPr lang="en-US" sz="1200" dirty="0">
                <a:solidFill>
                  <a:srgbClr val="1B2430"/>
                </a:solidFill>
              </a:rPr>
              <a:t>: /inbox · folder=work ·</a:t>
            </a:r>
            <a:endParaRPr lang="en-US" sz="1200" dirty="0"/>
          </a:p>
          <a:p>
            <a:pPr algn="ctr" indent="0" marL="0">
              <a:spcAft>
                <a:spcPts val="400"/>
              </a:spcAft>
              <a:buNone/>
            </a:pPr>
            <a:r>
              <a:rPr lang="en-US" sz="1200" dirty="0">
                <a:solidFill>
                  <a:srgbClr val="1B2430"/>
                </a:solidFill>
              </a:rPr>
              <a:t>cookies · the contents of the mailbox</a:t>
            </a:r>
            <a:endParaRPr lang="en-US" sz="1200" dirty="0"/>
          </a:p>
        </p:txBody>
      </p:sp>
      <p:sp>
        <p:nvSpPr>
          <p:cNvPr id="3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5" name="Text 3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TLS 1.3 saves one RTT, QUIC another; neither hides the name of the site.</a:t>
            </a:r>
            <a:endParaRPr lang="en-US" sz="1400" dirty="0"/>
          </a:p>
        </p:txBody>
      </p:sp>
      <p:sp>
        <p:nvSpPr>
          <p:cNvPr id="36" name="Text 33"/>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HTTP (HyperText Transfer Protocol) · QUIC (a transport protocol over UDP, User Datagram Protocol; first named Quick UDP Internet Connections) · TCP (Transmission Control Protocol) · TLS (Transport Layer Security) · RTT (round-trip time) · DNS (Domain Name System) · SNI (Server Name Indication) · IP (Internet Protocol)</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6 · Accept or reject the certificate?</a:t>
            </a:r>
            <a:endParaRPr lang="en-US" sz="3000" dirty="0"/>
          </a:p>
        </p:txBody>
      </p:sp>
      <p:sp>
        <p:nvSpPr>
          <p:cNvPr id="4" name="box"/>
          <p:cNvSpPr/>
          <p:nvPr/>
        </p:nvSpPr>
        <p:spPr>
          <a:xfrm>
            <a:off x="548640" y="1280160"/>
            <a:ext cx="4800600" cy="411480"/>
          </a:xfrm>
          <a:prstGeom prst="rect">
            <a:avLst/>
          </a:prstGeom>
          <a:solidFill>
            <a:srgbClr val="1F3A5F"/>
          </a:solidFill>
          <a:ln w="12700">
            <a:solidFill>
              <a:srgbClr val="1F3A5F"/>
            </a:solidFill>
            <a:prstDash val="solid"/>
          </a:ln>
        </p:spPr>
      </p:sp>
      <p:sp>
        <p:nvSpPr>
          <p:cNvPr id="5" name="Text 2"/>
          <p:cNvSpPr txBox="1"/>
          <p:nvPr/>
        </p:nvSpPr>
        <p:spPr>
          <a:xfrm>
            <a:off x="548640" y="1280160"/>
            <a:ext cx="480060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Situation</a:t>
            </a:r>
            <a:endParaRPr lang="en-US" sz="1300" dirty="0"/>
          </a:p>
        </p:txBody>
      </p:sp>
      <p:sp>
        <p:nvSpPr>
          <p:cNvPr id="6" name="box"/>
          <p:cNvSpPr/>
          <p:nvPr/>
        </p:nvSpPr>
        <p:spPr>
          <a:xfrm>
            <a:off x="5394960" y="1280160"/>
            <a:ext cx="1691640" cy="411480"/>
          </a:xfrm>
          <a:prstGeom prst="rect">
            <a:avLst/>
          </a:prstGeom>
          <a:solidFill>
            <a:srgbClr val="1F3A5F"/>
          </a:solidFill>
          <a:ln w="12700">
            <a:solidFill>
              <a:srgbClr val="1F3A5F"/>
            </a:solidFill>
            <a:prstDash val="solid"/>
          </a:ln>
        </p:spPr>
      </p:sp>
      <p:sp>
        <p:nvSpPr>
          <p:cNvPr id="7" name="Text 4"/>
          <p:cNvSpPr txBox="1"/>
          <p:nvPr/>
        </p:nvSpPr>
        <p:spPr>
          <a:xfrm>
            <a:off x="5394960" y="1280160"/>
            <a:ext cx="16916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Verdict</a:t>
            </a:r>
            <a:endParaRPr lang="en-US" sz="1300" dirty="0"/>
          </a:p>
        </p:txBody>
      </p:sp>
      <p:sp>
        <p:nvSpPr>
          <p:cNvPr id="8" name="box"/>
          <p:cNvSpPr/>
          <p:nvPr/>
        </p:nvSpPr>
        <p:spPr>
          <a:xfrm>
            <a:off x="7132320" y="1280160"/>
            <a:ext cx="4434840" cy="411480"/>
          </a:xfrm>
          <a:prstGeom prst="rect">
            <a:avLst/>
          </a:prstGeom>
          <a:solidFill>
            <a:srgbClr val="1F3A5F"/>
          </a:solidFill>
          <a:ln w="12700">
            <a:solidFill>
              <a:srgbClr val="1F3A5F"/>
            </a:solidFill>
            <a:prstDash val="solid"/>
          </a:ln>
        </p:spPr>
      </p:sp>
      <p:sp>
        <p:nvSpPr>
          <p:cNvPr id="9" name="Text 6"/>
          <p:cNvSpPr txBox="1"/>
          <p:nvPr/>
        </p:nvSpPr>
        <p:spPr>
          <a:xfrm>
            <a:off x="7132320" y="1280160"/>
            <a:ext cx="44348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Why</a:t>
            </a:r>
            <a:endParaRPr lang="en-US" sz="1300" dirty="0"/>
          </a:p>
        </p:txBody>
      </p:sp>
      <p:sp>
        <p:nvSpPr>
          <p:cNvPr id="10" name="box"/>
          <p:cNvSpPr/>
          <p:nvPr/>
        </p:nvSpPr>
        <p:spPr>
          <a:xfrm>
            <a:off x="548640" y="1737360"/>
            <a:ext cx="4800600" cy="566928"/>
          </a:xfrm>
          <a:prstGeom prst="rect">
            <a:avLst/>
          </a:prstGeom>
          <a:solidFill>
            <a:srgbClr val="EEF2F6"/>
          </a:solidFill>
          <a:ln w="12700">
            <a:solidFill>
              <a:srgbClr val="EEF2F6"/>
            </a:solidFill>
            <a:prstDash val="solid"/>
          </a:ln>
        </p:spPr>
      </p:sp>
      <p:sp>
        <p:nvSpPr>
          <p:cNvPr id="11" name="Text 8"/>
          <p:cNvSpPr txBox="1"/>
          <p:nvPr/>
        </p:nvSpPr>
        <p:spPr>
          <a:xfrm>
            <a:off x="548640" y="1737360"/>
            <a:ext cx="480060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All as described, all valid</a:t>
            </a:r>
            <a:endParaRPr lang="en-US" sz="1200" dirty="0"/>
          </a:p>
        </p:txBody>
      </p:sp>
      <p:sp>
        <p:nvSpPr>
          <p:cNvPr id="12" name="box"/>
          <p:cNvSpPr/>
          <p:nvPr/>
        </p:nvSpPr>
        <p:spPr>
          <a:xfrm>
            <a:off x="5394960" y="1737360"/>
            <a:ext cx="1691640" cy="566928"/>
          </a:xfrm>
          <a:prstGeom prst="rect">
            <a:avLst/>
          </a:prstGeom>
          <a:solidFill>
            <a:srgbClr val="D7EBDD"/>
          </a:solidFill>
          <a:ln w="12700">
            <a:solidFill>
              <a:srgbClr val="D7EBDD"/>
            </a:solidFill>
            <a:prstDash val="solid"/>
          </a:ln>
        </p:spPr>
      </p:sp>
      <p:sp>
        <p:nvSpPr>
          <p:cNvPr id="13" name="Text 10"/>
          <p:cNvSpPr txBox="1"/>
          <p:nvPr/>
        </p:nvSpPr>
        <p:spPr>
          <a:xfrm>
            <a:off x="5394960" y="1737360"/>
            <a:ext cx="169164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accept</a:t>
            </a:r>
            <a:endParaRPr lang="en-US" sz="1200" dirty="0"/>
          </a:p>
        </p:txBody>
      </p:sp>
      <p:sp>
        <p:nvSpPr>
          <p:cNvPr id="14" name="box"/>
          <p:cNvSpPr/>
          <p:nvPr/>
        </p:nvSpPr>
        <p:spPr>
          <a:xfrm>
            <a:off x="7132320" y="1737360"/>
            <a:ext cx="4434840" cy="566928"/>
          </a:xfrm>
          <a:prstGeom prst="rect">
            <a:avLst/>
          </a:prstGeom>
          <a:solidFill>
            <a:srgbClr val="F7F9FB"/>
          </a:solidFill>
          <a:ln w="12700">
            <a:solidFill>
              <a:srgbClr val="F7F9FB"/>
            </a:solidFill>
            <a:prstDash val="solid"/>
          </a:ln>
        </p:spPr>
      </p:sp>
      <p:sp>
        <p:nvSpPr>
          <p:cNvPr id="15" name="Text 12"/>
          <p:cNvSpPr txBox="1"/>
          <p:nvPr/>
        </p:nvSpPr>
        <p:spPr>
          <a:xfrm>
            <a:off x="7132320" y="1737360"/>
            <a:ext cx="443484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chain reaches a trusted root, name matches</a:t>
            </a:r>
            <a:endParaRPr lang="en-US" sz="1200" dirty="0"/>
          </a:p>
        </p:txBody>
      </p:sp>
      <p:sp>
        <p:nvSpPr>
          <p:cNvPr id="16" name="box"/>
          <p:cNvSpPr/>
          <p:nvPr/>
        </p:nvSpPr>
        <p:spPr>
          <a:xfrm>
            <a:off x="548640" y="2350008"/>
            <a:ext cx="4800600" cy="566928"/>
          </a:xfrm>
          <a:prstGeom prst="rect">
            <a:avLst/>
          </a:prstGeom>
          <a:solidFill>
            <a:srgbClr val="EEF2F6"/>
          </a:solidFill>
          <a:ln w="12700">
            <a:solidFill>
              <a:srgbClr val="EEF2F6"/>
            </a:solidFill>
            <a:prstDash val="solid"/>
          </a:ln>
        </p:spPr>
      </p:sp>
      <p:sp>
        <p:nvSpPr>
          <p:cNvPr id="17" name="Text 14"/>
          <p:cNvSpPr txBox="1"/>
          <p:nvPr/>
        </p:nvSpPr>
        <p:spPr>
          <a:xfrm>
            <a:off x="548640" y="2350008"/>
            <a:ext cx="480060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User typed shop.ro, cert lists only www.shop.ro</a:t>
            </a:r>
            <a:endParaRPr lang="en-US" sz="1200" dirty="0"/>
          </a:p>
        </p:txBody>
      </p:sp>
      <p:sp>
        <p:nvSpPr>
          <p:cNvPr id="18" name="box"/>
          <p:cNvSpPr/>
          <p:nvPr/>
        </p:nvSpPr>
        <p:spPr>
          <a:xfrm>
            <a:off x="5394960" y="2350008"/>
            <a:ext cx="1691640" cy="566928"/>
          </a:xfrm>
          <a:prstGeom prst="rect">
            <a:avLst/>
          </a:prstGeom>
          <a:solidFill>
            <a:srgbClr val="F2D6D6"/>
          </a:solidFill>
          <a:ln w="12700">
            <a:solidFill>
              <a:srgbClr val="F2D6D6"/>
            </a:solidFill>
            <a:prstDash val="solid"/>
          </a:ln>
        </p:spPr>
      </p:sp>
      <p:sp>
        <p:nvSpPr>
          <p:cNvPr id="19" name="Text 16"/>
          <p:cNvSpPr txBox="1"/>
          <p:nvPr/>
        </p:nvSpPr>
        <p:spPr>
          <a:xfrm>
            <a:off x="5394960" y="2350008"/>
            <a:ext cx="169164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reject</a:t>
            </a:r>
            <a:endParaRPr lang="en-US" sz="1200" dirty="0"/>
          </a:p>
        </p:txBody>
      </p:sp>
      <p:sp>
        <p:nvSpPr>
          <p:cNvPr id="20" name="box"/>
          <p:cNvSpPr/>
          <p:nvPr/>
        </p:nvSpPr>
        <p:spPr>
          <a:xfrm>
            <a:off x="7132320" y="2350008"/>
            <a:ext cx="4434840" cy="566928"/>
          </a:xfrm>
          <a:prstGeom prst="rect">
            <a:avLst/>
          </a:prstGeom>
          <a:solidFill>
            <a:srgbClr val="F7F9FB"/>
          </a:solidFill>
          <a:ln w="12700">
            <a:solidFill>
              <a:srgbClr val="F7F9FB"/>
            </a:solidFill>
            <a:prstDash val="solid"/>
          </a:ln>
        </p:spPr>
      </p:sp>
      <p:sp>
        <p:nvSpPr>
          <p:cNvPr id="21" name="Text 18"/>
          <p:cNvSpPr txBox="1"/>
          <p:nvPr/>
        </p:nvSpPr>
        <p:spPr>
          <a:xfrm>
            <a:off x="7132320" y="2350008"/>
            <a:ext cx="443484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name mismatch</a:t>
            </a:r>
            <a:endParaRPr lang="en-US" sz="1200" dirty="0"/>
          </a:p>
        </p:txBody>
      </p:sp>
      <p:sp>
        <p:nvSpPr>
          <p:cNvPr id="22" name="box"/>
          <p:cNvSpPr/>
          <p:nvPr/>
        </p:nvSpPr>
        <p:spPr>
          <a:xfrm>
            <a:off x="548640" y="2962656"/>
            <a:ext cx="4800600" cy="566928"/>
          </a:xfrm>
          <a:prstGeom prst="rect">
            <a:avLst/>
          </a:prstGeom>
          <a:solidFill>
            <a:srgbClr val="EEF2F6"/>
          </a:solidFill>
          <a:ln w="12700">
            <a:solidFill>
              <a:srgbClr val="EEF2F6"/>
            </a:solidFill>
            <a:prstDash val="solid"/>
          </a:ln>
        </p:spPr>
      </p:sp>
      <p:sp>
        <p:nvSpPr>
          <p:cNvPr id="23" name="Text 20"/>
          <p:cNvSpPr txBox="1"/>
          <p:nvPr/>
        </p:nvSpPr>
        <p:spPr>
          <a:xfrm>
            <a:off x="548640" y="2962656"/>
            <a:ext cx="480060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Server forgot to send R11</a:t>
            </a:r>
            <a:endParaRPr lang="en-US" sz="1200" dirty="0"/>
          </a:p>
        </p:txBody>
      </p:sp>
      <p:sp>
        <p:nvSpPr>
          <p:cNvPr id="24" name="box"/>
          <p:cNvSpPr/>
          <p:nvPr/>
        </p:nvSpPr>
        <p:spPr>
          <a:xfrm>
            <a:off x="5394960" y="2962656"/>
            <a:ext cx="1691640" cy="566928"/>
          </a:xfrm>
          <a:prstGeom prst="rect">
            <a:avLst/>
          </a:prstGeom>
          <a:solidFill>
            <a:srgbClr val="F3EAD7"/>
          </a:solidFill>
          <a:ln w="12700">
            <a:solidFill>
              <a:srgbClr val="F3EAD7"/>
            </a:solidFill>
            <a:prstDash val="solid"/>
          </a:ln>
        </p:spPr>
      </p:sp>
      <p:sp>
        <p:nvSpPr>
          <p:cNvPr id="25" name="Text 22"/>
          <p:cNvSpPr txBox="1"/>
          <p:nvPr/>
        </p:nvSpPr>
        <p:spPr>
          <a:xfrm>
            <a:off x="5394960" y="2962656"/>
            <a:ext cx="169164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often reject</a:t>
            </a:r>
            <a:endParaRPr lang="en-US" sz="1200" dirty="0"/>
          </a:p>
        </p:txBody>
      </p:sp>
      <p:sp>
        <p:nvSpPr>
          <p:cNvPr id="26" name="box"/>
          <p:cNvSpPr/>
          <p:nvPr/>
        </p:nvSpPr>
        <p:spPr>
          <a:xfrm>
            <a:off x="7132320" y="2962656"/>
            <a:ext cx="4434840" cy="566928"/>
          </a:xfrm>
          <a:prstGeom prst="rect">
            <a:avLst/>
          </a:prstGeom>
          <a:solidFill>
            <a:srgbClr val="F7F9FB"/>
          </a:solidFill>
          <a:ln w="12700">
            <a:solidFill>
              <a:srgbClr val="F7F9FB"/>
            </a:solidFill>
            <a:prstDash val="solid"/>
          </a:ln>
        </p:spPr>
      </p:sp>
      <p:sp>
        <p:nvSpPr>
          <p:cNvPr id="27" name="Text 24"/>
          <p:cNvSpPr txBox="1"/>
          <p:nvPr/>
        </p:nvSpPr>
        <p:spPr>
          <a:xfrm>
            <a:off x="7132320" y="2962656"/>
            <a:ext cx="443484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incomplete chain — a classic misconfiguration</a:t>
            </a:r>
            <a:endParaRPr lang="en-US" sz="1200" dirty="0"/>
          </a:p>
        </p:txBody>
      </p:sp>
      <p:sp>
        <p:nvSpPr>
          <p:cNvPr id="28" name="box"/>
          <p:cNvSpPr/>
          <p:nvPr/>
        </p:nvSpPr>
        <p:spPr>
          <a:xfrm>
            <a:off x="548640" y="3575304"/>
            <a:ext cx="4800600" cy="566928"/>
          </a:xfrm>
          <a:prstGeom prst="rect">
            <a:avLst/>
          </a:prstGeom>
          <a:solidFill>
            <a:srgbClr val="EEF2F6"/>
          </a:solidFill>
          <a:ln w="12700">
            <a:solidFill>
              <a:srgbClr val="EEF2F6"/>
            </a:solidFill>
            <a:prstDash val="solid"/>
          </a:ln>
        </p:spPr>
      </p:sp>
      <p:sp>
        <p:nvSpPr>
          <p:cNvPr id="29" name="Text 26"/>
          <p:cNvSpPr txBox="1"/>
          <p:nvPr/>
        </p:nvSpPr>
        <p:spPr>
          <a:xfrm>
            <a:off x="548640" y="3575304"/>
            <a:ext cx="480060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Leaf expired yesterday</a:t>
            </a:r>
            <a:endParaRPr lang="en-US" sz="1200" dirty="0"/>
          </a:p>
        </p:txBody>
      </p:sp>
      <p:sp>
        <p:nvSpPr>
          <p:cNvPr id="30" name="box"/>
          <p:cNvSpPr/>
          <p:nvPr/>
        </p:nvSpPr>
        <p:spPr>
          <a:xfrm>
            <a:off x="5394960" y="3575304"/>
            <a:ext cx="1691640" cy="566928"/>
          </a:xfrm>
          <a:prstGeom prst="rect">
            <a:avLst/>
          </a:prstGeom>
          <a:solidFill>
            <a:srgbClr val="F2D6D6"/>
          </a:solidFill>
          <a:ln w="12700">
            <a:solidFill>
              <a:srgbClr val="F2D6D6"/>
            </a:solidFill>
            <a:prstDash val="solid"/>
          </a:ln>
        </p:spPr>
      </p:sp>
      <p:sp>
        <p:nvSpPr>
          <p:cNvPr id="31" name="Text 28"/>
          <p:cNvSpPr txBox="1"/>
          <p:nvPr/>
        </p:nvSpPr>
        <p:spPr>
          <a:xfrm>
            <a:off x="5394960" y="3575304"/>
            <a:ext cx="169164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reject</a:t>
            </a:r>
            <a:endParaRPr lang="en-US" sz="1200" dirty="0"/>
          </a:p>
        </p:txBody>
      </p:sp>
      <p:sp>
        <p:nvSpPr>
          <p:cNvPr id="32" name="box"/>
          <p:cNvSpPr/>
          <p:nvPr/>
        </p:nvSpPr>
        <p:spPr>
          <a:xfrm>
            <a:off x="7132320" y="3575304"/>
            <a:ext cx="4434840" cy="566928"/>
          </a:xfrm>
          <a:prstGeom prst="rect">
            <a:avLst/>
          </a:prstGeom>
          <a:solidFill>
            <a:srgbClr val="F7F9FB"/>
          </a:solidFill>
          <a:ln w="12700">
            <a:solidFill>
              <a:srgbClr val="F7F9FB"/>
            </a:solidFill>
            <a:prstDash val="solid"/>
          </a:ln>
        </p:spPr>
      </p:sp>
      <p:sp>
        <p:nvSpPr>
          <p:cNvPr id="33" name="Text 30"/>
          <p:cNvSpPr txBox="1"/>
          <p:nvPr/>
        </p:nvSpPr>
        <p:spPr>
          <a:xfrm>
            <a:off x="7132320" y="3575304"/>
            <a:ext cx="443484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outside validity dates</a:t>
            </a:r>
            <a:endParaRPr lang="en-US" sz="1200" dirty="0"/>
          </a:p>
        </p:txBody>
      </p:sp>
      <p:sp>
        <p:nvSpPr>
          <p:cNvPr id="34" name="box"/>
          <p:cNvSpPr/>
          <p:nvPr/>
        </p:nvSpPr>
        <p:spPr>
          <a:xfrm>
            <a:off x="548640" y="4187952"/>
            <a:ext cx="4800600" cy="566928"/>
          </a:xfrm>
          <a:prstGeom prst="rect">
            <a:avLst/>
          </a:prstGeom>
          <a:solidFill>
            <a:srgbClr val="EEF2F6"/>
          </a:solidFill>
          <a:ln w="12700">
            <a:solidFill>
              <a:srgbClr val="EEF2F6"/>
            </a:solidFill>
            <a:prstDash val="solid"/>
          </a:ln>
        </p:spPr>
      </p:sp>
      <p:sp>
        <p:nvSpPr>
          <p:cNvPr id="35" name="Text 32"/>
          <p:cNvSpPr txBox="1"/>
          <p:nvPr/>
        </p:nvSpPr>
        <p:spPr>
          <a:xfrm>
            <a:off x="548640" y="4187952"/>
            <a:ext cx="480060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Attacker signs his own cert for www.shop.ro</a:t>
            </a:r>
            <a:endParaRPr lang="en-US" sz="1200" dirty="0"/>
          </a:p>
        </p:txBody>
      </p:sp>
      <p:sp>
        <p:nvSpPr>
          <p:cNvPr id="36" name="box"/>
          <p:cNvSpPr/>
          <p:nvPr/>
        </p:nvSpPr>
        <p:spPr>
          <a:xfrm>
            <a:off x="5394960" y="4187952"/>
            <a:ext cx="1691640" cy="566928"/>
          </a:xfrm>
          <a:prstGeom prst="rect">
            <a:avLst/>
          </a:prstGeom>
          <a:solidFill>
            <a:srgbClr val="F2D6D6"/>
          </a:solidFill>
          <a:ln w="12700">
            <a:solidFill>
              <a:srgbClr val="F2D6D6"/>
            </a:solidFill>
            <a:prstDash val="solid"/>
          </a:ln>
        </p:spPr>
      </p:sp>
      <p:sp>
        <p:nvSpPr>
          <p:cNvPr id="37" name="Text 34"/>
          <p:cNvSpPr txBox="1"/>
          <p:nvPr/>
        </p:nvSpPr>
        <p:spPr>
          <a:xfrm>
            <a:off x="5394960" y="4187952"/>
            <a:ext cx="169164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reject</a:t>
            </a:r>
            <a:endParaRPr lang="en-US" sz="1200" dirty="0"/>
          </a:p>
        </p:txBody>
      </p:sp>
      <p:sp>
        <p:nvSpPr>
          <p:cNvPr id="38" name="box"/>
          <p:cNvSpPr/>
          <p:nvPr/>
        </p:nvSpPr>
        <p:spPr>
          <a:xfrm>
            <a:off x="7132320" y="4187952"/>
            <a:ext cx="4434840" cy="566928"/>
          </a:xfrm>
          <a:prstGeom prst="rect">
            <a:avLst/>
          </a:prstGeom>
          <a:solidFill>
            <a:srgbClr val="F7F9FB"/>
          </a:solidFill>
          <a:ln w="12700">
            <a:solidFill>
              <a:srgbClr val="F7F9FB"/>
            </a:solidFill>
            <a:prstDash val="solid"/>
          </a:ln>
        </p:spPr>
      </p:sp>
      <p:sp>
        <p:nvSpPr>
          <p:cNvPr id="39" name="Text 36"/>
          <p:cNvSpPr txBox="1"/>
          <p:nvPr/>
        </p:nvSpPr>
        <p:spPr>
          <a:xfrm>
            <a:off x="7132320" y="4187952"/>
            <a:ext cx="4434840" cy="566928"/>
          </a:xfrm>
          <a:prstGeom prst="rect">
            <a:avLst/>
          </a:prstGeom>
          <a:noFill/>
          <a:ln/>
        </p:spPr>
        <p:txBody>
          <a:bodyPr wrap="square" lIns="1270" tIns="1270" rIns="1270" bIns="1270" rtlCol="0" anchor="ctr"/>
          <a:lstStyle/>
          <a:p>
            <a:pPr algn="l" indent="0" marL="0">
              <a:buNone/>
            </a:pPr>
            <a:r>
              <a:rPr lang="en-US" sz="1200" dirty="0">
                <a:solidFill>
                  <a:srgbClr val="1B2430"/>
                </a:solidFill>
              </a:rPr>
              <a:t>no path to a trusted root → full-page warning</a:t>
            </a:r>
            <a:endParaRPr lang="en-US" sz="1200" dirty="0"/>
          </a:p>
        </p:txBody>
      </p:sp>
      <p:sp>
        <p:nvSpPr>
          <p:cNvPr id="4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41" name="Text 3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Clicking through the warning accepts exactly the man-in-the-middle attack that TLS exists to prevent.</a:t>
            </a:r>
            <a:endParaRPr lang="en-US" sz="1400" dirty="0"/>
          </a:p>
        </p:txBody>
      </p:sp>
      <p:sp>
        <p:nvSpPr>
          <p:cNvPr id="42" name="Text 39"/>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TLS (Transport Layer Security)</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7 · Decoding a TELNET capture</a:t>
            </a:r>
            <a:endParaRPr lang="en-US" sz="3000" dirty="0"/>
          </a:p>
        </p:txBody>
      </p:sp>
      <p:sp>
        <p:nvSpPr>
          <p:cNvPr id="4" name="box"/>
          <p:cNvSpPr/>
          <p:nvPr/>
        </p:nvSpPr>
        <p:spPr>
          <a:xfrm>
            <a:off x="548640" y="1325880"/>
            <a:ext cx="1828800" cy="548640"/>
          </a:xfrm>
          <a:prstGeom prst="roundRect">
            <a:avLst>
              <a:gd name="adj" fmla="val 13333"/>
            </a:avLst>
          </a:prstGeom>
          <a:solidFill>
            <a:srgbClr val="B9772A"/>
          </a:solidFill>
          <a:ln w="12700">
            <a:solidFill>
              <a:srgbClr val="B9772A"/>
            </a:solidFill>
            <a:prstDash val="solid"/>
          </a:ln>
        </p:spPr>
      </p:sp>
      <p:sp>
        <p:nvSpPr>
          <p:cNvPr id="5" name="Text 2"/>
          <p:cNvSpPr txBox="1"/>
          <p:nvPr/>
        </p:nvSpPr>
        <p:spPr>
          <a:xfrm>
            <a:off x="548640" y="1325880"/>
            <a:ext cx="1828800" cy="548640"/>
          </a:xfrm>
          <a:prstGeom prst="rect">
            <a:avLst/>
          </a:prstGeom>
          <a:noFill/>
          <a:ln/>
        </p:spPr>
        <p:txBody>
          <a:bodyPr wrap="square" lIns="635" tIns="635" rIns="635" bIns="635"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FF FD 18</a:t>
            </a:r>
            <a:endParaRPr lang="en-US" sz="1400" dirty="0"/>
          </a:p>
        </p:txBody>
      </p:sp>
      <p:sp>
        <p:nvSpPr>
          <p:cNvPr id="6" name="box"/>
          <p:cNvSpPr/>
          <p:nvPr/>
        </p:nvSpPr>
        <p:spPr>
          <a:xfrm>
            <a:off x="2514600" y="1325880"/>
            <a:ext cx="3840480" cy="548640"/>
          </a:xfrm>
          <a:prstGeom prst="roundRect">
            <a:avLst>
              <a:gd name="adj" fmla="val 13333"/>
            </a:avLst>
          </a:prstGeom>
          <a:solidFill>
            <a:srgbClr val="F3EAD7"/>
          </a:solidFill>
          <a:ln w="12700">
            <a:solidFill>
              <a:srgbClr val="F3EAD7"/>
            </a:solidFill>
            <a:prstDash val="solid"/>
          </a:ln>
        </p:spPr>
      </p:sp>
      <p:sp>
        <p:nvSpPr>
          <p:cNvPr id="7" name="Text 4"/>
          <p:cNvSpPr txBox="1"/>
          <p:nvPr/>
        </p:nvSpPr>
        <p:spPr>
          <a:xfrm>
            <a:off x="2514600" y="1325880"/>
            <a:ext cx="3840480" cy="548640"/>
          </a:xfrm>
          <a:prstGeom prst="rect">
            <a:avLst/>
          </a:prstGeom>
          <a:noFill/>
          <a:ln/>
        </p:spPr>
        <p:txBody>
          <a:bodyPr wrap="square" lIns="635" tIns="635" rIns="635" bIns="635" rtlCol="0" anchor="ctr"/>
          <a:lstStyle/>
          <a:p>
            <a:pPr algn="ctr" indent="0" marL="0">
              <a:buNone/>
            </a:pPr>
            <a:r>
              <a:rPr lang="en-US" sz="1200" dirty="0">
                <a:solidFill>
                  <a:srgbClr val="1B2430"/>
                </a:solidFill>
              </a:rPr>
              <a:t>IAC DO TERMINAL-TYPE</a:t>
            </a:r>
            <a:endParaRPr lang="en-US" sz="1200" dirty="0"/>
          </a:p>
        </p:txBody>
      </p:sp>
      <p:sp>
        <p:nvSpPr>
          <p:cNvPr id="8" name="Text 5"/>
          <p:cNvSpPr txBox="1"/>
          <p:nvPr/>
        </p:nvSpPr>
        <p:spPr>
          <a:xfrm>
            <a:off x="6492240" y="1435608"/>
            <a:ext cx="5120640" cy="4572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tell me your terminal type</a:t>
            </a:r>
            <a:endParaRPr lang="en-US" sz="1200" dirty="0"/>
          </a:p>
        </p:txBody>
      </p:sp>
      <p:sp>
        <p:nvSpPr>
          <p:cNvPr id="9" name="box"/>
          <p:cNvSpPr/>
          <p:nvPr/>
        </p:nvSpPr>
        <p:spPr>
          <a:xfrm>
            <a:off x="548640" y="1984248"/>
            <a:ext cx="1828800" cy="548640"/>
          </a:xfrm>
          <a:prstGeom prst="roundRect">
            <a:avLst>
              <a:gd name="adj" fmla="val 13333"/>
            </a:avLst>
          </a:prstGeom>
          <a:solidFill>
            <a:srgbClr val="B9772A"/>
          </a:solidFill>
          <a:ln w="12700">
            <a:solidFill>
              <a:srgbClr val="B9772A"/>
            </a:solidFill>
            <a:prstDash val="solid"/>
          </a:ln>
        </p:spPr>
      </p:sp>
      <p:sp>
        <p:nvSpPr>
          <p:cNvPr id="10" name="Text 7"/>
          <p:cNvSpPr txBox="1"/>
          <p:nvPr/>
        </p:nvSpPr>
        <p:spPr>
          <a:xfrm>
            <a:off x="548640" y="1984248"/>
            <a:ext cx="1828800" cy="548640"/>
          </a:xfrm>
          <a:prstGeom prst="rect">
            <a:avLst/>
          </a:prstGeom>
          <a:noFill/>
          <a:ln/>
        </p:spPr>
        <p:txBody>
          <a:bodyPr wrap="square" lIns="635" tIns="635" rIns="635" bIns="635"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FF FD 20</a:t>
            </a:r>
            <a:endParaRPr lang="en-US" sz="1400" dirty="0"/>
          </a:p>
        </p:txBody>
      </p:sp>
      <p:sp>
        <p:nvSpPr>
          <p:cNvPr id="11" name="box"/>
          <p:cNvSpPr/>
          <p:nvPr/>
        </p:nvSpPr>
        <p:spPr>
          <a:xfrm>
            <a:off x="2514600" y="1984248"/>
            <a:ext cx="3840480" cy="548640"/>
          </a:xfrm>
          <a:prstGeom prst="roundRect">
            <a:avLst>
              <a:gd name="adj" fmla="val 13333"/>
            </a:avLst>
          </a:prstGeom>
          <a:solidFill>
            <a:srgbClr val="F3EAD7"/>
          </a:solidFill>
          <a:ln w="12700">
            <a:solidFill>
              <a:srgbClr val="F3EAD7"/>
            </a:solidFill>
            <a:prstDash val="solid"/>
          </a:ln>
        </p:spPr>
      </p:sp>
      <p:sp>
        <p:nvSpPr>
          <p:cNvPr id="12" name="Text 9"/>
          <p:cNvSpPr txBox="1"/>
          <p:nvPr/>
        </p:nvSpPr>
        <p:spPr>
          <a:xfrm>
            <a:off x="2514600" y="1984248"/>
            <a:ext cx="3840480" cy="548640"/>
          </a:xfrm>
          <a:prstGeom prst="rect">
            <a:avLst/>
          </a:prstGeom>
          <a:noFill/>
          <a:ln/>
        </p:spPr>
        <p:txBody>
          <a:bodyPr wrap="square" lIns="635" tIns="635" rIns="635" bIns="635" rtlCol="0" anchor="ctr"/>
          <a:lstStyle/>
          <a:p>
            <a:pPr algn="ctr" indent="0" marL="0">
              <a:buNone/>
            </a:pPr>
            <a:r>
              <a:rPr lang="en-US" sz="1200" dirty="0">
                <a:solidFill>
                  <a:srgbClr val="1B2430"/>
                </a:solidFill>
              </a:rPr>
              <a:t>IAC DO TERMINAL-SPEED</a:t>
            </a:r>
            <a:endParaRPr lang="en-US" sz="1200" dirty="0"/>
          </a:p>
        </p:txBody>
      </p:sp>
      <p:sp>
        <p:nvSpPr>
          <p:cNvPr id="13" name="Text 10"/>
          <p:cNvSpPr txBox="1"/>
          <p:nvPr/>
        </p:nvSpPr>
        <p:spPr>
          <a:xfrm>
            <a:off x="6492240" y="2093976"/>
            <a:ext cx="5120640" cy="4572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tell me your line speed</a:t>
            </a:r>
            <a:endParaRPr lang="en-US" sz="1200" dirty="0"/>
          </a:p>
        </p:txBody>
      </p:sp>
      <p:sp>
        <p:nvSpPr>
          <p:cNvPr id="14" name="box"/>
          <p:cNvSpPr/>
          <p:nvPr/>
        </p:nvSpPr>
        <p:spPr>
          <a:xfrm>
            <a:off x="548640" y="2642616"/>
            <a:ext cx="1828800" cy="548640"/>
          </a:xfrm>
          <a:prstGeom prst="roundRect">
            <a:avLst>
              <a:gd name="adj" fmla="val 13333"/>
            </a:avLst>
          </a:prstGeom>
          <a:solidFill>
            <a:srgbClr val="B9772A"/>
          </a:solidFill>
          <a:ln w="12700">
            <a:solidFill>
              <a:srgbClr val="B9772A"/>
            </a:solidFill>
            <a:prstDash val="solid"/>
          </a:ln>
        </p:spPr>
      </p:sp>
      <p:sp>
        <p:nvSpPr>
          <p:cNvPr id="15" name="Text 12"/>
          <p:cNvSpPr txBox="1"/>
          <p:nvPr/>
        </p:nvSpPr>
        <p:spPr>
          <a:xfrm>
            <a:off x="548640" y="2642616"/>
            <a:ext cx="1828800" cy="548640"/>
          </a:xfrm>
          <a:prstGeom prst="rect">
            <a:avLst/>
          </a:prstGeom>
          <a:noFill/>
          <a:ln/>
        </p:spPr>
        <p:txBody>
          <a:bodyPr wrap="square" lIns="635" tIns="635" rIns="635" bIns="635"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FF FB 01</a:t>
            </a:r>
            <a:endParaRPr lang="en-US" sz="1400" dirty="0"/>
          </a:p>
        </p:txBody>
      </p:sp>
      <p:sp>
        <p:nvSpPr>
          <p:cNvPr id="16" name="box"/>
          <p:cNvSpPr/>
          <p:nvPr/>
        </p:nvSpPr>
        <p:spPr>
          <a:xfrm>
            <a:off x="2514600" y="2642616"/>
            <a:ext cx="3840480" cy="548640"/>
          </a:xfrm>
          <a:prstGeom prst="roundRect">
            <a:avLst>
              <a:gd name="adj" fmla="val 13333"/>
            </a:avLst>
          </a:prstGeom>
          <a:solidFill>
            <a:srgbClr val="F3EAD7"/>
          </a:solidFill>
          <a:ln w="12700">
            <a:solidFill>
              <a:srgbClr val="F3EAD7"/>
            </a:solidFill>
            <a:prstDash val="solid"/>
          </a:ln>
        </p:spPr>
      </p:sp>
      <p:sp>
        <p:nvSpPr>
          <p:cNvPr id="17" name="Text 14"/>
          <p:cNvSpPr txBox="1"/>
          <p:nvPr/>
        </p:nvSpPr>
        <p:spPr>
          <a:xfrm>
            <a:off x="2514600" y="2642616"/>
            <a:ext cx="3840480" cy="548640"/>
          </a:xfrm>
          <a:prstGeom prst="rect">
            <a:avLst/>
          </a:prstGeom>
          <a:noFill/>
          <a:ln/>
        </p:spPr>
        <p:txBody>
          <a:bodyPr wrap="square" lIns="635" tIns="635" rIns="635" bIns="635" rtlCol="0" anchor="ctr"/>
          <a:lstStyle/>
          <a:p>
            <a:pPr algn="ctr" indent="0" marL="0">
              <a:buNone/>
            </a:pPr>
            <a:r>
              <a:rPr lang="en-US" sz="1200" dirty="0">
                <a:solidFill>
                  <a:srgbClr val="1B2430"/>
                </a:solidFill>
              </a:rPr>
              <a:t>IAC WILL ECHO</a:t>
            </a:r>
            <a:endParaRPr lang="en-US" sz="1200" dirty="0"/>
          </a:p>
        </p:txBody>
      </p:sp>
      <p:sp>
        <p:nvSpPr>
          <p:cNvPr id="18" name="Text 15"/>
          <p:cNvSpPr txBox="1"/>
          <p:nvPr/>
        </p:nvSpPr>
        <p:spPr>
          <a:xfrm>
            <a:off x="6492240" y="2752344"/>
            <a:ext cx="5120640" cy="4572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I will echo — the client stops echoing</a:t>
            </a:r>
            <a:endParaRPr lang="en-US" sz="1200" dirty="0"/>
          </a:p>
        </p:txBody>
      </p:sp>
      <p:sp>
        <p:nvSpPr>
          <p:cNvPr id="19" name="box"/>
          <p:cNvSpPr/>
          <p:nvPr/>
        </p:nvSpPr>
        <p:spPr>
          <a:xfrm>
            <a:off x="548640" y="3300984"/>
            <a:ext cx="1828800" cy="548640"/>
          </a:xfrm>
          <a:prstGeom prst="roundRect">
            <a:avLst>
              <a:gd name="adj" fmla="val 13333"/>
            </a:avLst>
          </a:prstGeom>
          <a:solidFill>
            <a:srgbClr val="B9772A"/>
          </a:solidFill>
          <a:ln w="12700">
            <a:solidFill>
              <a:srgbClr val="B9772A"/>
            </a:solidFill>
            <a:prstDash val="solid"/>
          </a:ln>
        </p:spPr>
      </p:sp>
      <p:sp>
        <p:nvSpPr>
          <p:cNvPr id="20" name="Text 17"/>
          <p:cNvSpPr txBox="1"/>
          <p:nvPr/>
        </p:nvSpPr>
        <p:spPr>
          <a:xfrm>
            <a:off x="548640" y="3300984"/>
            <a:ext cx="1828800" cy="548640"/>
          </a:xfrm>
          <a:prstGeom prst="rect">
            <a:avLst/>
          </a:prstGeom>
          <a:noFill/>
          <a:ln/>
        </p:spPr>
        <p:txBody>
          <a:bodyPr wrap="square" lIns="635" tIns="635" rIns="635" bIns="635"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FF FB 03</a:t>
            </a:r>
            <a:endParaRPr lang="en-US" sz="1400" dirty="0"/>
          </a:p>
        </p:txBody>
      </p:sp>
      <p:sp>
        <p:nvSpPr>
          <p:cNvPr id="21" name="box"/>
          <p:cNvSpPr/>
          <p:nvPr/>
        </p:nvSpPr>
        <p:spPr>
          <a:xfrm>
            <a:off x="2514600" y="3300984"/>
            <a:ext cx="3840480" cy="548640"/>
          </a:xfrm>
          <a:prstGeom prst="roundRect">
            <a:avLst>
              <a:gd name="adj" fmla="val 13333"/>
            </a:avLst>
          </a:prstGeom>
          <a:solidFill>
            <a:srgbClr val="F3EAD7"/>
          </a:solidFill>
          <a:ln w="12700">
            <a:solidFill>
              <a:srgbClr val="F3EAD7"/>
            </a:solidFill>
            <a:prstDash val="solid"/>
          </a:ln>
        </p:spPr>
      </p:sp>
      <p:sp>
        <p:nvSpPr>
          <p:cNvPr id="22" name="Text 19"/>
          <p:cNvSpPr txBox="1"/>
          <p:nvPr/>
        </p:nvSpPr>
        <p:spPr>
          <a:xfrm>
            <a:off x="2514600" y="3300984"/>
            <a:ext cx="3840480" cy="548640"/>
          </a:xfrm>
          <a:prstGeom prst="rect">
            <a:avLst/>
          </a:prstGeom>
          <a:noFill/>
          <a:ln/>
        </p:spPr>
        <p:txBody>
          <a:bodyPr wrap="square" lIns="635" tIns="635" rIns="635" bIns="635" rtlCol="0" anchor="ctr"/>
          <a:lstStyle/>
          <a:p>
            <a:pPr algn="ctr" indent="0" marL="0">
              <a:buNone/>
            </a:pPr>
            <a:r>
              <a:rPr lang="en-US" sz="1200" dirty="0">
                <a:solidFill>
                  <a:srgbClr val="1B2430"/>
                </a:solidFill>
              </a:rPr>
              <a:t>IAC WILL SUPPRESS-GO-AHEAD</a:t>
            </a:r>
            <a:endParaRPr lang="en-US" sz="1200" dirty="0"/>
          </a:p>
        </p:txBody>
      </p:sp>
      <p:sp>
        <p:nvSpPr>
          <p:cNvPr id="23" name="Text 20"/>
          <p:cNvSpPr txBox="1"/>
          <p:nvPr/>
        </p:nvSpPr>
        <p:spPr>
          <a:xfrm>
            <a:off x="6492240" y="3410712"/>
            <a:ext cx="5120640" cy="4572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full-duplex</a:t>
            </a:r>
            <a:endParaRPr lang="en-US" sz="1200" dirty="0"/>
          </a:p>
        </p:txBody>
      </p:sp>
      <p:sp>
        <p:nvSpPr>
          <p:cNvPr id="24" name="box"/>
          <p:cNvSpPr/>
          <p:nvPr/>
        </p:nvSpPr>
        <p:spPr>
          <a:xfrm>
            <a:off x="548640" y="4114800"/>
            <a:ext cx="5394960" cy="1417320"/>
          </a:xfrm>
          <a:prstGeom prst="roundRect">
            <a:avLst>
              <a:gd name="adj" fmla="val 5161"/>
            </a:avLst>
          </a:prstGeom>
          <a:solidFill>
            <a:srgbClr val="EEF2F6"/>
          </a:solidFill>
          <a:ln w="12700">
            <a:solidFill>
              <a:srgbClr val="EEF2F6"/>
            </a:solidFill>
            <a:prstDash val="solid"/>
          </a:ln>
        </p:spPr>
      </p:sp>
      <p:sp>
        <p:nvSpPr>
          <p:cNvPr id="25" name="Text 22"/>
          <p:cNvSpPr txBox="1"/>
          <p:nvPr/>
        </p:nvSpPr>
        <p:spPr>
          <a:xfrm>
            <a:off x="548640" y="4114800"/>
            <a:ext cx="5394960" cy="1417320"/>
          </a:xfrm>
          <a:prstGeom prst="rect">
            <a:avLst/>
          </a:prstGeom>
          <a:noFill/>
          <a:ln/>
        </p:spPr>
        <p:txBody>
          <a:bodyPr wrap="square" lIns="635" tIns="635" rIns="635" bIns="635" rtlCol="0" anchor="ctr"/>
          <a:lstStyle/>
          <a:p>
            <a:pPr algn="ctr" indent="0" marL="0">
              <a:spcAft>
                <a:spcPts val="300"/>
              </a:spcAft>
              <a:buNone/>
            </a:pPr>
            <a:r>
              <a:rPr lang="en-US" sz="1200" b="1" dirty="0">
                <a:solidFill>
                  <a:srgbClr val="1B2430"/>
                </a:solidFill>
              </a:rPr>
              <a:t>Why was the password not on the screen?</a:t>
            </a:r>
            <a:endParaRPr lang="en-US" sz="1200" dirty="0"/>
          </a:p>
          <a:p>
            <a:pPr algn="ctr" indent="0" marL="0">
              <a:spcAft>
                <a:spcPts val="300"/>
              </a:spcAft>
              <a:buNone/>
            </a:pPr>
            <a:r>
              <a:rPr lang="en-US" sz="1200" dirty="0">
                <a:solidFill>
                  <a:srgbClr val="1B2430"/>
                </a:solidFill>
              </a:rPr>
              <a:t>The server chose not to echo it — but it travelled in clear.</a:t>
            </a:r>
            <a:endParaRPr lang="en-US" sz="1200" dirty="0"/>
          </a:p>
        </p:txBody>
      </p:sp>
      <p:sp>
        <p:nvSpPr>
          <p:cNvPr id="26" name="box"/>
          <p:cNvSpPr/>
          <p:nvPr/>
        </p:nvSpPr>
        <p:spPr>
          <a:xfrm>
            <a:off x="6217920" y="4114800"/>
            <a:ext cx="5394960" cy="1417320"/>
          </a:xfrm>
          <a:prstGeom prst="roundRect">
            <a:avLst>
              <a:gd name="adj" fmla="val 5161"/>
            </a:avLst>
          </a:prstGeom>
          <a:solidFill>
            <a:srgbClr val="F2D6D6"/>
          </a:solidFill>
          <a:ln w="12700">
            <a:solidFill>
              <a:srgbClr val="F2D6D6"/>
            </a:solidFill>
            <a:prstDash val="solid"/>
          </a:ln>
        </p:spPr>
      </p:sp>
      <p:sp>
        <p:nvSpPr>
          <p:cNvPr id="27" name="Text 24"/>
          <p:cNvSpPr txBox="1"/>
          <p:nvPr/>
        </p:nvSpPr>
        <p:spPr>
          <a:xfrm>
            <a:off x="6217920" y="4114800"/>
            <a:ext cx="5394960" cy="1417320"/>
          </a:xfrm>
          <a:prstGeom prst="rect">
            <a:avLst/>
          </a:prstGeom>
          <a:noFill/>
          <a:ln/>
        </p:spPr>
        <p:txBody>
          <a:bodyPr wrap="square" lIns="635" tIns="635" rIns="635" bIns="635" rtlCol="0" anchor="ctr"/>
          <a:lstStyle/>
          <a:p>
            <a:pPr algn="ctr" indent="0" marL="0">
              <a:spcAft>
                <a:spcPts val="300"/>
              </a:spcAft>
              <a:buNone/>
            </a:pPr>
            <a:r>
              <a:rPr lang="en-US" sz="1200" b="1" dirty="0">
                <a:solidFill>
                  <a:srgbClr val="1B2430"/>
                </a:solidFill>
              </a:rPr>
              <a:t>What else can the attacker do?</a:t>
            </a:r>
            <a:endParaRPr lang="en-US" sz="1200" dirty="0"/>
          </a:p>
          <a:p>
            <a:pPr algn="ctr" indent="0" marL="0">
              <a:spcAft>
                <a:spcPts val="300"/>
              </a:spcAft>
              <a:buNone/>
            </a:pPr>
            <a:r>
              <a:rPr lang="en-US" sz="1200" dirty="0">
                <a:solidFill>
                  <a:srgbClr val="1B2430"/>
                </a:solidFill>
              </a:rPr>
              <a:t>read the whole session · inject commands (hijack) · reuse the password elsewhere</a:t>
            </a:r>
            <a:endParaRPr lang="en-US" sz="1200" dirty="0"/>
          </a:p>
        </p:txBody>
      </p:sp>
      <p:sp>
        <p:nvSpPr>
          <p:cNvPr id="2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9" name="Text 2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IAC + verb + option: 0x18 = 24 terminal type, 0x20 = 32 terminal speed, 1 echo, 3 suppress go-ahead.</a:t>
            </a:r>
            <a:endParaRPr lang="en-US" sz="1400" dirty="0"/>
          </a:p>
        </p:txBody>
      </p:sp>
      <p:sp>
        <p:nvSpPr>
          <p:cNvPr id="30" name="Text 2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IAC (interpret as command)</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8 · REMOTE HOST IDENTIFICATION HAS CHANGED!</a:t>
            </a:r>
            <a:endParaRPr lang="en-US" sz="3000" dirty="0"/>
          </a:p>
        </p:txBody>
      </p:sp>
      <p:sp>
        <p:nvSpPr>
          <p:cNvPr id="4" name="box"/>
          <p:cNvSpPr/>
          <p:nvPr/>
        </p:nvSpPr>
        <p:spPr>
          <a:xfrm>
            <a:off x="4023360" y="1280160"/>
            <a:ext cx="4114800" cy="731520"/>
          </a:xfrm>
          <a:prstGeom prst="roundRect">
            <a:avLst>
              <a:gd name="adj" fmla="val 10000"/>
            </a:avLst>
          </a:prstGeom>
          <a:solidFill>
            <a:srgbClr val="A23B3B"/>
          </a:solidFill>
          <a:ln w="12700">
            <a:solidFill>
              <a:srgbClr val="A23B3B"/>
            </a:solidFill>
            <a:prstDash val="solid"/>
          </a:ln>
        </p:spPr>
      </p:sp>
      <p:sp>
        <p:nvSpPr>
          <p:cNvPr id="5" name="Text 2"/>
          <p:cNvSpPr txBox="1"/>
          <p:nvPr/>
        </p:nvSpPr>
        <p:spPr>
          <a:xfrm>
            <a:off x="4023360" y="1280160"/>
            <a:ext cx="4114800" cy="731520"/>
          </a:xfrm>
          <a:prstGeom prst="rect">
            <a:avLst/>
          </a:prstGeom>
          <a:noFill/>
          <a:ln/>
        </p:spPr>
        <p:txBody>
          <a:bodyPr wrap="square" lIns="635" tIns="635" rIns="635" bIns="635" rtlCol="0" anchor="ctr"/>
          <a:lstStyle/>
          <a:p>
            <a:pPr algn="ctr" indent="0" marL="0">
              <a:buNone/>
            </a:pPr>
            <a:r>
              <a:rPr lang="en-US" sz="1300" dirty="0">
                <a:solidFill>
                  <a:srgbClr val="FFFFFF"/>
                </a:solidFill>
              </a:rPr>
              <a:t>the host key differs from known_hosts</a:t>
            </a:r>
            <a:endParaRPr lang="en-US" sz="1300" dirty="0"/>
          </a:p>
        </p:txBody>
      </p:sp>
      <p:sp>
        <p:nvSpPr>
          <p:cNvPr id="6" name="Shape 3"/>
          <p:cNvSpPr/>
          <p:nvPr/>
        </p:nvSpPr>
        <p:spPr>
          <a:xfrm flipH="1">
            <a:off x="2560320" y="2011680"/>
            <a:ext cx="2468880" cy="548640"/>
          </a:xfrm>
          <a:prstGeom prst="line">
            <a:avLst/>
          </a:prstGeom>
          <a:noFill/>
          <a:ln w="22225">
            <a:solidFill>
              <a:srgbClr val="5B6770"/>
            </a:solidFill>
            <a:prstDash val="solid"/>
            <a:tailEnd type="triangle"/>
          </a:ln>
        </p:spPr>
      </p:sp>
      <p:sp>
        <p:nvSpPr>
          <p:cNvPr id="7" name="Shape 4"/>
          <p:cNvSpPr/>
          <p:nvPr/>
        </p:nvSpPr>
        <p:spPr>
          <a:xfrm>
            <a:off x="7132320" y="2011680"/>
            <a:ext cx="2468880" cy="548640"/>
          </a:xfrm>
          <a:prstGeom prst="line">
            <a:avLst/>
          </a:prstGeom>
          <a:noFill/>
          <a:ln w="22225">
            <a:solidFill>
              <a:srgbClr val="5B6770"/>
            </a:solidFill>
            <a:prstDash val="solid"/>
            <a:tailEnd type="triangle"/>
          </a:ln>
        </p:spPr>
      </p:sp>
      <p:sp>
        <p:nvSpPr>
          <p:cNvPr id="8" name="box"/>
          <p:cNvSpPr/>
          <p:nvPr/>
        </p:nvSpPr>
        <p:spPr>
          <a:xfrm>
            <a:off x="548640" y="2606040"/>
            <a:ext cx="4206240" cy="1097280"/>
          </a:xfrm>
          <a:prstGeom prst="roundRect">
            <a:avLst>
              <a:gd name="adj" fmla="val 6667"/>
            </a:avLst>
          </a:prstGeom>
          <a:solidFill>
            <a:srgbClr val="EEF2F6"/>
          </a:solidFill>
          <a:ln w="12700">
            <a:solidFill>
              <a:srgbClr val="EEF2F6"/>
            </a:solidFill>
            <a:prstDash val="solid"/>
          </a:ln>
        </p:spPr>
      </p:sp>
      <p:sp>
        <p:nvSpPr>
          <p:cNvPr id="9" name="Text 6"/>
          <p:cNvSpPr txBox="1"/>
          <p:nvPr/>
        </p:nvSpPr>
        <p:spPr>
          <a:xfrm>
            <a:off x="548640" y="2606040"/>
            <a:ext cx="4206240" cy="1097280"/>
          </a:xfrm>
          <a:prstGeom prst="rect">
            <a:avLst/>
          </a:prstGeom>
          <a:noFill/>
          <a:ln/>
        </p:spPr>
        <p:txBody>
          <a:bodyPr wrap="square" lIns="635" tIns="635" rIns="635" bIns="635" rtlCol="0" anchor="ctr"/>
          <a:lstStyle/>
          <a:p>
            <a:pPr algn="ctr" indent="0" marL="0">
              <a:buNone/>
            </a:pPr>
            <a:r>
              <a:rPr lang="en-US" sz="1200" b="1" dirty="0">
                <a:solidFill>
                  <a:srgbClr val="1B2430"/>
                </a:solidFill>
              </a:rPr>
              <a:t>innocent</a:t>
            </a:r>
            <a:endParaRPr lang="en-US" sz="1200" dirty="0"/>
          </a:p>
          <a:p>
            <a:pPr algn="ctr" indent="0" marL="0">
              <a:buNone/>
            </a:pPr>
            <a:r>
              <a:rPr lang="en-US" sz="1200" dirty="0">
                <a:solidFill>
                  <a:srgbClr val="1B2430"/>
                </a:solidFill>
              </a:rPr>
              <a:t>server reinstalled, keys regenerated</a:t>
            </a:r>
            <a:endParaRPr lang="en-US" sz="1200" dirty="0"/>
          </a:p>
        </p:txBody>
      </p:sp>
      <p:sp>
        <p:nvSpPr>
          <p:cNvPr id="10" name="box"/>
          <p:cNvSpPr/>
          <p:nvPr/>
        </p:nvSpPr>
        <p:spPr>
          <a:xfrm>
            <a:off x="7406640" y="2606040"/>
            <a:ext cx="4206240" cy="1097280"/>
          </a:xfrm>
          <a:prstGeom prst="roundRect">
            <a:avLst>
              <a:gd name="adj" fmla="val 6667"/>
            </a:avLst>
          </a:prstGeom>
          <a:solidFill>
            <a:srgbClr val="F2D6D6"/>
          </a:solidFill>
          <a:ln w="12700">
            <a:solidFill>
              <a:srgbClr val="F2D6D6"/>
            </a:solidFill>
            <a:prstDash val="solid"/>
          </a:ln>
        </p:spPr>
      </p:sp>
      <p:sp>
        <p:nvSpPr>
          <p:cNvPr id="11" name="Text 8"/>
          <p:cNvSpPr txBox="1"/>
          <p:nvPr/>
        </p:nvSpPr>
        <p:spPr>
          <a:xfrm>
            <a:off x="7406640" y="2606040"/>
            <a:ext cx="4206240" cy="1097280"/>
          </a:xfrm>
          <a:prstGeom prst="rect">
            <a:avLst/>
          </a:prstGeom>
          <a:noFill/>
          <a:ln/>
        </p:spPr>
        <p:txBody>
          <a:bodyPr wrap="square" lIns="635" tIns="635" rIns="635" bIns="635" rtlCol="0" anchor="ctr"/>
          <a:lstStyle/>
          <a:p>
            <a:pPr algn="ctr" indent="0" marL="0">
              <a:buNone/>
            </a:pPr>
            <a:r>
              <a:rPr lang="en-US" sz="1200" b="1" dirty="0">
                <a:solidFill>
                  <a:srgbClr val="1B2430"/>
                </a:solidFill>
              </a:rPr>
              <a:t>attack</a:t>
            </a:r>
            <a:endParaRPr lang="en-US" sz="1200" dirty="0"/>
          </a:p>
          <a:p>
            <a:pPr algn="ctr" indent="0" marL="0">
              <a:buNone/>
            </a:pPr>
            <a:r>
              <a:rPr lang="en-US" sz="1200" dirty="0">
                <a:solidFill>
                  <a:srgbClr val="1B2430"/>
                </a:solidFill>
              </a:rPr>
              <a:t>DNS change, compromised network, man in the middle</a:t>
            </a:r>
            <a:endParaRPr lang="en-US" sz="1200" dirty="0"/>
          </a:p>
        </p:txBody>
      </p:sp>
      <p:sp>
        <p:nvSpPr>
          <p:cNvPr id="12" name="box"/>
          <p:cNvSpPr/>
          <p:nvPr/>
        </p:nvSpPr>
        <p:spPr>
          <a:xfrm>
            <a:off x="548640" y="3977640"/>
            <a:ext cx="6583680" cy="1554480"/>
          </a:xfrm>
          <a:prstGeom prst="roundRect">
            <a:avLst>
              <a:gd name="adj" fmla="val 4706"/>
            </a:avLst>
          </a:prstGeom>
          <a:solidFill>
            <a:srgbClr val="D7EBDD"/>
          </a:solidFill>
          <a:ln w="12700">
            <a:solidFill>
              <a:srgbClr val="D7EBDD"/>
            </a:solidFill>
            <a:prstDash val="solid"/>
          </a:ln>
        </p:spPr>
      </p:sp>
      <p:sp>
        <p:nvSpPr>
          <p:cNvPr id="13" name="Text 10"/>
          <p:cNvSpPr txBox="1"/>
          <p:nvPr/>
        </p:nvSpPr>
        <p:spPr>
          <a:xfrm>
            <a:off x="548640" y="3977640"/>
            <a:ext cx="6583680" cy="1554480"/>
          </a:xfrm>
          <a:prstGeom prst="rect">
            <a:avLst/>
          </a:prstGeom>
          <a:noFill/>
          <a:ln/>
        </p:spPr>
        <p:txBody>
          <a:bodyPr wrap="square" lIns="101600" tIns="101600" rIns="101600" bIns="101600" rtlCol="0" anchor="ctr"/>
          <a:lstStyle/>
          <a:p>
            <a:pPr algn="l" indent="0" marL="0">
              <a:buNone/>
            </a:pPr>
            <a:r>
              <a:rPr lang="en-US" sz="1200" b="1" dirty="0">
                <a:solidFill>
                  <a:srgbClr val="1B2430"/>
                </a:solidFill>
              </a:rPr>
              <a:t>Do:</a:t>
            </a:r>
            <a:r>
              <a:rPr lang="en-US" sz="1200" dirty="0">
                <a:solidFill>
                  <a:srgbClr val="1B2430"/>
                </a:solidFill>
              </a:rPr>
              <a:t> ask the administrators through another channel for the new fingerprint, compare it,</a:t>
            </a:r>
            <a:endParaRPr lang="en-US" sz="1200" dirty="0"/>
          </a:p>
          <a:p>
            <a:pPr algn="l" indent="0" marL="0">
              <a:buNone/>
            </a:pPr>
            <a:r>
              <a:rPr lang="en-US" sz="1200" dirty="0">
                <a:solidFill>
                  <a:srgbClr val="1B2430"/>
                </a:solidFill>
              </a:rPr>
              <a:t>then </a:t>
            </a:r>
            <a:r>
              <a:rPr lang="en-US" sz="1200" dirty="0">
                <a:solidFill>
                  <a:srgbClr val="1B2430"/>
                </a:solidFill>
                <a:latin typeface="Consolas" pitchFamily="34" charset="0"/>
                <a:ea typeface="Consolas" pitchFamily="34" charset="-122"/>
                <a:cs typeface="Consolas" pitchFamily="34" charset="-120"/>
              </a:rPr>
              <a:t>ssh-keygen -R lab.cs.example.ro</a:t>
            </a:r>
            <a:r>
              <a:rPr lang="en-US" sz="1200" dirty="0">
                <a:solidFill>
                  <a:srgbClr val="1B2430"/>
                </a:solidFill>
              </a:rPr>
              <a:t> and connect.</a:t>
            </a:r>
            <a:endParaRPr lang="en-US" sz="1200" dirty="0"/>
          </a:p>
        </p:txBody>
      </p:sp>
      <p:sp>
        <p:nvSpPr>
          <p:cNvPr id="14" name="box"/>
          <p:cNvSpPr/>
          <p:nvPr/>
        </p:nvSpPr>
        <p:spPr>
          <a:xfrm>
            <a:off x="7406640" y="3977640"/>
            <a:ext cx="4206240" cy="1554480"/>
          </a:xfrm>
          <a:prstGeom prst="roundRect">
            <a:avLst>
              <a:gd name="adj" fmla="val 4706"/>
            </a:avLst>
          </a:prstGeom>
          <a:solidFill>
            <a:srgbClr val="F3EAD7"/>
          </a:solidFill>
          <a:ln w="12700">
            <a:solidFill>
              <a:srgbClr val="F3EAD7"/>
            </a:solidFill>
            <a:prstDash val="solid"/>
          </a:ln>
        </p:spPr>
      </p:sp>
      <p:sp>
        <p:nvSpPr>
          <p:cNvPr id="15" name="Text 12"/>
          <p:cNvSpPr txBox="1"/>
          <p:nvPr/>
        </p:nvSpPr>
        <p:spPr>
          <a:xfrm>
            <a:off x="7406640" y="3977640"/>
            <a:ext cx="4206240" cy="1554480"/>
          </a:xfrm>
          <a:prstGeom prst="rect">
            <a:avLst/>
          </a:prstGeom>
          <a:noFill/>
          <a:ln/>
        </p:spPr>
        <p:txBody>
          <a:bodyPr wrap="square" lIns="635" tIns="635" rIns="635" bIns="635" rtlCol="0" anchor="ctr"/>
          <a:lstStyle/>
          <a:p>
            <a:pPr algn="ctr" indent="0" marL="0">
              <a:buNone/>
            </a:pPr>
            <a:r>
              <a:rPr lang="en-US" sz="1200" b="1" dirty="0">
                <a:solidFill>
                  <a:srgbClr val="1B2430"/>
                </a:solidFill>
              </a:rPr>
              <a:t>Do not:</a:t>
            </a:r>
            <a:r>
              <a:rPr lang="en-US" sz="1200" dirty="0">
                <a:solidFill>
                  <a:srgbClr val="1B2430"/>
                </a:solidFill>
              </a:rPr>
              <a:t> delete lines blindly or turn off host-key checking.</a:t>
            </a:r>
            <a:endParaRPr lang="en-US" sz="1200" dirty="0"/>
          </a:p>
        </p:txBody>
      </p:sp>
      <p:sp>
        <p:nvSpPr>
          <p:cNvPr id="1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7" name="Text 1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An impostor without the server’s private host key can only show a different key — and TOFU catches it.</a:t>
            </a:r>
            <a:endParaRPr lang="en-US" sz="1400" dirty="0"/>
          </a:p>
        </p:txBody>
      </p:sp>
      <p:sp>
        <p:nvSpPr>
          <p:cNvPr id="18" name="Text 1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TOFU (trust on first use) · DNS (Domain Name System)</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9 · Three tunnels through bastion.uni.ro</a:t>
            </a:r>
            <a:endParaRPr lang="en-US" sz="3000" dirty="0"/>
          </a:p>
        </p:txBody>
      </p:sp>
      <p:sp>
        <p:nvSpPr>
          <p:cNvPr id="4" name="box"/>
          <p:cNvSpPr/>
          <p:nvPr/>
        </p:nvSpPr>
        <p:spPr>
          <a:xfrm>
            <a:off x="548640" y="1325880"/>
            <a:ext cx="4206240" cy="731520"/>
          </a:xfrm>
          <a:prstGeom prst="roundRect">
            <a:avLst>
              <a:gd name="adj" fmla="val 10000"/>
            </a:avLst>
          </a:prstGeom>
          <a:solidFill>
            <a:srgbClr val="EEF2F6"/>
          </a:solidFill>
          <a:ln w="12700">
            <a:solidFill>
              <a:srgbClr val="EEF2F6"/>
            </a:solidFill>
            <a:prstDash val="solid"/>
          </a:ln>
        </p:spPr>
      </p:sp>
      <p:sp>
        <p:nvSpPr>
          <p:cNvPr id="5" name="Text 2"/>
          <p:cNvSpPr txBox="1"/>
          <p:nvPr/>
        </p:nvSpPr>
        <p:spPr>
          <a:xfrm>
            <a:off x="548640" y="1325880"/>
            <a:ext cx="4206240" cy="731520"/>
          </a:xfrm>
          <a:prstGeom prst="rect">
            <a:avLst/>
          </a:prstGeom>
          <a:noFill/>
          <a:ln/>
        </p:spPr>
        <p:txBody>
          <a:bodyPr wrap="square" lIns="635" tIns="635" rIns="635" bIns="635" rtlCol="0" anchor="ctr"/>
          <a:lstStyle/>
          <a:p>
            <a:pPr algn="ctr" indent="0" marL="0">
              <a:buNone/>
            </a:pPr>
            <a:r>
              <a:rPr lang="en-US" sz="1200" dirty="0">
                <a:solidFill>
                  <a:srgbClr val="1B2430"/>
                </a:solidFill>
              </a:rPr>
              <a:t>reach db.internal:5432 from the laptop</a:t>
            </a:r>
            <a:endParaRPr lang="en-US" sz="1200" dirty="0"/>
          </a:p>
        </p:txBody>
      </p:sp>
      <p:sp>
        <p:nvSpPr>
          <p:cNvPr id="6" name="Shape 3"/>
          <p:cNvSpPr/>
          <p:nvPr/>
        </p:nvSpPr>
        <p:spPr>
          <a:xfrm>
            <a:off x="4754880" y="1691640"/>
            <a:ext cx="365760" cy="914"/>
          </a:xfrm>
          <a:prstGeom prst="line">
            <a:avLst/>
          </a:prstGeom>
          <a:noFill/>
          <a:ln w="22225">
            <a:solidFill>
              <a:srgbClr val="B9772A"/>
            </a:solidFill>
            <a:prstDash val="solid"/>
            <a:tailEnd type="triangle"/>
          </a:ln>
        </p:spPr>
      </p:sp>
      <p:sp>
        <p:nvSpPr>
          <p:cNvPr id="7" name="box"/>
          <p:cNvSpPr/>
          <p:nvPr/>
        </p:nvSpPr>
        <p:spPr>
          <a:xfrm>
            <a:off x="5120640" y="1325880"/>
            <a:ext cx="6492240" cy="731520"/>
          </a:xfrm>
          <a:prstGeom prst="roundRect">
            <a:avLst>
              <a:gd name="adj" fmla="val 10000"/>
            </a:avLst>
          </a:prstGeom>
          <a:solidFill>
            <a:srgbClr val="F3EAD7"/>
          </a:solidFill>
          <a:ln w="12700">
            <a:solidFill>
              <a:srgbClr val="F3EAD7"/>
            </a:solidFill>
            <a:prstDash val="solid"/>
          </a:ln>
        </p:spPr>
      </p:sp>
      <p:sp>
        <p:nvSpPr>
          <p:cNvPr id="8" name="Text 5"/>
          <p:cNvSpPr txBox="1"/>
          <p:nvPr/>
        </p:nvSpPr>
        <p:spPr>
          <a:xfrm>
            <a:off x="5120640" y="1325880"/>
            <a:ext cx="6492240" cy="731520"/>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ssh -N -L 5432:db.internal:5432 you@bastion.uni.ro</a:t>
            </a:r>
            <a:endParaRPr lang="en-US" sz="1100" dirty="0"/>
          </a:p>
        </p:txBody>
      </p:sp>
      <p:sp>
        <p:nvSpPr>
          <p:cNvPr id="9" name="box"/>
          <p:cNvSpPr/>
          <p:nvPr/>
        </p:nvSpPr>
        <p:spPr>
          <a:xfrm>
            <a:off x="548640" y="2194560"/>
            <a:ext cx="4206240" cy="731520"/>
          </a:xfrm>
          <a:prstGeom prst="roundRect">
            <a:avLst>
              <a:gd name="adj" fmla="val 10000"/>
            </a:avLst>
          </a:prstGeom>
          <a:solidFill>
            <a:srgbClr val="EEF2F6"/>
          </a:solidFill>
          <a:ln w="12700">
            <a:solidFill>
              <a:srgbClr val="EEF2F6"/>
            </a:solidFill>
            <a:prstDash val="solid"/>
          </a:ln>
        </p:spPr>
      </p:sp>
      <p:sp>
        <p:nvSpPr>
          <p:cNvPr id="10" name="Text 7"/>
          <p:cNvSpPr txBox="1"/>
          <p:nvPr/>
        </p:nvSpPr>
        <p:spPr>
          <a:xfrm>
            <a:off x="548640" y="2194560"/>
            <a:ext cx="4206240" cy="731520"/>
          </a:xfrm>
          <a:prstGeom prst="rect">
            <a:avLst/>
          </a:prstGeom>
          <a:noFill/>
          <a:ln/>
        </p:spPr>
        <p:txBody>
          <a:bodyPr wrap="square" lIns="635" tIns="635" rIns="635" bIns="635" rtlCol="0" anchor="ctr"/>
          <a:lstStyle/>
          <a:p>
            <a:pPr algn="ctr" indent="0" marL="0">
              <a:buNone/>
            </a:pPr>
            <a:r>
              <a:rPr lang="en-US" sz="1200" dirty="0">
                <a:solidFill>
                  <a:srgbClr val="1B2430"/>
                </a:solidFill>
              </a:rPr>
              <a:t>show the laptop’s app (:3000) to a colleague on bastion:9000</a:t>
            </a:r>
            <a:endParaRPr lang="en-US" sz="1200" dirty="0"/>
          </a:p>
        </p:txBody>
      </p:sp>
      <p:sp>
        <p:nvSpPr>
          <p:cNvPr id="11" name="Shape 8"/>
          <p:cNvSpPr/>
          <p:nvPr/>
        </p:nvSpPr>
        <p:spPr>
          <a:xfrm>
            <a:off x="4754880" y="2560320"/>
            <a:ext cx="365760" cy="914"/>
          </a:xfrm>
          <a:prstGeom prst="line">
            <a:avLst/>
          </a:prstGeom>
          <a:noFill/>
          <a:ln w="22225">
            <a:solidFill>
              <a:srgbClr val="B9772A"/>
            </a:solidFill>
            <a:prstDash val="solid"/>
            <a:tailEnd type="triangle"/>
          </a:ln>
        </p:spPr>
      </p:sp>
      <p:sp>
        <p:nvSpPr>
          <p:cNvPr id="12" name="box"/>
          <p:cNvSpPr/>
          <p:nvPr/>
        </p:nvSpPr>
        <p:spPr>
          <a:xfrm>
            <a:off x="5120640" y="2194560"/>
            <a:ext cx="6492240" cy="731520"/>
          </a:xfrm>
          <a:prstGeom prst="roundRect">
            <a:avLst>
              <a:gd name="adj" fmla="val 10000"/>
            </a:avLst>
          </a:prstGeom>
          <a:solidFill>
            <a:srgbClr val="F3EAD7"/>
          </a:solidFill>
          <a:ln w="12700">
            <a:solidFill>
              <a:srgbClr val="F3EAD7"/>
            </a:solidFill>
            <a:prstDash val="solid"/>
          </a:ln>
        </p:spPr>
      </p:sp>
      <p:sp>
        <p:nvSpPr>
          <p:cNvPr id="13" name="Text 10"/>
          <p:cNvSpPr txBox="1"/>
          <p:nvPr/>
        </p:nvSpPr>
        <p:spPr>
          <a:xfrm>
            <a:off x="5120640" y="2194560"/>
            <a:ext cx="6492240" cy="731520"/>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ssh -N -R 9000:localhost:3000 you@bastion.uni.ro</a:t>
            </a:r>
            <a:endParaRPr lang="en-US" sz="1100" dirty="0"/>
          </a:p>
        </p:txBody>
      </p:sp>
      <p:sp>
        <p:nvSpPr>
          <p:cNvPr id="14" name="box"/>
          <p:cNvSpPr/>
          <p:nvPr/>
        </p:nvSpPr>
        <p:spPr>
          <a:xfrm>
            <a:off x="548640" y="3063240"/>
            <a:ext cx="4206240" cy="731520"/>
          </a:xfrm>
          <a:prstGeom prst="roundRect">
            <a:avLst>
              <a:gd name="adj" fmla="val 10000"/>
            </a:avLst>
          </a:prstGeom>
          <a:solidFill>
            <a:srgbClr val="EEF2F6"/>
          </a:solidFill>
          <a:ln w="12700">
            <a:solidFill>
              <a:srgbClr val="EEF2F6"/>
            </a:solidFill>
            <a:prstDash val="solid"/>
          </a:ln>
        </p:spPr>
      </p:sp>
      <p:sp>
        <p:nvSpPr>
          <p:cNvPr id="15" name="Text 12"/>
          <p:cNvSpPr txBox="1"/>
          <p:nvPr/>
        </p:nvSpPr>
        <p:spPr>
          <a:xfrm>
            <a:off x="548640" y="3063240"/>
            <a:ext cx="4206240" cy="731520"/>
          </a:xfrm>
          <a:prstGeom prst="rect">
            <a:avLst/>
          </a:prstGeom>
          <a:noFill/>
          <a:ln/>
        </p:spPr>
        <p:txBody>
          <a:bodyPr wrap="square" lIns="635" tIns="635" rIns="635" bIns="635" rtlCol="0" anchor="ctr"/>
          <a:lstStyle/>
          <a:p>
            <a:pPr algn="ctr" indent="0" marL="0">
              <a:buNone/>
            </a:pPr>
            <a:r>
              <a:rPr lang="en-US" sz="1200" dirty="0">
                <a:solidFill>
                  <a:srgbClr val="1B2430"/>
                </a:solidFill>
              </a:rPr>
              <a:t>browse any university-only site</a:t>
            </a:r>
            <a:endParaRPr lang="en-US" sz="1200" dirty="0"/>
          </a:p>
        </p:txBody>
      </p:sp>
      <p:sp>
        <p:nvSpPr>
          <p:cNvPr id="16" name="Shape 13"/>
          <p:cNvSpPr/>
          <p:nvPr/>
        </p:nvSpPr>
        <p:spPr>
          <a:xfrm>
            <a:off x="4754880" y="3429000"/>
            <a:ext cx="365760" cy="914"/>
          </a:xfrm>
          <a:prstGeom prst="line">
            <a:avLst/>
          </a:prstGeom>
          <a:noFill/>
          <a:ln w="22225">
            <a:solidFill>
              <a:srgbClr val="B9772A"/>
            </a:solidFill>
            <a:prstDash val="solid"/>
            <a:tailEnd type="triangle"/>
          </a:ln>
        </p:spPr>
      </p:sp>
      <p:sp>
        <p:nvSpPr>
          <p:cNvPr id="17" name="box"/>
          <p:cNvSpPr/>
          <p:nvPr/>
        </p:nvSpPr>
        <p:spPr>
          <a:xfrm>
            <a:off x="5120640" y="3063240"/>
            <a:ext cx="6492240" cy="731520"/>
          </a:xfrm>
          <a:prstGeom prst="roundRect">
            <a:avLst>
              <a:gd name="adj" fmla="val 10000"/>
            </a:avLst>
          </a:prstGeom>
          <a:solidFill>
            <a:srgbClr val="F3EAD7"/>
          </a:solidFill>
          <a:ln w="12700">
            <a:solidFill>
              <a:srgbClr val="F3EAD7"/>
            </a:solidFill>
            <a:prstDash val="solid"/>
          </a:ln>
        </p:spPr>
      </p:sp>
      <p:sp>
        <p:nvSpPr>
          <p:cNvPr id="18" name="Text 15"/>
          <p:cNvSpPr txBox="1"/>
          <p:nvPr/>
        </p:nvSpPr>
        <p:spPr>
          <a:xfrm>
            <a:off x="5120640" y="3063240"/>
            <a:ext cx="6492240" cy="731520"/>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ssh -N -D 1080 you@bastion.uni.ro + SOCKS proxy</a:t>
            </a:r>
            <a:endParaRPr lang="en-US" sz="1100" dirty="0"/>
          </a:p>
        </p:txBody>
      </p:sp>
      <p:sp>
        <p:nvSpPr>
          <p:cNvPr id="19" name="box"/>
          <p:cNvSpPr/>
          <p:nvPr/>
        </p:nvSpPr>
        <p:spPr>
          <a:xfrm>
            <a:off x="548640" y="4114800"/>
            <a:ext cx="2377440" cy="685800"/>
          </a:xfrm>
          <a:prstGeom prst="roundRect">
            <a:avLst>
              <a:gd name="adj" fmla="val 10667"/>
            </a:avLst>
          </a:prstGeom>
          <a:solidFill>
            <a:srgbClr val="EEF2F6"/>
          </a:solidFill>
          <a:ln w="12700">
            <a:solidFill>
              <a:srgbClr val="EEF2F6"/>
            </a:solidFill>
            <a:prstDash val="solid"/>
          </a:ln>
        </p:spPr>
      </p:sp>
      <p:sp>
        <p:nvSpPr>
          <p:cNvPr id="20" name="Text 17"/>
          <p:cNvSpPr txBox="1"/>
          <p:nvPr/>
        </p:nvSpPr>
        <p:spPr>
          <a:xfrm>
            <a:off x="548640" y="4114800"/>
            <a:ext cx="2377440" cy="685800"/>
          </a:xfrm>
          <a:prstGeom prst="rect">
            <a:avLst/>
          </a:prstGeom>
          <a:noFill/>
          <a:ln/>
        </p:spPr>
        <p:txBody>
          <a:bodyPr wrap="square" lIns="635" tIns="635" rIns="635" bIns="635" rtlCol="0" anchor="ctr"/>
          <a:lstStyle/>
          <a:p>
            <a:pPr algn="ctr" indent="0" marL="0">
              <a:buNone/>
            </a:pPr>
            <a:r>
              <a:rPr lang="en-US" sz="1100" dirty="0">
                <a:solidFill>
                  <a:srgbClr val="1B2430"/>
                </a:solidFill>
              </a:rPr>
              <a:t>db client → localhost</a:t>
            </a:r>
            <a:endParaRPr lang="en-US" sz="1100" dirty="0"/>
          </a:p>
        </p:txBody>
      </p:sp>
      <p:sp>
        <p:nvSpPr>
          <p:cNvPr id="21" name="box"/>
          <p:cNvSpPr/>
          <p:nvPr/>
        </p:nvSpPr>
        <p:spPr>
          <a:xfrm>
            <a:off x="3291840" y="4114800"/>
            <a:ext cx="2743200" cy="685800"/>
          </a:xfrm>
          <a:prstGeom prst="roundRect">
            <a:avLst>
              <a:gd name="adj" fmla="val 10667"/>
            </a:avLst>
          </a:prstGeom>
          <a:solidFill>
            <a:srgbClr val="D7EBDD"/>
          </a:solidFill>
          <a:ln w="12700">
            <a:solidFill>
              <a:srgbClr val="D7EBDD"/>
            </a:solidFill>
            <a:prstDash val="solid"/>
          </a:ln>
        </p:spPr>
      </p:sp>
      <p:sp>
        <p:nvSpPr>
          <p:cNvPr id="22" name="Text 19"/>
          <p:cNvSpPr txBox="1"/>
          <p:nvPr/>
        </p:nvSpPr>
        <p:spPr>
          <a:xfrm>
            <a:off x="3291840" y="4114800"/>
            <a:ext cx="2743200" cy="685800"/>
          </a:xfrm>
          <a:prstGeom prst="rect">
            <a:avLst/>
          </a:prstGeom>
          <a:noFill/>
          <a:ln/>
        </p:spPr>
        <p:txBody>
          <a:bodyPr wrap="square" lIns="635" tIns="635" rIns="635" bIns="635" rtlCol="0" anchor="ctr"/>
          <a:lstStyle/>
          <a:p>
            <a:pPr algn="ctr" indent="0" marL="0">
              <a:buNone/>
            </a:pPr>
            <a:r>
              <a:rPr lang="en-US" sz="1200" b="1" dirty="0">
                <a:solidFill>
                  <a:srgbClr val="1B2430"/>
                </a:solidFill>
              </a:rPr>
              <a:t>laptop → bastion</a:t>
            </a:r>
            <a:endParaRPr lang="en-US" sz="1200" dirty="0"/>
          </a:p>
        </p:txBody>
      </p:sp>
      <p:sp>
        <p:nvSpPr>
          <p:cNvPr id="23" name="box"/>
          <p:cNvSpPr/>
          <p:nvPr/>
        </p:nvSpPr>
        <p:spPr>
          <a:xfrm>
            <a:off x="6400800" y="4114800"/>
            <a:ext cx="3108960" cy="685800"/>
          </a:xfrm>
          <a:prstGeom prst="roundRect">
            <a:avLst>
              <a:gd name="adj" fmla="val 10667"/>
            </a:avLst>
          </a:prstGeom>
          <a:solidFill>
            <a:srgbClr val="F3EAD7"/>
          </a:solidFill>
          <a:ln w="12700">
            <a:solidFill>
              <a:srgbClr val="F3EAD7"/>
            </a:solidFill>
            <a:prstDash val="solid"/>
          </a:ln>
        </p:spPr>
      </p:sp>
      <p:sp>
        <p:nvSpPr>
          <p:cNvPr id="24" name="Text 21"/>
          <p:cNvSpPr txBox="1"/>
          <p:nvPr/>
        </p:nvSpPr>
        <p:spPr>
          <a:xfrm>
            <a:off x="6400800" y="4114800"/>
            <a:ext cx="3108960" cy="685800"/>
          </a:xfrm>
          <a:prstGeom prst="rect">
            <a:avLst/>
          </a:prstGeom>
          <a:noFill/>
          <a:ln/>
        </p:spPr>
        <p:txBody>
          <a:bodyPr wrap="square" lIns="635" tIns="635" rIns="635" bIns="635" rtlCol="0" anchor="ctr"/>
          <a:lstStyle/>
          <a:p>
            <a:pPr algn="ctr" indent="0" marL="0">
              <a:buNone/>
            </a:pPr>
            <a:r>
              <a:rPr lang="en-US" sz="1200" dirty="0">
                <a:solidFill>
                  <a:srgbClr val="1B2430"/>
                </a:solidFill>
              </a:rPr>
              <a:t>bastion → db.internal</a:t>
            </a:r>
            <a:endParaRPr lang="en-US" sz="1200" dirty="0"/>
          </a:p>
        </p:txBody>
      </p:sp>
      <p:sp>
        <p:nvSpPr>
          <p:cNvPr id="25" name="Text 22"/>
          <p:cNvSpPr txBox="1"/>
          <p:nvPr/>
        </p:nvSpPr>
        <p:spPr>
          <a:xfrm>
            <a:off x="548640" y="4846320"/>
            <a:ext cx="2377440" cy="64008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never leaves the laptop</a:t>
            </a:r>
            <a:endParaRPr lang="en-US" sz="1100" dirty="0"/>
          </a:p>
        </p:txBody>
      </p:sp>
      <p:sp>
        <p:nvSpPr>
          <p:cNvPr id="26" name="Text 23"/>
          <p:cNvSpPr txBox="1"/>
          <p:nvPr/>
        </p:nvSpPr>
        <p:spPr>
          <a:xfrm>
            <a:off x="3291840" y="4846320"/>
            <a:ext cx="2743200" cy="640080"/>
          </a:xfrm>
          <a:prstGeom prst="rect">
            <a:avLst/>
          </a:prstGeom>
          <a:noFill/>
          <a:ln/>
        </p:spPr>
        <p:txBody>
          <a:bodyPr wrap="square" lIns="0" tIns="0" rIns="0" bIns="0" rtlCol="0" anchor="t"/>
          <a:lstStyle/>
          <a:p>
            <a:pPr algn="ctr" indent="0" marL="0">
              <a:spcAft>
                <a:spcPts val="400"/>
              </a:spcAft>
              <a:buNone/>
            </a:pPr>
            <a:r>
              <a:rPr lang="en-US" sz="1100" dirty="0">
                <a:solidFill>
                  <a:srgbClr val="2E7D4F"/>
                </a:solidFill>
              </a:rPr>
              <a:t>inside SSH: encrypted</a:t>
            </a:r>
            <a:endParaRPr lang="en-US" sz="1100" dirty="0"/>
          </a:p>
        </p:txBody>
      </p:sp>
      <p:sp>
        <p:nvSpPr>
          <p:cNvPr id="27" name="Text 24"/>
          <p:cNvSpPr txBox="1"/>
          <p:nvPr/>
        </p:nvSpPr>
        <p:spPr>
          <a:xfrm>
            <a:off x="6400800" y="4846320"/>
            <a:ext cx="3108960" cy="640080"/>
          </a:xfrm>
          <a:prstGeom prst="rect">
            <a:avLst/>
          </a:prstGeom>
          <a:noFill/>
          <a:ln/>
        </p:spPr>
        <p:txBody>
          <a:bodyPr wrap="square" lIns="0" tIns="0" rIns="0" bIns="0" rtlCol="0" anchor="t"/>
          <a:lstStyle/>
          <a:p>
            <a:pPr algn="ctr" indent="0" marL="0">
              <a:spcAft>
                <a:spcPts val="400"/>
              </a:spcAft>
              <a:buNone/>
            </a:pPr>
            <a:r>
              <a:rPr lang="en-US" sz="1100" dirty="0">
                <a:solidFill>
                  <a:srgbClr val="A23B3B"/>
                </a:solidFill>
              </a:rPr>
              <a:t>plain TCP unless the database uses TLS</a:t>
            </a:r>
            <a:endParaRPr lang="en-US" sz="1100" dirty="0"/>
          </a:p>
        </p:txBody>
      </p:sp>
      <p:sp>
        <p:nvSpPr>
          <p:cNvPr id="2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9" name="Text 2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-N means “no remote shell, only forwarding”; the tunnel protects one leg, not the whole path.</a:t>
            </a:r>
            <a:endParaRPr lang="en-US" sz="1400" dirty="0"/>
          </a:p>
        </p:txBody>
      </p:sp>
      <p:sp>
        <p:nvSpPr>
          <p:cNvPr id="30" name="Text 2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SOCKS (a proxy protocol (from “sockets”)) · TCP (Transmission Control Protocol) · TLS (Transport Layer Security) · SSH (Secure Shell)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10 · Reading an FTP session</a:t>
            </a:r>
            <a:endParaRPr lang="en-US" sz="3000" dirty="0"/>
          </a:p>
        </p:txBody>
      </p:sp>
      <p:sp>
        <p:nvSpPr>
          <p:cNvPr id="4" name="code"/>
          <p:cNvSpPr/>
          <p:nvPr/>
        </p:nvSpPr>
        <p:spPr>
          <a:xfrm>
            <a:off x="548640" y="1280160"/>
            <a:ext cx="5212080" cy="4343400"/>
          </a:xfrm>
          <a:prstGeom prst="rect">
            <a:avLst/>
          </a:prstGeom>
          <a:solidFill>
            <a:srgbClr val="1E2A38"/>
          </a:solidFill>
          <a:ln w="12700">
            <a:solidFill>
              <a:srgbClr val="1E2A38"/>
            </a:solidFill>
            <a:prstDash val="solid"/>
          </a:ln>
        </p:spPr>
      </p:sp>
      <p:sp>
        <p:nvSpPr>
          <p:cNvPr id="5" name="Text 2"/>
          <p:cNvSpPr txBox="1"/>
          <p:nvPr/>
        </p:nvSpPr>
        <p:spPr>
          <a:xfrm>
            <a:off x="548640" y="1280160"/>
            <a:ext cx="5212080" cy="4343400"/>
          </a:xfrm>
          <a:prstGeom prst="rect">
            <a:avLst/>
          </a:prstGeom>
          <a:noFill/>
          <a:ln/>
        </p:spPr>
        <p:txBody>
          <a:bodyPr wrap="square" lIns="101600" tIns="101600" rIns="101600" bIns="101600" rtlCol="0" anchor="t"/>
          <a:lstStyle/>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&lt;- 220-Welcome to the course archive</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&lt;- 220 Anonymous access allowed</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-&gt; USER anonymous</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&lt;- 331 Please send your e-mail …</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-&gt; PASS student@uni.ro</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&lt;- 230 Login successful</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-&gt; TYPE I</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&lt;- 200 Switching to Binary mode</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-&gt; PORT 10,0,0,5,200,10</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&lt;- 200 PORT command successful</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-&gt; RETR lab4.zip</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&lt;- 150 Opening BINARY … (52113 bytes)</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&lt;- 226 Transfer complete</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-&gt; QUIT</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&lt;- 221 Goodbye</a:t>
            </a:r>
            <a:endParaRPr lang="en-US" sz="1100" dirty="0"/>
          </a:p>
        </p:txBody>
      </p:sp>
      <p:sp>
        <p:nvSpPr>
          <p:cNvPr id="6" name="Shape 3"/>
          <p:cNvSpPr/>
          <p:nvPr/>
        </p:nvSpPr>
        <p:spPr>
          <a:xfrm>
            <a:off x="6035040" y="1344168"/>
            <a:ext cx="384048" cy="384048"/>
          </a:xfrm>
          <a:prstGeom prst="ellipse">
            <a:avLst/>
          </a:prstGeom>
          <a:solidFill>
            <a:srgbClr val="B9772A"/>
          </a:solidFill>
          <a:ln w="12700">
            <a:solidFill>
              <a:srgbClr val="B9772A"/>
            </a:solidFill>
            <a:prstDash val="solid"/>
          </a:ln>
        </p:spPr>
      </p:sp>
      <p:sp>
        <p:nvSpPr>
          <p:cNvPr id="7" name="Text 4"/>
          <p:cNvSpPr txBox="1"/>
          <p:nvPr/>
        </p:nvSpPr>
        <p:spPr>
          <a:xfrm>
            <a:off x="6035040" y="1344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537960" y="1325880"/>
            <a:ext cx="5074920" cy="8686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latin typeface="Consolas" pitchFamily="34" charset="0"/>
                <a:ea typeface="Consolas" pitchFamily="34" charset="-122"/>
                <a:cs typeface="Consolas" pitchFamily="34" charset="-120"/>
              </a:rPr>
              <a:t>220-</a:t>
            </a:r>
            <a:r>
              <a:rPr lang="en-US" sz="1200" dirty="0">
                <a:solidFill>
                  <a:srgbClr val="1B2430"/>
                </a:solidFill>
              </a:rPr>
              <a:t> … </a:t>
            </a:r>
            <a:r>
              <a:rPr lang="en-US" sz="1200" dirty="0">
                <a:solidFill>
                  <a:srgbClr val="1B2430"/>
                </a:solidFill>
                <a:latin typeface="Consolas" pitchFamily="34" charset="0"/>
                <a:ea typeface="Consolas" pitchFamily="34" charset="-122"/>
                <a:cs typeface="Consolas" pitchFamily="34" charset="-120"/>
              </a:rPr>
              <a:t>220 </a:t>
            </a:r>
            <a:r>
              <a:rPr lang="en-US" sz="1200" dirty="0">
                <a:solidFill>
                  <a:srgbClr val="1B2430"/>
                </a:solidFill>
              </a:rPr>
              <a:t>: a multi-line reply ends at the code followed by a </a:t>
            </a:r>
            <a:r>
              <a:rPr lang="en-US" sz="1200" b="1" dirty="0">
                <a:solidFill>
                  <a:srgbClr val="1B2430"/>
                </a:solidFill>
              </a:rPr>
              <a:t>space</a:t>
            </a:r>
            <a:r>
              <a:rPr lang="en-US" sz="1200" dirty="0">
                <a:solidFill>
                  <a:srgbClr val="1B2430"/>
                </a:solidFill>
              </a:rPr>
              <a:t>. 331 = send more.</a:t>
            </a:r>
            <a:endParaRPr lang="en-US" sz="1200" dirty="0"/>
          </a:p>
        </p:txBody>
      </p:sp>
      <p:sp>
        <p:nvSpPr>
          <p:cNvPr id="9" name="Shape 6"/>
          <p:cNvSpPr/>
          <p:nvPr/>
        </p:nvSpPr>
        <p:spPr>
          <a:xfrm>
            <a:off x="6035040" y="2350008"/>
            <a:ext cx="384048" cy="384048"/>
          </a:xfrm>
          <a:prstGeom prst="ellipse">
            <a:avLst/>
          </a:prstGeom>
          <a:solidFill>
            <a:srgbClr val="B9772A"/>
          </a:solidFill>
          <a:ln w="12700">
            <a:solidFill>
              <a:srgbClr val="B9772A"/>
            </a:solidFill>
            <a:prstDash val="solid"/>
          </a:ln>
        </p:spPr>
      </p:sp>
      <p:sp>
        <p:nvSpPr>
          <p:cNvPr id="10" name="Text 7"/>
          <p:cNvSpPr txBox="1"/>
          <p:nvPr/>
        </p:nvSpPr>
        <p:spPr>
          <a:xfrm>
            <a:off x="6035040" y="2350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537960" y="2331720"/>
            <a:ext cx="5074920" cy="8686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Active mode: the server connects from port 20 to 10.0.0.5:</a:t>
            </a:r>
            <a:r>
              <a:rPr lang="en-US" sz="1200" b="1" dirty="0">
                <a:solidFill>
                  <a:srgbClr val="1B2430"/>
                </a:solidFill>
              </a:rPr>
              <a:t>51 210</a:t>
            </a:r>
            <a:r>
              <a:rPr lang="en-US" sz="1200" dirty="0">
                <a:solidFill>
                  <a:srgbClr val="1B2430"/>
                </a:solidFill>
              </a:rPr>
              <a:t>.</a:t>
            </a:r>
            <a:endParaRPr lang="en-US" sz="1200" dirty="0"/>
          </a:p>
        </p:txBody>
      </p:sp>
      <p:sp>
        <p:nvSpPr>
          <p:cNvPr id="12" name="Shape 9"/>
          <p:cNvSpPr/>
          <p:nvPr/>
        </p:nvSpPr>
        <p:spPr>
          <a:xfrm>
            <a:off x="6035040" y="3355848"/>
            <a:ext cx="384048" cy="384048"/>
          </a:xfrm>
          <a:prstGeom prst="ellipse">
            <a:avLst/>
          </a:prstGeom>
          <a:solidFill>
            <a:srgbClr val="B9772A"/>
          </a:solidFill>
          <a:ln w="12700">
            <a:solidFill>
              <a:srgbClr val="B9772A"/>
            </a:solidFill>
            <a:prstDash val="solid"/>
          </a:ln>
        </p:spPr>
      </p:sp>
      <p:sp>
        <p:nvSpPr>
          <p:cNvPr id="13" name="Text 10"/>
          <p:cNvSpPr txBox="1"/>
          <p:nvPr/>
        </p:nvSpPr>
        <p:spPr>
          <a:xfrm>
            <a:off x="6035040" y="3355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537960" y="3337560"/>
            <a:ext cx="5074920" cy="8686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End of file = data connection closed; 226 confirms; 52 113 bytes to compare.</a:t>
            </a:r>
            <a:endParaRPr lang="en-US" sz="1200" dirty="0"/>
          </a:p>
        </p:txBody>
      </p:sp>
      <p:sp>
        <p:nvSpPr>
          <p:cNvPr id="15" name="Shape 12"/>
          <p:cNvSpPr/>
          <p:nvPr/>
        </p:nvSpPr>
        <p:spPr>
          <a:xfrm>
            <a:off x="6035040" y="4361688"/>
            <a:ext cx="384048" cy="384048"/>
          </a:xfrm>
          <a:prstGeom prst="ellipse">
            <a:avLst/>
          </a:prstGeom>
          <a:solidFill>
            <a:srgbClr val="A23B3B"/>
          </a:solidFill>
          <a:ln w="12700">
            <a:solidFill>
              <a:srgbClr val="A23B3B"/>
            </a:solidFill>
            <a:prstDash val="solid"/>
          </a:ln>
        </p:spPr>
      </p:sp>
      <p:sp>
        <p:nvSpPr>
          <p:cNvPr id="16" name="Text 13"/>
          <p:cNvSpPr txBox="1"/>
          <p:nvPr/>
        </p:nvSpPr>
        <p:spPr>
          <a:xfrm>
            <a:off x="6035040" y="43616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537960" y="4343400"/>
            <a:ext cx="5074920" cy="12344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Behind NAT: 10.0.0.5 is unreachable → </a:t>
            </a:r>
            <a:r>
              <a:rPr lang="en-US" sz="1200" b="1" dirty="0">
                <a:solidFill>
                  <a:srgbClr val="1B2430"/>
                </a:solidFill>
              </a:rPr>
              <a:t>425</a:t>
            </a:r>
            <a:r>
              <a:rPr lang="en-US" sz="1200" dirty="0">
                <a:solidFill>
                  <a:srgbClr val="1B2430"/>
                </a:solidFill>
              </a:rPr>
              <a:t>. Fix: PASV/EPSV (an ALG fails with FTPS).</a:t>
            </a:r>
            <a:endParaRPr lang="en-US" sz="1200" dirty="0"/>
          </a:p>
        </p:txBody>
      </p:sp>
      <p:sp>
        <p:nvSpPr>
          <p:cNvPr id="1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9" name="Text 1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Read an FTP dialogue by its codes: the first digit says what happened, PORT says who connects where.</a:t>
            </a:r>
            <a:endParaRPr lang="en-US" sz="1400" dirty="0"/>
          </a:p>
        </p:txBody>
      </p:sp>
      <p:sp>
        <p:nvSpPr>
          <p:cNvPr id="20" name="Text 17"/>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FTPS (FTP over TLS) · PASV (passive) · EPSV (extended passive) · RETR (retrieve) · NAT (network address translation) · FTP (File Transfer Protocol) · ALG (application-level gateway)</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11 · ASCII or binary? Count the bytes</a:t>
            </a:r>
            <a:endParaRPr lang="en-US" sz="3000" dirty="0"/>
          </a:p>
        </p:txBody>
      </p:sp>
      <p:sp>
        <p:nvSpPr>
          <p:cNvPr id="4" name="box"/>
          <p:cNvSpPr/>
          <p:nvPr/>
        </p:nvSpPr>
        <p:spPr>
          <a:xfrm>
            <a:off x="548640" y="1371600"/>
            <a:ext cx="3291840" cy="1188720"/>
          </a:xfrm>
          <a:prstGeom prst="roundRect">
            <a:avLst>
              <a:gd name="adj" fmla="val 6154"/>
            </a:avLst>
          </a:prstGeom>
          <a:solidFill>
            <a:srgbClr val="EEF2F6"/>
          </a:solidFill>
          <a:ln w="12700">
            <a:solidFill>
              <a:srgbClr val="EEF2F6"/>
            </a:solidFill>
            <a:prstDash val="solid"/>
          </a:ln>
        </p:spPr>
      </p:sp>
      <p:sp>
        <p:nvSpPr>
          <p:cNvPr id="5" name="Text 2"/>
          <p:cNvSpPr txBox="1"/>
          <p:nvPr/>
        </p:nvSpPr>
        <p:spPr>
          <a:xfrm>
            <a:off x="548640" y="1371600"/>
            <a:ext cx="3291840" cy="1188720"/>
          </a:xfrm>
          <a:prstGeom prst="rect">
            <a:avLst/>
          </a:prstGeom>
          <a:noFill/>
          <a:ln/>
        </p:spPr>
        <p:txBody>
          <a:bodyPr wrap="square" lIns="635" tIns="635" rIns="635" bIns="635" rtlCol="0" anchor="ctr"/>
          <a:lstStyle/>
          <a:p>
            <a:pPr algn="ctr" indent="0" marL="0">
              <a:buNone/>
            </a:pPr>
            <a:r>
              <a:rPr lang="en-US" sz="1300" b="1" dirty="0">
                <a:solidFill>
                  <a:srgbClr val="1B2430"/>
                </a:solidFill>
              </a:rPr>
              <a:t>Linux disk</a:t>
            </a:r>
            <a:endParaRPr lang="en-US" sz="1300" dirty="0"/>
          </a:p>
          <a:p>
            <a:pPr algn="ctr" indent="0" marL="0">
              <a:buNone/>
            </a:pPr>
            <a:r>
              <a:rPr lang="en-US" sz="1300" dirty="0">
                <a:solidFill>
                  <a:srgbClr val="1B2430"/>
                </a:solidFill>
              </a:rPr>
              <a:t>10 000 bytes</a:t>
            </a:r>
            <a:endParaRPr lang="en-US" sz="1300" dirty="0"/>
          </a:p>
          <a:p>
            <a:pPr algn="ctr" indent="0" marL="0">
              <a:buNone/>
            </a:pPr>
            <a:r>
              <a:rPr lang="en-US" sz="1300" dirty="0">
                <a:solidFill>
                  <a:srgbClr val="1B2430"/>
                </a:solidFill>
              </a:rPr>
              <a:t>0A as line end</a:t>
            </a:r>
            <a:endParaRPr lang="en-US" sz="1300" dirty="0"/>
          </a:p>
        </p:txBody>
      </p:sp>
      <p:sp>
        <p:nvSpPr>
          <p:cNvPr id="6" name="Shape 3"/>
          <p:cNvSpPr/>
          <p:nvPr/>
        </p:nvSpPr>
        <p:spPr>
          <a:xfrm>
            <a:off x="3840480" y="1965960"/>
            <a:ext cx="548640" cy="914"/>
          </a:xfrm>
          <a:prstGeom prst="line">
            <a:avLst/>
          </a:prstGeom>
          <a:noFill/>
          <a:ln w="25400">
            <a:solidFill>
              <a:srgbClr val="B9772A"/>
            </a:solidFill>
            <a:prstDash val="solid"/>
            <a:tailEnd type="triangle"/>
          </a:ln>
        </p:spPr>
      </p:sp>
      <p:sp>
        <p:nvSpPr>
          <p:cNvPr id="7" name="box"/>
          <p:cNvSpPr/>
          <p:nvPr/>
        </p:nvSpPr>
        <p:spPr>
          <a:xfrm>
            <a:off x="4389120" y="1371600"/>
            <a:ext cx="3291840" cy="1188720"/>
          </a:xfrm>
          <a:prstGeom prst="roundRect">
            <a:avLst>
              <a:gd name="adj" fmla="val 6154"/>
            </a:avLst>
          </a:prstGeom>
          <a:solidFill>
            <a:srgbClr val="EEF2F6"/>
          </a:solidFill>
          <a:ln w="12700">
            <a:solidFill>
              <a:srgbClr val="EEF2F6"/>
            </a:solidFill>
            <a:prstDash val="solid"/>
          </a:ln>
        </p:spPr>
      </p:sp>
      <p:sp>
        <p:nvSpPr>
          <p:cNvPr id="8" name="Text 5"/>
          <p:cNvSpPr txBox="1"/>
          <p:nvPr/>
        </p:nvSpPr>
        <p:spPr>
          <a:xfrm>
            <a:off x="4389120" y="1371600"/>
            <a:ext cx="3291840" cy="1188720"/>
          </a:xfrm>
          <a:prstGeom prst="rect">
            <a:avLst/>
          </a:prstGeom>
          <a:noFill/>
          <a:ln/>
        </p:spPr>
        <p:txBody>
          <a:bodyPr wrap="square" lIns="635" tIns="635" rIns="635" bIns="635" rtlCol="0" anchor="ctr"/>
          <a:lstStyle/>
          <a:p>
            <a:pPr algn="ctr" indent="0" marL="0">
              <a:buNone/>
            </a:pPr>
            <a:r>
              <a:rPr lang="en-US" sz="1300" b="1" dirty="0">
                <a:solidFill>
                  <a:srgbClr val="1B2430"/>
                </a:solidFill>
              </a:rPr>
              <a:t>wire (NVT)</a:t>
            </a:r>
            <a:endParaRPr lang="en-US" sz="1300" dirty="0"/>
          </a:p>
          <a:p>
            <a:pPr algn="ctr" indent="0" marL="0">
              <a:buNone/>
            </a:pPr>
            <a:r>
              <a:rPr lang="en-US" sz="1300" dirty="0">
                <a:solidFill>
                  <a:srgbClr val="1B2430"/>
                </a:solidFill>
              </a:rPr>
              <a:t>0A → 0D 0A</a:t>
            </a:r>
            <a:endParaRPr lang="en-US" sz="1300" dirty="0"/>
          </a:p>
          <a:p>
            <a:pPr algn="ctr" indent="0" marL="0">
              <a:buNone/>
            </a:pPr>
            <a:r>
              <a:rPr lang="en-US" sz="1300" dirty="0">
                <a:solidFill>
                  <a:srgbClr val="1B2430"/>
                </a:solidFill>
              </a:rPr>
              <a:t>CR LF</a:t>
            </a:r>
            <a:endParaRPr lang="en-US" sz="1300" dirty="0"/>
          </a:p>
        </p:txBody>
      </p:sp>
      <p:sp>
        <p:nvSpPr>
          <p:cNvPr id="9" name="Shape 6"/>
          <p:cNvSpPr/>
          <p:nvPr/>
        </p:nvSpPr>
        <p:spPr>
          <a:xfrm>
            <a:off x="7680960" y="1965960"/>
            <a:ext cx="548640" cy="914"/>
          </a:xfrm>
          <a:prstGeom prst="line">
            <a:avLst/>
          </a:prstGeom>
          <a:noFill/>
          <a:ln w="25400">
            <a:solidFill>
              <a:srgbClr val="B9772A"/>
            </a:solidFill>
            <a:prstDash val="solid"/>
            <a:tailEnd type="triangle"/>
          </a:ln>
        </p:spPr>
      </p:sp>
      <p:sp>
        <p:nvSpPr>
          <p:cNvPr id="10" name="box"/>
          <p:cNvSpPr/>
          <p:nvPr/>
        </p:nvSpPr>
        <p:spPr>
          <a:xfrm>
            <a:off x="8229600" y="1371600"/>
            <a:ext cx="3291840" cy="1188720"/>
          </a:xfrm>
          <a:prstGeom prst="roundRect">
            <a:avLst>
              <a:gd name="adj" fmla="val 6154"/>
            </a:avLst>
          </a:prstGeom>
          <a:solidFill>
            <a:srgbClr val="F2D6D6"/>
          </a:solidFill>
          <a:ln w="12700">
            <a:solidFill>
              <a:srgbClr val="F2D6D6"/>
            </a:solidFill>
            <a:prstDash val="solid"/>
          </a:ln>
        </p:spPr>
      </p:sp>
      <p:sp>
        <p:nvSpPr>
          <p:cNvPr id="11" name="Text 8"/>
          <p:cNvSpPr txBox="1"/>
          <p:nvPr/>
        </p:nvSpPr>
        <p:spPr>
          <a:xfrm>
            <a:off x="8229600" y="1371600"/>
            <a:ext cx="3291840" cy="1188720"/>
          </a:xfrm>
          <a:prstGeom prst="rect">
            <a:avLst/>
          </a:prstGeom>
          <a:noFill/>
          <a:ln/>
        </p:spPr>
        <p:txBody>
          <a:bodyPr wrap="square" lIns="635" tIns="635" rIns="635" bIns="635" rtlCol="0" anchor="ctr"/>
          <a:lstStyle/>
          <a:p>
            <a:pPr algn="ctr" indent="0" marL="0">
              <a:buNone/>
            </a:pPr>
            <a:r>
              <a:rPr lang="en-US" sz="1300" b="1" dirty="0">
                <a:solidFill>
                  <a:srgbClr val="1B2430"/>
                </a:solidFill>
              </a:rPr>
              <a:t>Windows disk</a:t>
            </a:r>
            <a:endParaRPr lang="en-US" sz="1300" dirty="0"/>
          </a:p>
          <a:p>
            <a:pPr algn="ctr" indent="0" marL="0">
              <a:buNone/>
            </a:pPr>
            <a:r>
              <a:rPr lang="en-US" sz="1300" dirty="0">
                <a:solidFill>
                  <a:srgbClr val="1B2430"/>
                </a:solidFill>
              </a:rPr>
              <a:t>10 040 bytes</a:t>
            </a:r>
            <a:endParaRPr lang="en-US" sz="1300" dirty="0"/>
          </a:p>
          <a:p>
            <a:pPr algn="ctr" indent="0" marL="0">
              <a:buNone/>
            </a:pPr>
            <a:r>
              <a:rPr lang="en-US" sz="1300" dirty="0">
                <a:solidFill>
                  <a:srgbClr val="1B2430"/>
                </a:solidFill>
              </a:rPr>
              <a:t>CR LF kept: +40</a:t>
            </a:r>
            <a:endParaRPr lang="en-US" sz="1300" dirty="0"/>
          </a:p>
        </p:txBody>
      </p:sp>
      <p:sp>
        <p:nvSpPr>
          <p:cNvPr id="12" name="box"/>
          <p:cNvSpPr/>
          <p:nvPr/>
        </p:nvSpPr>
        <p:spPr>
          <a:xfrm>
            <a:off x="548640" y="2926080"/>
            <a:ext cx="11064240" cy="1005840"/>
          </a:xfrm>
          <a:prstGeom prst="roundRect">
            <a:avLst>
              <a:gd name="adj" fmla="val 7273"/>
            </a:avLst>
          </a:prstGeom>
          <a:solidFill>
            <a:srgbClr val="F3EAD7"/>
          </a:solidFill>
          <a:ln w="12700">
            <a:solidFill>
              <a:srgbClr val="F3EAD7"/>
            </a:solidFill>
            <a:prstDash val="solid"/>
          </a:ln>
        </p:spPr>
      </p:sp>
      <p:sp>
        <p:nvSpPr>
          <p:cNvPr id="13" name="Text 10"/>
          <p:cNvSpPr txBox="1"/>
          <p:nvPr/>
        </p:nvSpPr>
        <p:spPr>
          <a:xfrm>
            <a:off x="548640" y="2926080"/>
            <a:ext cx="11064240" cy="1005840"/>
          </a:xfrm>
          <a:prstGeom prst="rect">
            <a:avLst/>
          </a:prstGeom>
          <a:noFill/>
          <a:ln/>
        </p:spPr>
        <p:txBody>
          <a:bodyPr wrap="square" lIns="635" tIns="635" rIns="635" bIns="635" rtlCol="0" anchor="ctr"/>
          <a:lstStyle/>
          <a:p>
            <a:pPr algn="ctr" indent="0" marL="0">
              <a:buNone/>
            </a:pPr>
            <a:r>
              <a:rPr lang="en-US" sz="1300" b="1" dirty="0">
                <a:solidFill>
                  <a:srgbClr val="1B2430"/>
                </a:solidFill>
              </a:rPr>
              <a:t>Upload back with TYPE A:</a:t>
            </a:r>
            <a:r>
              <a:rPr lang="en-US" sz="1300" dirty="0">
                <a:solidFill>
                  <a:srgbClr val="1B2430"/>
                </a:solidFill>
              </a:rPr>
              <a:t> every CR LF becomes LF on Linux — bytes are removed, and an original 0D 0A pair inside the image is damaged too.</a:t>
            </a:r>
            <a:endParaRPr lang="en-US" sz="1300" dirty="0"/>
          </a:p>
        </p:txBody>
      </p:sp>
      <p:sp>
        <p:nvSpPr>
          <p:cNvPr id="14" name="Shape 11"/>
          <p:cNvSpPr/>
          <p:nvPr/>
        </p:nvSpPr>
        <p:spPr>
          <a:xfrm>
            <a:off x="548640" y="4224528"/>
            <a:ext cx="384048" cy="384048"/>
          </a:xfrm>
          <a:prstGeom prst="ellipse">
            <a:avLst/>
          </a:prstGeom>
          <a:solidFill>
            <a:srgbClr val="B9772A"/>
          </a:solidFill>
          <a:ln w="12700">
            <a:solidFill>
              <a:srgbClr val="B9772A"/>
            </a:solidFill>
            <a:prstDash val="solid"/>
          </a:ln>
        </p:spPr>
      </p:sp>
      <p:sp>
        <p:nvSpPr>
          <p:cNvPr id="15" name="Text 12"/>
          <p:cNvSpPr txBox="1"/>
          <p:nvPr/>
        </p:nvSpPr>
        <p:spPr>
          <a:xfrm>
            <a:off x="548640" y="4224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6" name="Text 13"/>
          <p:cNvSpPr txBox="1"/>
          <p:nvPr/>
        </p:nvSpPr>
        <p:spPr>
          <a:xfrm>
            <a:off x="1051560" y="4206240"/>
            <a:ext cx="10561320" cy="118872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Only </a:t>
            </a:r>
            <a:r>
              <a:rPr lang="en-US" sz="1300" b="1" dirty="0">
                <a:solidFill>
                  <a:srgbClr val="1B2430"/>
                </a:solidFill>
              </a:rPr>
              <a:t>TYPE I</a:t>
            </a:r>
            <a:r>
              <a:rPr lang="en-US" sz="1300" dirty="0">
                <a:solidFill>
                  <a:srgbClr val="1B2430"/>
                </a:solidFill>
              </a:rPr>
              <a:t> moves bytes unchanged. The decoder reads garbage after the first changed byte: the image is lost.</a:t>
            </a:r>
            <a:endParaRPr lang="en-US" sz="1300" dirty="0"/>
          </a:p>
        </p:txBody>
      </p:sp>
      <p:sp>
        <p:nvSpPr>
          <p:cNvPr id="1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8" name="Text 1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Binary data must never pass through a text conversion — in FTP, in e-mail, anywhere.</a:t>
            </a:r>
            <a:endParaRPr lang="en-US" sz="1400" dirty="0"/>
          </a:p>
        </p:txBody>
      </p:sp>
      <p:sp>
        <p:nvSpPr>
          <p:cNvPr id="19" name="Text 16"/>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ASCII (American Standard Code for Information Interchange) · NVT (network virtual terminal) · FTP (File Transfer Protocol) · CR (carriage return) · LF (line feed)</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12 · Twenty small files</a:t>
            </a:r>
            <a:endParaRPr lang="en-US" sz="3000" dirty="0"/>
          </a:p>
        </p:txBody>
      </p:sp>
      <p:sp>
        <p:nvSpPr>
          <p:cNvPr id="4" name="Text 1"/>
          <p:cNvSpPr txBox="1"/>
          <p:nvPr/>
        </p:nvSpPr>
        <p:spPr>
          <a:xfrm>
            <a:off x="548640" y="1371600"/>
            <a:ext cx="3291840" cy="82296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FTP passive</a:t>
            </a:r>
            <a:endParaRPr lang="en-US" sz="1200" dirty="0"/>
          </a:p>
          <a:p>
            <a:pPr algn="l" indent="0" marL="0">
              <a:spcAft>
                <a:spcPts val="400"/>
              </a:spcAft>
              <a:buNone/>
            </a:pPr>
            <a:r>
              <a:rPr lang="en-US" sz="1200" dirty="0">
                <a:solidFill>
                  <a:srgbClr val="1B2430"/>
                </a:solidFill>
              </a:rPr>
              <a:t>per file: PASV + data handshake + RETR = 3 RTT</a:t>
            </a:r>
            <a:endParaRPr lang="en-US" sz="1200" dirty="0"/>
          </a:p>
        </p:txBody>
      </p:sp>
      <p:sp>
        <p:nvSpPr>
          <p:cNvPr id="5" name="box"/>
          <p:cNvSpPr/>
          <p:nvPr/>
        </p:nvSpPr>
        <p:spPr>
          <a:xfrm>
            <a:off x="3931920" y="1463040"/>
            <a:ext cx="7461504" cy="640080"/>
          </a:xfrm>
          <a:prstGeom prst="rect">
            <a:avLst/>
          </a:prstGeom>
          <a:solidFill>
            <a:srgbClr val="A23B3B"/>
          </a:solidFill>
          <a:ln w="12700">
            <a:solidFill>
              <a:srgbClr val="A23B3B"/>
            </a:solidFill>
            <a:prstDash val="solid"/>
          </a:ln>
        </p:spPr>
      </p:sp>
      <p:sp>
        <p:nvSpPr>
          <p:cNvPr id="6" name="Text 3"/>
          <p:cNvSpPr txBox="1"/>
          <p:nvPr/>
        </p:nvSpPr>
        <p:spPr>
          <a:xfrm>
            <a:off x="11530584" y="1600200"/>
            <a:ext cx="1371600" cy="411480"/>
          </a:xfrm>
          <a:prstGeom prst="rect">
            <a:avLst/>
          </a:prstGeom>
          <a:noFill/>
          <a:ln/>
        </p:spPr>
        <p:txBody>
          <a:bodyPr wrap="square" lIns="0" tIns="0" rIns="0" bIns="0" rtlCol="0" anchor="t"/>
          <a:lstStyle/>
          <a:p>
            <a:pPr algn="l" indent="0" marL="0">
              <a:spcAft>
                <a:spcPts val="400"/>
              </a:spcAft>
              <a:buNone/>
            </a:pPr>
            <a:r>
              <a:rPr lang="en-US" sz="1400" b="1" dirty="0">
                <a:solidFill>
                  <a:srgbClr val="1B2430"/>
                </a:solidFill>
              </a:rPr>
              <a:t>2.4 s</a:t>
            </a:r>
            <a:endParaRPr lang="en-US" sz="1400" dirty="0"/>
          </a:p>
        </p:txBody>
      </p:sp>
      <p:sp>
        <p:nvSpPr>
          <p:cNvPr id="7" name="Text 4"/>
          <p:cNvSpPr txBox="1"/>
          <p:nvPr/>
        </p:nvSpPr>
        <p:spPr>
          <a:xfrm>
            <a:off x="548640" y="2468880"/>
            <a:ext cx="3291840" cy="82296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HTTP/1.1 persistent</a:t>
            </a:r>
            <a:endParaRPr lang="en-US" sz="1200" dirty="0"/>
          </a:p>
          <a:p>
            <a:pPr algn="l" indent="0" marL="0">
              <a:spcAft>
                <a:spcPts val="400"/>
              </a:spcAft>
              <a:buNone/>
            </a:pPr>
            <a:r>
              <a:rPr lang="en-US" sz="1200" dirty="0">
                <a:solidFill>
                  <a:srgbClr val="1B2430"/>
                </a:solidFill>
              </a:rPr>
              <a:t>1 RTT per file</a:t>
            </a:r>
            <a:endParaRPr lang="en-US" sz="1200" dirty="0"/>
          </a:p>
        </p:txBody>
      </p:sp>
      <p:sp>
        <p:nvSpPr>
          <p:cNvPr id="8" name="box"/>
          <p:cNvSpPr/>
          <p:nvPr/>
        </p:nvSpPr>
        <p:spPr>
          <a:xfrm>
            <a:off x="3931920" y="2560320"/>
            <a:ext cx="2487168" cy="640080"/>
          </a:xfrm>
          <a:prstGeom prst="rect">
            <a:avLst/>
          </a:prstGeom>
          <a:solidFill>
            <a:srgbClr val="B9772A"/>
          </a:solidFill>
          <a:ln w="12700">
            <a:solidFill>
              <a:srgbClr val="B9772A"/>
            </a:solidFill>
            <a:prstDash val="solid"/>
          </a:ln>
        </p:spPr>
      </p:sp>
      <p:sp>
        <p:nvSpPr>
          <p:cNvPr id="9" name="Text 6"/>
          <p:cNvSpPr txBox="1"/>
          <p:nvPr/>
        </p:nvSpPr>
        <p:spPr>
          <a:xfrm>
            <a:off x="6556248" y="2697480"/>
            <a:ext cx="1371600" cy="411480"/>
          </a:xfrm>
          <a:prstGeom prst="rect">
            <a:avLst/>
          </a:prstGeom>
          <a:noFill/>
          <a:ln/>
        </p:spPr>
        <p:txBody>
          <a:bodyPr wrap="square" lIns="0" tIns="0" rIns="0" bIns="0" rtlCol="0" anchor="t"/>
          <a:lstStyle/>
          <a:p>
            <a:pPr algn="l" indent="0" marL="0">
              <a:spcAft>
                <a:spcPts val="400"/>
              </a:spcAft>
              <a:buNone/>
            </a:pPr>
            <a:r>
              <a:rPr lang="en-US" sz="1400" b="1" dirty="0">
                <a:solidFill>
                  <a:srgbClr val="1B2430"/>
                </a:solidFill>
              </a:rPr>
              <a:t>0.8 s</a:t>
            </a:r>
            <a:endParaRPr lang="en-US" sz="1400" dirty="0"/>
          </a:p>
        </p:txBody>
      </p:sp>
      <p:sp>
        <p:nvSpPr>
          <p:cNvPr id="10" name="Text 7"/>
          <p:cNvSpPr txBox="1"/>
          <p:nvPr/>
        </p:nvSpPr>
        <p:spPr>
          <a:xfrm>
            <a:off x="548640" y="3566160"/>
            <a:ext cx="3291840" cy="82296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HTTP/2, all at once</a:t>
            </a:r>
            <a:endParaRPr lang="en-US" sz="1200" dirty="0"/>
          </a:p>
          <a:p>
            <a:pPr algn="l" indent="0" marL="0">
              <a:spcAft>
                <a:spcPts val="400"/>
              </a:spcAft>
              <a:buNone/>
            </a:pPr>
            <a:r>
              <a:rPr lang="en-US" sz="1200" dirty="0">
                <a:solidFill>
                  <a:srgbClr val="1B2430"/>
                </a:solidFill>
              </a:rPr>
              <a:t>≈ 1 RTT for all</a:t>
            </a:r>
            <a:endParaRPr lang="en-US" sz="1200" dirty="0"/>
          </a:p>
        </p:txBody>
      </p:sp>
      <p:sp>
        <p:nvSpPr>
          <p:cNvPr id="11" name="box"/>
          <p:cNvSpPr/>
          <p:nvPr/>
        </p:nvSpPr>
        <p:spPr>
          <a:xfrm>
            <a:off x="3931920" y="3657600"/>
            <a:ext cx="124358" cy="640080"/>
          </a:xfrm>
          <a:prstGeom prst="rect">
            <a:avLst/>
          </a:prstGeom>
          <a:solidFill>
            <a:srgbClr val="2E7D4F"/>
          </a:solidFill>
          <a:ln w="12700">
            <a:solidFill>
              <a:srgbClr val="2E7D4F"/>
            </a:solidFill>
            <a:prstDash val="solid"/>
          </a:ln>
        </p:spPr>
      </p:sp>
      <p:sp>
        <p:nvSpPr>
          <p:cNvPr id="12" name="Text 9"/>
          <p:cNvSpPr txBox="1"/>
          <p:nvPr/>
        </p:nvSpPr>
        <p:spPr>
          <a:xfrm>
            <a:off x="4193438" y="3794760"/>
            <a:ext cx="1371600" cy="411480"/>
          </a:xfrm>
          <a:prstGeom prst="rect">
            <a:avLst/>
          </a:prstGeom>
          <a:noFill/>
          <a:ln/>
        </p:spPr>
        <p:txBody>
          <a:bodyPr wrap="square" lIns="0" tIns="0" rIns="0" bIns="0" rtlCol="0" anchor="t"/>
          <a:lstStyle/>
          <a:p>
            <a:pPr algn="l" indent="0" marL="0">
              <a:spcAft>
                <a:spcPts val="400"/>
              </a:spcAft>
              <a:buNone/>
            </a:pPr>
            <a:r>
              <a:rPr lang="en-US" sz="1400" b="1" dirty="0">
                <a:solidFill>
                  <a:srgbClr val="1B2430"/>
                </a:solidFill>
              </a:rPr>
              <a:t>0.04 s</a:t>
            </a:r>
            <a:endParaRPr lang="en-US" sz="1400" dirty="0"/>
          </a:p>
        </p:txBody>
      </p:sp>
      <p:sp>
        <p:nvSpPr>
          <p:cNvPr id="13" name="Shape 10"/>
          <p:cNvSpPr/>
          <p:nvPr/>
        </p:nvSpPr>
        <p:spPr>
          <a:xfrm>
            <a:off x="548640" y="4681728"/>
            <a:ext cx="384048" cy="384048"/>
          </a:xfrm>
          <a:prstGeom prst="ellipse">
            <a:avLst/>
          </a:prstGeom>
          <a:solidFill>
            <a:srgbClr val="B9772A"/>
          </a:solidFill>
          <a:ln w="12700">
            <a:solidFill>
              <a:srgbClr val="B9772A"/>
            </a:solidFill>
            <a:prstDash val="solid"/>
          </a:ln>
        </p:spPr>
      </p:sp>
      <p:sp>
        <p:nvSpPr>
          <p:cNvPr id="14" name="Text 11"/>
          <p:cNvSpPr txBox="1"/>
          <p:nvPr/>
        </p:nvSpPr>
        <p:spPr>
          <a:xfrm>
            <a:off x="548640" y="46817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2"/>
          <p:cNvSpPr txBox="1"/>
          <p:nvPr/>
        </p:nvSpPr>
        <p:spPr>
          <a:xfrm>
            <a:off x="1051560" y="4663440"/>
            <a:ext cx="10561320" cy="9144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One connection per file was natural in 1985 and is costly today — one reason archives travel as </a:t>
            </a:r>
            <a:r>
              <a:rPr lang="en-US" sz="1300" b="1" dirty="0">
                <a:solidFill>
                  <a:srgbClr val="1B2430"/>
                </a:solidFill>
              </a:rPr>
              <a:t>one</a:t>
            </a:r>
            <a:r>
              <a:rPr lang="en-US" sz="1300" dirty="0">
                <a:solidFill>
                  <a:srgbClr val="1B2430"/>
                </a:solidFill>
              </a:rPr>
              <a:t> compressed file.</a:t>
            </a:r>
            <a:endParaRPr lang="en-US" sz="1300" dirty="0"/>
          </a:p>
        </p:txBody>
      </p:sp>
      <p:sp>
        <p:nvSpPr>
          <p:cNvPr id="1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7" name="Text 1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Round trips per object, not bandwidth, decide the time for many small files.</a:t>
            </a:r>
            <a:endParaRPr lang="en-US" sz="1400" dirty="0"/>
          </a:p>
        </p:txBody>
      </p:sp>
      <p:sp>
        <p:nvSpPr>
          <p:cNvPr id="18" name="Text 1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HTTP (HyperText Transfer Protocol) · RETR (retrieve) · RTT (round-trip time) · FTP (File Transfer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Homework</a:t>
            </a:r>
            <a:endParaRPr lang="en-US" sz="3000" dirty="0"/>
          </a:p>
        </p:txBody>
      </p:sp>
      <p:sp>
        <p:nvSpPr>
          <p:cNvPr id="4" name="Shape 1"/>
          <p:cNvSpPr/>
          <p:nvPr/>
        </p:nvSpPr>
        <p:spPr>
          <a:xfrm>
            <a:off x="640080" y="1691640"/>
            <a:ext cx="384048" cy="384048"/>
          </a:xfrm>
          <a:prstGeom prst="ellipse">
            <a:avLst/>
          </a:prstGeom>
          <a:solidFill>
            <a:srgbClr val="2A7F8E"/>
          </a:solidFill>
          <a:ln w="12700">
            <a:solidFill>
              <a:srgbClr val="2A7F8E"/>
            </a:solidFill>
            <a:prstDash val="solid"/>
          </a:ln>
        </p:spPr>
      </p:sp>
      <p:sp>
        <p:nvSpPr>
          <p:cNvPr id="5" name="Text 2"/>
          <p:cNvSpPr txBox="1"/>
          <p:nvPr/>
        </p:nvSpPr>
        <p:spPr>
          <a:xfrm>
            <a:off x="640080"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box"/>
          <p:cNvSpPr/>
          <p:nvPr/>
        </p:nvSpPr>
        <p:spPr>
          <a:xfrm>
            <a:off x="1280160" y="1463040"/>
            <a:ext cx="10332720" cy="1005840"/>
          </a:xfrm>
          <a:prstGeom prst="roundRect">
            <a:avLst>
              <a:gd name="adj" fmla="val 7273"/>
            </a:avLst>
          </a:prstGeom>
          <a:solidFill>
            <a:srgbClr val="EEF2F6"/>
          </a:solidFill>
          <a:ln w="12700">
            <a:solidFill>
              <a:srgbClr val="EEF2F6"/>
            </a:solidFill>
            <a:prstDash val="solid"/>
          </a:ln>
        </p:spPr>
      </p:sp>
      <p:sp>
        <p:nvSpPr>
          <p:cNvPr id="7" name="Text 4"/>
          <p:cNvSpPr txBox="1"/>
          <p:nvPr/>
        </p:nvSpPr>
        <p:spPr>
          <a:xfrm>
            <a:off x="1280160" y="1463040"/>
            <a:ext cx="10332720" cy="1005840"/>
          </a:xfrm>
          <a:prstGeom prst="rect">
            <a:avLst/>
          </a:prstGeom>
          <a:noFill/>
          <a:ln/>
        </p:spPr>
        <p:txBody>
          <a:bodyPr wrap="square" lIns="152400" tIns="152400" rIns="152400" bIns="152400" rtlCol="0" anchor="ctr"/>
          <a:lstStyle/>
          <a:p>
            <a:pPr algn="l" indent="0" marL="0">
              <a:buNone/>
            </a:pPr>
            <a:r>
              <a:rPr lang="en-US" sz="1500" dirty="0">
                <a:solidFill>
                  <a:srgbClr val="1B2430"/>
                </a:solidFill>
              </a:rPr>
              <a:t>Solve exercises 1–5 at the end of Lecture 4 without looking at the answers.</a:t>
            </a:r>
            <a:endParaRPr lang="en-US" sz="1500" dirty="0"/>
          </a:p>
        </p:txBody>
      </p:sp>
      <p:sp>
        <p:nvSpPr>
          <p:cNvPr id="8" name="Shape 5"/>
          <p:cNvSpPr/>
          <p:nvPr/>
        </p:nvSpPr>
        <p:spPr>
          <a:xfrm>
            <a:off x="640080" y="2971800"/>
            <a:ext cx="384048" cy="384048"/>
          </a:xfrm>
          <a:prstGeom prst="ellipse">
            <a:avLst/>
          </a:prstGeom>
          <a:solidFill>
            <a:srgbClr val="2A7F8E"/>
          </a:solidFill>
          <a:ln w="12700">
            <a:solidFill>
              <a:srgbClr val="2A7F8E"/>
            </a:solidFill>
            <a:prstDash val="solid"/>
          </a:ln>
        </p:spPr>
      </p:sp>
      <p:sp>
        <p:nvSpPr>
          <p:cNvPr id="9" name="Text 6"/>
          <p:cNvSpPr txBox="1"/>
          <p:nvPr/>
        </p:nvSpPr>
        <p:spPr>
          <a:xfrm>
            <a:off x="640080" y="2971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box"/>
          <p:cNvSpPr/>
          <p:nvPr/>
        </p:nvSpPr>
        <p:spPr>
          <a:xfrm>
            <a:off x="1280160" y="2743200"/>
            <a:ext cx="10332720" cy="1005840"/>
          </a:xfrm>
          <a:prstGeom prst="roundRect">
            <a:avLst>
              <a:gd name="adj" fmla="val 7273"/>
            </a:avLst>
          </a:prstGeom>
          <a:solidFill>
            <a:srgbClr val="EEF2F6"/>
          </a:solidFill>
          <a:ln w="12700">
            <a:solidFill>
              <a:srgbClr val="EEF2F6"/>
            </a:solidFill>
            <a:prstDash val="solid"/>
          </a:ln>
        </p:spPr>
      </p:sp>
      <p:sp>
        <p:nvSpPr>
          <p:cNvPr id="11" name="Text 8"/>
          <p:cNvSpPr txBox="1"/>
          <p:nvPr/>
        </p:nvSpPr>
        <p:spPr>
          <a:xfrm>
            <a:off x="1280160" y="2743200"/>
            <a:ext cx="10332720" cy="1005840"/>
          </a:xfrm>
          <a:prstGeom prst="rect">
            <a:avLst/>
          </a:prstGeom>
          <a:noFill/>
          <a:ln/>
        </p:spPr>
        <p:txBody>
          <a:bodyPr wrap="square" lIns="152400" tIns="152400" rIns="152400" bIns="152400" rtlCol="0" anchor="ctr"/>
          <a:lstStyle/>
          <a:p>
            <a:pPr algn="l" indent="0" marL="0">
              <a:buNone/>
            </a:pPr>
            <a:r>
              <a:rPr lang="en-US" sz="1500" dirty="0">
                <a:solidFill>
                  <a:srgbClr val="1B2430"/>
                </a:solidFill>
              </a:rPr>
              <a:t>Run </a:t>
            </a:r>
            <a:r>
              <a:rPr lang="en-US" sz="1500" dirty="0">
                <a:solidFill>
                  <a:srgbClr val="1B2430"/>
                </a:solidFill>
                <a:latin typeface="Consolas" pitchFamily="34" charset="0"/>
                <a:ea typeface="Consolas" pitchFamily="34" charset="-122"/>
                <a:cs typeface="Consolas" pitchFamily="34" charset="-120"/>
              </a:rPr>
              <a:t>curl -sI https://www.google.com | grep -i alt-svc</a:t>
            </a:r>
            <a:r>
              <a:rPr lang="en-US" sz="1500" dirty="0">
                <a:solidFill>
                  <a:srgbClr val="1B2430"/>
                </a:solidFill>
              </a:rPr>
              <a:t> and explain what the line announces.</a:t>
            </a:r>
            <a:endParaRPr lang="en-US" sz="1500" dirty="0"/>
          </a:p>
        </p:txBody>
      </p:sp>
      <p:sp>
        <p:nvSpPr>
          <p:cNvPr id="12" name="Shape 9"/>
          <p:cNvSpPr/>
          <p:nvPr/>
        </p:nvSpPr>
        <p:spPr>
          <a:xfrm>
            <a:off x="640080" y="4251960"/>
            <a:ext cx="384048" cy="384048"/>
          </a:xfrm>
          <a:prstGeom prst="ellipse">
            <a:avLst/>
          </a:prstGeom>
          <a:solidFill>
            <a:srgbClr val="2A7F8E"/>
          </a:solidFill>
          <a:ln w="12700">
            <a:solidFill>
              <a:srgbClr val="2A7F8E"/>
            </a:solidFill>
            <a:prstDash val="solid"/>
          </a:ln>
        </p:spPr>
      </p:sp>
      <p:sp>
        <p:nvSpPr>
          <p:cNvPr id="13" name="Text 10"/>
          <p:cNvSpPr txBox="1"/>
          <p:nvPr/>
        </p:nvSpPr>
        <p:spPr>
          <a:xfrm>
            <a:off x="640080" y="4251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box"/>
          <p:cNvSpPr/>
          <p:nvPr/>
        </p:nvSpPr>
        <p:spPr>
          <a:xfrm>
            <a:off x="1280160" y="4023360"/>
            <a:ext cx="10332720" cy="1005840"/>
          </a:xfrm>
          <a:prstGeom prst="roundRect">
            <a:avLst>
              <a:gd name="adj" fmla="val 7273"/>
            </a:avLst>
          </a:prstGeom>
          <a:solidFill>
            <a:srgbClr val="EEF2F6"/>
          </a:solidFill>
          <a:ln w="12700">
            <a:solidFill>
              <a:srgbClr val="EEF2F6"/>
            </a:solidFill>
            <a:prstDash val="solid"/>
          </a:ln>
        </p:spPr>
      </p:sp>
      <p:sp>
        <p:nvSpPr>
          <p:cNvPr id="15" name="Text 12"/>
          <p:cNvSpPr txBox="1"/>
          <p:nvPr/>
        </p:nvSpPr>
        <p:spPr>
          <a:xfrm>
            <a:off x="1280160" y="4023360"/>
            <a:ext cx="10332720" cy="1005840"/>
          </a:xfrm>
          <a:prstGeom prst="rect">
            <a:avLst/>
          </a:prstGeom>
          <a:noFill/>
          <a:ln/>
        </p:spPr>
        <p:txBody>
          <a:bodyPr wrap="square" lIns="152400" tIns="152400" rIns="152400" bIns="152400" rtlCol="0" anchor="ctr"/>
          <a:lstStyle/>
          <a:p>
            <a:pPr algn="l" indent="0" marL="0">
              <a:buNone/>
            </a:pPr>
            <a:r>
              <a:rPr lang="en-US" sz="1500" dirty="0">
                <a:solidFill>
                  <a:srgbClr val="1B2430"/>
                </a:solidFill>
              </a:rPr>
              <a:t>Read RFC 959, section 3.4: how block mode allows restarting a transfer after a failure, and why stream mode cannot.</a:t>
            </a:r>
            <a:endParaRPr lang="en-US" sz="1500" dirty="0"/>
          </a:p>
        </p:txBody>
      </p:sp>
      <p:sp>
        <p:nvSpPr>
          <p:cNvPr id="1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7" name="Text 1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Each task links this week’s concepts to a real server or to the original standard.</a:t>
            </a:r>
            <a:endParaRPr lang="en-US" sz="1400" dirty="0"/>
          </a:p>
        </p:txBody>
      </p:sp>
      <p:sp>
        <p:nvSpPr>
          <p:cNvPr id="18" name="Text 1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RFC (Request for Comments)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Part C · Laboratory 4 on Linux: tools, FTP in C</a:t>
            </a:r>
            <a:endParaRPr lang="en-US" sz="3600" dirty="0"/>
          </a:p>
        </p:txBody>
      </p:sp>
      <p:sp>
        <p:nvSpPr>
          <p:cNvPr id="3" name="box"/>
          <p:cNvSpPr/>
          <p:nvPr/>
        </p:nvSpPr>
        <p:spPr>
          <a:xfrm>
            <a:off x="731520" y="1645920"/>
            <a:ext cx="2514600" cy="1371600"/>
          </a:xfrm>
          <a:prstGeom prst="roundRect">
            <a:avLst>
              <a:gd name="adj" fmla="val 5333"/>
            </a:avLst>
          </a:prstGeom>
          <a:solidFill>
            <a:srgbClr val="2B4A70"/>
          </a:solidFill>
          <a:ln w="12700">
            <a:solidFill>
              <a:srgbClr val="2B4A70"/>
            </a:solidFill>
            <a:prstDash val="solid"/>
          </a:ln>
        </p:spPr>
      </p:sp>
      <p:sp>
        <p:nvSpPr>
          <p:cNvPr id="4" name="Text 2"/>
          <p:cNvSpPr txBox="1"/>
          <p:nvPr/>
        </p:nvSpPr>
        <p:spPr>
          <a:xfrm>
            <a:off x="73152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A · Lecture 4</a:t>
            </a:r>
            <a:endParaRPr lang="en-US" sz="1500" dirty="0"/>
          </a:p>
          <a:p>
            <a:pPr algn="ctr" indent="0" marL="0">
              <a:spcAft>
                <a:spcPts val="400"/>
              </a:spcAft>
              <a:buNone/>
            </a:pPr>
            <a:r>
              <a:rPr lang="en-US" sz="1500" dirty="0">
                <a:solidFill>
                  <a:srgbClr val="FFFFFF"/>
                </a:solidFill>
              </a:rPr>
              <a:t>Sessions, speed, security</a:t>
            </a:r>
            <a:endParaRPr lang="en-US" sz="1500" dirty="0"/>
          </a:p>
        </p:txBody>
      </p:sp>
      <p:sp>
        <p:nvSpPr>
          <p:cNvPr id="5" name="Shape 3"/>
          <p:cNvSpPr/>
          <p:nvPr/>
        </p:nvSpPr>
        <p:spPr>
          <a:xfrm>
            <a:off x="3273552" y="2331720"/>
            <a:ext cx="219456" cy="914"/>
          </a:xfrm>
          <a:prstGeom prst="line">
            <a:avLst/>
          </a:prstGeom>
          <a:noFill/>
          <a:ln w="25400">
            <a:solidFill>
              <a:srgbClr val="9FB3C8"/>
            </a:solidFill>
            <a:prstDash val="solid"/>
            <a:tailEnd type="triangle"/>
          </a:ln>
        </p:spPr>
      </p:sp>
      <p:sp>
        <p:nvSpPr>
          <p:cNvPr id="6" name="box"/>
          <p:cNvSpPr/>
          <p:nvPr/>
        </p:nvSpPr>
        <p:spPr>
          <a:xfrm>
            <a:off x="3520440" y="1645920"/>
            <a:ext cx="2514600" cy="1371600"/>
          </a:xfrm>
          <a:prstGeom prst="roundRect">
            <a:avLst>
              <a:gd name="adj" fmla="val 5333"/>
            </a:avLst>
          </a:prstGeom>
          <a:solidFill>
            <a:srgbClr val="2B4A70"/>
          </a:solidFill>
          <a:ln w="12700">
            <a:solidFill>
              <a:srgbClr val="2B4A70"/>
            </a:solidFill>
            <a:prstDash val="solid"/>
          </a:ln>
        </p:spPr>
      </p:sp>
      <p:sp>
        <p:nvSpPr>
          <p:cNvPr id="7" name="Text 5"/>
          <p:cNvSpPr txBox="1"/>
          <p:nvPr/>
        </p:nvSpPr>
        <p:spPr>
          <a:xfrm>
            <a:off x="352044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B · Seminar 4</a:t>
            </a:r>
            <a:endParaRPr lang="en-US" sz="1500" dirty="0"/>
          </a:p>
          <a:p>
            <a:pPr algn="ctr" indent="0" marL="0">
              <a:spcAft>
                <a:spcPts val="400"/>
              </a:spcAft>
              <a:buNone/>
            </a:pPr>
            <a:r>
              <a:rPr lang="en-US" sz="1500" dirty="0">
                <a:solidFill>
                  <a:srgbClr val="FFFFFF"/>
                </a:solidFill>
              </a:rPr>
              <a:t>Problems with solutions</a:t>
            </a:r>
            <a:endParaRPr lang="en-US" sz="1500" dirty="0"/>
          </a:p>
        </p:txBody>
      </p:sp>
      <p:sp>
        <p:nvSpPr>
          <p:cNvPr id="8" name="Shape 6"/>
          <p:cNvSpPr/>
          <p:nvPr/>
        </p:nvSpPr>
        <p:spPr>
          <a:xfrm>
            <a:off x="6062472" y="2331720"/>
            <a:ext cx="219456" cy="914"/>
          </a:xfrm>
          <a:prstGeom prst="line">
            <a:avLst/>
          </a:prstGeom>
          <a:noFill/>
          <a:ln w="25400">
            <a:solidFill>
              <a:srgbClr val="9FB3C8"/>
            </a:solidFill>
            <a:prstDash val="solid"/>
            <a:tailEnd type="triangle"/>
          </a:ln>
        </p:spPr>
      </p:sp>
      <p:sp>
        <p:nvSpPr>
          <p:cNvPr id="9" name="box"/>
          <p:cNvSpPr/>
          <p:nvPr/>
        </p:nvSpPr>
        <p:spPr>
          <a:xfrm>
            <a:off x="6309360" y="1645920"/>
            <a:ext cx="2514600" cy="1371600"/>
          </a:xfrm>
          <a:prstGeom prst="roundRect">
            <a:avLst>
              <a:gd name="adj" fmla="val 5333"/>
            </a:avLst>
          </a:prstGeom>
          <a:solidFill>
            <a:srgbClr val="2A7F8E"/>
          </a:solidFill>
          <a:ln w="12700">
            <a:solidFill>
              <a:srgbClr val="2A7F8E"/>
            </a:solidFill>
            <a:prstDash val="solid"/>
          </a:ln>
        </p:spPr>
      </p:sp>
      <p:sp>
        <p:nvSpPr>
          <p:cNvPr id="10" name="Text 8"/>
          <p:cNvSpPr txBox="1"/>
          <p:nvPr/>
        </p:nvSpPr>
        <p:spPr>
          <a:xfrm>
            <a:off x="630936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C · Laboratory 4 · Linux</a:t>
            </a:r>
            <a:endParaRPr lang="en-US" sz="1500" dirty="0"/>
          </a:p>
          <a:p>
            <a:pPr algn="ctr" indent="0" marL="0">
              <a:spcAft>
                <a:spcPts val="400"/>
              </a:spcAft>
              <a:buNone/>
            </a:pPr>
            <a:r>
              <a:rPr lang="en-US" sz="1500" dirty="0">
                <a:solidFill>
                  <a:srgbClr val="FFFFFF"/>
                </a:solidFill>
              </a:rPr>
              <a:t>curl, openssl, ssh, ftp, C</a:t>
            </a:r>
            <a:endParaRPr lang="en-US" sz="1500" dirty="0"/>
          </a:p>
        </p:txBody>
      </p:sp>
      <p:sp>
        <p:nvSpPr>
          <p:cNvPr id="11" name="Shape 9"/>
          <p:cNvSpPr/>
          <p:nvPr/>
        </p:nvSpPr>
        <p:spPr>
          <a:xfrm>
            <a:off x="8851392" y="2331720"/>
            <a:ext cx="219456" cy="914"/>
          </a:xfrm>
          <a:prstGeom prst="line">
            <a:avLst/>
          </a:prstGeom>
          <a:noFill/>
          <a:ln w="25400">
            <a:solidFill>
              <a:srgbClr val="9FB3C8"/>
            </a:solidFill>
            <a:prstDash val="solid"/>
            <a:tailEnd type="triangle"/>
          </a:ln>
        </p:spPr>
      </p:sp>
      <p:sp>
        <p:nvSpPr>
          <p:cNvPr id="12" name="box"/>
          <p:cNvSpPr/>
          <p:nvPr/>
        </p:nvSpPr>
        <p:spPr>
          <a:xfrm>
            <a:off x="9098280" y="1645920"/>
            <a:ext cx="2514600" cy="1371600"/>
          </a:xfrm>
          <a:prstGeom prst="roundRect">
            <a:avLst>
              <a:gd name="adj" fmla="val 5333"/>
            </a:avLst>
          </a:prstGeom>
          <a:solidFill>
            <a:srgbClr val="2B4A70"/>
          </a:solidFill>
          <a:ln w="12700">
            <a:solidFill>
              <a:srgbClr val="2B4A70"/>
            </a:solidFill>
            <a:prstDash val="solid"/>
          </a:ln>
        </p:spPr>
      </p:sp>
      <p:sp>
        <p:nvSpPr>
          <p:cNvPr id="13" name="Text 11"/>
          <p:cNvSpPr txBox="1"/>
          <p:nvPr/>
        </p:nvSpPr>
        <p:spPr>
          <a:xfrm>
            <a:off x="909828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D · Laboratory 4 · Windows</a:t>
            </a:r>
            <a:endParaRPr lang="en-US" sz="1500" dirty="0"/>
          </a:p>
          <a:p>
            <a:pPr algn="ctr" indent="0" marL="0">
              <a:spcAft>
                <a:spcPts val="400"/>
              </a:spcAft>
              <a:buNone/>
            </a:pPr>
            <a:r>
              <a:rPr lang="en-US" sz="1500" dirty="0">
                <a:solidFill>
                  <a:srgbClr val="FFFFFF"/>
                </a:solidFill>
              </a:rPr>
              <a:t>PowerShell, OpenSSH, Winsock</a:t>
            </a:r>
            <a:endParaRPr lang="en-US" sz="1500" dirty="0"/>
          </a:p>
        </p:txBody>
      </p:sp>
      <p:sp>
        <p:nvSpPr>
          <p:cNvPr id="14" name="Text 12"/>
          <p:cNvSpPr txBox="1"/>
          <p:nvPr/>
        </p:nvSpPr>
        <p:spPr>
          <a:xfrm>
            <a:off x="731520" y="3429000"/>
            <a:ext cx="10698480" cy="365760"/>
          </a:xfrm>
          <a:prstGeom prst="rect">
            <a:avLst/>
          </a:prstGeom>
          <a:noFill/>
          <a:ln/>
        </p:spPr>
        <p:txBody>
          <a:bodyPr wrap="square" lIns="0" tIns="0" rIns="0" bIns="0" rtlCol="0" anchor="ctr"/>
          <a:lstStyle/>
          <a:p>
            <a:pPr indent="0" marL="0">
              <a:buNone/>
            </a:pPr>
            <a:r>
              <a:rPr lang="en-US" sz="1600" b="1" dirty="0">
                <a:solidFill>
                  <a:srgbClr val="DDF0F2"/>
                </a:solidFill>
              </a:rPr>
              <a:t>In this part</a:t>
            </a:r>
            <a:endParaRPr lang="en-US" sz="1600" dirty="0"/>
          </a:p>
        </p:txBody>
      </p:sp>
      <p:sp>
        <p:nvSpPr>
          <p:cNvPr id="15" name="Text 13"/>
          <p:cNvSpPr txBox="1"/>
          <p:nvPr/>
        </p:nvSpPr>
        <p:spPr>
          <a:xfrm>
            <a:off x="7315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Setup · servers, terminals, tools</a:t>
            </a:r>
            <a:endParaRPr lang="en-US" sz="1500" dirty="0"/>
          </a:p>
        </p:txBody>
      </p:sp>
      <p:sp>
        <p:nvSpPr>
          <p:cNvPr id="16" name="Text 14"/>
          <p:cNvSpPr txBox="1"/>
          <p:nvPr/>
        </p:nvSpPr>
        <p:spPr>
          <a:xfrm>
            <a:off x="62179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1 · Cookies and conditional GET</a:t>
            </a:r>
            <a:endParaRPr lang="en-US" sz="1500" dirty="0"/>
          </a:p>
        </p:txBody>
      </p:sp>
      <p:sp>
        <p:nvSpPr>
          <p:cNvPr id="17" name="Text 15"/>
          <p:cNvSpPr txBox="1"/>
          <p:nvPr/>
        </p:nvSpPr>
        <p:spPr>
          <a:xfrm>
            <a:off x="7315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2 · HTTPS with curl and openssl</a:t>
            </a:r>
            <a:endParaRPr lang="en-US" sz="1500" dirty="0"/>
          </a:p>
        </p:txBody>
      </p:sp>
      <p:sp>
        <p:nvSpPr>
          <p:cNvPr id="18" name="Text 16"/>
          <p:cNvSpPr txBox="1"/>
          <p:nvPr/>
        </p:nvSpPr>
        <p:spPr>
          <a:xfrm>
            <a:off x="62179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3 · A login in clear</a:t>
            </a:r>
            <a:endParaRPr lang="en-US" sz="1500" dirty="0"/>
          </a:p>
        </p:txBody>
      </p:sp>
      <p:sp>
        <p:nvSpPr>
          <p:cNvPr id="19" name="Text 17"/>
          <p:cNvSpPr txBox="1"/>
          <p:nvPr/>
        </p:nvSpPr>
        <p:spPr>
          <a:xfrm>
            <a:off x="7315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Tasks 4–5 · SSH keys, tunnel, scp/sftp</a:t>
            </a:r>
            <a:endParaRPr lang="en-US" sz="1500" dirty="0"/>
          </a:p>
        </p:txBody>
      </p:sp>
      <p:sp>
        <p:nvSpPr>
          <p:cNvPr id="20" name="Text 18"/>
          <p:cNvSpPr txBox="1"/>
          <p:nvPr/>
        </p:nvSpPr>
        <p:spPr>
          <a:xfrm>
            <a:off x="62179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6 · FTP: two connections</a:t>
            </a:r>
            <a:endParaRPr lang="en-US" sz="1500" dirty="0"/>
          </a:p>
        </p:txBody>
      </p:sp>
      <p:sp>
        <p:nvSpPr>
          <p:cNvPr id="21" name="Text 19"/>
          <p:cNvSpPr txBox="1"/>
          <p:nvPr/>
        </p:nvSpPr>
        <p:spPr>
          <a:xfrm>
            <a:off x="731520" y="52120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7 · An FTP client in C</a:t>
            </a:r>
            <a:endParaRPr lang="en-US" sz="1500" dirty="0"/>
          </a:p>
        </p:txBody>
      </p:sp>
      <p:sp>
        <p:nvSpPr>
          <p:cNvPr id="22" name="Text 20"/>
          <p:cNvSpPr txBox="1"/>
          <p:nvPr/>
        </p:nvSpPr>
        <p:spPr>
          <a:xfrm>
            <a:off x="6217920" y="52120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Python · ftplib</a:t>
            </a:r>
            <a:endParaRPr lang="en-US" sz="1500" dirty="0"/>
          </a:p>
        </p:txBody>
      </p:sp>
      <p:sp>
        <p:nvSpPr>
          <p:cNvPr id="24" name="Text 21"/>
          <p:cNvSpPr txBox="1"/>
          <p:nvPr/>
        </p:nvSpPr>
        <p:spPr>
          <a:xfrm>
            <a:off x="731520" y="6172200"/>
            <a:ext cx="10698480" cy="457200"/>
          </a:xfrm>
          <a:prstGeom prst="rect">
            <a:avLst/>
          </a:prstGeom>
          <a:noFill/>
          <a:ln/>
        </p:spPr>
        <p:txBody>
          <a:bodyPr wrap="square" lIns="0" tIns="0" rIns="0" bIns="0" rtlCol="0" anchor="t"/>
          <a:lstStyle/>
          <a:p>
            <a:pPr indent="0" marL="0">
              <a:buNone/>
            </a:pPr>
            <a:r>
              <a:rPr lang="en-US" sz="1100" dirty="0">
                <a:solidFill>
                  <a:srgbClr val="C9D6E3"/>
                </a:solidFill>
              </a:rPr>
              <a:t>HTTPS (HyperText Transfer Protocol Secure) · SSH (Secure Shell) · FTP (File Transfer Protocol) · scp (secure copy)</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Setup · Small servers on your own machine</a:t>
            </a:r>
            <a:endParaRPr lang="en-US" sz="3000" dirty="0"/>
          </a:p>
        </p:txBody>
      </p:sp>
      <p:sp>
        <p:nvSpPr>
          <p:cNvPr id="4" name="box"/>
          <p:cNvSpPr/>
          <p:nvPr/>
        </p:nvSpPr>
        <p:spPr>
          <a:xfrm>
            <a:off x="548640" y="1325880"/>
            <a:ext cx="2743200" cy="731520"/>
          </a:xfrm>
          <a:prstGeom prst="roundRect">
            <a:avLst>
              <a:gd name="adj" fmla="val 10000"/>
            </a:avLst>
          </a:prstGeom>
          <a:solidFill>
            <a:srgbClr val="2A7F8E"/>
          </a:solidFill>
          <a:ln w="12700">
            <a:solidFill>
              <a:srgbClr val="2A7F8E"/>
            </a:solidFill>
            <a:prstDash val="solid"/>
          </a:ln>
        </p:spPr>
      </p:sp>
      <p:sp>
        <p:nvSpPr>
          <p:cNvPr id="5" name="Text 2"/>
          <p:cNvSpPr txBox="1"/>
          <p:nvPr/>
        </p:nvSpPr>
        <p:spPr>
          <a:xfrm>
            <a:off x="548640" y="1325880"/>
            <a:ext cx="2743200" cy="731520"/>
          </a:xfrm>
          <a:prstGeom prst="rect">
            <a:avLst/>
          </a:prstGeom>
          <a:noFill/>
          <a:ln/>
        </p:spPr>
        <p:txBody>
          <a:bodyPr wrap="square" lIns="635" tIns="635" rIns="635" bIns="635" rtlCol="0" anchor="ctr"/>
          <a:lstStyle/>
          <a:p>
            <a:pPr algn="ctr" indent="0" marL="0">
              <a:buNone/>
            </a:pPr>
            <a:r>
              <a:rPr lang="en-US" sz="1300" dirty="0">
                <a:solidFill>
                  <a:srgbClr val="FFFFFF"/>
                </a:solidFill>
                <a:latin typeface="Consolas" pitchFamily="34" charset="0"/>
                <a:ea typeface="Consolas" pitchFamily="34" charset="-122"/>
                <a:cs typeface="Consolas" pitchFamily="34" charset="-120"/>
              </a:rPr>
              <a:t>web_server.py</a:t>
            </a:r>
            <a:endParaRPr lang="en-US" sz="1300" dirty="0"/>
          </a:p>
        </p:txBody>
      </p:sp>
      <p:sp>
        <p:nvSpPr>
          <p:cNvPr id="6" name="box"/>
          <p:cNvSpPr/>
          <p:nvPr/>
        </p:nvSpPr>
        <p:spPr>
          <a:xfrm>
            <a:off x="3383280" y="1325880"/>
            <a:ext cx="1097280" cy="731520"/>
          </a:xfrm>
          <a:prstGeom prst="roundRect">
            <a:avLst>
              <a:gd name="adj" fmla="val 10000"/>
            </a:avLst>
          </a:prstGeom>
          <a:solidFill>
            <a:srgbClr val="F3EAD7"/>
          </a:solidFill>
          <a:ln w="12700">
            <a:solidFill>
              <a:srgbClr val="F3EAD7"/>
            </a:solidFill>
            <a:prstDash val="solid"/>
          </a:ln>
        </p:spPr>
      </p:sp>
      <p:sp>
        <p:nvSpPr>
          <p:cNvPr id="7" name="Text 4"/>
          <p:cNvSpPr txBox="1"/>
          <p:nvPr/>
        </p:nvSpPr>
        <p:spPr>
          <a:xfrm>
            <a:off x="3383280" y="1325880"/>
            <a:ext cx="1097280" cy="731520"/>
          </a:xfrm>
          <a:prstGeom prst="rect">
            <a:avLst/>
          </a:prstGeom>
          <a:noFill/>
          <a:ln/>
        </p:spPr>
        <p:txBody>
          <a:bodyPr wrap="square" lIns="635" tIns="635" rIns="635" bIns="635"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:8000</a:t>
            </a:r>
            <a:endParaRPr lang="en-US" sz="1300" dirty="0"/>
          </a:p>
        </p:txBody>
      </p:sp>
      <p:sp>
        <p:nvSpPr>
          <p:cNvPr id="8" name="Text 5"/>
          <p:cNvSpPr txBox="1"/>
          <p:nvPr/>
        </p:nvSpPr>
        <p:spPr>
          <a:xfrm>
            <a:off x="4617720" y="1508760"/>
            <a:ext cx="2377440" cy="4572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cookies, ETag, 304</a:t>
            </a:r>
            <a:endParaRPr lang="en-US" sz="1200" dirty="0"/>
          </a:p>
        </p:txBody>
      </p:sp>
      <p:sp>
        <p:nvSpPr>
          <p:cNvPr id="9" name="box"/>
          <p:cNvSpPr/>
          <p:nvPr/>
        </p:nvSpPr>
        <p:spPr>
          <a:xfrm>
            <a:off x="548640" y="2194560"/>
            <a:ext cx="2743200" cy="731520"/>
          </a:xfrm>
          <a:prstGeom prst="roundRect">
            <a:avLst>
              <a:gd name="adj" fmla="val 10000"/>
            </a:avLst>
          </a:prstGeom>
          <a:solidFill>
            <a:srgbClr val="2A7F8E"/>
          </a:solidFill>
          <a:ln w="12700">
            <a:solidFill>
              <a:srgbClr val="2A7F8E"/>
            </a:solidFill>
            <a:prstDash val="solid"/>
          </a:ln>
        </p:spPr>
      </p:sp>
      <p:sp>
        <p:nvSpPr>
          <p:cNvPr id="10" name="Text 7"/>
          <p:cNvSpPr txBox="1"/>
          <p:nvPr/>
        </p:nvSpPr>
        <p:spPr>
          <a:xfrm>
            <a:off x="548640" y="2194560"/>
            <a:ext cx="2743200" cy="731520"/>
          </a:xfrm>
          <a:prstGeom prst="rect">
            <a:avLst/>
          </a:prstGeom>
          <a:noFill/>
          <a:ln/>
        </p:spPr>
        <p:txBody>
          <a:bodyPr wrap="square" lIns="635" tIns="635" rIns="635" bIns="635" rtlCol="0" anchor="ctr"/>
          <a:lstStyle/>
          <a:p>
            <a:pPr algn="ctr" indent="0" marL="0">
              <a:buNone/>
            </a:pPr>
            <a:r>
              <a:rPr lang="en-US" sz="1300" dirty="0">
                <a:solidFill>
                  <a:srgbClr val="FFFFFF"/>
                </a:solidFill>
                <a:latin typeface="Consolas" pitchFamily="34" charset="0"/>
                <a:ea typeface="Consolas" pitchFamily="34" charset="-122"/>
                <a:cs typeface="Consolas" pitchFamily="34" charset="-120"/>
              </a:rPr>
              <a:t>login_server.py</a:t>
            </a:r>
            <a:endParaRPr lang="en-US" sz="1300" dirty="0"/>
          </a:p>
        </p:txBody>
      </p:sp>
      <p:sp>
        <p:nvSpPr>
          <p:cNvPr id="11" name="box"/>
          <p:cNvSpPr/>
          <p:nvPr/>
        </p:nvSpPr>
        <p:spPr>
          <a:xfrm>
            <a:off x="3383280" y="2194560"/>
            <a:ext cx="1097280" cy="731520"/>
          </a:xfrm>
          <a:prstGeom prst="roundRect">
            <a:avLst>
              <a:gd name="adj" fmla="val 10000"/>
            </a:avLst>
          </a:prstGeom>
          <a:solidFill>
            <a:srgbClr val="F3EAD7"/>
          </a:solidFill>
          <a:ln w="12700">
            <a:solidFill>
              <a:srgbClr val="F3EAD7"/>
            </a:solidFill>
            <a:prstDash val="solid"/>
          </a:ln>
        </p:spPr>
      </p:sp>
      <p:sp>
        <p:nvSpPr>
          <p:cNvPr id="12" name="Text 9"/>
          <p:cNvSpPr txBox="1"/>
          <p:nvPr/>
        </p:nvSpPr>
        <p:spPr>
          <a:xfrm>
            <a:off x="3383280" y="2194560"/>
            <a:ext cx="1097280" cy="731520"/>
          </a:xfrm>
          <a:prstGeom prst="rect">
            <a:avLst/>
          </a:prstGeom>
          <a:noFill/>
          <a:ln/>
        </p:spPr>
        <p:txBody>
          <a:bodyPr wrap="square" lIns="635" tIns="635" rIns="635" bIns="635"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:2323</a:t>
            </a:r>
            <a:endParaRPr lang="en-US" sz="1300" dirty="0"/>
          </a:p>
        </p:txBody>
      </p:sp>
      <p:sp>
        <p:nvSpPr>
          <p:cNvPr id="13" name="Text 10"/>
          <p:cNvSpPr txBox="1"/>
          <p:nvPr/>
        </p:nvSpPr>
        <p:spPr>
          <a:xfrm>
            <a:off x="4617720" y="2377440"/>
            <a:ext cx="2377440" cy="4572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TELNET-style login</a:t>
            </a:r>
            <a:endParaRPr lang="en-US" sz="1200" dirty="0"/>
          </a:p>
        </p:txBody>
      </p:sp>
      <p:sp>
        <p:nvSpPr>
          <p:cNvPr id="14" name="box"/>
          <p:cNvSpPr/>
          <p:nvPr/>
        </p:nvSpPr>
        <p:spPr>
          <a:xfrm>
            <a:off x="548640" y="3063240"/>
            <a:ext cx="2743200" cy="731520"/>
          </a:xfrm>
          <a:prstGeom prst="roundRect">
            <a:avLst>
              <a:gd name="adj" fmla="val 10000"/>
            </a:avLst>
          </a:prstGeom>
          <a:solidFill>
            <a:srgbClr val="2A7F8E"/>
          </a:solidFill>
          <a:ln w="12700">
            <a:solidFill>
              <a:srgbClr val="2A7F8E"/>
            </a:solidFill>
            <a:prstDash val="solid"/>
          </a:ln>
        </p:spPr>
      </p:sp>
      <p:sp>
        <p:nvSpPr>
          <p:cNvPr id="15" name="Text 12"/>
          <p:cNvSpPr txBox="1"/>
          <p:nvPr/>
        </p:nvSpPr>
        <p:spPr>
          <a:xfrm>
            <a:off x="548640" y="3063240"/>
            <a:ext cx="2743200" cy="731520"/>
          </a:xfrm>
          <a:prstGeom prst="rect">
            <a:avLst/>
          </a:prstGeom>
          <a:noFill/>
          <a:ln/>
        </p:spPr>
        <p:txBody>
          <a:bodyPr wrap="square" lIns="635" tIns="635" rIns="635" bIns="635" rtlCol="0" anchor="ctr"/>
          <a:lstStyle/>
          <a:p>
            <a:pPr algn="ctr" indent="0" marL="0">
              <a:buNone/>
            </a:pPr>
            <a:r>
              <a:rPr lang="en-US" sz="1300" dirty="0">
                <a:solidFill>
                  <a:srgbClr val="FFFFFF"/>
                </a:solidFill>
                <a:latin typeface="Consolas" pitchFamily="34" charset="0"/>
                <a:ea typeface="Consolas" pitchFamily="34" charset="-122"/>
                <a:cs typeface="Consolas" pitchFamily="34" charset="-120"/>
              </a:rPr>
              <a:t>sshd</a:t>
            </a:r>
            <a:endParaRPr lang="en-US" sz="1300" dirty="0"/>
          </a:p>
        </p:txBody>
      </p:sp>
      <p:sp>
        <p:nvSpPr>
          <p:cNvPr id="16" name="box"/>
          <p:cNvSpPr/>
          <p:nvPr/>
        </p:nvSpPr>
        <p:spPr>
          <a:xfrm>
            <a:off x="3383280" y="3063240"/>
            <a:ext cx="1097280" cy="731520"/>
          </a:xfrm>
          <a:prstGeom prst="roundRect">
            <a:avLst>
              <a:gd name="adj" fmla="val 10000"/>
            </a:avLst>
          </a:prstGeom>
          <a:solidFill>
            <a:srgbClr val="F3EAD7"/>
          </a:solidFill>
          <a:ln w="12700">
            <a:solidFill>
              <a:srgbClr val="F3EAD7"/>
            </a:solidFill>
            <a:prstDash val="solid"/>
          </a:ln>
        </p:spPr>
      </p:sp>
      <p:sp>
        <p:nvSpPr>
          <p:cNvPr id="17" name="Text 14"/>
          <p:cNvSpPr txBox="1"/>
          <p:nvPr/>
        </p:nvSpPr>
        <p:spPr>
          <a:xfrm>
            <a:off x="3383280" y="3063240"/>
            <a:ext cx="1097280" cy="731520"/>
          </a:xfrm>
          <a:prstGeom prst="rect">
            <a:avLst/>
          </a:prstGeom>
          <a:noFill/>
          <a:ln/>
        </p:spPr>
        <p:txBody>
          <a:bodyPr wrap="square" lIns="635" tIns="635" rIns="635" bIns="635"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:22</a:t>
            </a:r>
            <a:endParaRPr lang="en-US" sz="1300" dirty="0"/>
          </a:p>
        </p:txBody>
      </p:sp>
      <p:sp>
        <p:nvSpPr>
          <p:cNvPr id="18" name="Text 15"/>
          <p:cNvSpPr txBox="1"/>
          <p:nvPr/>
        </p:nvSpPr>
        <p:spPr>
          <a:xfrm>
            <a:off x="4617720" y="3246120"/>
            <a:ext cx="2377440" cy="4572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the system SSH server</a:t>
            </a:r>
            <a:endParaRPr lang="en-US" sz="1200" dirty="0"/>
          </a:p>
        </p:txBody>
      </p:sp>
      <p:sp>
        <p:nvSpPr>
          <p:cNvPr id="19" name="box"/>
          <p:cNvSpPr/>
          <p:nvPr/>
        </p:nvSpPr>
        <p:spPr>
          <a:xfrm>
            <a:off x="548640" y="3931920"/>
            <a:ext cx="2743200" cy="731520"/>
          </a:xfrm>
          <a:prstGeom prst="roundRect">
            <a:avLst>
              <a:gd name="adj" fmla="val 10000"/>
            </a:avLst>
          </a:prstGeom>
          <a:solidFill>
            <a:srgbClr val="2A7F8E"/>
          </a:solidFill>
          <a:ln w="12700">
            <a:solidFill>
              <a:srgbClr val="2A7F8E"/>
            </a:solidFill>
            <a:prstDash val="solid"/>
          </a:ln>
        </p:spPr>
      </p:sp>
      <p:sp>
        <p:nvSpPr>
          <p:cNvPr id="20" name="Text 17"/>
          <p:cNvSpPr txBox="1"/>
          <p:nvPr/>
        </p:nvSpPr>
        <p:spPr>
          <a:xfrm>
            <a:off x="548640" y="3931920"/>
            <a:ext cx="2743200" cy="731520"/>
          </a:xfrm>
          <a:prstGeom prst="rect">
            <a:avLst/>
          </a:prstGeom>
          <a:noFill/>
          <a:ln/>
        </p:spPr>
        <p:txBody>
          <a:bodyPr wrap="square" lIns="635" tIns="635" rIns="635" bIns="635" rtlCol="0" anchor="ctr"/>
          <a:lstStyle/>
          <a:p>
            <a:pPr algn="ctr" indent="0" marL="0">
              <a:buNone/>
            </a:pPr>
            <a:r>
              <a:rPr lang="en-US" sz="1300" dirty="0">
                <a:solidFill>
                  <a:srgbClr val="FFFFFF"/>
                </a:solidFill>
                <a:latin typeface="Consolas" pitchFamily="34" charset="0"/>
                <a:ea typeface="Consolas" pitchFamily="34" charset="-122"/>
                <a:cs typeface="Consolas" pitchFamily="34" charset="-120"/>
              </a:rPr>
              <a:t>pyftpdlib</a:t>
            </a:r>
            <a:endParaRPr lang="en-US" sz="1300" dirty="0"/>
          </a:p>
        </p:txBody>
      </p:sp>
      <p:sp>
        <p:nvSpPr>
          <p:cNvPr id="21" name="box"/>
          <p:cNvSpPr/>
          <p:nvPr/>
        </p:nvSpPr>
        <p:spPr>
          <a:xfrm>
            <a:off x="3383280" y="3931920"/>
            <a:ext cx="1097280" cy="731520"/>
          </a:xfrm>
          <a:prstGeom prst="roundRect">
            <a:avLst>
              <a:gd name="adj" fmla="val 10000"/>
            </a:avLst>
          </a:prstGeom>
          <a:solidFill>
            <a:srgbClr val="F3EAD7"/>
          </a:solidFill>
          <a:ln w="12700">
            <a:solidFill>
              <a:srgbClr val="F3EAD7"/>
            </a:solidFill>
            <a:prstDash val="solid"/>
          </a:ln>
        </p:spPr>
      </p:sp>
      <p:sp>
        <p:nvSpPr>
          <p:cNvPr id="22" name="Text 19"/>
          <p:cNvSpPr txBox="1"/>
          <p:nvPr/>
        </p:nvSpPr>
        <p:spPr>
          <a:xfrm>
            <a:off x="3383280" y="3931920"/>
            <a:ext cx="1097280" cy="731520"/>
          </a:xfrm>
          <a:prstGeom prst="rect">
            <a:avLst/>
          </a:prstGeom>
          <a:noFill/>
          <a:ln/>
        </p:spPr>
        <p:txBody>
          <a:bodyPr wrap="square" lIns="635" tIns="635" rIns="635" bIns="635"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:2121</a:t>
            </a:r>
            <a:endParaRPr lang="en-US" sz="1300" dirty="0"/>
          </a:p>
        </p:txBody>
      </p:sp>
      <p:sp>
        <p:nvSpPr>
          <p:cNvPr id="23" name="Text 20"/>
          <p:cNvSpPr txBox="1"/>
          <p:nvPr/>
        </p:nvSpPr>
        <p:spPr>
          <a:xfrm>
            <a:off x="4617720" y="4114800"/>
            <a:ext cx="2377440" cy="4572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FTP server, user student</a:t>
            </a:r>
            <a:endParaRPr lang="en-US" sz="1200" dirty="0"/>
          </a:p>
        </p:txBody>
      </p:sp>
      <p:sp>
        <p:nvSpPr>
          <p:cNvPr id="24" name="box"/>
          <p:cNvSpPr/>
          <p:nvPr/>
        </p:nvSpPr>
        <p:spPr>
          <a:xfrm>
            <a:off x="7223760" y="1325880"/>
            <a:ext cx="4389120" cy="1508760"/>
          </a:xfrm>
          <a:prstGeom prst="roundRect">
            <a:avLst>
              <a:gd name="adj" fmla="val 4848"/>
            </a:avLst>
          </a:prstGeom>
          <a:solidFill>
            <a:srgbClr val="DDF0F2"/>
          </a:solidFill>
          <a:ln w="12700">
            <a:solidFill>
              <a:srgbClr val="DDF0F2"/>
            </a:solidFill>
            <a:prstDash val="solid"/>
          </a:ln>
        </p:spPr>
      </p:sp>
      <p:sp>
        <p:nvSpPr>
          <p:cNvPr id="25" name="Text 22"/>
          <p:cNvSpPr txBox="1"/>
          <p:nvPr/>
        </p:nvSpPr>
        <p:spPr>
          <a:xfrm>
            <a:off x="7223760" y="1325880"/>
            <a:ext cx="4389120" cy="1508760"/>
          </a:xfrm>
          <a:prstGeom prst="rect">
            <a:avLst/>
          </a:prstGeom>
          <a:noFill/>
          <a:ln/>
        </p:spPr>
        <p:txBody>
          <a:bodyPr wrap="square" lIns="635" tIns="635" rIns="635" bIns="635" rtlCol="0" anchor="ctr"/>
          <a:lstStyle/>
          <a:p>
            <a:pPr algn="ctr" indent="0" marL="0">
              <a:spcAft>
                <a:spcPts val="400"/>
              </a:spcAft>
              <a:buNone/>
            </a:pPr>
            <a:r>
              <a:rPr lang="en-US" sz="1300" b="1" dirty="0">
                <a:solidFill>
                  <a:srgbClr val="1B2430"/>
                </a:solidFill>
              </a:rPr>
              <a:t>clients</a:t>
            </a:r>
            <a:endParaRPr lang="en-US" sz="1300" dirty="0"/>
          </a:p>
          <a:p>
            <a:pPr algn="ctr" indent="0" marL="0">
              <a:spcAft>
                <a:spcPts val="400"/>
              </a:spcAft>
              <a:buNone/>
            </a:pPr>
            <a:r>
              <a:rPr lang="en-US" sz="1300" dirty="0">
                <a:solidFill>
                  <a:srgbClr val="1B2430"/>
                </a:solidFill>
              </a:rPr>
              <a:t>curl · openssl · telnet · nc · ssh · scp · sftp · ftp · ftp_client (yours)</a:t>
            </a:r>
            <a:endParaRPr lang="en-US" sz="1300" dirty="0"/>
          </a:p>
        </p:txBody>
      </p:sp>
      <p:sp>
        <p:nvSpPr>
          <p:cNvPr id="26" name="box"/>
          <p:cNvSpPr/>
          <p:nvPr/>
        </p:nvSpPr>
        <p:spPr>
          <a:xfrm>
            <a:off x="7223760" y="3063240"/>
            <a:ext cx="4389120" cy="1508760"/>
          </a:xfrm>
          <a:prstGeom prst="roundRect">
            <a:avLst>
              <a:gd name="adj" fmla="val 4848"/>
            </a:avLst>
          </a:prstGeom>
          <a:solidFill>
            <a:srgbClr val="F3EAD7"/>
          </a:solidFill>
          <a:ln w="12700">
            <a:solidFill>
              <a:srgbClr val="F3EAD7"/>
            </a:solidFill>
            <a:prstDash val="solid"/>
          </a:ln>
        </p:spPr>
      </p:sp>
      <p:sp>
        <p:nvSpPr>
          <p:cNvPr id="27" name="Text 24"/>
          <p:cNvSpPr txBox="1"/>
          <p:nvPr/>
        </p:nvSpPr>
        <p:spPr>
          <a:xfrm>
            <a:off x="7223760" y="3063240"/>
            <a:ext cx="4389120" cy="1508760"/>
          </a:xfrm>
          <a:prstGeom prst="rect">
            <a:avLst/>
          </a:prstGeom>
          <a:noFill/>
          <a:ln/>
        </p:spPr>
        <p:txBody>
          <a:bodyPr wrap="square" lIns="635" tIns="635" rIns="635" bIns="635" rtlCol="0" anchor="ctr"/>
          <a:lstStyle/>
          <a:p>
            <a:pPr algn="ctr" indent="0" marL="0">
              <a:spcAft>
                <a:spcPts val="400"/>
              </a:spcAft>
              <a:buNone/>
            </a:pPr>
            <a:r>
              <a:rPr lang="en-US" sz="1300" b="1" dirty="0">
                <a:solidFill>
                  <a:srgbClr val="1B2430"/>
                </a:solidFill>
              </a:rPr>
              <a:t>observers</a:t>
            </a:r>
            <a:endParaRPr lang="en-US" sz="1300" dirty="0"/>
          </a:p>
          <a:p>
            <a:pPr algn="ctr" indent="0" marL="0">
              <a:spcAft>
                <a:spcPts val="400"/>
              </a:spcAft>
              <a:buNone/>
            </a:pPr>
            <a:r>
              <a:rPr lang="en-US" sz="1300" dirty="0">
                <a:solidFill>
                  <a:srgbClr val="1B2430"/>
                </a:solidFill>
              </a:rPr>
              <a:t>tcpdump -i lo -A · ss -tn · watch</a:t>
            </a:r>
            <a:endParaRPr lang="en-US" sz="1300" dirty="0"/>
          </a:p>
        </p:txBody>
      </p:sp>
      <p:sp>
        <p:nvSpPr>
          <p:cNvPr id="28" name="Text 25"/>
          <p:cNvSpPr txBox="1"/>
          <p:nvPr/>
        </p:nvSpPr>
        <p:spPr>
          <a:xfrm>
            <a:off x="548640" y="4937760"/>
            <a:ext cx="11064240" cy="640080"/>
          </a:xfrm>
          <a:prstGeom prst="rect">
            <a:avLst/>
          </a:prstGeom>
          <a:noFill/>
          <a:ln/>
        </p:spPr>
        <p:txBody>
          <a:bodyPr wrap="square" lIns="0" tIns="0" rIns="0" bIns="0" rtlCol="0" anchor="t"/>
          <a:lstStyle/>
          <a:p>
            <a:pPr algn="l" indent="0" marL="0">
              <a:spcAft>
                <a:spcPts val="400"/>
              </a:spcAft>
              <a:buNone/>
            </a:pPr>
            <a:r>
              <a:rPr lang="en-US" sz="1200" dirty="0">
                <a:solidFill>
                  <a:srgbClr val="5B6770"/>
                </a:solidFill>
                <a:latin typeface="Consolas" pitchFamily="34" charset="0"/>
                <a:ea typeface="Consolas" pitchFamily="34" charset="-122"/>
                <a:cs typeface="Consolas" pitchFamily="34" charset="-120"/>
              </a:rPr>
              <a:t>apt: build-essential curl openssl telnet tcpdump openssh-client openssh-server inetutils-ftp python3-pyftpdlib · build: make -C linux</a:t>
            </a:r>
            <a:endParaRPr lang="en-US" sz="1200" dirty="0"/>
          </a:p>
        </p:txBody>
      </p:sp>
      <p:sp>
        <p:nvSpPr>
          <p:cNvPr id="29"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0" name="Text 27"/>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Three terminals per task: a server, a client, and an observer that shows what really crossed the wire.</a:t>
            </a:r>
            <a:endParaRPr lang="en-US" sz="1400" dirty="0"/>
          </a:p>
        </p:txBody>
      </p:sp>
      <p:sp>
        <p:nvSpPr>
          <p:cNvPr id="31" name="Text 28"/>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SSH (Secure Shell) · FTP (File Transfer Protocol) · scp (secure copy) · ss (socket statistics)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1 · Following a cookie and a conditional GET with curl</a:t>
            </a:r>
            <a:endParaRPr lang="en-US" sz="3000" dirty="0"/>
          </a:p>
        </p:txBody>
      </p:sp>
      <p:sp>
        <p:nvSpPr>
          <p:cNvPr id="4" name="code"/>
          <p:cNvSpPr/>
          <p:nvPr/>
        </p:nvSpPr>
        <p:spPr>
          <a:xfrm>
            <a:off x="548640" y="1280160"/>
            <a:ext cx="6035040" cy="2423160"/>
          </a:xfrm>
          <a:prstGeom prst="rect">
            <a:avLst/>
          </a:prstGeom>
          <a:solidFill>
            <a:srgbClr val="1E2A38"/>
          </a:solidFill>
          <a:ln w="12700">
            <a:solidFill>
              <a:srgbClr val="1E2A38"/>
            </a:solidFill>
            <a:prstDash val="solid"/>
          </a:ln>
        </p:spPr>
      </p:sp>
      <p:sp>
        <p:nvSpPr>
          <p:cNvPr id="5" name="Text 2"/>
          <p:cNvSpPr txBox="1"/>
          <p:nvPr/>
        </p:nvSpPr>
        <p:spPr>
          <a:xfrm>
            <a:off x="548640" y="1280160"/>
            <a:ext cx="6035040" cy="242316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curl -i http://127.0.0.1:8000/</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curl -c jar.txt -b jar.txt http://127.0.0.1:8000/</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cat jar.txt</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curl -i http://127.0.0.1:8000/notes.txt</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curl -i -H 'If-None-Match: "&lt;ETag&gt;"' \</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     http://127.0.0.1:8000/notes.txt</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curl -X POST http://127.0.0.1:8000/touch</a:t>
            </a:r>
            <a:endParaRPr lang="en-US" sz="1200" dirty="0"/>
          </a:p>
        </p:txBody>
      </p:sp>
      <p:sp>
        <p:nvSpPr>
          <p:cNvPr id="6" name="box"/>
          <p:cNvSpPr/>
          <p:nvPr/>
        </p:nvSpPr>
        <p:spPr>
          <a:xfrm>
            <a:off x="6858000" y="1280160"/>
            <a:ext cx="2194560" cy="530352"/>
          </a:xfrm>
          <a:prstGeom prst="roundRect">
            <a:avLst>
              <a:gd name="adj" fmla="val 13793"/>
            </a:avLst>
          </a:prstGeom>
          <a:solidFill>
            <a:srgbClr val="2A7F8E"/>
          </a:solidFill>
          <a:ln w="12700">
            <a:solidFill>
              <a:srgbClr val="2A7F8E"/>
            </a:solidFill>
            <a:prstDash val="solid"/>
          </a:ln>
        </p:spPr>
      </p:sp>
      <p:sp>
        <p:nvSpPr>
          <p:cNvPr id="7" name="Text 4"/>
          <p:cNvSpPr txBox="1"/>
          <p:nvPr/>
        </p:nvSpPr>
        <p:spPr>
          <a:xfrm>
            <a:off x="6858000" y="1280160"/>
            <a:ext cx="2194560" cy="530352"/>
          </a:xfrm>
          <a:prstGeom prst="rect">
            <a:avLst/>
          </a:prstGeom>
          <a:noFill/>
          <a:ln/>
        </p:spPr>
        <p:txBody>
          <a:bodyPr wrap="square" lIns="635" tIns="635" rIns="635" bIns="635" rtlCol="0" anchor="ctr"/>
          <a:lstStyle/>
          <a:p>
            <a:pPr algn="ctr" indent="0" marL="0">
              <a:buNone/>
            </a:pPr>
            <a:r>
              <a:rPr lang="en-US" sz="1100" dirty="0">
                <a:solidFill>
                  <a:srgbClr val="FFFFFF"/>
                </a:solidFill>
              </a:rPr>
              <a:t>1st visit</a:t>
            </a:r>
            <a:endParaRPr lang="en-US" sz="1100" dirty="0"/>
          </a:p>
        </p:txBody>
      </p:sp>
      <p:sp>
        <p:nvSpPr>
          <p:cNvPr id="8" name="Text 5"/>
          <p:cNvSpPr txBox="1"/>
          <p:nvPr/>
        </p:nvSpPr>
        <p:spPr>
          <a:xfrm>
            <a:off x="9144000" y="1371600"/>
            <a:ext cx="2468880" cy="45720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latin typeface="Consolas" pitchFamily="34" charset="0"/>
                <a:ea typeface="Consolas" pitchFamily="34" charset="-122"/>
                <a:cs typeface="Consolas" pitchFamily="34" charset="-120"/>
              </a:rPr>
              <a:t>Set-Cookie: session=…</a:t>
            </a:r>
            <a:endParaRPr lang="en-US" sz="1100" dirty="0"/>
          </a:p>
        </p:txBody>
      </p:sp>
      <p:sp>
        <p:nvSpPr>
          <p:cNvPr id="9" name="box"/>
          <p:cNvSpPr/>
          <p:nvPr/>
        </p:nvSpPr>
        <p:spPr>
          <a:xfrm>
            <a:off x="6858000" y="1901952"/>
            <a:ext cx="2194560" cy="530352"/>
          </a:xfrm>
          <a:prstGeom prst="roundRect">
            <a:avLst>
              <a:gd name="adj" fmla="val 13793"/>
            </a:avLst>
          </a:prstGeom>
          <a:solidFill>
            <a:srgbClr val="1F3A5F"/>
          </a:solidFill>
          <a:ln w="12700">
            <a:solidFill>
              <a:srgbClr val="1F3A5F"/>
            </a:solidFill>
            <a:prstDash val="solid"/>
          </a:ln>
        </p:spPr>
      </p:sp>
      <p:sp>
        <p:nvSpPr>
          <p:cNvPr id="10" name="Text 7"/>
          <p:cNvSpPr txBox="1"/>
          <p:nvPr/>
        </p:nvSpPr>
        <p:spPr>
          <a:xfrm>
            <a:off x="6858000" y="1901952"/>
            <a:ext cx="2194560" cy="530352"/>
          </a:xfrm>
          <a:prstGeom prst="rect">
            <a:avLst/>
          </a:prstGeom>
          <a:noFill/>
          <a:ln/>
        </p:spPr>
        <p:txBody>
          <a:bodyPr wrap="square" lIns="635" tIns="635" rIns="635" bIns="635" rtlCol="0" anchor="ctr"/>
          <a:lstStyle/>
          <a:p>
            <a:pPr algn="ctr" indent="0" marL="0">
              <a:buNone/>
            </a:pPr>
            <a:r>
              <a:rPr lang="en-US" sz="1100" dirty="0">
                <a:solidFill>
                  <a:srgbClr val="FFFFFF"/>
                </a:solidFill>
              </a:rPr>
              <a:t>visits 2, 3</a:t>
            </a:r>
            <a:endParaRPr lang="en-US" sz="1100" dirty="0"/>
          </a:p>
        </p:txBody>
      </p:sp>
      <p:sp>
        <p:nvSpPr>
          <p:cNvPr id="11" name="Text 8"/>
          <p:cNvSpPr txBox="1"/>
          <p:nvPr/>
        </p:nvSpPr>
        <p:spPr>
          <a:xfrm>
            <a:off x="9144000" y="1993392"/>
            <a:ext cx="2468880" cy="45720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latin typeface="Consolas" pitchFamily="34" charset="0"/>
                <a:ea typeface="Consolas" pitchFamily="34" charset="-122"/>
                <a:cs typeface="Consolas" pitchFamily="34" charset="-120"/>
              </a:rPr>
              <a:t>Cookie: session=… → count 2, 3</a:t>
            </a:r>
            <a:endParaRPr lang="en-US" sz="1100" dirty="0"/>
          </a:p>
        </p:txBody>
      </p:sp>
      <p:sp>
        <p:nvSpPr>
          <p:cNvPr id="12" name="box"/>
          <p:cNvSpPr/>
          <p:nvPr/>
        </p:nvSpPr>
        <p:spPr>
          <a:xfrm>
            <a:off x="6858000" y="2523744"/>
            <a:ext cx="2194560" cy="530352"/>
          </a:xfrm>
          <a:prstGeom prst="roundRect">
            <a:avLst>
              <a:gd name="adj" fmla="val 13793"/>
            </a:avLst>
          </a:prstGeom>
          <a:solidFill>
            <a:srgbClr val="2E7D4F"/>
          </a:solidFill>
          <a:ln w="12700">
            <a:solidFill>
              <a:srgbClr val="2E7D4F"/>
            </a:solidFill>
            <a:prstDash val="solid"/>
          </a:ln>
        </p:spPr>
      </p:sp>
      <p:sp>
        <p:nvSpPr>
          <p:cNvPr id="13" name="Text 10"/>
          <p:cNvSpPr txBox="1"/>
          <p:nvPr/>
        </p:nvSpPr>
        <p:spPr>
          <a:xfrm>
            <a:off x="6858000" y="2523744"/>
            <a:ext cx="2194560" cy="530352"/>
          </a:xfrm>
          <a:prstGeom prst="rect">
            <a:avLst/>
          </a:prstGeom>
          <a:noFill/>
          <a:ln/>
        </p:spPr>
        <p:txBody>
          <a:bodyPr wrap="square" lIns="635" tIns="635" rIns="635" bIns="635" rtlCol="0" anchor="ctr"/>
          <a:lstStyle/>
          <a:p>
            <a:pPr algn="ctr" indent="0" marL="0">
              <a:buNone/>
            </a:pPr>
            <a:r>
              <a:rPr lang="en-US" sz="1100" dirty="0">
                <a:solidFill>
                  <a:srgbClr val="FFFFFF"/>
                </a:solidFill>
              </a:rPr>
              <a:t>If-None-Match, same ETag</a:t>
            </a:r>
            <a:endParaRPr lang="en-US" sz="1100" dirty="0"/>
          </a:p>
        </p:txBody>
      </p:sp>
      <p:sp>
        <p:nvSpPr>
          <p:cNvPr id="14" name="Text 11"/>
          <p:cNvSpPr txBox="1"/>
          <p:nvPr/>
        </p:nvSpPr>
        <p:spPr>
          <a:xfrm>
            <a:off x="9144000" y="2615184"/>
            <a:ext cx="2468880" cy="45720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latin typeface="Consolas" pitchFamily="34" charset="0"/>
                <a:ea typeface="Consolas" pitchFamily="34" charset="-122"/>
                <a:cs typeface="Consolas" pitchFamily="34" charset="-120"/>
              </a:rPr>
              <a:t>304 Not Modified · 0 bytes</a:t>
            </a:r>
            <a:endParaRPr lang="en-US" sz="1100" dirty="0"/>
          </a:p>
        </p:txBody>
      </p:sp>
      <p:sp>
        <p:nvSpPr>
          <p:cNvPr id="15" name="box"/>
          <p:cNvSpPr/>
          <p:nvPr/>
        </p:nvSpPr>
        <p:spPr>
          <a:xfrm>
            <a:off x="6858000" y="3145536"/>
            <a:ext cx="2194560" cy="530352"/>
          </a:xfrm>
          <a:prstGeom prst="roundRect">
            <a:avLst>
              <a:gd name="adj" fmla="val 13793"/>
            </a:avLst>
          </a:prstGeom>
          <a:solidFill>
            <a:srgbClr val="B9772A"/>
          </a:solidFill>
          <a:ln w="12700">
            <a:solidFill>
              <a:srgbClr val="B9772A"/>
            </a:solidFill>
            <a:prstDash val="solid"/>
          </a:ln>
        </p:spPr>
      </p:sp>
      <p:sp>
        <p:nvSpPr>
          <p:cNvPr id="16" name="Text 13"/>
          <p:cNvSpPr txBox="1"/>
          <p:nvPr/>
        </p:nvSpPr>
        <p:spPr>
          <a:xfrm>
            <a:off x="6858000" y="3145536"/>
            <a:ext cx="2194560" cy="530352"/>
          </a:xfrm>
          <a:prstGeom prst="rect">
            <a:avLst/>
          </a:prstGeom>
          <a:noFill/>
          <a:ln/>
        </p:spPr>
        <p:txBody>
          <a:bodyPr wrap="square" lIns="635" tIns="635" rIns="635" bIns="635" rtlCol="0" anchor="ctr"/>
          <a:lstStyle/>
          <a:p>
            <a:pPr algn="ctr" indent="0" marL="0">
              <a:buNone/>
            </a:pPr>
            <a:r>
              <a:rPr lang="en-US" sz="1100" dirty="0">
                <a:solidFill>
                  <a:srgbClr val="FFFFFF"/>
                </a:solidFill>
              </a:rPr>
              <a:t>after POST /touch</a:t>
            </a:r>
            <a:endParaRPr lang="en-US" sz="1100" dirty="0"/>
          </a:p>
        </p:txBody>
      </p:sp>
      <p:sp>
        <p:nvSpPr>
          <p:cNvPr id="17" name="Text 14"/>
          <p:cNvSpPr txBox="1"/>
          <p:nvPr/>
        </p:nvSpPr>
        <p:spPr>
          <a:xfrm>
            <a:off x="9144000" y="3236976"/>
            <a:ext cx="2468880" cy="45720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latin typeface="Consolas" pitchFamily="34" charset="0"/>
                <a:ea typeface="Consolas" pitchFamily="34" charset="-122"/>
                <a:cs typeface="Consolas" pitchFamily="34" charset="-120"/>
              </a:rPr>
              <a:t>200 OK · new ETag · body</a:t>
            </a:r>
            <a:endParaRPr lang="en-US" sz="1100" dirty="0"/>
          </a:p>
        </p:txBody>
      </p:sp>
      <p:sp>
        <p:nvSpPr>
          <p:cNvPr id="18" name="Shape 15"/>
          <p:cNvSpPr/>
          <p:nvPr/>
        </p:nvSpPr>
        <p:spPr>
          <a:xfrm>
            <a:off x="548640" y="3995928"/>
            <a:ext cx="384048" cy="384048"/>
          </a:xfrm>
          <a:prstGeom prst="ellipse">
            <a:avLst/>
          </a:prstGeom>
          <a:solidFill>
            <a:srgbClr val="B9772A"/>
          </a:solidFill>
          <a:ln w="12700">
            <a:solidFill>
              <a:srgbClr val="B9772A"/>
            </a:solidFill>
            <a:prstDash val="solid"/>
          </a:ln>
        </p:spPr>
      </p:sp>
      <p:sp>
        <p:nvSpPr>
          <p:cNvPr id="19" name="Text 16"/>
          <p:cNvSpPr txBox="1"/>
          <p:nvPr/>
        </p:nvSpPr>
        <p:spPr>
          <a:xfrm>
            <a:off x="548640" y="3995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0" name="Text 17"/>
          <p:cNvSpPr txBox="1"/>
          <p:nvPr/>
        </p:nvSpPr>
        <p:spPr>
          <a:xfrm>
            <a:off x="1051560" y="3977640"/>
            <a:ext cx="4983480" cy="15544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Q1 · The counter lives </a:t>
            </a:r>
            <a:r>
              <a:rPr lang="en-US" sz="1300" b="1" dirty="0">
                <a:solidFill>
                  <a:srgbClr val="1B2430"/>
                </a:solidFill>
              </a:rPr>
              <a:t>on the server</a:t>
            </a:r>
            <a:r>
              <a:rPr lang="en-US" sz="1300" dirty="0">
                <a:solidFill>
                  <a:srgbClr val="1B2430"/>
                </a:solidFill>
              </a:rPr>
              <a:t>; delete jar.txt and you are a new visitor.</a:t>
            </a:r>
            <a:endParaRPr lang="en-US" sz="1300" dirty="0"/>
          </a:p>
        </p:txBody>
      </p:sp>
      <p:sp>
        <p:nvSpPr>
          <p:cNvPr id="21" name="Shape 18"/>
          <p:cNvSpPr/>
          <p:nvPr/>
        </p:nvSpPr>
        <p:spPr>
          <a:xfrm>
            <a:off x="6217920" y="3995928"/>
            <a:ext cx="384048" cy="384048"/>
          </a:xfrm>
          <a:prstGeom prst="ellipse">
            <a:avLst/>
          </a:prstGeom>
          <a:solidFill>
            <a:srgbClr val="B9772A"/>
          </a:solidFill>
          <a:ln w="12700">
            <a:solidFill>
              <a:srgbClr val="B9772A"/>
            </a:solidFill>
            <a:prstDash val="solid"/>
          </a:ln>
        </p:spPr>
      </p:sp>
      <p:sp>
        <p:nvSpPr>
          <p:cNvPr id="22" name="Text 19"/>
          <p:cNvSpPr txBox="1"/>
          <p:nvPr/>
        </p:nvSpPr>
        <p:spPr>
          <a:xfrm>
            <a:off x="6217920" y="3995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3" name="Text 20"/>
          <p:cNvSpPr txBox="1"/>
          <p:nvPr/>
        </p:nvSpPr>
        <p:spPr>
          <a:xfrm>
            <a:off x="6720840" y="3977640"/>
            <a:ext cx="4892040" cy="15544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Q2 · 304 with no body before /touch; 200 with the new body after it.</a:t>
            </a:r>
            <a:endParaRPr lang="en-US" sz="1300" dirty="0"/>
          </a:p>
        </p:txBody>
      </p:sp>
      <p:sp>
        <p:nvSpPr>
          <p:cNvPr id="2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5" name="Text 2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curl’s cookie jar plays the browser; the server’s dictionary is the database.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2 · Inside an HTTPS connection</a:t>
            </a:r>
            <a:endParaRPr lang="en-US" sz="3000" dirty="0"/>
          </a:p>
        </p:txBody>
      </p:sp>
      <p:sp>
        <p:nvSpPr>
          <p:cNvPr id="4" name="code"/>
          <p:cNvSpPr/>
          <p:nvPr/>
        </p:nvSpPr>
        <p:spPr>
          <a:xfrm>
            <a:off x="548640" y="1280160"/>
            <a:ext cx="6675120" cy="2377440"/>
          </a:xfrm>
          <a:prstGeom prst="rect">
            <a:avLst/>
          </a:prstGeom>
          <a:solidFill>
            <a:srgbClr val="1E2A38"/>
          </a:solidFill>
          <a:ln w="12700">
            <a:solidFill>
              <a:srgbClr val="1E2A38"/>
            </a:solidFill>
            <a:prstDash val="solid"/>
          </a:ln>
        </p:spPr>
      </p:sp>
      <p:sp>
        <p:nvSpPr>
          <p:cNvPr id="5" name="Text 2"/>
          <p:cNvSpPr txBox="1"/>
          <p:nvPr/>
        </p:nvSpPr>
        <p:spPr>
          <a:xfrm>
            <a:off x="548640" y="1280160"/>
            <a:ext cx="6675120" cy="237744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curl -v https://example.org/ -o /dev/null 2&gt;&amp;1 | grep '^\*'</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curl -sI --http2 https://example.org/ | head -1</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S=example.org</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openssl s_client -connect $S:443 -servername $S -brief</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openssl s_client … -showcerts | grep -E '^ *[0-9] s:|^ *i:'</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sudo tcpdump -i any -n -A -c 6 'tcp port 443'</a:t>
            </a:r>
            <a:endParaRPr lang="en-US" sz="1200" dirty="0"/>
          </a:p>
        </p:txBody>
      </p:sp>
      <p:sp>
        <p:nvSpPr>
          <p:cNvPr id="6" name="box"/>
          <p:cNvSpPr/>
          <p:nvPr/>
        </p:nvSpPr>
        <p:spPr>
          <a:xfrm>
            <a:off x="7498080" y="1280160"/>
            <a:ext cx="2560320" cy="512064"/>
          </a:xfrm>
          <a:prstGeom prst="roundRect">
            <a:avLst>
              <a:gd name="adj" fmla="val 14286"/>
            </a:avLst>
          </a:prstGeom>
          <a:solidFill>
            <a:srgbClr val="F3EAD7"/>
          </a:solidFill>
          <a:ln w="12700">
            <a:solidFill>
              <a:srgbClr val="F3EAD7"/>
            </a:solidFill>
            <a:prstDash val="solid"/>
          </a:ln>
        </p:spPr>
      </p:sp>
      <p:sp>
        <p:nvSpPr>
          <p:cNvPr id="7" name="Text 4"/>
          <p:cNvSpPr txBox="1"/>
          <p:nvPr/>
        </p:nvSpPr>
        <p:spPr>
          <a:xfrm>
            <a:off x="7498080" y="1280160"/>
            <a:ext cx="2560320" cy="512064"/>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TLSv1.3</a:t>
            </a:r>
            <a:endParaRPr lang="en-US" sz="1100" dirty="0"/>
          </a:p>
        </p:txBody>
      </p:sp>
      <p:sp>
        <p:nvSpPr>
          <p:cNvPr id="8" name="Text 5"/>
          <p:cNvSpPr txBox="1"/>
          <p:nvPr/>
        </p:nvSpPr>
        <p:spPr>
          <a:xfrm>
            <a:off x="10149840" y="1371600"/>
            <a:ext cx="1463040" cy="41148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protocol</a:t>
            </a:r>
            <a:endParaRPr lang="en-US" sz="1100" dirty="0"/>
          </a:p>
        </p:txBody>
      </p:sp>
      <p:sp>
        <p:nvSpPr>
          <p:cNvPr id="9" name="box"/>
          <p:cNvSpPr/>
          <p:nvPr/>
        </p:nvSpPr>
        <p:spPr>
          <a:xfrm>
            <a:off x="7498080" y="1883664"/>
            <a:ext cx="2560320" cy="512064"/>
          </a:xfrm>
          <a:prstGeom prst="roundRect">
            <a:avLst>
              <a:gd name="adj" fmla="val 14286"/>
            </a:avLst>
          </a:prstGeom>
          <a:solidFill>
            <a:srgbClr val="F3EAD7"/>
          </a:solidFill>
          <a:ln w="12700">
            <a:solidFill>
              <a:srgbClr val="F3EAD7"/>
            </a:solidFill>
            <a:prstDash val="solid"/>
          </a:ln>
        </p:spPr>
      </p:sp>
      <p:sp>
        <p:nvSpPr>
          <p:cNvPr id="10" name="Text 7"/>
          <p:cNvSpPr txBox="1"/>
          <p:nvPr/>
        </p:nvSpPr>
        <p:spPr>
          <a:xfrm>
            <a:off x="7498080" y="1883664"/>
            <a:ext cx="2560320" cy="512064"/>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TLS_AES_256_GCM_SHA384</a:t>
            </a:r>
            <a:endParaRPr lang="en-US" sz="1100" dirty="0"/>
          </a:p>
        </p:txBody>
      </p:sp>
      <p:sp>
        <p:nvSpPr>
          <p:cNvPr id="11" name="Text 8"/>
          <p:cNvSpPr txBox="1"/>
          <p:nvPr/>
        </p:nvSpPr>
        <p:spPr>
          <a:xfrm>
            <a:off x="10149840" y="1975104"/>
            <a:ext cx="1463040" cy="41148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cipher suite</a:t>
            </a:r>
            <a:endParaRPr lang="en-US" sz="1100" dirty="0"/>
          </a:p>
        </p:txBody>
      </p:sp>
      <p:sp>
        <p:nvSpPr>
          <p:cNvPr id="12" name="box"/>
          <p:cNvSpPr/>
          <p:nvPr/>
        </p:nvSpPr>
        <p:spPr>
          <a:xfrm>
            <a:off x="7498080" y="2487168"/>
            <a:ext cx="2560320" cy="512064"/>
          </a:xfrm>
          <a:prstGeom prst="roundRect">
            <a:avLst>
              <a:gd name="adj" fmla="val 14286"/>
            </a:avLst>
          </a:prstGeom>
          <a:solidFill>
            <a:srgbClr val="F3EAD7"/>
          </a:solidFill>
          <a:ln w="12700">
            <a:solidFill>
              <a:srgbClr val="F3EAD7"/>
            </a:solidFill>
            <a:prstDash val="solid"/>
          </a:ln>
        </p:spPr>
      </p:sp>
      <p:sp>
        <p:nvSpPr>
          <p:cNvPr id="13" name="Text 10"/>
          <p:cNvSpPr txBox="1"/>
          <p:nvPr/>
        </p:nvSpPr>
        <p:spPr>
          <a:xfrm>
            <a:off x="7498080" y="2487168"/>
            <a:ext cx="2560320" cy="512064"/>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X25519</a:t>
            </a:r>
            <a:endParaRPr lang="en-US" sz="1100" dirty="0"/>
          </a:p>
        </p:txBody>
      </p:sp>
      <p:sp>
        <p:nvSpPr>
          <p:cNvPr id="14" name="Text 11"/>
          <p:cNvSpPr txBox="1"/>
          <p:nvPr/>
        </p:nvSpPr>
        <p:spPr>
          <a:xfrm>
            <a:off x="10149840" y="2578608"/>
            <a:ext cx="1463040" cy="41148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key-exchange group</a:t>
            </a:r>
            <a:endParaRPr lang="en-US" sz="1100" dirty="0"/>
          </a:p>
        </p:txBody>
      </p:sp>
      <p:sp>
        <p:nvSpPr>
          <p:cNvPr id="15" name="box"/>
          <p:cNvSpPr/>
          <p:nvPr/>
        </p:nvSpPr>
        <p:spPr>
          <a:xfrm>
            <a:off x="7498080" y="3090672"/>
            <a:ext cx="2560320" cy="512064"/>
          </a:xfrm>
          <a:prstGeom prst="roundRect">
            <a:avLst>
              <a:gd name="adj" fmla="val 14286"/>
            </a:avLst>
          </a:prstGeom>
          <a:solidFill>
            <a:srgbClr val="F3EAD7"/>
          </a:solidFill>
          <a:ln w="12700">
            <a:solidFill>
              <a:srgbClr val="F3EAD7"/>
            </a:solidFill>
            <a:prstDash val="solid"/>
          </a:ln>
        </p:spPr>
      </p:sp>
      <p:sp>
        <p:nvSpPr>
          <p:cNvPr id="16" name="Text 13"/>
          <p:cNvSpPr txBox="1"/>
          <p:nvPr/>
        </p:nvSpPr>
        <p:spPr>
          <a:xfrm>
            <a:off x="7498080" y="3090672"/>
            <a:ext cx="2560320" cy="512064"/>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HTTP/2</a:t>
            </a:r>
            <a:endParaRPr lang="en-US" sz="1100" dirty="0"/>
          </a:p>
        </p:txBody>
      </p:sp>
      <p:sp>
        <p:nvSpPr>
          <p:cNvPr id="17" name="Text 14"/>
          <p:cNvSpPr txBox="1"/>
          <p:nvPr/>
        </p:nvSpPr>
        <p:spPr>
          <a:xfrm>
            <a:off x="10149840" y="3182112"/>
            <a:ext cx="1463040" cy="41148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application protocol</a:t>
            </a:r>
            <a:endParaRPr lang="en-US" sz="1100" dirty="0"/>
          </a:p>
        </p:txBody>
      </p:sp>
      <p:sp>
        <p:nvSpPr>
          <p:cNvPr id="18" name="box"/>
          <p:cNvSpPr/>
          <p:nvPr/>
        </p:nvSpPr>
        <p:spPr>
          <a:xfrm>
            <a:off x="548640" y="3886200"/>
            <a:ext cx="3566160" cy="548640"/>
          </a:xfrm>
          <a:prstGeom prst="roundRect">
            <a:avLst>
              <a:gd name="adj" fmla="val 13333"/>
            </a:avLst>
          </a:prstGeom>
          <a:solidFill>
            <a:srgbClr val="B9772A"/>
          </a:solidFill>
          <a:ln w="12700">
            <a:solidFill>
              <a:srgbClr val="B9772A"/>
            </a:solidFill>
            <a:prstDash val="solid"/>
          </a:ln>
        </p:spPr>
      </p:sp>
      <p:sp>
        <p:nvSpPr>
          <p:cNvPr id="19" name="Text 16"/>
          <p:cNvSpPr txBox="1"/>
          <p:nvPr/>
        </p:nvSpPr>
        <p:spPr>
          <a:xfrm>
            <a:off x="548640" y="3886200"/>
            <a:ext cx="3566160" cy="548640"/>
          </a:xfrm>
          <a:prstGeom prst="rect">
            <a:avLst/>
          </a:prstGeom>
          <a:noFill/>
          <a:ln/>
        </p:spPr>
        <p:txBody>
          <a:bodyPr wrap="square" lIns="635" tIns="635" rIns="635" bIns="635" rtlCol="0" anchor="ctr"/>
          <a:lstStyle/>
          <a:p>
            <a:pPr algn="ctr" indent="0" marL="0">
              <a:buNone/>
            </a:pPr>
            <a:r>
              <a:rPr lang="en-US" sz="1200" dirty="0">
                <a:solidFill>
                  <a:srgbClr val="FFFFFF"/>
                </a:solidFill>
              </a:rPr>
              <a:t>0 s: example.org</a:t>
            </a:r>
            <a:endParaRPr lang="en-US" sz="1200" dirty="0"/>
          </a:p>
        </p:txBody>
      </p:sp>
      <p:sp>
        <p:nvSpPr>
          <p:cNvPr id="20" name="box"/>
          <p:cNvSpPr/>
          <p:nvPr/>
        </p:nvSpPr>
        <p:spPr>
          <a:xfrm>
            <a:off x="4297680" y="3886200"/>
            <a:ext cx="3566160" cy="548640"/>
          </a:xfrm>
          <a:prstGeom prst="roundRect">
            <a:avLst>
              <a:gd name="adj" fmla="val 13333"/>
            </a:avLst>
          </a:prstGeom>
          <a:solidFill>
            <a:srgbClr val="2A7F8E"/>
          </a:solidFill>
          <a:ln w="12700">
            <a:solidFill>
              <a:srgbClr val="2A7F8E"/>
            </a:solidFill>
            <a:prstDash val="solid"/>
          </a:ln>
        </p:spPr>
      </p:sp>
      <p:sp>
        <p:nvSpPr>
          <p:cNvPr id="21" name="Text 18"/>
          <p:cNvSpPr txBox="1"/>
          <p:nvPr/>
        </p:nvSpPr>
        <p:spPr>
          <a:xfrm>
            <a:off x="4297680" y="3886200"/>
            <a:ext cx="3566160" cy="548640"/>
          </a:xfrm>
          <a:prstGeom prst="rect">
            <a:avLst/>
          </a:prstGeom>
          <a:noFill/>
          <a:ln/>
        </p:spPr>
        <p:txBody>
          <a:bodyPr wrap="square" lIns="635" tIns="635" rIns="635" bIns="635" rtlCol="0" anchor="ctr"/>
          <a:lstStyle/>
          <a:p>
            <a:pPr algn="ctr" indent="0" marL="0">
              <a:buNone/>
            </a:pPr>
            <a:r>
              <a:rPr lang="en-US" sz="1200" dirty="0">
                <a:solidFill>
                  <a:srgbClr val="FFFFFF"/>
                </a:solidFill>
              </a:rPr>
              <a:t>1 s: intermediate CA</a:t>
            </a:r>
            <a:endParaRPr lang="en-US" sz="1200" dirty="0"/>
          </a:p>
        </p:txBody>
      </p:sp>
      <p:sp>
        <p:nvSpPr>
          <p:cNvPr id="22" name="box"/>
          <p:cNvSpPr/>
          <p:nvPr/>
        </p:nvSpPr>
        <p:spPr>
          <a:xfrm>
            <a:off x="8046720" y="3886200"/>
            <a:ext cx="3566160" cy="548640"/>
          </a:xfrm>
          <a:prstGeom prst="roundRect">
            <a:avLst>
              <a:gd name="adj" fmla="val 13333"/>
            </a:avLst>
          </a:prstGeom>
          <a:solidFill>
            <a:srgbClr val="1F3A5F"/>
          </a:solidFill>
          <a:ln w="12700">
            <a:solidFill>
              <a:srgbClr val="1F3A5F"/>
            </a:solidFill>
            <a:prstDash val="solid"/>
          </a:ln>
        </p:spPr>
      </p:sp>
      <p:sp>
        <p:nvSpPr>
          <p:cNvPr id="23" name="Text 20"/>
          <p:cNvSpPr txBox="1"/>
          <p:nvPr/>
        </p:nvSpPr>
        <p:spPr>
          <a:xfrm>
            <a:off x="8046720" y="3886200"/>
            <a:ext cx="3566160" cy="548640"/>
          </a:xfrm>
          <a:prstGeom prst="rect">
            <a:avLst/>
          </a:prstGeom>
          <a:noFill/>
          <a:ln/>
        </p:spPr>
        <p:txBody>
          <a:bodyPr wrap="square" lIns="635" tIns="635" rIns="635" bIns="635" rtlCol="0" anchor="ctr"/>
          <a:lstStyle/>
          <a:p>
            <a:pPr algn="ctr" indent="0" marL="0">
              <a:buNone/>
            </a:pPr>
            <a:r>
              <a:rPr lang="en-US" sz="1200" dirty="0">
                <a:solidFill>
                  <a:srgbClr val="FFFFFF"/>
                </a:solidFill>
              </a:rPr>
              <a:t>2 s: root (trust store)</a:t>
            </a:r>
            <a:endParaRPr lang="en-US" sz="1200" dirty="0"/>
          </a:p>
        </p:txBody>
      </p:sp>
      <p:sp>
        <p:nvSpPr>
          <p:cNvPr id="24" name="Shape 21"/>
          <p:cNvSpPr/>
          <p:nvPr/>
        </p:nvSpPr>
        <p:spPr>
          <a:xfrm>
            <a:off x="548640" y="4681728"/>
            <a:ext cx="384048" cy="384048"/>
          </a:xfrm>
          <a:prstGeom prst="ellipse">
            <a:avLst/>
          </a:prstGeom>
          <a:solidFill>
            <a:srgbClr val="B9772A"/>
          </a:solidFill>
          <a:ln w="12700">
            <a:solidFill>
              <a:srgbClr val="B9772A"/>
            </a:solidFill>
            <a:prstDash val="solid"/>
          </a:ln>
        </p:spPr>
      </p:sp>
      <p:sp>
        <p:nvSpPr>
          <p:cNvPr id="25" name="Text 22"/>
          <p:cNvSpPr txBox="1"/>
          <p:nvPr/>
        </p:nvSpPr>
        <p:spPr>
          <a:xfrm>
            <a:off x="548640" y="46817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6" name="Text 23"/>
          <p:cNvSpPr txBox="1"/>
          <p:nvPr/>
        </p:nvSpPr>
        <p:spPr>
          <a:xfrm>
            <a:off x="1051560" y="4663440"/>
            <a:ext cx="10561320" cy="9144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Q4 · In the ClientHello only </a:t>
            </a:r>
            <a:r>
              <a:rPr lang="en-US" sz="1300" b="1" dirty="0">
                <a:solidFill>
                  <a:srgbClr val="1B2430"/>
                </a:solidFill>
              </a:rPr>
              <a:t>example.org</a:t>
            </a:r>
            <a:r>
              <a:rPr lang="en-US" sz="1300" dirty="0">
                <a:solidFill>
                  <a:srgbClr val="1B2430"/>
                </a:solidFill>
              </a:rPr>
              <a:t> is readable (SNI) — no path, no header: the request is already encrypted.</a:t>
            </a:r>
            <a:endParaRPr lang="en-US" sz="1300" dirty="0"/>
          </a:p>
        </p:txBody>
      </p:sp>
      <p:sp>
        <p:nvSpPr>
          <p:cNvPr id="2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8" name="Text 2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Q3 · Write down version, cipher suite, group and chain: they are what TLS negotiated for you.</a:t>
            </a:r>
            <a:endParaRPr lang="en-US" sz="1400" dirty="0"/>
          </a:p>
        </p:txBody>
      </p:sp>
      <p:sp>
        <p:nvSpPr>
          <p:cNvPr id="29" name="Text 26"/>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HTTPS (HyperText Transfer Protocol Secure) · HTTP (HyperText Transfer Protocol) · TLS (Transport Layer Security) · SNI (Server Name Indication) · CA (certification authority)</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3 · A login in clear, captured</a:t>
            </a:r>
            <a:endParaRPr lang="en-US" sz="3000" dirty="0"/>
          </a:p>
        </p:txBody>
      </p:sp>
      <p:sp>
        <p:nvSpPr>
          <p:cNvPr id="4" name="box"/>
          <p:cNvSpPr/>
          <p:nvPr/>
        </p:nvSpPr>
        <p:spPr>
          <a:xfrm>
            <a:off x="548640" y="1325880"/>
            <a:ext cx="2377440" cy="731520"/>
          </a:xfrm>
          <a:prstGeom prst="roundRect">
            <a:avLst>
              <a:gd name="adj" fmla="val 10000"/>
            </a:avLst>
          </a:prstGeom>
          <a:solidFill>
            <a:srgbClr val="1F3A5F"/>
          </a:solidFill>
          <a:ln w="12700">
            <a:solidFill>
              <a:srgbClr val="1F3A5F"/>
            </a:solidFill>
            <a:prstDash val="solid"/>
          </a:ln>
        </p:spPr>
      </p:sp>
      <p:sp>
        <p:nvSpPr>
          <p:cNvPr id="5" name="Text 2"/>
          <p:cNvSpPr txBox="1"/>
          <p:nvPr/>
        </p:nvSpPr>
        <p:spPr>
          <a:xfrm>
            <a:off x="548640" y="1325880"/>
            <a:ext cx="2377440" cy="731520"/>
          </a:xfrm>
          <a:prstGeom prst="rect">
            <a:avLst/>
          </a:prstGeom>
          <a:noFill/>
          <a:ln/>
        </p:spPr>
        <p:txBody>
          <a:bodyPr wrap="square" lIns="635" tIns="635" rIns="635" bIns="635" rtlCol="0" anchor="ctr"/>
          <a:lstStyle/>
          <a:p>
            <a:pPr algn="ctr" indent="0" marL="0">
              <a:buNone/>
            </a:pPr>
            <a:r>
              <a:rPr lang="en-US" sz="1100" dirty="0">
                <a:solidFill>
                  <a:srgbClr val="FFFFFF"/>
                </a:solidFill>
              </a:rPr>
              <a:t>terminal B</a:t>
            </a:r>
            <a:endParaRPr lang="en-US" sz="1100" dirty="0"/>
          </a:p>
          <a:p>
            <a:pPr algn="ctr" indent="0" marL="0">
              <a:buNone/>
            </a:pPr>
            <a:r>
              <a:rPr lang="en-US" sz="1100" dirty="0">
                <a:solidFill>
                  <a:srgbClr val="FFFFFF"/>
                </a:solidFill>
              </a:rPr>
              <a:t>telnet 127.0.0.1 2323</a:t>
            </a:r>
            <a:endParaRPr lang="en-US" sz="1100" dirty="0"/>
          </a:p>
        </p:txBody>
      </p:sp>
      <p:sp>
        <p:nvSpPr>
          <p:cNvPr id="6" name="box"/>
          <p:cNvSpPr/>
          <p:nvPr/>
        </p:nvSpPr>
        <p:spPr>
          <a:xfrm>
            <a:off x="9235440" y="1325880"/>
            <a:ext cx="2377440" cy="731520"/>
          </a:xfrm>
          <a:prstGeom prst="roundRect">
            <a:avLst>
              <a:gd name="adj" fmla="val 10000"/>
            </a:avLst>
          </a:prstGeom>
          <a:solidFill>
            <a:srgbClr val="2A7F8E"/>
          </a:solidFill>
          <a:ln w="12700">
            <a:solidFill>
              <a:srgbClr val="2A7F8E"/>
            </a:solidFill>
            <a:prstDash val="solid"/>
          </a:ln>
        </p:spPr>
      </p:sp>
      <p:sp>
        <p:nvSpPr>
          <p:cNvPr id="7" name="Text 4"/>
          <p:cNvSpPr txBox="1"/>
          <p:nvPr/>
        </p:nvSpPr>
        <p:spPr>
          <a:xfrm>
            <a:off x="9235440" y="1325880"/>
            <a:ext cx="2377440" cy="731520"/>
          </a:xfrm>
          <a:prstGeom prst="rect">
            <a:avLst/>
          </a:prstGeom>
          <a:noFill/>
          <a:ln/>
        </p:spPr>
        <p:txBody>
          <a:bodyPr wrap="square" lIns="635" tIns="635" rIns="635" bIns="635" rtlCol="0" anchor="ctr"/>
          <a:lstStyle/>
          <a:p>
            <a:pPr algn="ctr" indent="0" marL="0">
              <a:buNone/>
            </a:pPr>
            <a:r>
              <a:rPr lang="en-US" sz="1100" dirty="0">
                <a:solidFill>
                  <a:srgbClr val="FFFFFF"/>
                </a:solidFill>
              </a:rPr>
              <a:t>terminal A</a:t>
            </a:r>
            <a:endParaRPr lang="en-US" sz="1100" dirty="0"/>
          </a:p>
          <a:p>
            <a:pPr algn="ctr" indent="0" marL="0">
              <a:buNone/>
            </a:pPr>
            <a:r>
              <a:rPr lang="en-US" sz="1100" dirty="0">
                <a:solidFill>
                  <a:srgbClr val="FFFFFF"/>
                </a:solidFill>
              </a:rPr>
              <a:t>login_server.py 2323</a:t>
            </a:r>
            <a:endParaRPr lang="en-US" sz="1100" dirty="0"/>
          </a:p>
        </p:txBody>
      </p:sp>
      <p:sp>
        <p:nvSpPr>
          <p:cNvPr id="8" name="Shape 5"/>
          <p:cNvSpPr/>
          <p:nvPr/>
        </p:nvSpPr>
        <p:spPr>
          <a:xfrm>
            <a:off x="2926080" y="1691640"/>
            <a:ext cx="6309360" cy="914"/>
          </a:xfrm>
          <a:prstGeom prst="line">
            <a:avLst/>
          </a:prstGeom>
          <a:noFill/>
          <a:ln w="31750">
            <a:solidFill>
              <a:srgbClr val="A23B3B"/>
            </a:solidFill>
            <a:prstDash val="solid"/>
            <a:headEnd type="triangle"/>
            <a:tailEnd type="triangle"/>
          </a:ln>
        </p:spPr>
      </p:sp>
      <p:sp>
        <p:nvSpPr>
          <p:cNvPr id="9" name="Text 6"/>
          <p:cNvSpPr txBox="1"/>
          <p:nvPr/>
        </p:nvSpPr>
        <p:spPr>
          <a:xfrm>
            <a:off x="4892040" y="1371600"/>
            <a:ext cx="237744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A23B3B"/>
                </a:solidFill>
              </a:rPr>
              <a:t>TCP 2323, in clear</a:t>
            </a:r>
            <a:endParaRPr lang="en-US" sz="1200" dirty="0"/>
          </a:p>
        </p:txBody>
      </p:sp>
      <p:sp>
        <p:nvSpPr>
          <p:cNvPr id="10" name="code"/>
          <p:cNvSpPr/>
          <p:nvPr/>
        </p:nvSpPr>
        <p:spPr>
          <a:xfrm>
            <a:off x="548640" y="2331720"/>
            <a:ext cx="6400800" cy="1828800"/>
          </a:xfrm>
          <a:prstGeom prst="rect">
            <a:avLst/>
          </a:prstGeom>
          <a:solidFill>
            <a:srgbClr val="1E2A38"/>
          </a:solidFill>
          <a:ln w="12700">
            <a:solidFill>
              <a:srgbClr val="1E2A38"/>
            </a:solidFill>
            <a:prstDash val="solid"/>
          </a:ln>
        </p:spPr>
      </p:sp>
      <p:sp>
        <p:nvSpPr>
          <p:cNvPr id="11" name="Text 8"/>
          <p:cNvSpPr txBox="1"/>
          <p:nvPr/>
        </p:nvSpPr>
        <p:spPr>
          <a:xfrm>
            <a:off x="548640" y="2331720"/>
            <a:ext cx="6400800" cy="182880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 sudo tcpdump -i lo -A -n 'tcp port 2323'</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 login: alice</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 password: secret123</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 nc 127.0.0.1 2323 | od -c | head</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 377 373 001 … 377 374 001 …</a:t>
            </a:r>
            <a:endParaRPr lang="en-US" sz="1200" dirty="0"/>
          </a:p>
        </p:txBody>
      </p:sp>
      <p:sp>
        <p:nvSpPr>
          <p:cNvPr id="12" name="box"/>
          <p:cNvSpPr/>
          <p:nvPr/>
        </p:nvSpPr>
        <p:spPr>
          <a:xfrm>
            <a:off x="7223760" y="2331720"/>
            <a:ext cx="1417320" cy="411480"/>
          </a:xfrm>
          <a:prstGeom prst="rect">
            <a:avLst/>
          </a:prstGeom>
          <a:solidFill>
            <a:srgbClr val="1F3A5F"/>
          </a:solidFill>
          <a:ln w="12700">
            <a:solidFill>
              <a:srgbClr val="1F3A5F"/>
            </a:solidFill>
            <a:prstDash val="solid"/>
          </a:ln>
        </p:spPr>
      </p:sp>
      <p:sp>
        <p:nvSpPr>
          <p:cNvPr id="13" name="Text 10"/>
          <p:cNvSpPr txBox="1"/>
          <p:nvPr/>
        </p:nvSpPr>
        <p:spPr>
          <a:xfrm>
            <a:off x="7223760" y="2331720"/>
            <a:ext cx="141732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octal</a:t>
            </a:r>
            <a:endParaRPr lang="en-US" sz="1300" dirty="0"/>
          </a:p>
        </p:txBody>
      </p:sp>
      <p:sp>
        <p:nvSpPr>
          <p:cNvPr id="14" name="box"/>
          <p:cNvSpPr/>
          <p:nvPr/>
        </p:nvSpPr>
        <p:spPr>
          <a:xfrm>
            <a:off x="8686800" y="2331720"/>
            <a:ext cx="1234440" cy="411480"/>
          </a:xfrm>
          <a:prstGeom prst="rect">
            <a:avLst/>
          </a:prstGeom>
          <a:solidFill>
            <a:srgbClr val="1F3A5F"/>
          </a:solidFill>
          <a:ln w="12700">
            <a:solidFill>
              <a:srgbClr val="1F3A5F"/>
            </a:solidFill>
            <a:prstDash val="solid"/>
          </a:ln>
        </p:spPr>
      </p:sp>
      <p:sp>
        <p:nvSpPr>
          <p:cNvPr id="15" name="Text 12"/>
          <p:cNvSpPr txBox="1"/>
          <p:nvPr/>
        </p:nvSpPr>
        <p:spPr>
          <a:xfrm>
            <a:off x="8686800" y="2331720"/>
            <a:ext cx="12344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hex</a:t>
            </a:r>
            <a:endParaRPr lang="en-US" sz="1300" dirty="0"/>
          </a:p>
        </p:txBody>
      </p:sp>
      <p:sp>
        <p:nvSpPr>
          <p:cNvPr id="16" name="box"/>
          <p:cNvSpPr/>
          <p:nvPr/>
        </p:nvSpPr>
        <p:spPr>
          <a:xfrm>
            <a:off x="9966960" y="2331720"/>
            <a:ext cx="1600200" cy="411480"/>
          </a:xfrm>
          <a:prstGeom prst="rect">
            <a:avLst/>
          </a:prstGeom>
          <a:solidFill>
            <a:srgbClr val="1F3A5F"/>
          </a:solidFill>
          <a:ln w="12700">
            <a:solidFill>
              <a:srgbClr val="1F3A5F"/>
            </a:solidFill>
            <a:prstDash val="solid"/>
          </a:ln>
        </p:spPr>
      </p:sp>
      <p:sp>
        <p:nvSpPr>
          <p:cNvPr id="17" name="Text 14"/>
          <p:cNvSpPr txBox="1"/>
          <p:nvPr/>
        </p:nvSpPr>
        <p:spPr>
          <a:xfrm>
            <a:off x="9966960" y="2331720"/>
            <a:ext cx="160020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meaning</a:t>
            </a:r>
            <a:endParaRPr lang="en-US" sz="1300" dirty="0"/>
          </a:p>
        </p:txBody>
      </p:sp>
      <p:sp>
        <p:nvSpPr>
          <p:cNvPr id="18" name="box"/>
          <p:cNvSpPr/>
          <p:nvPr/>
        </p:nvSpPr>
        <p:spPr>
          <a:xfrm>
            <a:off x="7223760" y="2788920"/>
            <a:ext cx="1417320" cy="502920"/>
          </a:xfrm>
          <a:prstGeom prst="rect">
            <a:avLst/>
          </a:prstGeom>
          <a:solidFill>
            <a:srgbClr val="EEF2F6"/>
          </a:solidFill>
          <a:ln w="12700">
            <a:solidFill>
              <a:srgbClr val="EEF2F6"/>
            </a:solidFill>
            <a:prstDash val="solid"/>
          </a:ln>
        </p:spPr>
      </p:sp>
      <p:sp>
        <p:nvSpPr>
          <p:cNvPr id="19" name="Text 16"/>
          <p:cNvSpPr txBox="1"/>
          <p:nvPr/>
        </p:nvSpPr>
        <p:spPr>
          <a:xfrm>
            <a:off x="7223760" y="2788920"/>
            <a:ext cx="1417320" cy="502920"/>
          </a:xfrm>
          <a:prstGeom prst="rect">
            <a:avLst/>
          </a:prstGeom>
          <a:noFill/>
          <a:ln/>
        </p:spPr>
        <p:txBody>
          <a:bodyPr wrap="square" lIns="1270" tIns="1270" rIns="1270" bIns="1270"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377 373 001</a:t>
            </a:r>
            <a:endParaRPr lang="en-US" sz="1200" dirty="0"/>
          </a:p>
        </p:txBody>
      </p:sp>
      <p:sp>
        <p:nvSpPr>
          <p:cNvPr id="20" name="box"/>
          <p:cNvSpPr/>
          <p:nvPr/>
        </p:nvSpPr>
        <p:spPr>
          <a:xfrm>
            <a:off x="8686800" y="2788920"/>
            <a:ext cx="1234440" cy="502920"/>
          </a:xfrm>
          <a:prstGeom prst="rect">
            <a:avLst/>
          </a:prstGeom>
          <a:solidFill>
            <a:srgbClr val="F7F9FB"/>
          </a:solidFill>
          <a:ln w="12700">
            <a:solidFill>
              <a:srgbClr val="F7F9FB"/>
            </a:solidFill>
            <a:prstDash val="solid"/>
          </a:ln>
        </p:spPr>
      </p:sp>
      <p:sp>
        <p:nvSpPr>
          <p:cNvPr id="21" name="Text 18"/>
          <p:cNvSpPr txBox="1"/>
          <p:nvPr/>
        </p:nvSpPr>
        <p:spPr>
          <a:xfrm>
            <a:off x="8686800" y="2788920"/>
            <a:ext cx="1234440" cy="50292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FF FB 01</a:t>
            </a:r>
            <a:endParaRPr lang="en-US" sz="1200" dirty="0"/>
          </a:p>
        </p:txBody>
      </p:sp>
      <p:sp>
        <p:nvSpPr>
          <p:cNvPr id="22" name="box"/>
          <p:cNvSpPr/>
          <p:nvPr/>
        </p:nvSpPr>
        <p:spPr>
          <a:xfrm>
            <a:off x="9966960" y="2788920"/>
            <a:ext cx="1600200" cy="502920"/>
          </a:xfrm>
          <a:prstGeom prst="rect">
            <a:avLst/>
          </a:prstGeom>
          <a:solidFill>
            <a:srgbClr val="F7F9FB"/>
          </a:solidFill>
          <a:ln w="12700">
            <a:solidFill>
              <a:srgbClr val="F7F9FB"/>
            </a:solidFill>
            <a:prstDash val="solid"/>
          </a:ln>
        </p:spPr>
      </p:sp>
      <p:sp>
        <p:nvSpPr>
          <p:cNvPr id="23" name="Text 20"/>
          <p:cNvSpPr txBox="1"/>
          <p:nvPr/>
        </p:nvSpPr>
        <p:spPr>
          <a:xfrm>
            <a:off x="9966960" y="2788920"/>
            <a:ext cx="1600200" cy="502920"/>
          </a:xfrm>
          <a:prstGeom prst="rect">
            <a:avLst/>
          </a:prstGeom>
          <a:noFill/>
          <a:ln/>
        </p:spPr>
        <p:txBody>
          <a:bodyPr wrap="square" lIns="1270" tIns="1270" rIns="1270" bIns="1270" rtlCol="0" anchor="ctr"/>
          <a:lstStyle/>
          <a:p>
            <a:pPr algn="l" indent="0" marL="0">
              <a:buNone/>
            </a:pPr>
            <a:r>
              <a:rPr lang="en-US" sz="1200" dirty="0">
                <a:solidFill>
                  <a:srgbClr val="1B2430"/>
                </a:solidFill>
              </a:rPr>
              <a:t>WILL ECHO</a:t>
            </a:r>
            <a:endParaRPr lang="en-US" sz="1200" dirty="0"/>
          </a:p>
        </p:txBody>
      </p:sp>
      <p:sp>
        <p:nvSpPr>
          <p:cNvPr id="24" name="box"/>
          <p:cNvSpPr/>
          <p:nvPr/>
        </p:nvSpPr>
        <p:spPr>
          <a:xfrm>
            <a:off x="7223760" y="3337560"/>
            <a:ext cx="1417320" cy="502920"/>
          </a:xfrm>
          <a:prstGeom prst="rect">
            <a:avLst/>
          </a:prstGeom>
          <a:solidFill>
            <a:srgbClr val="EEF2F6"/>
          </a:solidFill>
          <a:ln w="12700">
            <a:solidFill>
              <a:srgbClr val="EEF2F6"/>
            </a:solidFill>
            <a:prstDash val="solid"/>
          </a:ln>
        </p:spPr>
      </p:sp>
      <p:sp>
        <p:nvSpPr>
          <p:cNvPr id="25" name="Text 22"/>
          <p:cNvSpPr txBox="1"/>
          <p:nvPr/>
        </p:nvSpPr>
        <p:spPr>
          <a:xfrm>
            <a:off x="7223760" y="3337560"/>
            <a:ext cx="1417320" cy="502920"/>
          </a:xfrm>
          <a:prstGeom prst="rect">
            <a:avLst/>
          </a:prstGeom>
          <a:noFill/>
          <a:ln/>
        </p:spPr>
        <p:txBody>
          <a:bodyPr wrap="square" lIns="1270" tIns="1270" rIns="1270" bIns="1270"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377 374 001</a:t>
            </a:r>
            <a:endParaRPr lang="en-US" sz="1200" dirty="0"/>
          </a:p>
        </p:txBody>
      </p:sp>
      <p:sp>
        <p:nvSpPr>
          <p:cNvPr id="26" name="box"/>
          <p:cNvSpPr/>
          <p:nvPr/>
        </p:nvSpPr>
        <p:spPr>
          <a:xfrm>
            <a:off x="8686800" y="3337560"/>
            <a:ext cx="1234440" cy="502920"/>
          </a:xfrm>
          <a:prstGeom prst="rect">
            <a:avLst/>
          </a:prstGeom>
          <a:solidFill>
            <a:srgbClr val="F7F9FB"/>
          </a:solidFill>
          <a:ln w="12700">
            <a:solidFill>
              <a:srgbClr val="F7F9FB"/>
            </a:solidFill>
            <a:prstDash val="solid"/>
          </a:ln>
        </p:spPr>
      </p:sp>
      <p:sp>
        <p:nvSpPr>
          <p:cNvPr id="27" name="Text 24"/>
          <p:cNvSpPr txBox="1"/>
          <p:nvPr/>
        </p:nvSpPr>
        <p:spPr>
          <a:xfrm>
            <a:off x="8686800" y="3337560"/>
            <a:ext cx="1234440" cy="50292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FF FC 01</a:t>
            </a:r>
            <a:endParaRPr lang="en-US" sz="1200" dirty="0"/>
          </a:p>
        </p:txBody>
      </p:sp>
      <p:sp>
        <p:nvSpPr>
          <p:cNvPr id="28" name="box"/>
          <p:cNvSpPr/>
          <p:nvPr/>
        </p:nvSpPr>
        <p:spPr>
          <a:xfrm>
            <a:off x="9966960" y="3337560"/>
            <a:ext cx="1600200" cy="502920"/>
          </a:xfrm>
          <a:prstGeom prst="rect">
            <a:avLst/>
          </a:prstGeom>
          <a:solidFill>
            <a:srgbClr val="F7F9FB"/>
          </a:solidFill>
          <a:ln w="12700">
            <a:solidFill>
              <a:srgbClr val="F7F9FB"/>
            </a:solidFill>
            <a:prstDash val="solid"/>
          </a:ln>
        </p:spPr>
      </p:sp>
      <p:sp>
        <p:nvSpPr>
          <p:cNvPr id="29" name="Text 26"/>
          <p:cNvSpPr txBox="1"/>
          <p:nvPr/>
        </p:nvSpPr>
        <p:spPr>
          <a:xfrm>
            <a:off x="9966960" y="3337560"/>
            <a:ext cx="1600200" cy="502920"/>
          </a:xfrm>
          <a:prstGeom prst="rect">
            <a:avLst/>
          </a:prstGeom>
          <a:noFill/>
          <a:ln/>
        </p:spPr>
        <p:txBody>
          <a:bodyPr wrap="square" lIns="1270" tIns="1270" rIns="1270" bIns="1270" rtlCol="0" anchor="ctr"/>
          <a:lstStyle/>
          <a:p>
            <a:pPr algn="l" indent="0" marL="0">
              <a:buNone/>
            </a:pPr>
            <a:r>
              <a:rPr lang="en-US" sz="1200" dirty="0">
                <a:solidFill>
                  <a:srgbClr val="1B2430"/>
                </a:solidFill>
              </a:rPr>
              <a:t>WONT ECHO</a:t>
            </a:r>
            <a:endParaRPr lang="en-US" sz="1200" dirty="0"/>
          </a:p>
        </p:txBody>
      </p:sp>
      <p:sp>
        <p:nvSpPr>
          <p:cNvPr id="30" name="Shape 27"/>
          <p:cNvSpPr/>
          <p:nvPr/>
        </p:nvSpPr>
        <p:spPr>
          <a:xfrm>
            <a:off x="548640" y="4453128"/>
            <a:ext cx="384048" cy="384048"/>
          </a:xfrm>
          <a:prstGeom prst="ellipse">
            <a:avLst/>
          </a:prstGeom>
          <a:solidFill>
            <a:srgbClr val="B9772A"/>
          </a:solidFill>
          <a:ln w="12700">
            <a:solidFill>
              <a:srgbClr val="B9772A"/>
            </a:solidFill>
            <a:prstDash val="solid"/>
          </a:ln>
        </p:spPr>
      </p:sp>
      <p:sp>
        <p:nvSpPr>
          <p:cNvPr id="31" name="Text 28"/>
          <p:cNvSpPr txBox="1"/>
          <p:nvPr/>
        </p:nvSpPr>
        <p:spPr>
          <a:xfrm>
            <a:off x="54864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32" name="Text 29"/>
          <p:cNvSpPr txBox="1"/>
          <p:nvPr/>
        </p:nvSpPr>
        <p:spPr>
          <a:xfrm>
            <a:off x="1051560" y="4434840"/>
            <a:ext cx="4983480" cy="11430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Q5 · The password is </a:t>
            </a:r>
            <a:r>
              <a:rPr lang="en-US" sz="1300" b="1" dirty="0">
                <a:solidFill>
                  <a:srgbClr val="1B2430"/>
                </a:solidFill>
              </a:rPr>
              <a:t>not on the screen</a:t>
            </a:r>
            <a:r>
              <a:rPr lang="en-US" sz="1300" dirty="0">
                <a:solidFill>
                  <a:srgbClr val="1B2430"/>
                </a:solidFill>
              </a:rPr>
              <a:t> and </a:t>
            </a:r>
            <a:r>
              <a:rPr lang="en-US" sz="1300" b="1" dirty="0">
                <a:solidFill>
                  <a:srgbClr val="1B2430"/>
                </a:solidFill>
              </a:rPr>
              <a:t>is in the capture</a:t>
            </a:r>
            <a:r>
              <a:rPr lang="en-US" sz="1300" dirty="0">
                <a:solidFill>
                  <a:srgbClr val="1B2430"/>
                </a:solidFill>
              </a:rPr>
              <a:t>.</a:t>
            </a:r>
            <a:endParaRPr lang="en-US" sz="1300" dirty="0"/>
          </a:p>
        </p:txBody>
      </p:sp>
      <p:sp>
        <p:nvSpPr>
          <p:cNvPr id="33" name="Shape 30"/>
          <p:cNvSpPr/>
          <p:nvPr/>
        </p:nvSpPr>
        <p:spPr>
          <a:xfrm>
            <a:off x="6217920" y="4453128"/>
            <a:ext cx="384048" cy="384048"/>
          </a:xfrm>
          <a:prstGeom prst="ellipse">
            <a:avLst/>
          </a:prstGeom>
          <a:solidFill>
            <a:srgbClr val="B9772A"/>
          </a:solidFill>
          <a:ln w="12700">
            <a:solidFill>
              <a:srgbClr val="B9772A"/>
            </a:solidFill>
            <a:prstDash val="solid"/>
          </a:ln>
        </p:spPr>
      </p:sp>
      <p:sp>
        <p:nvSpPr>
          <p:cNvPr id="34" name="Text 31"/>
          <p:cNvSpPr txBox="1"/>
          <p:nvPr/>
        </p:nvSpPr>
        <p:spPr>
          <a:xfrm>
            <a:off x="621792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5" name="Text 32"/>
          <p:cNvSpPr txBox="1"/>
          <p:nvPr/>
        </p:nvSpPr>
        <p:spPr>
          <a:xfrm>
            <a:off x="6720840" y="4434840"/>
            <a:ext cx="4892040" cy="11430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Q6 · WILL ECHO before the password, WONT ECHO after it.</a:t>
            </a:r>
            <a:endParaRPr lang="en-US" sz="1300" dirty="0"/>
          </a:p>
        </p:txBody>
      </p:sp>
      <p:sp>
        <p:nvSpPr>
          <p:cNvPr id="3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7" name="Text 3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What the user does not see, the network still carries.</a:t>
            </a:r>
            <a:endParaRPr lang="en-US" sz="1400" dirty="0"/>
          </a:p>
        </p:txBody>
      </p:sp>
      <p:sp>
        <p:nvSpPr>
          <p:cNvPr id="38" name="Text 3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TCP (Transmission Control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4 · SSH: check the host key, then log in with a key pair</a:t>
            </a:r>
            <a:endParaRPr lang="en-US" sz="3000" dirty="0"/>
          </a:p>
        </p:txBody>
      </p:sp>
      <p:sp>
        <p:nvSpPr>
          <p:cNvPr id="4" name="box"/>
          <p:cNvSpPr/>
          <p:nvPr/>
        </p:nvSpPr>
        <p:spPr>
          <a:xfrm>
            <a:off x="548640" y="1280160"/>
            <a:ext cx="7040880" cy="512064"/>
          </a:xfrm>
          <a:prstGeom prst="roundRect">
            <a:avLst>
              <a:gd name="adj" fmla="val 14286"/>
            </a:avLst>
          </a:prstGeom>
          <a:solidFill>
            <a:srgbClr val="EEF2F6"/>
          </a:solidFill>
          <a:ln w="12700">
            <a:solidFill>
              <a:srgbClr val="EEF2F6"/>
            </a:solidFill>
            <a:prstDash val="solid"/>
          </a:ln>
        </p:spPr>
      </p:sp>
      <p:sp>
        <p:nvSpPr>
          <p:cNvPr id="5" name="Text 2"/>
          <p:cNvSpPr txBox="1"/>
          <p:nvPr/>
        </p:nvSpPr>
        <p:spPr>
          <a:xfrm>
            <a:off x="548640" y="1280160"/>
            <a:ext cx="7040880" cy="512064"/>
          </a:xfrm>
          <a:prstGeom prst="rect">
            <a:avLst/>
          </a:prstGeom>
          <a:noFill/>
          <a:ln/>
        </p:spPr>
        <p:txBody>
          <a:bodyPr wrap="square" lIns="101600" tIns="101600" rIns="101600" bIns="101600" rtlCol="0" anchor="ctr"/>
          <a:lstStyle/>
          <a:p>
            <a:pPr algn="l" indent="0" marL="0">
              <a:buNone/>
            </a:pPr>
            <a:r>
              <a:rPr lang="en-US" sz="1100" dirty="0">
                <a:solidFill>
                  <a:srgbClr val="1B2430"/>
                </a:solidFill>
                <a:latin typeface="Consolas" pitchFamily="34" charset="0"/>
                <a:ea typeface="Consolas" pitchFamily="34" charset="-122"/>
                <a:cs typeface="Consolas" pitchFamily="34" charset="-120"/>
              </a:rPr>
              <a:t>sudo systemctl start ssh</a:t>
            </a:r>
            <a:endParaRPr lang="en-US" sz="1100" dirty="0"/>
          </a:p>
        </p:txBody>
      </p:sp>
      <p:sp>
        <p:nvSpPr>
          <p:cNvPr id="6" name="Text 3"/>
          <p:cNvSpPr txBox="1"/>
          <p:nvPr/>
        </p:nvSpPr>
        <p:spPr>
          <a:xfrm>
            <a:off x="7772400" y="1371600"/>
            <a:ext cx="384048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start the server</a:t>
            </a:r>
            <a:endParaRPr lang="en-US" sz="1200" dirty="0"/>
          </a:p>
        </p:txBody>
      </p:sp>
      <p:sp>
        <p:nvSpPr>
          <p:cNvPr id="7" name="box"/>
          <p:cNvSpPr/>
          <p:nvPr/>
        </p:nvSpPr>
        <p:spPr>
          <a:xfrm>
            <a:off x="548640" y="1883664"/>
            <a:ext cx="7040880" cy="512064"/>
          </a:xfrm>
          <a:prstGeom prst="roundRect">
            <a:avLst>
              <a:gd name="adj" fmla="val 14286"/>
            </a:avLst>
          </a:prstGeom>
          <a:solidFill>
            <a:srgbClr val="F3EAD7"/>
          </a:solidFill>
          <a:ln w="12700">
            <a:solidFill>
              <a:srgbClr val="F3EAD7"/>
            </a:solidFill>
            <a:prstDash val="solid"/>
          </a:ln>
        </p:spPr>
      </p:sp>
      <p:sp>
        <p:nvSpPr>
          <p:cNvPr id="8" name="Text 5"/>
          <p:cNvSpPr txBox="1"/>
          <p:nvPr/>
        </p:nvSpPr>
        <p:spPr>
          <a:xfrm>
            <a:off x="548640" y="1883664"/>
            <a:ext cx="7040880" cy="512064"/>
          </a:xfrm>
          <a:prstGeom prst="rect">
            <a:avLst/>
          </a:prstGeom>
          <a:noFill/>
          <a:ln/>
        </p:spPr>
        <p:txBody>
          <a:bodyPr wrap="square" lIns="101600" tIns="101600" rIns="101600" bIns="101600" rtlCol="0" anchor="ctr"/>
          <a:lstStyle/>
          <a:p>
            <a:pPr algn="l" indent="0" marL="0">
              <a:buNone/>
            </a:pPr>
            <a:r>
              <a:rPr lang="en-US" sz="1100" dirty="0">
                <a:solidFill>
                  <a:srgbClr val="1B2430"/>
                </a:solidFill>
                <a:latin typeface="Consolas" pitchFamily="34" charset="0"/>
                <a:ea typeface="Consolas" pitchFamily="34" charset="-122"/>
                <a:cs typeface="Consolas" pitchFamily="34" charset="-120"/>
              </a:rPr>
              <a:t>ssh-keygen -lf /etc/ssh/ssh_host_ed25519_key.pub</a:t>
            </a:r>
            <a:endParaRPr lang="en-US" sz="1100" dirty="0"/>
          </a:p>
        </p:txBody>
      </p:sp>
      <p:sp>
        <p:nvSpPr>
          <p:cNvPr id="9" name="Text 6"/>
          <p:cNvSpPr txBox="1"/>
          <p:nvPr/>
        </p:nvSpPr>
        <p:spPr>
          <a:xfrm>
            <a:off x="7772400" y="1975104"/>
            <a:ext cx="384048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the server’s fingerprint</a:t>
            </a:r>
            <a:endParaRPr lang="en-US" sz="1200" dirty="0"/>
          </a:p>
        </p:txBody>
      </p:sp>
      <p:sp>
        <p:nvSpPr>
          <p:cNvPr id="10" name="box"/>
          <p:cNvSpPr/>
          <p:nvPr/>
        </p:nvSpPr>
        <p:spPr>
          <a:xfrm>
            <a:off x="548640" y="2487168"/>
            <a:ext cx="7040880" cy="512064"/>
          </a:xfrm>
          <a:prstGeom prst="roundRect">
            <a:avLst>
              <a:gd name="adj" fmla="val 14286"/>
            </a:avLst>
          </a:prstGeom>
          <a:solidFill>
            <a:srgbClr val="F3EAD7"/>
          </a:solidFill>
          <a:ln w="12700">
            <a:solidFill>
              <a:srgbClr val="F3EAD7"/>
            </a:solidFill>
            <a:prstDash val="solid"/>
          </a:ln>
        </p:spPr>
      </p:sp>
      <p:sp>
        <p:nvSpPr>
          <p:cNvPr id="11" name="Text 8"/>
          <p:cNvSpPr txBox="1"/>
          <p:nvPr/>
        </p:nvSpPr>
        <p:spPr>
          <a:xfrm>
            <a:off x="548640" y="2487168"/>
            <a:ext cx="7040880" cy="512064"/>
          </a:xfrm>
          <a:prstGeom prst="rect">
            <a:avLst/>
          </a:prstGeom>
          <a:noFill/>
          <a:ln/>
        </p:spPr>
        <p:txBody>
          <a:bodyPr wrap="square" lIns="101600" tIns="101600" rIns="101600" bIns="101600" rtlCol="0" anchor="ctr"/>
          <a:lstStyle/>
          <a:p>
            <a:pPr algn="l" indent="0" marL="0">
              <a:buNone/>
            </a:pPr>
            <a:r>
              <a:rPr lang="en-US" sz="1100" dirty="0">
                <a:solidFill>
                  <a:srgbClr val="1B2430"/>
                </a:solidFill>
                <a:latin typeface="Consolas" pitchFamily="34" charset="0"/>
                <a:ea typeface="Consolas" pitchFamily="34" charset="-122"/>
                <a:cs typeface="Consolas" pitchFamily="34" charset="-120"/>
              </a:rPr>
              <a:t>ssh -v localhost exit 2&gt;&amp;1 | grep -E 'version|kex|host key|Auth'</a:t>
            </a:r>
            <a:endParaRPr lang="en-US" sz="1100" dirty="0"/>
          </a:p>
        </p:txBody>
      </p:sp>
      <p:sp>
        <p:nvSpPr>
          <p:cNvPr id="12" name="Text 9"/>
          <p:cNvSpPr txBox="1"/>
          <p:nvPr/>
        </p:nvSpPr>
        <p:spPr>
          <a:xfrm>
            <a:off x="7772400" y="2578608"/>
            <a:ext cx="384048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first connection: yes → known_hosts</a:t>
            </a:r>
            <a:endParaRPr lang="en-US" sz="1200" dirty="0"/>
          </a:p>
        </p:txBody>
      </p:sp>
      <p:sp>
        <p:nvSpPr>
          <p:cNvPr id="13" name="box"/>
          <p:cNvSpPr/>
          <p:nvPr/>
        </p:nvSpPr>
        <p:spPr>
          <a:xfrm>
            <a:off x="548640" y="3090672"/>
            <a:ext cx="7040880" cy="512064"/>
          </a:xfrm>
          <a:prstGeom prst="roundRect">
            <a:avLst>
              <a:gd name="adj" fmla="val 14286"/>
            </a:avLst>
          </a:prstGeom>
          <a:solidFill>
            <a:srgbClr val="EEF2F6"/>
          </a:solidFill>
          <a:ln w="12700">
            <a:solidFill>
              <a:srgbClr val="EEF2F6"/>
            </a:solidFill>
            <a:prstDash val="solid"/>
          </a:ln>
        </p:spPr>
      </p:sp>
      <p:sp>
        <p:nvSpPr>
          <p:cNvPr id="14" name="Text 11"/>
          <p:cNvSpPr txBox="1"/>
          <p:nvPr/>
        </p:nvSpPr>
        <p:spPr>
          <a:xfrm>
            <a:off x="548640" y="3090672"/>
            <a:ext cx="7040880" cy="512064"/>
          </a:xfrm>
          <a:prstGeom prst="rect">
            <a:avLst/>
          </a:prstGeom>
          <a:noFill/>
          <a:ln/>
        </p:spPr>
        <p:txBody>
          <a:bodyPr wrap="square" lIns="101600" tIns="101600" rIns="101600" bIns="101600" rtlCol="0" anchor="ctr"/>
          <a:lstStyle/>
          <a:p>
            <a:pPr algn="l" indent="0" marL="0">
              <a:buNone/>
            </a:pPr>
            <a:r>
              <a:rPr lang="en-US" sz="1100" dirty="0">
                <a:solidFill>
                  <a:srgbClr val="1B2430"/>
                </a:solidFill>
                <a:latin typeface="Consolas" pitchFamily="34" charset="0"/>
                <a:ea typeface="Consolas" pitchFamily="34" charset="-122"/>
                <a:cs typeface="Consolas" pitchFamily="34" charset="-120"/>
              </a:rPr>
              <a:t>ssh-keygen -t ed25519</a:t>
            </a:r>
            <a:endParaRPr lang="en-US" sz="1100" dirty="0"/>
          </a:p>
        </p:txBody>
      </p:sp>
      <p:sp>
        <p:nvSpPr>
          <p:cNvPr id="15" name="Text 12"/>
          <p:cNvSpPr txBox="1"/>
          <p:nvPr/>
        </p:nvSpPr>
        <p:spPr>
          <a:xfrm>
            <a:off x="7772400" y="3182112"/>
            <a:ext cx="384048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your key pair + passphrase</a:t>
            </a:r>
            <a:endParaRPr lang="en-US" sz="1200" dirty="0"/>
          </a:p>
        </p:txBody>
      </p:sp>
      <p:sp>
        <p:nvSpPr>
          <p:cNvPr id="16" name="box"/>
          <p:cNvSpPr/>
          <p:nvPr/>
        </p:nvSpPr>
        <p:spPr>
          <a:xfrm>
            <a:off x="548640" y="3694176"/>
            <a:ext cx="7040880" cy="512064"/>
          </a:xfrm>
          <a:prstGeom prst="roundRect">
            <a:avLst>
              <a:gd name="adj" fmla="val 14286"/>
            </a:avLst>
          </a:prstGeom>
          <a:solidFill>
            <a:srgbClr val="EEF2F6"/>
          </a:solidFill>
          <a:ln w="12700">
            <a:solidFill>
              <a:srgbClr val="EEF2F6"/>
            </a:solidFill>
            <a:prstDash val="solid"/>
          </a:ln>
        </p:spPr>
      </p:sp>
      <p:sp>
        <p:nvSpPr>
          <p:cNvPr id="17" name="Text 14"/>
          <p:cNvSpPr txBox="1"/>
          <p:nvPr/>
        </p:nvSpPr>
        <p:spPr>
          <a:xfrm>
            <a:off x="548640" y="3694176"/>
            <a:ext cx="7040880" cy="512064"/>
          </a:xfrm>
          <a:prstGeom prst="rect">
            <a:avLst/>
          </a:prstGeom>
          <a:noFill/>
          <a:ln/>
        </p:spPr>
        <p:txBody>
          <a:bodyPr wrap="square" lIns="101600" tIns="101600" rIns="101600" bIns="101600" rtlCol="0" anchor="ctr"/>
          <a:lstStyle/>
          <a:p>
            <a:pPr algn="l" indent="0" marL="0">
              <a:buNone/>
            </a:pPr>
            <a:r>
              <a:rPr lang="en-US" sz="1100" dirty="0">
                <a:solidFill>
                  <a:srgbClr val="1B2430"/>
                </a:solidFill>
                <a:latin typeface="Consolas" pitchFamily="34" charset="0"/>
                <a:ea typeface="Consolas" pitchFamily="34" charset="-122"/>
                <a:cs typeface="Consolas" pitchFamily="34" charset="-120"/>
              </a:rPr>
              <a:t>ssh-copy-id localhost</a:t>
            </a:r>
            <a:endParaRPr lang="en-US" sz="1100" dirty="0"/>
          </a:p>
        </p:txBody>
      </p:sp>
      <p:sp>
        <p:nvSpPr>
          <p:cNvPr id="18" name="Text 15"/>
          <p:cNvSpPr txBox="1"/>
          <p:nvPr/>
        </p:nvSpPr>
        <p:spPr>
          <a:xfrm>
            <a:off x="7772400" y="3785616"/>
            <a:ext cx="384048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public key → authorized_keys</a:t>
            </a:r>
            <a:endParaRPr lang="en-US" sz="1200" dirty="0"/>
          </a:p>
        </p:txBody>
      </p:sp>
      <p:sp>
        <p:nvSpPr>
          <p:cNvPr id="19" name="box"/>
          <p:cNvSpPr/>
          <p:nvPr/>
        </p:nvSpPr>
        <p:spPr>
          <a:xfrm>
            <a:off x="548640" y="4297680"/>
            <a:ext cx="7040880" cy="512064"/>
          </a:xfrm>
          <a:prstGeom prst="roundRect">
            <a:avLst>
              <a:gd name="adj" fmla="val 14286"/>
            </a:avLst>
          </a:prstGeom>
          <a:solidFill>
            <a:srgbClr val="EEF2F6"/>
          </a:solidFill>
          <a:ln w="12700">
            <a:solidFill>
              <a:srgbClr val="EEF2F6"/>
            </a:solidFill>
            <a:prstDash val="solid"/>
          </a:ln>
        </p:spPr>
      </p:sp>
      <p:sp>
        <p:nvSpPr>
          <p:cNvPr id="20" name="Text 17"/>
          <p:cNvSpPr txBox="1"/>
          <p:nvPr/>
        </p:nvSpPr>
        <p:spPr>
          <a:xfrm>
            <a:off x="548640" y="4297680"/>
            <a:ext cx="7040880" cy="512064"/>
          </a:xfrm>
          <a:prstGeom prst="rect">
            <a:avLst/>
          </a:prstGeom>
          <a:noFill/>
          <a:ln/>
        </p:spPr>
        <p:txBody>
          <a:bodyPr wrap="square" lIns="101600" tIns="101600" rIns="101600" bIns="101600" rtlCol="0" anchor="ctr"/>
          <a:lstStyle/>
          <a:p>
            <a:pPr algn="l" indent="0" marL="0">
              <a:buNone/>
            </a:pPr>
            <a:r>
              <a:rPr lang="en-US" sz="1100" dirty="0">
                <a:solidFill>
                  <a:srgbClr val="1B2430"/>
                </a:solidFill>
                <a:latin typeface="Consolas" pitchFamily="34" charset="0"/>
                <a:ea typeface="Consolas" pitchFamily="34" charset="-122"/>
                <a:cs typeface="Consolas" pitchFamily="34" charset="-120"/>
              </a:rPr>
              <a:t>ssh localhost 'hostname; whoami; uptime'</a:t>
            </a:r>
            <a:endParaRPr lang="en-US" sz="1100" dirty="0"/>
          </a:p>
        </p:txBody>
      </p:sp>
      <p:sp>
        <p:nvSpPr>
          <p:cNvPr id="21" name="Text 18"/>
          <p:cNvSpPr txBox="1"/>
          <p:nvPr/>
        </p:nvSpPr>
        <p:spPr>
          <a:xfrm>
            <a:off x="7772400" y="4389120"/>
            <a:ext cx="384048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logged in with the key</a:t>
            </a:r>
            <a:endParaRPr lang="en-US" sz="1200" dirty="0"/>
          </a:p>
        </p:txBody>
      </p:sp>
      <p:sp>
        <p:nvSpPr>
          <p:cNvPr id="22" name="Shape 19"/>
          <p:cNvSpPr/>
          <p:nvPr/>
        </p:nvSpPr>
        <p:spPr>
          <a:xfrm>
            <a:off x="548640" y="5047488"/>
            <a:ext cx="384048" cy="384048"/>
          </a:xfrm>
          <a:prstGeom prst="ellipse">
            <a:avLst/>
          </a:prstGeom>
          <a:solidFill>
            <a:srgbClr val="B9772A"/>
          </a:solidFill>
          <a:ln w="12700">
            <a:solidFill>
              <a:srgbClr val="B9772A"/>
            </a:solidFill>
            <a:prstDash val="solid"/>
          </a:ln>
        </p:spPr>
      </p:sp>
      <p:sp>
        <p:nvSpPr>
          <p:cNvPr id="23" name="Text 20"/>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1"/>
          <p:cNvSpPr txBox="1"/>
          <p:nvPr/>
        </p:nvSpPr>
        <p:spPr>
          <a:xfrm>
            <a:off x="1051560" y="5029200"/>
            <a:ext cx="4983480" cy="6400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Q7 · Two fingerprints must be </a:t>
            </a:r>
            <a:r>
              <a:rPr lang="en-US" sz="1300" b="1" dirty="0">
                <a:solidFill>
                  <a:srgbClr val="1B2430"/>
                </a:solidFill>
              </a:rPr>
              <a:t>identical</a:t>
            </a:r>
            <a:r>
              <a:rPr lang="en-US" sz="1300" dirty="0">
                <a:solidFill>
                  <a:srgbClr val="1B2430"/>
                </a:solidFill>
              </a:rPr>
              <a:t>.</a:t>
            </a:r>
            <a:endParaRPr lang="en-US" sz="1300" dirty="0"/>
          </a:p>
        </p:txBody>
      </p:sp>
      <p:sp>
        <p:nvSpPr>
          <p:cNvPr id="25" name="Shape 22"/>
          <p:cNvSpPr/>
          <p:nvPr/>
        </p:nvSpPr>
        <p:spPr>
          <a:xfrm>
            <a:off x="6217920" y="5047488"/>
            <a:ext cx="384048" cy="384048"/>
          </a:xfrm>
          <a:prstGeom prst="ellipse">
            <a:avLst/>
          </a:prstGeom>
          <a:solidFill>
            <a:srgbClr val="B9772A"/>
          </a:solidFill>
          <a:ln w="12700">
            <a:solidFill>
              <a:srgbClr val="B9772A"/>
            </a:solidFill>
            <a:prstDash val="solid"/>
          </a:ln>
        </p:spPr>
      </p:sp>
      <p:sp>
        <p:nvSpPr>
          <p:cNvPr id="26" name="Text 23"/>
          <p:cNvSpPr txBox="1"/>
          <p:nvPr/>
        </p:nvSpPr>
        <p:spPr>
          <a:xfrm>
            <a:off x="621792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4"/>
          <p:cNvSpPr txBox="1"/>
          <p:nvPr/>
        </p:nvSpPr>
        <p:spPr>
          <a:xfrm>
            <a:off x="6720840" y="5029200"/>
            <a:ext cx="4892040" cy="6400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Q8 · id_ed25519 never leaves your machine.</a:t>
            </a:r>
            <a:endParaRPr lang="en-US" sz="1300" dirty="0"/>
          </a:p>
        </p:txBody>
      </p:sp>
      <p:sp>
        <p:nvSpPr>
          <p:cNvPr id="2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9" name="Text 2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Verify the host once, then let a signature — not a password — open the door.</a:t>
            </a:r>
            <a:endParaRPr lang="en-US" sz="1400" dirty="0"/>
          </a:p>
        </p:txBody>
      </p:sp>
      <p:sp>
        <p:nvSpPr>
          <p:cNvPr id="30" name="Text 2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SSH (Secure Shell)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5 · Three captures of one login through a tunnel</a:t>
            </a:r>
            <a:endParaRPr lang="en-US" sz="3000" dirty="0"/>
          </a:p>
        </p:txBody>
      </p:sp>
      <p:sp>
        <p:nvSpPr>
          <p:cNvPr id="4" name="box"/>
          <p:cNvSpPr/>
          <p:nvPr/>
        </p:nvSpPr>
        <p:spPr>
          <a:xfrm>
            <a:off x="548640" y="1828800"/>
            <a:ext cx="2103120" cy="914400"/>
          </a:xfrm>
          <a:prstGeom prst="roundRect">
            <a:avLst>
              <a:gd name="adj" fmla="val 8000"/>
            </a:avLst>
          </a:prstGeom>
          <a:solidFill>
            <a:srgbClr val="EEF2F6"/>
          </a:solidFill>
          <a:ln w="12700">
            <a:solidFill>
              <a:srgbClr val="EEF2F6"/>
            </a:solidFill>
            <a:prstDash val="solid"/>
          </a:ln>
        </p:spPr>
      </p:sp>
      <p:sp>
        <p:nvSpPr>
          <p:cNvPr id="5" name="Text 2"/>
          <p:cNvSpPr txBox="1"/>
          <p:nvPr/>
        </p:nvSpPr>
        <p:spPr>
          <a:xfrm>
            <a:off x="548640" y="1828800"/>
            <a:ext cx="2103120" cy="914400"/>
          </a:xfrm>
          <a:prstGeom prst="rect">
            <a:avLst/>
          </a:prstGeom>
          <a:noFill/>
          <a:ln/>
        </p:spPr>
        <p:txBody>
          <a:bodyPr wrap="square" lIns="635" tIns="635" rIns="635" bIns="635" rtlCol="0" anchor="ctr"/>
          <a:lstStyle/>
          <a:p>
            <a:pPr algn="ctr" indent="0" marL="0">
              <a:buNone/>
            </a:pPr>
            <a:r>
              <a:rPr lang="en-US" sz="1300" dirty="0">
                <a:solidFill>
                  <a:srgbClr val="1B2430"/>
                </a:solidFill>
              </a:rPr>
              <a:t>telnet</a:t>
            </a:r>
            <a:endParaRPr lang="en-US" sz="1300" dirty="0"/>
          </a:p>
          <a:p>
            <a:pPr algn="ctr" indent="0" marL="0">
              <a:buNone/>
            </a:pPr>
            <a:r>
              <a:rPr lang="en-US" sz="1300" dirty="0">
                <a:solidFill>
                  <a:srgbClr val="1B2430"/>
                </a:solidFill>
              </a:rPr>
              <a:t>→ :2324</a:t>
            </a:r>
            <a:endParaRPr lang="en-US" sz="1300" dirty="0"/>
          </a:p>
        </p:txBody>
      </p:sp>
      <p:sp>
        <p:nvSpPr>
          <p:cNvPr id="6" name="box"/>
          <p:cNvSpPr/>
          <p:nvPr/>
        </p:nvSpPr>
        <p:spPr>
          <a:xfrm>
            <a:off x="3200400" y="1828800"/>
            <a:ext cx="2103120" cy="914400"/>
          </a:xfrm>
          <a:prstGeom prst="roundRect">
            <a:avLst>
              <a:gd name="adj" fmla="val 8000"/>
            </a:avLst>
          </a:prstGeom>
          <a:solidFill>
            <a:srgbClr val="2A7F8E"/>
          </a:solidFill>
          <a:ln w="12700">
            <a:solidFill>
              <a:srgbClr val="2A7F8E"/>
            </a:solidFill>
            <a:prstDash val="solid"/>
          </a:ln>
        </p:spPr>
      </p:sp>
      <p:sp>
        <p:nvSpPr>
          <p:cNvPr id="7" name="Text 4"/>
          <p:cNvSpPr txBox="1"/>
          <p:nvPr/>
        </p:nvSpPr>
        <p:spPr>
          <a:xfrm>
            <a:off x="3200400" y="1828800"/>
            <a:ext cx="2103120" cy="914400"/>
          </a:xfrm>
          <a:prstGeom prst="rect">
            <a:avLst/>
          </a:prstGeom>
          <a:noFill/>
          <a:ln/>
        </p:spPr>
        <p:txBody>
          <a:bodyPr wrap="square" lIns="635" tIns="635" rIns="635" bIns="635" rtlCol="0" anchor="ctr"/>
          <a:lstStyle/>
          <a:p>
            <a:pPr algn="ctr" indent="0" marL="0">
              <a:buNone/>
            </a:pPr>
            <a:r>
              <a:rPr lang="en-US" sz="1300" dirty="0">
                <a:solidFill>
                  <a:srgbClr val="FFFFFF"/>
                </a:solidFill>
              </a:rPr>
              <a:t>ssh client</a:t>
            </a:r>
            <a:endParaRPr lang="en-US" sz="1300" dirty="0"/>
          </a:p>
          <a:p>
            <a:pPr algn="ctr" indent="0" marL="0">
              <a:buNone/>
            </a:pPr>
            <a:r>
              <a:rPr lang="en-US" sz="1300" dirty="0">
                <a:solidFill>
                  <a:srgbClr val="FFFFFF"/>
                </a:solidFill>
              </a:rPr>
              <a:t>:2324</a:t>
            </a:r>
            <a:endParaRPr lang="en-US" sz="1300" dirty="0"/>
          </a:p>
        </p:txBody>
      </p:sp>
      <p:sp>
        <p:nvSpPr>
          <p:cNvPr id="8" name="box"/>
          <p:cNvSpPr/>
          <p:nvPr/>
        </p:nvSpPr>
        <p:spPr>
          <a:xfrm>
            <a:off x="6858000" y="1828800"/>
            <a:ext cx="2103120" cy="914400"/>
          </a:xfrm>
          <a:prstGeom prst="roundRect">
            <a:avLst>
              <a:gd name="adj" fmla="val 8000"/>
            </a:avLst>
          </a:prstGeom>
          <a:solidFill>
            <a:srgbClr val="2A7F8E"/>
          </a:solidFill>
          <a:ln w="12700">
            <a:solidFill>
              <a:srgbClr val="2A7F8E"/>
            </a:solidFill>
            <a:prstDash val="solid"/>
          </a:ln>
        </p:spPr>
      </p:sp>
      <p:sp>
        <p:nvSpPr>
          <p:cNvPr id="9" name="Text 6"/>
          <p:cNvSpPr txBox="1"/>
          <p:nvPr/>
        </p:nvSpPr>
        <p:spPr>
          <a:xfrm>
            <a:off x="6858000" y="1828800"/>
            <a:ext cx="2103120" cy="914400"/>
          </a:xfrm>
          <a:prstGeom prst="rect">
            <a:avLst/>
          </a:prstGeom>
          <a:noFill/>
          <a:ln/>
        </p:spPr>
        <p:txBody>
          <a:bodyPr wrap="square" lIns="635" tIns="635" rIns="635" bIns="635" rtlCol="0" anchor="ctr"/>
          <a:lstStyle/>
          <a:p>
            <a:pPr algn="ctr" indent="0" marL="0">
              <a:buNone/>
            </a:pPr>
            <a:r>
              <a:rPr lang="en-US" sz="1300" dirty="0">
                <a:solidFill>
                  <a:srgbClr val="FFFFFF"/>
                </a:solidFill>
              </a:rPr>
              <a:t>sshd</a:t>
            </a:r>
            <a:endParaRPr lang="en-US" sz="1300" dirty="0"/>
          </a:p>
          <a:p>
            <a:pPr algn="ctr" indent="0" marL="0">
              <a:buNone/>
            </a:pPr>
            <a:r>
              <a:rPr lang="en-US" sz="1300" dirty="0">
                <a:solidFill>
                  <a:srgbClr val="FFFFFF"/>
                </a:solidFill>
              </a:rPr>
              <a:t>:22</a:t>
            </a:r>
            <a:endParaRPr lang="en-US" sz="1300" dirty="0"/>
          </a:p>
        </p:txBody>
      </p:sp>
      <p:sp>
        <p:nvSpPr>
          <p:cNvPr id="10" name="box"/>
          <p:cNvSpPr/>
          <p:nvPr/>
        </p:nvSpPr>
        <p:spPr>
          <a:xfrm>
            <a:off x="9509760" y="1828800"/>
            <a:ext cx="2103120" cy="914400"/>
          </a:xfrm>
          <a:prstGeom prst="roundRect">
            <a:avLst>
              <a:gd name="adj" fmla="val 8000"/>
            </a:avLst>
          </a:prstGeom>
          <a:solidFill>
            <a:srgbClr val="1F3A5F"/>
          </a:solidFill>
          <a:ln w="12700">
            <a:solidFill>
              <a:srgbClr val="1F3A5F"/>
            </a:solidFill>
            <a:prstDash val="solid"/>
          </a:ln>
        </p:spPr>
      </p:sp>
      <p:sp>
        <p:nvSpPr>
          <p:cNvPr id="11" name="Text 8"/>
          <p:cNvSpPr txBox="1"/>
          <p:nvPr/>
        </p:nvSpPr>
        <p:spPr>
          <a:xfrm>
            <a:off x="9509760" y="1828800"/>
            <a:ext cx="2103120" cy="914400"/>
          </a:xfrm>
          <a:prstGeom prst="rect">
            <a:avLst/>
          </a:prstGeom>
          <a:noFill/>
          <a:ln/>
        </p:spPr>
        <p:txBody>
          <a:bodyPr wrap="square" lIns="635" tIns="635" rIns="635" bIns="635" rtlCol="0" anchor="ctr"/>
          <a:lstStyle/>
          <a:p>
            <a:pPr algn="ctr" indent="0" marL="0">
              <a:buNone/>
            </a:pPr>
            <a:r>
              <a:rPr lang="en-US" sz="1300" dirty="0">
                <a:solidFill>
                  <a:srgbClr val="FFFFFF"/>
                </a:solidFill>
              </a:rPr>
              <a:t>login_server</a:t>
            </a:r>
            <a:endParaRPr lang="en-US" sz="1300" dirty="0"/>
          </a:p>
          <a:p>
            <a:pPr algn="ctr" indent="0" marL="0">
              <a:buNone/>
            </a:pPr>
            <a:r>
              <a:rPr lang="en-US" sz="1300" dirty="0">
                <a:solidFill>
                  <a:srgbClr val="FFFFFF"/>
                </a:solidFill>
              </a:rPr>
              <a:t>:2323</a:t>
            </a:r>
            <a:endParaRPr lang="en-US" sz="1300" dirty="0"/>
          </a:p>
        </p:txBody>
      </p:sp>
      <p:sp>
        <p:nvSpPr>
          <p:cNvPr id="12" name="Shape 9"/>
          <p:cNvSpPr/>
          <p:nvPr/>
        </p:nvSpPr>
        <p:spPr>
          <a:xfrm>
            <a:off x="2651760" y="2286000"/>
            <a:ext cx="548640" cy="914"/>
          </a:xfrm>
          <a:prstGeom prst="line">
            <a:avLst/>
          </a:prstGeom>
          <a:noFill/>
          <a:ln w="31750">
            <a:solidFill>
              <a:srgbClr val="A23B3B"/>
            </a:solidFill>
            <a:prstDash val="solid"/>
            <a:tailEnd type="triangle"/>
          </a:ln>
        </p:spPr>
      </p:sp>
      <p:sp>
        <p:nvSpPr>
          <p:cNvPr id="13" name="Shape 10"/>
          <p:cNvSpPr/>
          <p:nvPr/>
        </p:nvSpPr>
        <p:spPr>
          <a:xfrm>
            <a:off x="5303520" y="2286000"/>
            <a:ext cx="1554480" cy="914"/>
          </a:xfrm>
          <a:prstGeom prst="line">
            <a:avLst/>
          </a:prstGeom>
          <a:noFill/>
          <a:ln w="50800">
            <a:solidFill>
              <a:srgbClr val="2E7D4F"/>
            </a:solidFill>
            <a:prstDash val="solid"/>
            <a:tailEnd type="triangle"/>
          </a:ln>
        </p:spPr>
      </p:sp>
      <p:sp>
        <p:nvSpPr>
          <p:cNvPr id="14" name="Shape 11"/>
          <p:cNvSpPr/>
          <p:nvPr/>
        </p:nvSpPr>
        <p:spPr>
          <a:xfrm>
            <a:off x="8961120" y="2286000"/>
            <a:ext cx="548640" cy="914"/>
          </a:xfrm>
          <a:prstGeom prst="line">
            <a:avLst/>
          </a:prstGeom>
          <a:noFill/>
          <a:ln w="31750">
            <a:solidFill>
              <a:srgbClr val="A23B3B"/>
            </a:solidFill>
            <a:prstDash val="solid"/>
            <a:tailEnd type="triangle"/>
          </a:ln>
        </p:spPr>
      </p:sp>
      <p:sp>
        <p:nvSpPr>
          <p:cNvPr id="15" name="box"/>
          <p:cNvSpPr/>
          <p:nvPr/>
        </p:nvSpPr>
        <p:spPr>
          <a:xfrm>
            <a:off x="685800" y="3063240"/>
            <a:ext cx="2377440" cy="868680"/>
          </a:xfrm>
          <a:prstGeom prst="roundRect">
            <a:avLst>
              <a:gd name="adj" fmla="val 8421"/>
            </a:avLst>
          </a:prstGeom>
          <a:solidFill>
            <a:srgbClr val="F2D6D6"/>
          </a:solidFill>
          <a:ln w="12700">
            <a:solidFill>
              <a:srgbClr val="F2D6D6"/>
            </a:solidFill>
            <a:prstDash val="solid"/>
          </a:ln>
        </p:spPr>
      </p:sp>
      <p:sp>
        <p:nvSpPr>
          <p:cNvPr id="16" name="Text 13"/>
          <p:cNvSpPr txBox="1"/>
          <p:nvPr/>
        </p:nvSpPr>
        <p:spPr>
          <a:xfrm>
            <a:off x="685800" y="3063240"/>
            <a:ext cx="2377440" cy="868680"/>
          </a:xfrm>
          <a:prstGeom prst="rect">
            <a:avLst/>
          </a:prstGeom>
          <a:noFill/>
          <a:ln/>
        </p:spPr>
        <p:txBody>
          <a:bodyPr wrap="square" lIns="635" tIns="635" rIns="635" bIns="635" rtlCol="0" anchor="ctr"/>
          <a:lstStyle/>
          <a:p>
            <a:pPr algn="ctr" indent="0" marL="0">
              <a:buNone/>
            </a:pPr>
            <a:r>
              <a:rPr lang="en-US" sz="1200" b="1" dirty="0">
                <a:solidFill>
                  <a:srgbClr val="1B2430"/>
                </a:solidFill>
              </a:rPr>
              <a:t>port 2324</a:t>
            </a:r>
            <a:endParaRPr lang="en-US" sz="1200" dirty="0"/>
          </a:p>
          <a:p>
            <a:pPr algn="ctr" indent="0" marL="0">
              <a:buNone/>
            </a:pPr>
            <a:r>
              <a:rPr lang="en-US" sz="1200" dirty="0">
                <a:solidFill>
                  <a:srgbClr val="1B2430"/>
                </a:solidFill>
              </a:rPr>
              <a:t>password readable</a:t>
            </a:r>
            <a:endParaRPr lang="en-US" sz="1200" dirty="0"/>
          </a:p>
        </p:txBody>
      </p:sp>
      <p:sp>
        <p:nvSpPr>
          <p:cNvPr id="17" name="box"/>
          <p:cNvSpPr/>
          <p:nvPr/>
        </p:nvSpPr>
        <p:spPr>
          <a:xfrm>
            <a:off x="5166360" y="3063240"/>
            <a:ext cx="2377440" cy="868680"/>
          </a:xfrm>
          <a:prstGeom prst="roundRect">
            <a:avLst>
              <a:gd name="adj" fmla="val 8421"/>
            </a:avLst>
          </a:prstGeom>
          <a:solidFill>
            <a:srgbClr val="D7EBDD"/>
          </a:solidFill>
          <a:ln w="12700">
            <a:solidFill>
              <a:srgbClr val="D7EBDD"/>
            </a:solidFill>
            <a:prstDash val="solid"/>
          </a:ln>
        </p:spPr>
      </p:sp>
      <p:sp>
        <p:nvSpPr>
          <p:cNvPr id="18" name="Text 15"/>
          <p:cNvSpPr txBox="1"/>
          <p:nvPr/>
        </p:nvSpPr>
        <p:spPr>
          <a:xfrm>
            <a:off x="5166360" y="3063240"/>
            <a:ext cx="2377440" cy="868680"/>
          </a:xfrm>
          <a:prstGeom prst="rect">
            <a:avLst/>
          </a:prstGeom>
          <a:noFill/>
          <a:ln/>
        </p:spPr>
        <p:txBody>
          <a:bodyPr wrap="square" lIns="635" tIns="635" rIns="635" bIns="635" rtlCol="0" anchor="ctr"/>
          <a:lstStyle/>
          <a:p>
            <a:pPr algn="ctr" indent="0" marL="0">
              <a:buNone/>
            </a:pPr>
            <a:r>
              <a:rPr lang="en-US" sz="1200" b="1" dirty="0">
                <a:solidFill>
                  <a:srgbClr val="1B2430"/>
                </a:solidFill>
              </a:rPr>
              <a:t>port 22</a:t>
            </a:r>
            <a:endParaRPr lang="en-US" sz="1200" dirty="0"/>
          </a:p>
          <a:p>
            <a:pPr algn="ctr" indent="0" marL="0">
              <a:buNone/>
            </a:pPr>
            <a:r>
              <a:rPr lang="en-US" sz="1200" dirty="0">
                <a:solidFill>
                  <a:srgbClr val="1B2430"/>
                </a:solidFill>
              </a:rPr>
              <a:t>only ciphertext</a:t>
            </a:r>
            <a:endParaRPr lang="en-US" sz="1200" dirty="0"/>
          </a:p>
        </p:txBody>
      </p:sp>
      <p:sp>
        <p:nvSpPr>
          <p:cNvPr id="19" name="box"/>
          <p:cNvSpPr/>
          <p:nvPr/>
        </p:nvSpPr>
        <p:spPr>
          <a:xfrm>
            <a:off x="8321040" y="3063240"/>
            <a:ext cx="2377440" cy="868680"/>
          </a:xfrm>
          <a:prstGeom prst="roundRect">
            <a:avLst>
              <a:gd name="adj" fmla="val 8421"/>
            </a:avLst>
          </a:prstGeom>
          <a:solidFill>
            <a:srgbClr val="F2D6D6"/>
          </a:solidFill>
          <a:ln w="12700">
            <a:solidFill>
              <a:srgbClr val="F2D6D6"/>
            </a:solidFill>
            <a:prstDash val="solid"/>
          </a:ln>
        </p:spPr>
      </p:sp>
      <p:sp>
        <p:nvSpPr>
          <p:cNvPr id="20" name="Text 17"/>
          <p:cNvSpPr txBox="1"/>
          <p:nvPr/>
        </p:nvSpPr>
        <p:spPr>
          <a:xfrm>
            <a:off x="8321040" y="3063240"/>
            <a:ext cx="2377440" cy="868680"/>
          </a:xfrm>
          <a:prstGeom prst="rect">
            <a:avLst/>
          </a:prstGeom>
          <a:noFill/>
          <a:ln/>
        </p:spPr>
        <p:txBody>
          <a:bodyPr wrap="square" lIns="635" tIns="635" rIns="635" bIns="635" rtlCol="0" anchor="ctr"/>
          <a:lstStyle/>
          <a:p>
            <a:pPr algn="ctr" indent="0" marL="0">
              <a:buNone/>
            </a:pPr>
            <a:r>
              <a:rPr lang="en-US" sz="1200" b="1" dirty="0">
                <a:solidFill>
                  <a:srgbClr val="1B2430"/>
                </a:solidFill>
              </a:rPr>
              <a:t>port 2323</a:t>
            </a:r>
            <a:endParaRPr lang="en-US" sz="1200" dirty="0"/>
          </a:p>
          <a:p>
            <a:pPr algn="ctr" indent="0" marL="0">
              <a:buNone/>
            </a:pPr>
            <a:r>
              <a:rPr lang="en-US" sz="1200" dirty="0">
                <a:solidFill>
                  <a:srgbClr val="1B2430"/>
                </a:solidFill>
              </a:rPr>
              <a:t>password readable</a:t>
            </a:r>
            <a:endParaRPr lang="en-US" sz="1200" dirty="0"/>
          </a:p>
        </p:txBody>
      </p:sp>
      <p:sp>
        <p:nvSpPr>
          <p:cNvPr id="21" name="Shape 18"/>
          <p:cNvSpPr/>
          <p:nvPr/>
        </p:nvSpPr>
        <p:spPr>
          <a:xfrm>
            <a:off x="548640" y="4224528"/>
            <a:ext cx="384048" cy="384048"/>
          </a:xfrm>
          <a:prstGeom prst="ellipse">
            <a:avLst/>
          </a:prstGeom>
          <a:solidFill>
            <a:srgbClr val="B9772A"/>
          </a:solidFill>
          <a:ln w="12700">
            <a:solidFill>
              <a:srgbClr val="B9772A"/>
            </a:solidFill>
            <a:prstDash val="solid"/>
          </a:ln>
        </p:spPr>
      </p:sp>
      <p:sp>
        <p:nvSpPr>
          <p:cNvPr id="22" name="Text 19"/>
          <p:cNvSpPr txBox="1"/>
          <p:nvPr/>
        </p:nvSpPr>
        <p:spPr>
          <a:xfrm>
            <a:off x="548640" y="4224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3" name="Text 20"/>
          <p:cNvSpPr txBox="1"/>
          <p:nvPr/>
        </p:nvSpPr>
        <p:spPr>
          <a:xfrm>
            <a:off x="1051560" y="4206240"/>
            <a:ext cx="4983480" cy="13716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Q9 · On one machine all legs are local; on a real gateway only the middle leg crosses the untrusted network.</a:t>
            </a:r>
            <a:endParaRPr lang="en-US" sz="1200" dirty="0"/>
          </a:p>
        </p:txBody>
      </p:sp>
      <p:sp>
        <p:nvSpPr>
          <p:cNvPr id="24" name="Shape 21"/>
          <p:cNvSpPr/>
          <p:nvPr/>
        </p:nvSpPr>
        <p:spPr>
          <a:xfrm>
            <a:off x="6217920" y="4224528"/>
            <a:ext cx="384048" cy="384048"/>
          </a:xfrm>
          <a:prstGeom prst="ellipse">
            <a:avLst/>
          </a:prstGeom>
          <a:solidFill>
            <a:srgbClr val="B9772A"/>
          </a:solidFill>
          <a:ln w="12700">
            <a:solidFill>
              <a:srgbClr val="B9772A"/>
            </a:solidFill>
            <a:prstDash val="solid"/>
          </a:ln>
        </p:spPr>
      </p:sp>
      <p:sp>
        <p:nvSpPr>
          <p:cNvPr id="25" name="Text 22"/>
          <p:cNvSpPr txBox="1"/>
          <p:nvPr/>
        </p:nvSpPr>
        <p:spPr>
          <a:xfrm>
            <a:off x="6217920" y="4224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6" name="Text 23"/>
          <p:cNvSpPr txBox="1"/>
          <p:nvPr/>
        </p:nvSpPr>
        <p:spPr>
          <a:xfrm>
            <a:off x="6720840" y="4206240"/>
            <a:ext cx="4892040" cy="13716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Q10 · scp and sftp use </a:t>
            </a:r>
            <a:r>
              <a:rPr lang="en-US" sz="1200" b="1" dirty="0">
                <a:solidFill>
                  <a:srgbClr val="1B2430"/>
                </a:solidFill>
              </a:rPr>
              <a:t>port 22, one TCP connection</a:t>
            </a:r>
            <a:r>
              <a:rPr lang="en-US" sz="1200" dirty="0">
                <a:solidFill>
                  <a:srgbClr val="1B2430"/>
                </a:solidFill>
              </a:rPr>
              <a:t> — FTP uses one per transfer plus control.</a:t>
            </a:r>
            <a:endParaRPr lang="en-US" sz="1200" dirty="0"/>
          </a:p>
        </p:txBody>
      </p:sp>
      <p:sp>
        <p:nvSpPr>
          <p:cNvPr id="2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8" name="Text 2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The tunnel protects only the leg between the SSH client and the SSH server.</a:t>
            </a:r>
            <a:endParaRPr lang="en-US" sz="1400" dirty="0"/>
          </a:p>
        </p:txBody>
      </p:sp>
      <p:sp>
        <p:nvSpPr>
          <p:cNvPr id="29" name="Text 26"/>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TCP (Transmission Control Protocol) · SSH (Secure Shell) · FTP (File Transfer Protocol) · scp (secure copy)</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6 · FTP with standard tools: count the connections</a:t>
            </a:r>
            <a:endParaRPr lang="en-US" sz="3000" dirty="0"/>
          </a:p>
        </p:txBody>
      </p:sp>
      <p:sp>
        <p:nvSpPr>
          <p:cNvPr id="4" name="code"/>
          <p:cNvSpPr/>
          <p:nvPr/>
        </p:nvSpPr>
        <p:spPr>
          <a:xfrm>
            <a:off x="548640" y="1280160"/>
            <a:ext cx="5852160" cy="2103120"/>
          </a:xfrm>
          <a:prstGeom prst="rect">
            <a:avLst/>
          </a:prstGeom>
          <a:solidFill>
            <a:srgbClr val="1E2A38"/>
          </a:solidFill>
          <a:ln w="12700">
            <a:solidFill>
              <a:srgbClr val="1E2A38"/>
            </a:solidFill>
            <a:prstDash val="solid"/>
          </a:ln>
        </p:spPr>
      </p:sp>
      <p:sp>
        <p:nvSpPr>
          <p:cNvPr id="5" name="Text 2"/>
          <p:cNvSpPr txBox="1"/>
          <p:nvPr/>
        </p:nvSpPr>
        <p:spPr>
          <a:xfrm>
            <a:off x="548640" y="1280160"/>
            <a:ext cx="5852160" cy="210312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python3 -m pyftpdlib -p 2121 -d ~/ftproot \</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        -u student -P secret</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ftp -d -v -p 127.0.0.1 2121</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  user student secret · ls · binary</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  get data.bin · passive · ls · quit</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watch -n 0.5 'ss -tn | grep 127.0.0.1'</a:t>
            </a:r>
            <a:endParaRPr lang="en-US" sz="1200" dirty="0"/>
          </a:p>
        </p:txBody>
      </p:sp>
      <p:sp>
        <p:nvSpPr>
          <p:cNvPr id="6" name="box"/>
          <p:cNvSpPr/>
          <p:nvPr/>
        </p:nvSpPr>
        <p:spPr>
          <a:xfrm>
            <a:off x="6675120" y="1280160"/>
            <a:ext cx="4937760" cy="640080"/>
          </a:xfrm>
          <a:prstGeom prst="roundRect">
            <a:avLst>
              <a:gd name="adj" fmla="val 11429"/>
            </a:avLst>
          </a:prstGeom>
          <a:solidFill>
            <a:srgbClr val="1F3A5F"/>
          </a:solidFill>
          <a:ln w="12700">
            <a:solidFill>
              <a:srgbClr val="1F3A5F"/>
            </a:solidFill>
            <a:prstDash val="solid"/>
          </a:ln>
        </p:spPr>
      </p:sp>
      <p:sp>
        <p:nvSpPr>
          <p:cNvPr id="7" name="Text 4"/>
          <p:cNvSpPr txBox="1"/>
          <p:nvPr/>
        </p:nvSpPr>
        <p:spPr>
          <a:xfrm>
            <a:off x="6675120" y="1280160"/>
            <a:ext cx="493776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control :2121 — the whole session</a:t>
            </a:r>
            <a:endParaRPr lang="en-US" sz="1200" dirty="0"/>
          </a:p>
        </p:txBody>
      </p:sp>
      <p:sp>
        <p:nvSpPr>
          <p:cNvPr id="8" name="box"/>
          <p:cNvSpPr/>
          <p:nvPr/>
        </p:nvSpPr>
        <p:spPr>
          <a:xfrm>
            <a:off x="6675120" y="2057400"/>
            <a:ext cx="2377440" cy="475488"/>
          </a:xfrm>
          <a:prstGeom prst="roundRect">
            <a:avLst>
              <a:gd name="adj" fmla="val 15385"/>
            </a:avLst>
          </a:prstGeom>
          <a:solidFill>
            <a:srgbClr val="EEF2F6"/>
          </a:solidFill>
          <a:ln w="12700">
            <a:solidFill>
              <a:srgbClr val="EEF2F6"/>
            </a:solidFill>
            <a:prstDash val="solid"/>
          </a:ln>
        </p:spPr>
      </p:sp>
      <p:sp>
        <p:nvSpPr>
          <p:cNvPr id="9" name="Text 6"/>
          <p:cNvSpPr txBox="1"/>
          <p:nvPr/>
        </p:nvSpPr>
        <p:spPr>
          <a:xfrm>
            <a:off x="6675120" y="2057400"/>
            <a:ext cx="2377440" cy="475488"/>
          </a:xfrm>
          <a:prstGeom prst="rect">
            <a:avLst/>
          </a:prstGeom>
          <a:noFill/>
          <a:ln/>
        </p:spPr>
        <p:txBody>
          <a:bodyPr wrap="square" lIns="635" tIns="635" rIns="635" bIns="635" rtlCol="0" anchor="ctr"/>
          <a:lstStyle/>
          <a:p>
            <a:pPr algn="ctr" indent="0" marL="0">
              <a:buNone/>
            </a:pPr>
            <a:r>
              <a:rPr lang="en-US" sz="1100" dirty="0">
                <a:solidFill>
                  <a:srgbClr val="1B2430"/>
                </a:solidFill>
              </a:rPr>
              <a:t>ls (passive)</a:t>
            </a:r>
            <a:endParaRPr lang="en-US" sz="1100" dirty="0"/>
          </a:p>
        </p:txBody>
      </p:sp>
      <p:sp>
        <p:nvSpPr>
          <p:cNvPr id="10" name="box"/>
          <p:cNvSpPr/>
          <p:nvPr/>
        </p:nvSpPr>
        <p:spPr>
          <a:xfrm>
            <a:off x="9144000" y="2057400"/>
            <a:ext cx="2468880" cy="475488"/>
          </a:xfrm>
          <a:prstGeom prst="roundRect">
            <a:avLst>
              <a:gd name="adj" fmla="val 15385"/>
            </a:avLst>
          </a:prstGeom>
          <a:solidFill>
            <a:srgbClr val="2E7D4F"/>
          </a:solidFill>
          <a:ln w="12700">
            <a:solidFill>
              <a:srgbClr val="2E7D4F"/>
            </a:solidFill>
            <a:prstDash val="solid"/>
          </a:ln>
        </p:spPr>
      </p:sp>
      <p:sp>
        <p:nvSpPr>
          <p:cNvPr id="11" name="Text 8"/>
          <p:cNvSpPr txBox="1"/>
          <p:nvPr/>
        </p:nvSpPr>
        <p:spPr>
          <a:xfrm>
            <a:off x="9144000" y="2057400"/>
            <a:ext cx="2468880" cy="475488"/>
          </a:xfrm>
          <a:prstGeom prst="rect">
            <a:avLst/>
          </a:prstGeom>
          <a:noFill/>
          <a:ln/>
        </p:spPr>
        <p:txBody>
          <a:bodyPr wrap="square" lIns="635" tIns="635" rIns="635" bIns="635" rtlCol="0" anchor="ctr"/>
          <a:lstStyle/>
          <a:p>
            <a:pPr algn="ctr" indent="0" marL="0">
              <a:buNone/>
            </a:pPr>
            <a:r>
              <a:rPr lang="en-US" sz="1000" dirty="0">
                <a:solidFill>
                  <a:srgbClr val="FFFFFF"/>
                </a:solidFill>
              </a:rPr>
              <a:t>client → server port from 227</a:t>
            </a:r>
            <a:endParaRPr lang="en-US" sz="1000" dirty="0"/>
          </a:p>
        </p:txBody>
      </p:sp>
      <p:sp>
        <p:nvSpPr>
          <p:cNvPr id="12" name="box"/>
          <p:cNvSpPr/>
          <p:nvPr/>
        </p:nvSpPr>
        <p:spPr>
          <a:xfrm>
            <a:off x="6675120" y="2624328"/>
            <a:ext cx="2377440" cy="475488"/>
          </a:xfrm>
          <a:prstGeom prst="roundRect">
            <a:avLst>
              <a:gd name="adj" fmla="val 15385"/>
            </a:avLst>
          </a:prstGeom>
          <a:solidFill>
            <a:srgbClr val="EEF2F6"/>
          </a:solidFill>
          <a:ln w="12700">
            <a:solidFill>
              <a:srgbClr val="EEF2F6"/>
            </a:solidFill>
            <a:prstDash val="solid"/>
          </a:ln>
        </p:spPr>
      </p:sp>
      <p:sp>
        <p:nvSpPr>
          <p:cNvPr id="13" name="Text 10"/>
          <p:cNvSpPr txBox="1"/>
          <p:nvPr/>
        </p:nvSpPr>
        <p:spPr>
          <a:xfrm>
            <a:off x="6675120" y="2624328"/>
            <a:ext cx="2377440" cy="475488"/>
          </a:xfrm>
          <a:prstGeom prst="rect">
            <a:avLst/>
          </a:prstGeom>
          <a:noFill/>
          <a:ln/>
        </p:spPr>
        <p:txBody>
          <a:bodyPr wrap="square" lIns="635" tIns="635" rIns="635" bIns="635" rtlCol="0" anchor="ctr"/>
          <a:lstStyle/>
          <a:p>
            <a:pPr algn="ctr" indent="0" marL="0">
              <a:buNone/>
            </a:pPr>
            <a:r>
              <a:rPr lang="en-US" sz="1100" dirty="0">
                <a:solidFill>
                  <a:srgbClr val="1B2430"/>
                </a:solidFill>
              </a:rPr>
              <a:t>get data.bin (passive)</a:t>
            </a:r>
            <a:endParaRPr lang="en-US" sz="1100" dirty="0"/>
          </a:p>
        </p:txBody>
      </p:sp>
      <p:sp>
        <p:nvSpPr>
          <p:cNvPr id="14" name="box"/>
          <p:cNvSpPr/>
          <p:nvPr/>
        </p:nvSpPr>
        <p:spPr>
          <a:xfrm>
            <a:off x="9144000" y="2624328"/>
            <a:ext cx="2468880" cy="475488"/>
          </a:xfrm>
          <a:prstGeom prst="roundRect">
            <a:avLst>
              <a:gd name="adj" fmla="val 15385"/>
            </a:avLst>
          </a:prstGeom>
          <a:solidFill>
            <a:srgbClr val="2E7D4F"/>
          </a:solidFill>
          <a:ln w="12700">
            <a:solidFill>
              <a:srgbClr val="2E7D4F"/>
            </a:solidFill>
            <a:prstDash val="solid"/>
          </a:ln>
        </p:spPr>
      </p:sp>
      <p:sp>
        <p:nvSpPr>
          <p:cNvPr id="15" name="Text 12"/>
          <p:cNvSpPr txBox="1"/>
          <p:nvPr/>
        </p:nvSpPr>
        <p:spPr>
          <a:xfrm>
            <a:off x="9144000" y="2624328"/>
            <a:ext cx="2468880" cy="475488"/>
          </a:xfrm>
          <a:prstGeom prst="rect">
            <a:avLst/>
          </a:prstGeom>
          <a:noFill/>
          <a:ln/>
        </p:spPr>
        <p:txBody>
          <a:bodyPr wrap="square" lIns="635" tIns="635" rIns="635" bIns="635" rtlCol="0" anchor="ctr"/>
          <a:lstStyle/>
          <a:p>
            <a:pPr algn="ctr" indent="0" marL="0">
              <a:buNone/>
            </a:pPr>
            <a:r>
              <a:rPr lang="en-US" sz="1000" dirty="0">
                <a:solidFill>
                  <a:srgbClr val="FFFFFF"/>
                </a:solidFill>
              </a:rPr>
              <a:t>client → server</a:t>
            </a:r>
            <a:endParaRPr lang="en-US" sz="1000" dirty="0"/>
          </a:p>
        </p:txBody>
      </p:sp>
      <p:sp>
        <p:nvSpPr>
          <p:cNvPr id="16" name="box"/>
          <p:cNvSpPr/>
          <p:nvPr/>
        </p:nvSpPr>
        <p:spPr>
          <a:xfrm>
            <a:off x="6675120" y="3191256"/>
            <a:ext cx="2377440" cy="475488"/>
          </a:xfrm>
          <a:prstGeom prst="roundRect">
            <a:avLst>
              <a:gd name="adj" fmla="val 15385"/>
            </a:avLst>
          </a:prstGeom>
          <a:solidFill>
            <a:srgbClr val="EEF2F6"/>
          </a:solidFill>
          <a:ln w="12700">
            <a:solidFill>
              <a:srgbClr val="EEF2F6"/>
            </a:solidFill>
            <a:prstDash val="solid"/>
          </a:ln>
        </p:spPr>
      </p:sp>
      <p:sp>
        <p:nvSpPr>
          <p:cNvPr id="17" name="Text 14"/>
          <p:cNvSpPr txBox="1"/>
          <p:nvPr/>
        </p:nvSpPr>
        <p:spPr>
          <a:xfrm>
            <a:off x="6675120" y="3191256"/>
            <a:ext cx="2377440" cy="475488"/>
          </a:xfrm>
          <a:prstGeom prst="rect">
            <a:avLst/>
          </a:prstGeom>
          <a:noFill/>
          <a:ln/>
        </p:spPr>
        <p:txBody>
          <a:bodyPr wrap="square" lIns="635" tIns="635" rIns="635" bIns="635" rtlCol="0" anchor="ctr"/>
          <a:lstStyle/>
          <a:p>
            <a:pPr algn="ctr" indent="0" marL="0">
              <a:buNone/>
            </a:pPr>
            <a:r>
              <a:rPr lang="en-US" sz="1100" dirty="0">
                <a:solidFill>
                  <a:srgbClr val="1B2430"/>
                </a:solidFill>
              </a:rPr>
              <a:t>ls (active, after ‘passive’)</a:t>
            </a:r>
            <a:endParaRPr lang="en-US" sz="1100" dirty="0"/>
          </a:p>
        </p:txBody>
      </p:sp>
      <p:sp>
        <p:nvSpPr>
          <p:cNvPr id="18" name="box"/>
          <p:cNvSpPr/>
          <p:nvPr/>
        </p:nvSpPr>
        <p:spPr>
          <a:xfrm>
            <a:off x="9144000" y="3191256"/>
            <a:ext cx="2468880" cy="475488"/>
          </a:xfrm>
          <a:prstGeom prst="roundRect">
            <a:avLst>
              <a:gd name="adj" fmla="val 15385"/>
            </a:avLst>
          </a:prstGeom>
          <a:solidFill>
            <a:srgbClr val="A23B3B"/>
          </a:solidFill>
          <a:ln w="12700">
            <a:solidFill>
              <a:srgbClr val="A23B3B"/>
            </a:solidFill>
            <a:prstDash val="solid"/>
          </a:ln>
        </p:spPr>
      </p:sp>
      <p:sp>
        <p:nvSpPr>
          <p:cNvPr id="19" name="Text 16"/>
          <p:cNvSpPr txBox="1"/>
          <p:nvPr/>
        </p:nvSpPr>
        <p:spPr>
          <a:xfrm>
            <a:off x="9144000" y="3191256"/>
            <a:ext cx="2468880" cy="475488"/>
          </a:xfrm>
          <a:prstGeom prst="rect">
            <a:avLst/>
          </a:prstGeom>
          <a:noFill/>
          <a:ln/>
        </p:spPr>
        <p:txBody>
          <a:bodyPr wrap="square" lIns="635" tIns="635" rIns="635" bIns="635" rtlCol="0" anchor="ctr"/>
          <a:lstStyle/>
          <a:p>
            <a:pPr algn="ctr" indent="0" marL="0">
              <a:buNone/>
            </a:pPr>
            <a:r>
              <a:rPr lang="en-US" sz="1000" dirty="0">
                <a:solidFill>
                  <a:srgbClr val="FFFFFF"/>
                </a:solidFill>
              </a:rPr>
              <a:t>server → client port from PORT</a:t>
            </a:r>
            <a:endParaRPr lang="en-US" sz="1000" dirty="0"/>
          </a:p>
        </p:txBody>
      </p:sp>
      <p:sp>
        <p:nvSpPr>
          <p:cNvPr id="20" name="Shape 17"/>
          <p:cNvSpPr/>
          <p:nvPr/>
        </p:nvSpPr>
        <p:spPr>
          <a:xfrm>
            <a:off x="548640" y="3767328"/>
            <a:ext cx="384048" cy="384048"/>
          </a:xfrm>
          <a:prstGeom prst="ellipse">
            <a:avLst/>
          </a:prstGeom>
          <a:solidFill>
            <a:srgbClr val="B9772A"/>
          </a:solidFill>
          <a:ln w="12700">
            <a:solidFill>
              <a:srgbClr val="B9772A"/>
            </a:solidFill>
            <a:prstDash val="solid"/>
          </a:ln>
        </p:spPr>
      </p:sp>
      <p:sp>
        <p:nvSpPr>
          <p:cNvPr id="21" name="Text 18"/>
          <p:cNvSpPr txBox="1"/>
          <p:nvPr/>
        </p:nvSpPr>
        <p:spPr>
          <a:xfrm>
            <a:off x="548640" y="3767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2" name="Text 19"/>
          <p:cNvSpPr txBox="1"/>
          <p:nvPr/>
        </p:nvSpPr>
        <p:spPr>
          <a:xfrm>
            <a:off x="1051560" y="3749040"/>
            <a:ext cx="4983480" cy="173736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Q11 · From </a:t>
            </a:r>
            <a:r>
              <a:rPr lang="en-US" sz="1300" dirty="0">
                <a:solidFill>
                  <a:srgbClr val="1B2430"/>
                </a:solidFill>
                <a:latin typeface="Consolas" pitchFamily="34" charset="0"/>
                <a:ea typeface="Consolas" pitchFamily="34" charset="-122"/>
                <a:cs typeface="Consolas" pitchFamily="34" charset="-120"/>
              </a:rPr>
              <a:t>227 (127,0,0,1,p1,p2)</a:t>
            </a:r>
            <a:r>
              <a:rPr lang="en-US" sz="1300" dirty="0">
                <a:solidFill>
                  <a:srgbClr val="1B2430"/>
                </a:solidFill>
              </a:rPr>
              <a:t> and </a:t>
            </a:r>
            <a:r>
              <a:rPr lang="en-US" sz="1300" dirty="0">
                <a:solidFill>
                  <a:srgbClr val="1B2430"/>
                </a:solidFill>
                <a:latin typeface="Consolas" pitchFamily="34" charset="0"/>
                <a:ea typeface="Consolas" pitchFamily="34" charset="-122"/>
                <a:cs typeface="Consolas" pitchFamily="34" charset="-120"/>
              </a:rPr>
              <a:t>PORT …,p1,p2</a:t>
            </a:r>
            <a:r>
              <a:rPr lang="en-US" sz="1300" dirty="0">
                <a:solidFill>
                  <a:srgbClr val="1B2430"/>
                </a:solidFill>
              </a:rPr>
              <a:t> compute both ports: p1 × 256 + p2.</a:t>
            </a:r>
            <a:endParaRPr lang="en-US" sz="1300" dirty="0"/>
          </a:p>
        </p:txBody>
      </p:sp>
      <p:sp>
        <p:nvSpPr>
          <p:cNvPr id="23" name="Shape 20"/>
          <p:cNvSpPr/>
          <p:nvPr/>
        </p:nvSpPr>
        <p:spPr>
          <a:xfrm>
            <a:off x="6217920" y="3950208"/>
            <a:ext cx="384048" cy="384048"/>
          </a:xfrm>
          <a:prstGeom prst="ellipse">
            <a:avLst/>
          </a:prstGeom>
          <a:solidFill>
            <a:srgbClr val="B9772A"/>
          </a:solidFill>
          <a:ln w="12700">
            <a:solidFill>
              <a:srgbClr val="B9772A"/>
            </a:solidFill>
            <a:prstDash val="solid"/>
          </a:ln>
        </p:spPr>
      </p:sp>
      <p:sp>
        <p:nvSpPr>
          <p:cNvPr id="24" name="Text 21"/>
          <p:cNvSpPr txBox="1"/>
          <p:nvPr/>
        </p:nvSpPr>
        <p:spPr>
          <a:xfrm>
            <a:off x="6217920"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5" name="Text 22"/>
          <p:cNvSpPr txBox="1"/>
          <p:nvPr/>
        </p:nvSpPr>
        <p:spPr>
          <a:xfrm>
            <a:off x="6720840" y="3931920"/>
            <a:ext cx="4892040" cy="15544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Q12 · 1 control + 3 data = </a:t>
            </a:r>
            <a:r>
              <a:rPr lang="en-US" sz="1300" b="1" dirty="0">
                <a:solidFill>
                  <a:srgbClr val="1B2430"/>
                </a:solidFill>
              </a:rPr>
              <a:t>4 connections</a:t>
            </a:r>
            <a:r>
              <a:rPr lang="en-US" sz="1300" dirty="0">
                <a:solidFill>
                  <a:srgbClr val="1B2430"/>
                </a:solidFill>
              </a:rPr>
              <a:t>; the password is readable on the control one.</a:t>
            </a:r>
            <a:endParaRPr lang="en-US" sz="1300" dirty="0"/>
          </a:p>
        </p:txBody>
      </p:sp>
      <p:sp>
        <p:nvSpPr>
          <p:cNvPr id="2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7" name="Text 2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The control connection lives as long as the session; each data connection lives for one transfer.</a:t>
            </a:r>
            <a:endParaRPr lang="en-US" sz="1400" dirty="0"/>
          </a:p>
        </p:txBody>
      </p:sp>
      <p:sp>
        <p:nvSpPr>
          <p:cNvPr id="28" name="Text 2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FTP (File Transfer Protocol) · ss (socket statistics)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7 · An FTP client of your own: the flow</a:t>
            </a:r>
            <a:endParaRPr lang="en-US" sz="3000" dirty="0"/>
          </a:p>
        </p:txBody>
      </p:sp>
      <p:sp>
        <p:nvSpPr>
          <p:cNvPr id="4" name="box"/>
          <p:cNvSpPr/>
          <p:nvPr/>
        </p:nvSpPr>
        <p:spPr>
          <a:xfrm>
            <a:off x="548640" y="1280160"/>
            <a:ext cx="3657600" cy="621792"/>
          </a:xfrm>
          <a:prstGeom prst="roundRect">
            <a:avLst>
              <a:gd name="adj" fmla="val 11765"/>
            </a:avLst>
          </a:prstGeom>
          <a:solidFill>
            <a:srgbClr val="EEF2F6"/>
          </a:solidFill>
          <a:ln w="12700">
            <a:solidFill>
              <a:srgbClr val="EEF2F6"/>
            </a:solidFill>
            <a:prstDash val="solid"/>
          </a:ln>
        </p:spPr>
      </p:sp>
      <p:sp>
        <p:nvSpPr>
          <p:cNvPr id="5" name="Text 2"/>
          <p:cNvSpPr txBox="1"/>
          <p:nvPr/>
        </p:nvSpPr>
        <p:spPr>
          <a:xfrm>
            <a:off x="548640" y="1280160"/>
            <a:ext cx="3657600" cy="621792"/>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tcp_connect(host, 2121)</a:t>
            </a:r>
            <a:endParaRPr lang="en-US" sz="1100" dirty="0"/>
          </a:p>
        </p:txBody>
      </p:sp>
      <p:sp>
        <p:nvSpPr>
          <p:cNvPr id="6" name="Text 3"/>
          <p:cNvSpPr txBox="1"/>
          <p:nvPr/>
        </p:nvSpPr>
        <p:spPr>
          <a:xfrm>
            <a:off x="4297680" y="1389888"/>
            <a:ext cx="1828800" cy="50292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control</a:t>
            </a:r>
            <a:endParaRPr lang="en-US" sz="1100" dirty="0"/>
          </a:p>
        </p:txBody>
      </p:sp>
      <p:sp>
        <p:nvSpPr>
          <p:cNvPr id="7" name="Shape 4"/>
          <p:cNvSpPr/>
          <p:nvPr/>
        </p:nvSpPr>
        <p:spPr>
          <a:xfrm>
            <a:off x="2377440" y="1901952"/>
            <a:ext cx="914" cy="155448"/>
          </a:xfrm>
          <a:prstGeom prst="line">
            <a:avLst/>
          </a:prstGeom>
          <a:noFill/>
          <a:ln w="12700">
            <a:solidFill>
              <a:srgbClr val="9AA5AE"/>
            </a:solidFill>
            <a:prstDash val="solid"/>
            <a:tailEnd type="triangle"/>
          </a:ln>
        </p:spPr>
      </p:sp>
      <p:sp>
        <p:nvSpPr>
          <p:cNvPr id="8" name="box"/>
          <p:cNvSpPr/>
          <p:nvPr/>
        </p:nvSpPr>
        <p:spPr>
          <a:xfrm>
            <a:off x="548640" y="2057400"/>
            <a:ext cx="3657600" cy="621792"/>
          </a:xfrm>
          <a:prstGeom prst="roundRect">
            <a:avLst>
              <a:gd name="adj" fmla="val 11765"/>
            </a:avLst>
          </a:prstGeom>
          <a:solidFill>
            <a:srgbClr val="EEF2F6"/>
          </a:solidFill>
          <a:ln w="12700">
            <a:solidFill>
              <a:srgbClr val="EEF2F6"/>
            </a:solidFill>
            <a:prstDash val="solid"/>
          </a:ln>
        </p:spPr>
      </p:sp>
      <p:sp>
        <p:nvSpPr>
          <p:cNvPr id="9" name="Text 6"/>
          <p:cNvSpPr txBox="1"/>
          <p:nvPr/>
        </p:nvSpPr>
        <p:spPr>
          <a:xfrm>
            <a:off x="548640" y="2057400"/>
            <a:ext cx="3657600" cy="621792"/>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reply() → 220</a:t>
            </a:r>
            <a:endParaRPr lang="en-US" sz="1100" dirty="0"/>
          </a:p>
        </p:txBody>
      </p:sp>
      <p:sp>
        <p:nvSpPr>
          <p:cNvPr id="10" name="Shape 7"/>
          <p:cNvSpPr/>
          <p:nvPr/>
        </p:nvSpPr>
        <p:spPr>
          <a:xfrm>
            <a:off x="2377440" y="2679192"/>
            <a:ext cx="914" cy="155448"/>
          </a:xfrm>
          <a:prstGeom prst="line">
            <a:avLst/>
          </a:prstGeom>
          <a:noFill/>
          <a:ln w="12700">
            <a:solidFill>
              <a:srgbClr val="9AA5AE"/>
            </a:solidFill>
            <a:prstDash val="solid"/>
            <a:tailEnd type="triangle"/>
          </a:ln>
        </p:spPr>
      </p:sp>
      <p:sp>
        <p:nvSpPr>
          <p:cNvPr id="11" name="box"/>
          <p:cNvSpPr/>
          <p:nvPr/>
        </p:nvSpPr>
        <p:spPr>
          <a:xfrm>
            <a:off x="548640" y="2834640"/>
            <a:ext cx="3657600" cy="621792"/>
          </a:xfrm>
          <a:prstGeom prst="roundRect">
            <a:avLst>
              <a:gd name="adj" fmla="val 11765"/>
            </a:avLst>
          </a:prstGeom>
          <a:solidFill>
            <a:srgbClr val="EEF2F6"/>
          </a:solidFill>
          <a:ln w="12700">
            <a:solidFill>
              <a:srgbClr val="EEF2F6"/>
            </a:solidFill>
            <a:prstDash val="solid"/>
          </a:ln>
        </p:spPr>
      </p:sp>
      <p:sp>
        <p:nvSpPr>
          <p:cNvPr id="12" name="Text 9"/>
          <p:cNvSpPr txBox="1"/>
          <p:nvPr/>
        </p:nvSpPr>
        <p:spPr>
          <a:xfrm>
            <a:off x="548640" y="2834640"/>
            <a:ext cx="3657600" cy="621792"/>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USER / PASS → 331, 230</a:t>
            </a:r>
            <a:endParaRPr lang="en-US" sz="1100" dirty="0"/>
          </a:p>
        </p:txBody>
      </p:sp>
      <p:sp>
        <p:nvSpPr>
          <p:cNvPr id="13" name="Text 10"/>
          <p:cNvSpPr txBox="1"/>
          <p:nvPr/>
        </p:nvSpPr>
        <p:spPr>
          <a:xfrm>
            <a:off x="4297680" y="2944368"/>
            <a:ext cx="1828800" cy="50292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password masked in the log</a:t>
            </a:r>
            <a:endParaRPr lang="en-US" sz="1100" dirty="0"/>
          </a:p>
        </p:txBody>
      </p:sp>
      <p:sp>
        <p:nvSpPr>
          <p:cNvPr id="14" name="Shape 11"/>
          <p:cNvSpPr/>
          <p:nvPr/>
        </p:nvSpPr>
        <p:spPr>
          <a:xfrm>
            <a:off x="2377440" y="3456432"/>
            <a:ext cx="914" cy="155448"/>
          </a:xfrm>
          <a:prstGeom prst="line">
            <a:avLst/>
          </a:prstGeom>
          <a:noFill/>
          <a:ln w="12700">
            <a:solidFill>
              <a:srgbClr val="9AA5AE"/>
            </a:solidFill>
            <a:prstDash val="solid"/>
            <a:tailEnd type="triangle"/>
          </a:ln>
        </p:spPr>
      </p:sp>
      <p:sp>
        <p:nvSpPr>
          <p:cNvPr id="15" name="box"/>
          <p:cNvSpPr/>
          <p:nvPr/>
        </p:nvSpPr>
        <p:spPr>
          <a:xfrm>
            <a:off x="548640" y="3611880"/>
            <a:ext cx="3657600" cy="621792"/>
          </a:xfrm>
          <a:prstGeom prst="roundRect">
            <a:avLst>
              <a:gd name="adj" fmla="val 11765"/>
            </a:avLst>
          </a:prstGeom>
          <a:solidFill>
            <a:srgbClr val="EEF2F6"/>
          </a:solidFill>
          <a:ln w="12700">
            <a:solidFill>
              <a:srgbClr val="EEF2F6"/>
            </a:solidFill>
            <a:prstDash val="solid"/>
          </a:ln>
        </p:spPr>
      </p:sp>
      <p:sp>
        <p:nvSpPr>
          <p:cNvPr id="16" name="Text 13"/>
          <p:cNvSpPr txBox="1"/>
          <p:nvPr/>
        </p:nvSpPr>
        <p:spPr>
          <a:xfrm>
            <a:off x="548640" y="3611880"/>
            <a:ext cx="3657600" cy="621792"/>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TYPE A (ls) or TYPE I (get)</a:t>
            </a:r>
            <a:endParaRPr lang="en-US" sz="1100" dirty="0"/>
          </a:p>
        </p:txBody>
      </p:sp>
      <p:sp>
        <p:nvSpPr>
          <p:cNvPr id="17" name="Shape 14"/>
          <p:cNvSpPr/>
          <p:nvPr/>
        </p:nvSpPr>
        <p:spPr>
          <a:xfrm>
            <a:off x="2377440" y="4233672"/>
            <a:ext cx="914" cy="155448"/>
          </a:xfrm>
          <a:prstGeom prst="line">
            <a:avLst/>
          </a:prstGeom>
          <a:noFill/>
          <a:ln w="12700">
            <a:solidFill>
              <a:srgbClr val="9AA5AE"/>
            </a:solidFill>
            <a:prstDash val="solid"/>
            <a:tailEnd type="triangle"/>
          </a:ln>
        </p:spPr>
      </p:sp>
      <p:sp>
        <p:nvSpPr>
          <p:cNvPr id="18" name="box"/>
          <p:cNvSpPr/>
          <p:nvPr/>
        </p:nvSpPr>
        <p:spPr>
          <a:xfrm>
            <a:off x="548640" y="4389120"/>
            <a:ext cx="3657600" cy="621792"/>
          </a:xfrm>
          <a:prstGeom prst="roundRect">
            <a:avLst>
              <a:gd name="adj" fmla="val 11765"/>
            </a:avLst>
          </a:prstGeom>
          <a:solidFill>
            <a:srgbClr val="F3EAD7"/>
          </a:solidFill>
          <a:ln w="12700">
            <a:solidFill>
              <a:srgbClr val="F3EAD7"/>
            </a:solidFill>
            <a:prstDash val="solid"/>
          </a:ln>
        </p:spPr>
      </p:sp>
      <p:sp>
        <p:nvSpPr>
          <p:cNvPr id="19" name="Text 16"/>
          <p:cNvSpPr txBox="1"/>
          <p:nvPr/>
        </p:nvSpPr>
        <p:spPr>
          <a:xfrm>
            <a:off x="548640" y="4389120"/>
            <a:ext cx="3657600" cy="621792"/>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PASV → 227 (h1,…,p2)</a:t>
            </a:r>
            <a:endParaRPr lang="en-US" sz="1100" dirty="0"/>
          </a:p>
        </p:txBody>
      </p:sp>
      <p:sp>
        <p:nvSpPr>
          <p:cNvPr id="20" name="Text 17"/>
          <p:cNvSpPr txBox="1"/>
          <p:nvPr/>
        </p:nvSpPr>
        <p:spPr>
          <a:xfrm>
            <a:off x="4297680" y="4498848"/>
            <a:ext cx="1828800" cy="50292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parse with sscanf</a:t>
            </a:r>
            <a:endParaRPr lang="en-US" sz="1100" dirty="0"/>
          </a:p>
        </p:txBody>
      </p:sp>
      <p:sp>
        <p:nvSpPr>
          <p:cNvPr id="21" name="box"/>
          <p:cNvSpPr/>
          <p:nvPr/>
        </p:nvSpPr>
        <p:spPr>
          <a:xfrm>
            <a:off x="6217920" y="1280160"/>
            <a:ext cx="3657600" cy="621792"/>
          </a:xfrm>
          <a:prstGeom prst="roundRect">
            <a:avLst>
              <a:gd name="adj" fmla="val 11765"/>
            </a:avLst>
          </a:prstGeom>
          <a:solidFill>
            <a:srgbClr val="B9772A"/>
          </a:solidFill>
          <a:ln w="12700">
            <a:solidFill>
              <a:srgbClr val="B9772A"/>
            </a:solidFill>
            <a:prstDash val="solid"/>
          </a:ln>
        </p:spPr>
      </p:sp>
      <p:sp>
        <p:nvSpPr>
          <p:cNvPr id="22" name="Text 19"/>
          <p:cNvSpPr txBox="1"/>
          <p:nvPr/>
        </p:nvSpPr>
        <p:spPr>
          <a:xfrm>
            <a:off x="6217920" y="1280160"/>
            <a:ext cx="3657600" cy="621792"/>
          </a:xfrm>
          <a:prstGeom prst="rect">
            <a:avLst/>
          </a:prstGeom>
          <a:noFill/>
          <a:ln/>
        </p:spPr>
        <p:txBody>
          <a:bodyPr wrap="square" lIns="635" tIns="635" rIns="635" bIns="635"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tcp_connect(h1.h2.h3.h4, p1·256+p2)</a:t>
            </a:r>
            <a:endParaRPr lang="en-US" sz="1100" dirty="0"/>
          </a:p>
        </p:txBody>
      </p:sp>
      <p:sp>
        <p:nvSpPr>
          <p:cNvPr id="23" name="Text 20"/>
          <p:cNvSpPr txBox="1"/>
          <p:nvPr/>
        </p:nvSpPr>
        <p:spPr>
          <a:xfrm>
            <a:off x="9966960" y="1389888"/>
            <a:ext cx="1828800" cy="50292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data</a:t>
            </a:r>
            <a:endParaRPr lang="en-US" sz="1100" dirty="0"/>
          </a:p>
        </p:txBody>
      </p:sp>
      <p:sp>
        <p:nvSpPr>
          <p:cNvPr id="24" name="Shape 21"/>
          <p:cNvSpPr/>
          <p:nvPr/>
        </p:nvSpPr>
        <p:spPr>
          <a:xfrm>
            <a:off x="8046720" y="1901952"/>
            <a:ext cx="914" cy="155448"/>
          </a:xfrm>
          <a:prstGeom prst="line">
            <a:avLst/>
          </a:prstGeom>
          <a:noFill/>
          <a:ln w="12700">
            <a:solidFill>
              <a:srgbClr val="9AA5AE"/>
            </a:solidFill>
            <a:prstDash val="solid"/>
            <a:tailEnd type="triangle"/>
          </a:ln>
        </p:spPr>
      </p:sp>
      <p:sp>
        <p:nvSpPr>
          <p:cNvPr id="25" name="box"/>
          <p:cNvSpPr/>
          <p:nvPr/>
        </p:nvSpPr>
        <p:spPr>
          <a:xfrm>
            <a:off x="6217920" y="2057400"/>
            <a:ext cx="3657600" cy="621792"/>
          </a:xfrm>
          <a:prstGeom prst="roundRect">
            <a:avLst>
              <a:gd name="adj" fmla="val 11765"/>
            </a:avLst>
          </a:prstGeom>
          <a:solidFill>
            <a:srgbClr val="EEF2F6"/>
          </a:solidFill>
          <a:ln w="12700">
            <a:solidFill>
              <a:srgbClr val="EEF2F6"/>
            </a:solidFill>
            <a:prstDash val="solid"/>
          </a:ln>
        </p:spPr>
      </p:sp>
      <p:sp>
        <p:nvSpPr>
          <p:cNvPr id="26" name="Text 23"/>
          <p:cNvSpPr txBox="1"/>
          <p:nvPr/>
        </p:nvSpPr>
        <p:spPr>
          <a:xfrm>
            <a:off x="6217920" y="2057400"/>
            <a:ext cx="3657600" cy="621792"/>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LIST or RETR name → 150</a:t>
            </a:r>
            <a:endParaRPr lang="en-US" sz="1100" dirty="0"/>
          </a:p>
        </p:txBody>
      </p:sp>
      <p:sp>
        <p:nvSpPr>
          <p:cNvPr id="27" name="Text 24"/>
          <p:cNvSpPr txBox="1"/>
          <p:nvPr/>
        </p:nvSpPr>
        <p:spPr>
          <a:xfrm>
            <a:off x="9966960" y="2167128"/>
            <a:ext cx="1828800" cy="50292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550 → error, close data</a:t>
            </a:r>
            <a:endParaRPr lang="en-US" sz="1100" dirty="0"/>
          </a:p>
        </p:txBody>
      </p:sp>
      <p:sp>
        <p:nvSpPr>
          <p:cNvPr id="28" name="Shape 25"/>
          <p:cNvSpPr/>
          <p:nvPr/>
        </p:nvSpPr>
        <p:spPr>
          <a:xfrm>
            <a:off x="8046720" y="2679192"/>
            <a:ext cx="914" cy="155448"/>
          </a:xfrm>
          <a:prstGeom prst="line">
            <a:avLst/>
          </a:prstGeom>
          <a:noFill/>
          <a:ln w="12700">
            <a:solidFill>
              <a:srgbClr val="9AA5AE"/>
            </a:solidFill>
            <a:prstDash val="solid"/>
            <a:tailEnd type="triangle"/>
          </a:ln>
        </p:spPr>
      </p:sp>
      <p:sp>
        <p:nvSpPr>
          <p:cNvPr id="29" name="box"/>
          <p:cNvSpPr/>
          <p:nvPr/>
        </p:nvSpPr>
        <p:spPr>
          <a:xfrm>
            <a:off x="6217920" y="2834640"/>
            <a:ext cx="3657600" cy="621792"/>
          </a:xfrm>
          <a:prstGeom prst="roundRect">
            <a:avLst>
              <a:gd name="adj" fmla="val 11765"/>
            </a:avLst>
          </a:prstGeom>
          <a:solidFill>
            <a:srgbClr val="B9772A"/>
          </a:solidFill>
          <a:ln w="12700">
            <a:solidFill>
              <a:srgbClr val="B9772A"/>
            </a:solidFill>
            <a:prstDash val="solid"/>
          </a:ln>
        </p:spPr>
      </p:sp>
      <p:sp>
        <p:nvSpPr>
          <p:cNvPr id="30" name="Text 27"/>
          <p:cNvSpPr txBox="1"/>
          <p:nvPr/>
        </p:nvSpPr>
        <p:spPr>
          <a:xfrm>
            <a:off x="6217920" y="2834640"/>
            <a:ext cx="3657600" cy="621792"/>
          </a:xfrm>
          <a:prstGeom prst="rect">
            <a:avLst/>
          </a:prstGeom>
          <a:noFill/>
          <a:ln/>
        </p:spPr>
        <p:txBody>
          <a:bodyPr wrap="square" lIns="635" tIns="635" rIns="635" bIns="635"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read data until the server closes</a:t>
            </a:r>
            <a:endParaRPr lang="en-US" sz="1100" dirty="0"/>
          </a:p>
        </p:txBody>
      </p:sp>
      <p:sp>
        <p:nvSpPr>
          <p:cNvPr id="31" name="Text 28"/>
          <p:cNvSpPr txBox="1"/>
          <p:nvPr/>
        </p:nvSpPr>
        <p:spPr>
          <a:xfrm>
            <a:off x="9966960" y="2944368"/>
            <a:ext cx="1828800" cy="50292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 end of file</a:t>
            </a:r>
            <a:endParaRPr lang="en-US" sz="1100" dirty="0"/>
          </a:p>
        </p:txBody>
      </p:sp>
      <p:sp>
        <p:nvSpPr>
          <p:cNvPr id="32" name="Shape 29"/>
          <p:cNvSpPr/>
          <p:nvPr/>
        </p:nvSpPr>
        <p:spPr>
          <a:xfrm>
            <a:off x="8046720" y="3456432"/>
            <a:ext cx="914" cy="155448"/>
          </a:xfrm>
          <a:prstGeom prst="line">
            <a:avLst/>
          </a:prstGeom>
          <a:noFill/>
          <a:ln w="12700">
            <a:solidFill>
              <a:srgbClr val="9AA5AE"/>
            </a:solidFill>
            <a:prstDash val="solid"/>
            <a:tailEnd type="triangle"/>
          </a:ln>
        </p:spPr>
      </p:sp>
      <p:sp>
        <p:nvSpPr>
          <p:cNvPr id="33" name="box"/>
          <p:cNvSpPr/>
          <p:nvPr/>
        </p:nvSpPr>
        <p:spPr>
          <a:xfrm>
            <a:off x="6217920" y="3611880"/>
            <a:ext cx="3657600" cy="621792"/>
          </a:xfrm>
          <a:prstGeom prst="roundRect">
            <a:avLst>
              <a:gd name="adj" fmla="val 11765"/>
            </a:avLst>
          </a:prstGeom>
          <a:solidFill>
            <a:srgbClr val="EEF2F6"/>
          </a:solidFill>
          <a:ln w="12700">
            <a:solidFill>
              <a:srgbClr val="EEF2F6"/>
            </a:solidFill>
            <a:prstDash val="solid"/>
          </a:ln>
        </p:spPr>
      </p:sp>
      <p:sp>
        <p:nvSpPr>
          <p:cNvPr id="34" name="Text 31"/>
          <p:cNvSpPr txBox="1"/>
          <p:nvPr/>
        </p:nvSpPr>
        <p:spPr>
          <a:xfrm>
            <a:off x="6217920" y="3611880"/>
            <a:ext cx="3657600" cy="621792"/>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reply() → 226 · QUIT → 221</a:t>
            </a:r>
            <a:endParaRPr lang="en-US" sz="1100" dirty="0"/>
          </a:p>
        </p:txBody>
      </p:sp>
      <p:sp>
        <p:nvSpPr>
          <p:cNvPr id="35" name="Shape 32"/>
          <p:cNvSpPr/>
          <p:nvPr/>
        </p:nvSpPr>
        <p:spPr>
          <a:xfrm flipV="1">
            <a:off x="2377440" y="1600200"/>
            <a:ext cx="3840480" cy="3429000"/>
          </a:xfrm>
          <a:prstGeom prst="line">
            <a:avLst/>
          </a:prstGeom>
          <a:noFill/>
          <a:ln w="12700">
            <a:solidFill>
              <a:srgbClr val="9AA5AE"/>
            </a:solidFill>
            <a:prstDash val="dash"/>
            <a:tailEnd type="triangle"/>
          </a:ln>
        </p:spPr>
      </p:sp>
      <p:sp>
        <p:nvSpPr>
          <p:cNvPr id="3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7" name="Text 3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Q14 · The data connection exists before RETR; the 226 is read only after the data connection has closed.</a:t>
            </a:r>
            <a:endParaRPr lang="en-US" sz="1400" dirty="0"/>
          </a:p>
        </p:txBody>
      </p:sp>
      <p:sp>
        <p:nvSpPr>
          <p:cNvPr id="38" name="Text 3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PASV (passive) · RETR (retrieve) · LIST (list a directory) · FTP (File Transfer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7 · reply(): reading multi-line replies</a:t>
            </a:r>
            <a:endParaRPr lang="en-US" sz="3000" dirty="0"/>
          </a:p>
        </p:txBody>
      </p:sp>
      <p:sp>
        <p:nvSpPr>
          <p:cNvPr id="4" name="code"/>
          <p:cNvSpPr/>
          <p:nvPr/>
        </p:nvSpPr>
        <p:spPr>
          <a:xfrm>
            <a:off x="548640" y="1280160"/>
            <a:ext cx="5669280" cy="2286000"/>
          </a:xfrm>
          <a:prstGeom prst="rect">
            <a:avLst/>
          </a:prstGeom>
          <a:solidFill>
            <a:srgbClr val="1E2A38"/>
          </a:solidFill>
          <a:ln w="12700">
            <a:solidFill>
              <a:srgbClr val="1E2A38"/>
            </a:solidFill>
            <a:prstDash val="solid"/>
          </a:ln>
        </p:spPr>
      </p:sp>
      <p:sp>
        <p:nvSpPr>
          <p:cNvPr id="5" name="Text 2"/>
          <p:cNvSpPr txBox="1"/>
          <p:nvPr/>
        </p:nvSpPr>
        <p:spPr>
          <a:xfrm>
            <a:off x="548640" y="1280160"/>
            <a:ext cx="5669280" cy="228600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&lt;- 211-Features supported:</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&lt;-  EPRT</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&lt;-  EPSV</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&lt;-  MDTM</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&lt;-  MLST type*;perm*;size*;modify*;</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&lt;- 211 End FEAT.</a:t>
            </a:r>
            <a:endParaRPr lang="en-US" sz="1200" dirty="0"/>
          </a:p>
        </p:txBody>
      </p:sp>
      <p:sp>
        <p:nvSpPr>
          <p:cNvPr id="6" name="box"/>
          <p:cNvSpPr/>
          <p:nvPr/>
        </p:nvSpPr>
        <p:spPr>
          <a:xfrm>
            <a:off x="6492240" y="1280160"/>
            <a:ext cx="5120640" cy="2286000"/>
          </a:xfrm>
          <a:prstGeom prst="roundRect">
            <a:avLst>
              <a:gd name="adj" fmla="val 3200"/>
            </a:avLst>
          </a:prstGeom>
          <a:solidFill>
            <a:srgbClr val="F3EAD7"/>
          </a:solidFill>
          <a:ln w="12700">
            <a:solidFill>
              <a:srgbClr val="F3EAD7"/>
            </a:solidFill>
            <a:prstDash val="solid"/>
          </a:ln>
        </p:spPr>
      </p:sp>
      <p:sp>
        <p:nvSpPr>
          <p:cNvPr id="7" name="Text 4"/>
          <p:cNvSpPr txBox="1"/>
          <p:nvPr/>
        </p:nvSpPr>
        <p:spPr>
          <a:xfrm>
            <a:off x="6492240" y="1280160"/>
            <a:ext cx="5120640" cy="2286000"/>
          </a:xfrm>
          <a:prstGeom prst="rect">
            <a:avLst/>
          </a:prstGeom>
          <a:noFill/>
          <a:ln/>
        </p:spPr>
        <p:txBody>
          <a:bodyPr wrap="square" lIns="152400" tIns="152400" rIns="152400" bIns="152400" rtlCol="0" anchor="ctr"/>
          <a:lstStyle/>
          <a:p>
            <a:pPr algn="l" indent="0" marL="0">
              <a:spcAft>
                <a:spcPts val="300"/>
              </a:spcAft>
              <a:buNone/>
            </a:pPr>
            <a:r>
              <a:rPr lang="en-US" sz="1300" b="1" dirty="0">
                <a:solidFill>
                  <a:srgbClr val="1B2430"/>
                </a:solidFill>
              </a:rPr>
              <a:t>reply()</a:t>
            </a:r>
            <a:endParaRPr lang="en-US" sz="1300" dirty="0"/>
          </a:p>
          <a:p>
            <a:pPr algn="l" indent="0" marL="0">
              <a:spcAft>
                <a:spcPts val="300"/>
              </a:spcAft>
              <a:buNone/>
            </a:pPr>
            <a:r>
              <a:rPr lang="en-US" sz="1300" dirty="0">
                <a:solidFill>
                  <a:srgbClr val="1B2430"/>
                </a:solidFill>
              </a:rPr>
              <a:t>read a line; remember its code</a:t>
            </a:r>
            <a:endParaRPr lang="en-US" sz="1300" dirty="0"/>
          </a:p>
          <a:p>
            <a:pPr algn="l" indent="0" marL="0">
              <a:spcAft>
                <a:spcPts val="300"/>
              </a:spcAft>
              <a:buNone/>
            </a:pPr>
            <a:r>
              <a:rPr lang="en-US" sz="1300" dirty="0">
                <a:solidFill>
                  <a:srgbClr val="1B2430"/>
                </a:solidFill>
              </a:rPr>
              <a:t>while the line is not “code + space …”:</a:t>
            </a:r>
            <a:endParaRPr lang="en-US" sz="1300" dirty="0"/>
          </a:p>
          <a:p>
            <a:pPr algn="l" indent="0" marL="0">
              <a:spcAft>
                <a:spcPts val="300"/>
              </a:spcAft>
              <a:buNone/>
            </a:pPr>
            <a:r>
              <a:rPr lang="en-US" sz="1300" dirty="0">
                <a:solidFill>
                  <a:srgbClr val="1B2430"/>
                </a:solidFill>
              </a:rPr>
              <a:t>    read the next line</a:t>
            </a:r>
            <a:endParaRPr lang="en-US" sz="1300" dirty="0"/>
          </a:p>
          <a:p>
            <a:pPr algn="l" indent="0" marL="0">
              <a:spcAft>
                <a:spcPts val="300"/>
              </a:spcAft>
              <a:buNone/>
            </a:pPr>
            <a:r>
              <a:rPr lang="en-US" sz="1300" dirty="0">
                <a:solidFill>
                  <a:srgbClr val="1B2430"/>
                </a:solidFill>
              </a:rPr>
              <a:t>return the code</a:t>
            </a:r>
            <a:endParaRPr lang="en-US" sz="1300" dirty="0"/>
          </a:p>
        </p:txBody>
      </p:sp>
      <p:sp>
        <p:nvSpPr>
          <p:cNvPr id="8" name="Shape 5"/>
          <p:cNvSpPr/>
          <p:nvPr/>
        </p:nvSpPr>
        <p:spPr>
          <a:xfrm>
            <a:off x="548640" y="3858768"/>
            <a:ext cx="384048" cy="384048"/>
          </a:xfrm>
          <a:prstGeom prst="ellipse">
            <a:avLst/>
          </a:prstGeom>
          <a:solidFill>
            <a:srgbClr val="B9772A"/>
          </a:solidFill>
          <a:ln w="12700">
            <a:solidFill>
              <a:srgbClr val="B9772A"/>
            </a:solidFill>
            <a:prstDash val="solid"/>
          </a:ln>
        </p:spPr>
      </p:sp>
      <p:sp>
        <p:nvSpPr>
          <p:cNvPr id="9" name="Text 6"/>
          <p:cNvSpPr txBox="1"/>
          <p:nvPr/>
        </p:nvSpPr>
        <p:spPr>
          <a:xfrm>
            <a:off x="548640" y="3858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51560" y="3840480"/>
            <a:ext cx="4983480" cy="82296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Q13 · add </a:t>
            </a:r>
            <a:r>
              <a:rPr lang="en-US" sz="1300" dirty="0">
                <a:solidFill>
                  <a:srgbClr val="1B2430"/>
                </a:solidFill>
                <a:latin typeface="Consolas" pitchFamily="34" charset="0"/>
                <a:ea typeface="Consolas" pitchFamily="34" charset="-122"/>
                <a:cs typeface="Consolas" pitchFamily="34" charset="-120"/>
              </a:rPr>
              <a:t>command("FEAT")</a:t>
            </a:r>
            <a:r>
              <a:rPr lang="en-US" sz="1300" dirty="0">
                <a:solidFill>
                  <a:srgbClr val="1B2430"/>
                </a:solidFill>
              </a:rPr>
              <a:t> after login.</a:t>
            </a:r>
            <a:endParaRPr lang="en-US" sz="1300" dirty="0"/>
          </a:p>
        </p:txBody>
      </p:sp>
      <p:sp>
        <p:nvSpPr>
          <p:cNvPr id="11" name="Shape 8"/>
          <p:cNvSpPr/>
          <p:nvPr/>
        </p:nvSpPr>
        <p:spPr>
          <a:xfrm>
            <a:off x="6217920" y="3858768"/>
            <a:ext cx="384048" cy="384048"/>
          </a:xfrm>
          <a:prstGeom prst="ellipse">
            <a:avLst/>
          </a:prstGeom>
          <a:solidFill>
            <a:srgbClr val="B9772A"/>
          </a:solidFill>
          <a:ln w="12700">
            <a:solidFill>
              <a:srgbClr val="B9772A"/>
            </a:solidFill>
            <a:prstDash val="solid"/>
          </a:ln>
        </p:spPr>
      </p:sp>
      <p:sp>
        <p:nvSpPr>
          <p:cNvPr id="12" name="Text 9"/>
          <p:cNvSpPr txBox="1"/>
          <p:nvPr/>
        </p:nvSpPr>
        <p:spPr>
          <a:xfrm>
            <a:off x="6217920" y="3858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6720840" y="3840480"/>
            <a:ext cx="4892040" cy="82296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Q15 · EPSV: parse </a:t>
            </a:r>
            <a:r>
              <a:rPr lang="en-US" sz="1300" dirty="0">
                <a:solidFill>
                  <a:srgbClr val="1B2430"/>
                </a:solidFill>
                <a:latin typeface="Consolas" pitchFamily="34" charset="0"/>
                <a:ea typeface="Consolas" pitchFamily="34" charset="-122"/>
                <a:cs typeface="Consolas" pitchFamily="34" charset="-120"/>
              </a:rPr>
              <a:t>229 (|||port|)</a:t>
            </a:r>
            <a:r>
              <a:rPr lang="en-US" sz="1300" dirty="0">
                <a:solidFill>
                  <a:srgbClr val="1B2430"/>
                </a:solidFill>
              </a:rPr>
              <a:t>.</a:t>
            </a:r>
            <a:endParaRPr lang="en-US" sz="1300" dirty="0"/>
          </a:p>
        </p:txBody>
      </p:sp>
      <p:sp>
        <p:nvSpPr>
          <p:cNvPr id="14" name="Shape 11"/>
          <p:cNvSpPr/>
          <p:nvPr/>
        </p:nvSpPr>
        <p:spPr>
          <a:xfrm>
            <a:off x="548640" y="4773168"/>
            <a:ext cx="384048" cy="384048"/>
          </a:xfrm>
          <a:prstGeom prst="ellipse">
            <a:avLst/>
          </a:prstGeom>
          <a:solidFill>
            <a:srgbClr val="B9772A"/>
          </a:solidFill>
          <a:ln w="12700">
            <a:solidFill>
              <a:srgbClr val="B9772A"/>
            </a:solidFill>
            <a:prstDash val="solid"/>
          </a:ln>
        </p:spPr>
      </p:sp>
      <p:sp>
        <p:nvSpPr>
          <p:cNvPr id="15" name="Text 12"/>
          <p:cNvSpPr txBox="1"/>
          <p:nvPr/>
        </p:nvSpPr>
        <p:spPr>
          <a:xfrm>
            <a:off x="548640" y="4773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51560" y="4754880"/>
            <a:ext cx="10561320" cy="82296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Q16 · put: TYPE I, PASV, STOR name, send the file, </a:t>
            </a:r>
            <a:r>
              <a:rPr lang="en-US" sz="1300" b="1" dirty="0">
                <a:solidFill>
                  <a:srgbClr val="1B2430"/>
                </a:solidFill>
              </a:rPr>
              <a:t>close</a:t>
            </a:r>
            <a:r>
              <a:rPr lang="en-US" sz="1300" dirty="0">
                <a:solidFill>
                  <a:srgbClr val="1B2430"/>
                </a:solidFill>
              </a:rPr>
              <a:t> the data connection, read 226 (server started with -w).</a:t>
            </a:r>
            <a:endParaRPr lang="en-US" sz="1300" dirty="0"/>
          </a:p>
        </p:txBody>
      </p:sp>
      <p:sp>
        <p:nvSpPr>
          <p:cNvPr id="1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8" name="Text 1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Framing again: FTP’s replies are delimited lines, its files are delimited by closing the connection.</a:t>
            </a:r>
            <a:endParaRPr lang="en-US" sz="1400" dirty="0"/>
          </a:p>
        </p:txBody>
      </p:sp>
      <p:sp>
        <p:nvSpPr>
          <p:cNvPr id="19" name="Text 16"/>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PASV (passive) · EPSV (extended passive) · EPRT (extended port) · STOR (store) · FEAT (list features) · FTP (File Transfer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same session in Python: ftplib</a:t>
            </a:r>
            <a:endParaRPr lang="en-US" sz="3000" dirty="0"/>
          </a:p>
        </p:txBody>
      </p:sp>
      <p:sp>
        <p:nvSpPr>
          <p:cNvPr id="4" name="code"/>
          <p:cNvSpPr/>
          <p:nvPr/>
        </p:nvSpPr>
        <p:spPr>
          <a:xfrm>
            <a:off x="548640" y="1280160"/>
            <a:ext cx="6400800" cy="3017520"/>
          </a:xfrm>
          <a:prstGeom prst="rect">
            <a:avLst/>
          </a:prstGeom>
          <a:solidFill>
            <a:srgbClr val="1E2A38"/>
          </a:solidFill>
          <a:ln w="12700">
            <a:solidFill>
              <a:srgbClr val="1E2A38"/>
            </a:solidFill>
            <a:prstDash val="solid"/>
          </a:ln>
        </p:spPr>
      </p:sp>
      <p:sp>
        <p:nvSpPr>
          <p:cNvPr id="5" name="Text 2"/>
          <p:cNvSpPr txBox="1"/>
          <p:nvPr/>
        </p:nvSpPr>
        <p:spPr>
          <a:xfrm>
            <a:off x="548640" y="1280160"/>
            <a:ext cx="6400800" cy="301752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from ftplib import FTP</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ftp = FTP()</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ftp.set_debuglevel(1)          # *cmd* / *resp*</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ftp.connect(host, port)</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ftp.login(user, password)</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ftp.set_pasv(True)             # passive</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ftp.retrlines('LIST')          # TYPE A + LIST</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ftp.retrbinary('RETR ' + name, f.write)  # TYPE I</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ftp.quit()</a:t>
            </a:r>
            <a:endParaRPr lang="en-US" sz="1200" dirty="0"/>
          </a:p>
        </p:txBody>
      </p:sp>
      <p:sp>
        <p:nvSpPr>
          <p:cNvPr id="6" name="box"/>
          <p:cNvSpPr/>
          <p:nvPr/>
        </p:nvSpPr>
        <p:spPr>
          <a:xfrm>
            <a:off x="7315200" y="1280160"/>
            <a:ext cx="4297680" cy="3017520"/>
          </a:xfrm>
          <a:prstGeom prst="roundRect">
            <a:avLst>
              <a:gd name="adj" fmla="val 2424"/>
            </a:avLst>
          </a:prstGeom>
          <a:solidFill>
            <a:srgbClr val="EEF2F6"/>
          </a:solidFill>
          <a:ln w="12700">
            <a:solidFill>
              <a:srgbClr val="EEF2F6"/>
            </a:solidFill>
            <a:prstDash val="solid"/>
          </a:ln>
        </p:spPr>
      </p:sp>
      <p:sp>
        <p:nvSpPr>
          <p:cNvPr id="7" name="Text 4"/>
          <p:cNvSpPr txBox="1"/>
          <p:nvPr/>
        </p:nvSpPr>
        <p:spPr>
          <a:xfrm>
            <a:off x="7315200" y="1280160"/>
            <a:ext cx="4297680" cy="3017520"/>
          </a:xfrm>
          <a:prstGeom prst="rect">
            <a:avLst/>
          </a:prstGeom>
          <a:noFill/>
          <a:ln/>
        </p:spPr>
        <p:txBody>
          <a:bodyPr wrap="square" lIns="635" tIns="635" rIns="635" bIns="635" rtlCol="0" anchor="ctr"/>
          <a:lstStyle/>
          <a:p>
            <a:pPr algn="ctr" indent="0" marL="0">
              <a:spcAft>
                <a:spcPts val="200"/>
              </a:spcAft>
              <a:buNone/>
            </a:pPr>
            <a:r>
              <a:rPr lang="en-US" sz="1100" dirty="0">
                <a:solidFill>
                  <a:srgbClr val="1B2430"/>
                </a:solidFill>
                <a:latin typeface="Consolas" pitchFamily="34" charset="0"/>
                <a:ea typeface="Consolas" pitchFamily="34" charset="-122"/>
                <a:cs typeface="Consolas" pitchFamily="34" charset="-120"/>
              </a:rPr>
              <a:t>python3 python/ftp_client.py</a:t>
            </a:r>
            <a:endParaRPr lang="en-US" sz="1100" dirty="0"/>
          </a:p>
          <a:p>
            <a:pPr algn="ctr" indent="0" marL="0">
              <a:spcAft>
                <a:spcPts val="200"/>
              </a:spcAft>
              <a:buNone/>
            </a:pPr>
            <a:r>
              <a:rPr lang="en-US" sz="1100" dirty="0">
                <a:solidFill>
                  <a:srgbClr val="1B2430"/>
                </a:solidFill>
                <a:latin typeface="Consolas" pitchFamily="34" charset="0"/>
                <a:ea typeface="Consolas" pitchFamily="34" charset="-122"/>
                <a:cs typeface="Consolas" pitchFamily="34" charset="-120"/>
              </a:rPr>
              <a:t>127.0.0.1 2121 student secret ls</a:t>
            </a:r>
            <a:endParaRPr lang="en-US" sz="1100" dirty="0"/>
          </a:p>
          <a:p>
            <a:pPr algn="ctr" indent="0" marL="0">
              <a:spcAft>
                <a:spcPts val="200"/>
              </a:spcAft>
              <a:buNone/>
            </a:pPr>
            <a:r>
              <a:rPr lang="en-US" sz="1100" dirty="0">
                <a:solidFill>
                  <a:srgbClr val="1B2430"/>
                </a:solidFill>
                <a:latin typeface="Consolas" pitchFamily="34" charset="0"/>
                <a:ea typeface="Consolas" pitchFamily="34" charset="-122"/>
                <a:cs typeface="Consolas" pitchFamily="34" charset="-120"/>
              </a:rPr>
              <a:t> </a:t>
            </a:r>
            <a:endParaRPr lang="en-US" sz="1100" dirty="0"/>
          </a:p>
          <a:p>
            <a:pPr algn="ctr" indent="0" marL="0">
              <a:spcAft>
                <a:spcPts val="200"/>
              </a:spcAft>
              <a:buNone/>
            </a:pPr>
            <a:r>
              <a:rPr lang="en-US" sz="1100" dirty="0">
                <a:solidFill>
                  <a:srgbClr val="1B2430"/>
                </a:solidFill>
                <a:latin typeface="Consolas" pitchFamily="34" charset="0"/>
                <a:ea typeface="Consolas" pitchFamily="34" charset="-122"/>
                <a:cs typeface="Consolas" pitchFamily="34" charset="-120"/>
              </a:rPr>
              <a:t>… get data.bin</a:t>
            </a:r>
            <a:endParaRPr lang="en-US" sz="1100" dirty="0"/>
          </a:p>
          <a:p>
            <a:pPr algn="ctr" indent="0" marL="0">
              <a:spcAft>
                <a:spcPts val="200"/>
              </a:spcAft>
              <a:buNone/>
            </a:pPr>
            <a:r>
              <a:rPr lang="en-US" sz="1100" dirty="0">
                <a:solidFill>
                  <a:srgbClr val="1B2430"/>
                </a:solidFill>
                <a:latin typeface="Consolas" pitchFamily="34" charset="0"/>
                <a:ea typeface="Consolas" pitchFamily="34" charset="-122"/>
                <a:cs typeface="Consolas" pitchFamily="34" charset="-120"/>
              </a:rPr>
              <a:t> </a:t>
            </a:r>
            <a:endParaRPr lang="en-US" sz="1100" dirty="0"/>
          </a:p>
          <a:p>
            <a:pPr algn="ctr" indent="0" marL="0">
              <a:spcAft>
                <a:spcPts val="200"/>
              </a:spcAft>
              <a:buNone/>
            </a:pPr>
            <a:r>
              <a:rPr lang="en-US" sz="1100" dirty="0">
                <a:solidFill>
                  <a:srgbClr val="1B2430"/>
                </a:solidFill>
                <a:latin typeface="Consolas" pitchFamily="34" charset="0"/>
                <a:ea typeface="Consolas" pitchFamily="34" charset="-122"/>
                <a:cs typeface="Consolas" pitchFamily="34" charset="-120"/>
              </a:rPr>
              <a:t>cmp data.bin ~/ftproot/data.bin</a:t>
            </a:r>
            <a:endParaRPr lang="en-US" sz="1100" dirty="0"/>
          </a:p>
        </p:txBody>
      </p:sp>
      <p:sp>
        <p:nvSpPr>
          <p:cNvPr id="8" name="Shape 5"/>
          <p:cNvSpPr/>
          <p:nvPr/>
        </p:nvSpPr>
        <p:spPr>
          <a:xfrm>
            <a:off x="548640" y="4590288"/>
            <a:ext cx="384048" cy="384048"/>
          </a:xfrm>
          <a:prstGeom prst="ellipse">
            <a:avLst/>
          </a:prstGeom>
          <a:solidFill>
            <a:srgbClr val="B9772A"/>
          </a:solidFill>
          <a:ln w="12700">
            <a:solidFill>
              <a:srgbClr val="B9772A"/>
            </a:solidFill>
            <a:prstDash val="solid"/>
          </a:ln>
        </p:spPr>
      </p:sp>
      <p:sp>
        <p:nvSpPr>
          <p:cNvPr id="9" name="Text 6"/>
          <p:cNvSpPr txBox="1"/>
          <p:nvPr/>
        </p:nvSpPr>
        <p:spPr>
          <a:xfrm>
            <a:off x="548640" y="4590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51560" y="4572000"/>
            <a:ext cx="10561320" cy="9144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Compare its </a:t>
            </a:r>
            <a:r>
              <a:rPr lang="en-US" sz="1300" i="1" dirty="0">
                <a:solidFill>
                  <a:srgbClr val="1B2430"/>
                </a:solidFill>
              </a:rPr>
              <a:t>cmd</a:t>
            </a:r>
            <a:r>
              <a:rPr lang="en-US" sz="1300" dirty="0">
                <a:solidFill>
                  <a:srgbClr val="1B2430"/>
                </a:solidFill>
              </a:rPr>
              <a:t> lines with your C client’s log: same commands, same order, same codes.</a:t>
            </a:r>
            <a:endParaRPr lang="en-US" sz="1300" dirty="0"/>
          </a:p>
        </p:txBody>
      </p:sp>
      <p:sp>
        <p:nvSpPr>
          <p:cNvPr id="11"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2" name="Text 9"/>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 library hides the sockets, not the protocol.</a:t>
            </a:r>
            <a:endParaRPr lang="en-US" sz="1400" dirty="0"/>
          </a:p>
        </p:txBody>
      </p:sp>
      <p:sp>
        <p:nvSpPr>
          <p:cNvPr id="13" name="Text 10"/>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RETR (retrieve) · LIST (list a directory) · FTP (File Transfer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Part D · Laboratory 4 on Windows</a:t>
            </a:r>
            <a:endParaRPr lang="en-US" sz="3600" dirty="0"/>
          </a:p>
        </p:txBody>
      </p:sp>
      <p:sp>
        <p:nvSpPr>
          <p:cNvPr id="3" name="box"/>
          <p:cNvSpPr/>
          <p:nvPr/>
        </p:nvSpPr>
        <p:spPr>
          <a:xfrm>
            <a:off x="731520" y="1645920"/>
            <a:ext cx="2514600" cy="1371600"/>
          </a:xfrm>
          <a:prstGeom prst="roundRect">
            <a:avLst>
              <a:gd name="adj" fmla="val 5333"/>
            </a:avLst>
          </a:prstGeom>
          <a:solidFill>
            <a:srgbClr val="2B4A70"/>
          </a:solidFill>
          <a:ln w="12700">
            <a:solidFill>
              <a:srgbClr val="2B4A70"/>
            </a:solidFill>
            <a:prstDash val="solid"/>
          </a:ln>
        </p:spPr>
      </p:sp>
      <p:sp>
        <p:nvSpPr>
          <p:cNvPr id="4" name="Text 2"/>
          <p:cNvSpPr txBox="1"/>
          <p:nvPr/>
        </p:nvSpPr>
        <p:spPr>
          <a:xfrm>
            <a:off x="73152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A · Lecture 4</a:t>
            </a:r>
            <a:endParaRPr lang="en-US" sz="1500" dirty="0"/>
          </a:p>
          <a:p>
            <a:pPr algn="ctr" indent="0" marL="0">
              <a:spcAft>
                <a:spcPts val="400"/>
              </a:spcAft>
              <a:buNone/>
            </a:pPr>
            <a:r>
              <a:rPr lang="en-US" sz="1500" dirty="0">
                <a:solidFill>
                  <a:srgbClr val="FFFFFF"/>
                </a:solidFill>
              </a:rPr>
              <a:t>Sessions, speed, security</a:t>
            </a:r>
            <a:endParaRPr lang="en-US" sz="1500" dirty="0"/>
          </a:p>
        </p:txBody>
      </p:sp>
      <p:sp>
        <p:nvSpPr>
          <p:cNvPr id="5" name="Shape 3"/>
          <p:cNvSpPr/>
          <p:nvPr/>
        </p:nvSpPr>
        <p:spPr>
          <a:xfrm>
            <a:off x="3273552" y="2331720"/>
            <a:ext cx="219456" cy="914"/>
          </a:xfrm>
          <a:prstGeom prst="line">
            <a:avLst/>
          </a:prstGeom>
          <a:noFill/>
          <a:ln w="25400">
            <a:solidFill>
              <a:srgbClr val="9FB3C8"/>
            </a:solidFill>
            <a:prstDash val="solid"/>
            <a:tailEnd type="triangle"/>
          </a:ln>
        </p:spPr>
      </p:sp>
      <p:sp>
        <p:nvSpPr>
          <p:cNvPr id="6" name="box"/>
          <p:cNvSpPr/>
          <p:nvPr/>
        </p:nvSpPr>
        <p:spPr>
          <a:xfrm>
            <a:off x="3520440" y="1645920"/>
            <a:ext cx="2514600" cy="1371600"/>
          </a:xfrm>
          <a:prstGeom prst="roundRect">
            <a:avLst>
              <a:gd name="adj" fmla="val 5333"/>
            </a:avLst>
          </a:prstGeom>
          <a:solidFill>
            <a:srgbClr val="2B4A70"/>
          </a:solidFill>
          <a:ln w="12700">
            <a:solidFill>
              <a:srgbClr val="2B4A70"/>
            </a:solidFill>
            <a:prstDash val="solid"/>
          </a:ln>
        </p:spPr>
      </p:sp>
      <p:sp>
        <p:nvSpPr>
          <p:cNvPr id="7" name="Text 5"/>
          <p:cNvSpPr txBox="1"/>
          <p:nvPr/>
        </p:nvSpPr>
        <p:spPr>
          <a:xfrm>
            <a:off x="352044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B · Seminar 4</a:t>
            </a:r>
            <a:endParaRPr lang="en-US" sz="1500" dirty="0"/>
          </a:p>
          <a:p>
            <a:pPr algn="ctr" indent="0" marL="0">
              <a:spcAft>
                <a:spcPts val="400"/>
              </a:spcAft>
              <a:buNone/>
            </a:pPr>
            <a:r>
              <a:rPr lang="en-US" sz="1500" dirty="0">
                <a:solidFill>
                  <a:srgbClr val="FFFFFF"/>
                </a:solidFill>
              </a:rPr>
              <a:t>Problems with solutions</a:t>
            </a:r>
            <a:endParaRPr lang="en-US" sz="1500" dirty="0"/>
          </a:p>
        </p:txBody>
      </p:sp>
      <p:sp>
        <p:nvSpPr>
          <p:cNvPr id="8" name="Shape 6"/>
          <p:cNvSpPr/>
          <p:nvPr/>
        </p:nvSpPr>
        <p:spPr>
          <a:xfrm>
            <a:off x="6062472" y="2331720"/>
            <a:ext cx="219456" cy="914"/>
          </a:xfrm>
          <a:prstGeom prst="line">
            <a:avLst/>
          </a:prstGeom>
          <a:noFill/>
          <a:ln w="25400">
            <a:solidFill>
              <a:srgbClr val="9FB3C8"/>
            </a:solidFill>
            <a:prstDash val="solid"/>
            <a:tailEnd type="triangle"/>
          </a:ln>
        </p:spPr>
      </p:sp>
      <p:sp>
        <p:nvSpPr>
          <p:cNvPr id="9" name="box"/>
          <p:cNvSpPr/>
          <p:nvPr/>
        </p:nvSpPr>
        <p:spPr>
          <a:xfrm>
            <a:off x="6309360" y="1645920"/>
            <a:ext cx="2514600" cy="1371600"/>
          </a:xfrm>
          <a:prstGeom prst="roundRect">
            <a:avLst>
              <a:gd name="adj" fmla="val 5333"/>
            </a:avLst>
          </a:prstGeom>
          <a:solidFill>
            <a:srgbClr val="2B4A70"/>
          </a:solidFill>
          <a:ln w="12700">
            <a:solidFill>
              <a:srgbClr val="2B4A70"/>
            </a:solidFill>
            <a:prstDash val="solid"/>
          </a:ln>
        </p:spPr>
      </p:sp>
      <p:sp>
        <p:nvSpPr>
          <p:cNvPr id="10" name="Text 8"/>
          <p:cNvSpPr txBox="1"/>
          <p:nvPr/>
        </p:nvSpPr>
        <p:spPr>
          <a:xfrm>
            <a:off x="630936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C · Laboratory 4 · Linux</a:t>
            </a:r>
            <a:endParaRPr lang="en-US" sz="1500" dirty="0"/>
          </a:p>
          <a:p>
            <a:pPr algn="ctr" indent="0" marL="0">
              <a:spcAft>
                <a:spcPts val="400"/>
              </a:spcAft>
              <a:buNone/>
            </a:pPr>
            <a:r>
              <a:rPr lang="en-US" sz="1500" dirty="0">
                <a:solidFill>
                  <a:srgbClr val="FFFFFF"/>
                </a:solidFill>
              </a:rPr>
              <a:t>curl, openssl, ssh, ftp, C</a:t>
            </a:r>
            <a:endParaRPr lang="en-US" sz="1500" dirty="0"/>
          </a:p>
        </p:txBody>
      </p:sp>
      <p:sp>
        <p:nvSpPr>
          <p:cNvPr id="11" name="Shape 9"/>
          <p:cNvSpPr/>
          <p:nvPr/>
        </p:nvSpPr>
        <p:spPr>
          <a:xfrm>
            <a:off x="8851392" y="2331720"/>
            <a:ext cx="219456" cy="914"/>
          </a:xfrm>
          <a:prstGeom prst="line">
            <a:avLst/>
          </a:prstGeom>
          <a:noFill/>
          <a:ln w="25400">
            <a:solidFill>
              <a:srgbClr val="9FB3C8"/>
            </a:solidFill>
            <a:prstDash val="solid"/>
            <a:tailEnd type="triangle"/>
          </a:ln>
        </p:spPr>
      </p:sp>
      <p:sp>
        <p:nvSpPr>
          <p:cNvPr id="12" name="box"/>
          <p:cNvSpPr/>
          <p:nvPr/>
        </p:nvSpPr>
        <p:spPr>
          <a:xfrm>
            <a:off x="9098280" y="1645920"/>
            <a:ext cx="2514600" cy="1371600"/>
          </a:xfrm>
          <a:prstGeom prst="roundRect">
            <a:avLst>
              <a:gd name="adj" fmla="val 5333"/>
            </a:avLst>
          </a:prstGeom>
          <a:solidFill>
            <a:srgbClr val="2A7F8E"/>
          </a:solidFill>
          <a:ln w="12700">
            <a:solidFill>
              <a:srgbClr val="2A7F8E"/>
            </a:solidFill>
            <a:prstDash val="solid"/>
          </a:ln>
        </p:spPr>
      </p:sp>
      <p:sp>
        <p:nvSpPr>
          <p:cNvPr id="13" name="Text 11"/>
          <p:cNvSpPr txBox="1"/>
          <p:nvPr/>
        </p:nvSpPr>
        <p:spPr>
          <a:xfrm>
            <a:off x="909828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D · Laboratory 4 · Windows</a:t>
            </a:r>
            <a:endParaRPr lang="en-US" sz="1500" dirty="0"/>
          </a:p>
          <a:p>
            <a:pPr algn="ctr" indent="0" marL="0">
              <a:spcAft>
                <a:spcPts val="400"/>
              </a:spcAft>
              <a:buNone/>
            </a:pPr>
            <a:r>
              <a:rPr lang="en-US" sz="1500" dirty="0">
                <a:solidFill>
                  <a:srgbClr val="FFFFFF"/>
                </a:solidFill>
              </a:rPr>
              <a:t>PowerShell, OpenSSH, Winsock</a:t>
            </a:r>
            <a:endParaRPr lang="en-US" sz="1500" dirty="0"/>
          </a:p>
        </p:txBody>
      </p:sp>
      <p:sp>
        <p:nvSpPr>
          <p:cNvPr id="14" name="Text 12"/>
          <p:cNvSpPr txBox="1"/>
          <p:nvPr/>
        </p:nvSpPr>
        <p:spPr>
          <a:xfrm>
            <a:off x="731520" y="3429000"/>
            <a:ext cx="10698480" cy="365760"/>
          </a:xfrm>
          <a:prstGeom prst="rect">
            <a:avLst/>
          </a:prstGeom>
          <a:noFill/>
          <a:ln/>
        </p:spPr>
        <p:txBody>
          <a:bodyPr wrap="square" lIns="0" tIns="0" rIns="0" bIns="0" rtlCol="0" anchor="ctr"/>
          <a:lstStyle/>
          <a:p>
            <a:pPr indent="0" marL="0">
              <a:buNone/>
            </a:pPr>
            <a:r>
              <a:rPr lang="en-US" sz="1600" b="1" dirty="0">
                <a:solidFill>
                  <a:srgbClr val="DDF0F2"/>
                </a:solidFill>
              </a:rPr>
              <a:t>In this part</a:t>
            </a:r>
            <a:endParaRPr lang="en-US" sz="1600" dirty="0"/>
          </a:p>
        </p:txBody>
      </p:sp>
      <p:sp>
        <p:nvSpPr>
          <p:cNvPr id="15" name="Text 13"/>
          <p:cNvSpPr txBox="1"/>
          <p:nvPr/>
        </p:nvSpPr>
        <p:spPr>
          <a:xfrm>
            <a:off x="7315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Tools · curl.exe, PowerShell, OpenSSH, Wireshark</a:t>
            </a:r>
            <a:endParaRPr lang="en-US" sz="1500" dirty="0"/>
          </a:p>
        </p:txBody>
      </p:sp>
      <p:sp>
        <p:nvSpPr>
          <p:cNvPr id="16" name="Text 14"/>
          <p:cNvSpPr txBox="1"/>
          <p:nvPr/>
        </p:nvSpPr>
        <p:spPr>
          <a:xfrm>
            <a:off x="62179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1 · Cookies with curl.exe and PowerShell</a:t>
            </a:r>
            <a:endParaRPr lang="en-US" sz="1500" dirty="0"/>
          </a:p>
        </p:txBody>
      </p:sp>
      <p:sp>
        <p:nvSpPr>
          <p:cNvPr id="17" name="Text 15"/>
          <p:cNvSpPr txBox="1"/>
          <p:nvPr/>
        </p:nvSpPr>
        <p:spPr>
          <a:xfrm>
            <a:off x="7315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2 · TLS from PowerShell</a:t>
            </a:r>
            <a:endParaRPr lang="en-US" sz="1500" dirty="0"/>
          </a:p>
        </p:txBody>
      </p:sp>
      <p:sp>
        <p:nvSpPr>
          <p:cNvPr id="18" name="Text 16"/>
          <p:cNvSpPr txBox="1"/>
          <p:nvPr/>
        </p:nvSpPr>
        <p:spPr>
          <a:xfrm>
            <a:off x="62179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3 · A login in clear in Wireshark</a:t>
            </a:r>
            <a:endParaRPr lang="en-US" sz="1500" dirty="0"/>
          </a:p>
        </p:txBody>
      </p:sp>
      <p:sp>
        <p:nvSpPr>
          <p:cNvPr id="19" name="Text 17"/>
          <p:cNvSpPr txBox="1"/>
          <p:nvPr/>
        </p:nvSpPr>
        <p:spPr>
          <a:xfrm>
            <a:off x="7315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Tasks 4–5 · SSH and a tunnel from Windows</a:t>
            </a:r>
            <a:endParaRPr lang="en-US" sz="1500" dirty="0"/>
          </a:p>
        </p:txBody>
      </p:sp>
      <p:sp>
        <p:nvSpPr>
          <p:cNvPr id="20" name="Text 18"/>
          <p:cNvSpPr txBox="1"/>
          <p:nvPr/>
        </p:nvSpPr>
        <p:spPr>
          <a:xfrm>
            <a:off x="62179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6 · ftp.exe (active) vs curl.exe (passive)</a:t>
            </a:r>
            <a:endParaRPr lang="en-US" sz="1500" dirty="0"/>
          </a:p>
        </p:txBody>
      </p:sp>
      <p:sp>
        <p:nvSpPr>
          <p:cNvPr id="21" name="Text 19"/>
          <p:cNvSpPr txBox="1"/>
          <p:nvPr/>
        </p:nvSpPr>
        <p:spPr>
          <a:xfrm>
            <a:off x="731520" y="52120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7 · The FTP client with Winsock</a:t>
            </a:r>
            <a:endParaRPr lang="en-US" sz="1500" dirty="0"/>
          </a:p>
        </p:txBody>
      </p:sp>
      <p:sp>
        <p:nvSpPr>
          <p:cNvPr id="23" name="Text 20"/>
          <p:cNvSpPr txBox="1"/>
          <p:nvPr/>
        </p:nvSpPr>
        <p:spPr>
          <a:xfrm>
            <a:off x="731520" y="6172200"/>
            <a:ext cx="10698480" cy="457200"/>
          </a:xfrm>
          <a:prstGeom prst="rect">
            <a:avLst/>
          </a:prstGeom>
          <a:noFill/>
          <a:ln/>
        </p:spPr>
        <p:txBody>
          <a:bodyPr wrap="square" lIns="0" tIns="0" rIns="0" bIns="0" rtlCol="0" anchor="t"/>
          <a:lstStyle/>
          <a:p>
            <a:pPr indent="0" marL="0">
              <a:buNone/>
            </a:pPr>
            <a:r>
              <a:rPr lang="en-US" sz="1100" dirty="0">
                <a:solidFill>
                  <a:srgbClr val="C9D6E3"/>
                </a:solidFill>
              </a:rPr>
              <a:t>TLS (Transport Layer Security) · SSH (Secure Shell) · FTP (File Transfer Protocol)</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Tools · What Windows already has</a:t>
            </a:r>
            <a:endParaRPr lang="en-US" sz="3000" dirty="0"/>
          </a:p>
        </p:txBody>
      </p:sp>
      <p:sp>
        <p:nvSpPr>
          <p:cNvPr id="4" name="box"/>
          <p:cNvSpPr/>
          <p:nvPr/>
        </p:nvSpPr>
        <p:spPr>
          <a:xfrm>
            <a:off x="548640" y="1325880"/>
            <a:ext cx="2377440" cy="960120"/>
          </a:xfrm>
          <a:prstGeom prst="roundRect">
            <a:avLst>
              <a:gd name="adj" fmla="val 7619"/>
            </a:avLst>
          </a:prstGeom>
          <a:solidFill>
            <a:srgbClr val="2A7F8E"/>
          </a:solidFill>
          <a:ln w="12700">
            <a:solidFill>
              <a:srgbClr val="2A7F8E"/>
            </a:solidFill>
            <a:prstDash val="solid"/>
          </a:ln>
        </p:spPr>
      </p:sp>
      <p:sp>
        <p:nvSpPr>
          <p:cNvPr id="5" name="Text 2"/>
          <p:cNvSpPr txBox="1"/>
          <p:nvPr/>
        </p:nvSpPr>
        <p:spPr>
          <a:xfrm>
            <a:off x="548640" y="1325880"/>
            <a:ext cx="2377440" cy="960120"/>
          </a:xfrm>
          <a:prstGeom prst="rect">
            <a:avLst/>
          </a:prstGeom>
          <a:noFill/>
          <a:ln/>
        </p:spPr>
        <p:txBody>
          <a:bodyPr wrap="square" lIns="635" tIns="635" rIns="635" bIns="635" rtlCol="0" anchor="ctr"/>
          <a:lstStyle/>
          <a:p>
            <a:pPr algn="ctr" indent="0" marL="0">
              <a:buNone/>
            </a:pPr>
            <a:r>
              <a:rPr lang="en-US" sz="1500" b="1" dirty="0">
                <a:solidFill>
                  <a:srgbClr val="FFFFFF"/>
                </a:solidFill>
              </a:rPr>
              <a:t>built in</a:t>
            </a:r>
            <a:endParaRPr lang="en-US" sz="1500" dirty="0"/>
          </a:p>
        </p:txBody>
      </p:sp>
      <p:sp>
        <p:nvSpPr>
          <p:cNvPr id="6" name="box"/>
          <p:cNvSpPr/>
          <p:nvPr/>
        </p:nvSpPr>
        <p:spPr>
          <a:xfrm>
            <a:off x="3108960" y="1325880"/>
            <a:ext cx="8503920" cy="960120"/>
          </a:xfrm>
          <a:prstGeom prst="roundRect">
            <a:avLst>
              <a:gd name="adj" fmla="val 7619"/>
            </a:avLst>
          </a:prstGeom>
          <a:solidFill>
            <a:srgbClr val="EEF2F6"/>
          </a:solidFill>
          <a:ln w="12700">
            <a:solidFill>
              <a:srgbClr val="EEF2F6"/>
            </a:solidFill>
            <a:prstDash val="solid"/>
          </a:ln>
        </p:spPr>
      </p:sp>
      <p:sp>
        <p:nvSpPr>
          <p:cNvPr id="7" name="Text 4"/>
          <p:cNvSpPr txBox="1"/>
          <p:nvPr/>
        </p:nvSpPr>
        <p:spPr>
          <a:xfrm>
            <a:off x="3108960" y="1325880"/>
            <a:ext cx="8503920" cy="960120"/>
          </a:xfrm>
          <a:prstGeom prst="rect">
            <a:avLst/>
          </a:prstGeom>
          <a:noFill/>
          <a:ln/>
        </p:spPr>
        <p:txBody>
          <a:bodyPr wrap="square" lIns="635" tIns="635" rIns="635" bIns="635" rtlCol="0" anchor="ctr"/>
          <a:lstStyle/>
          <a:p>
            <a:pPr algn="ctr" indent="0" marL="0">
              <a:buNone/>
            </a:pPr>
            <a:r>
              <a:rPr lang="en-US" sz="1300" dirty="0">
                <a:solidFill>
                  <a:srgbClr val="1B2430"/>
                </a:solidFill>
              </a:rPr>
              <a:t>curl.exe · ssh · ssh-keygen · scp · sftp · ftp.exe · PowerShell (.NET) · netstat</a:t>
            </a:r>
            <a:endParaRPr lang="en-US" sz="1300" dirty="0"/>
          </a:p>
        </p:txBody>
      </p:sp>
      <p:sp>
        <p:nvSpPr>
          <p:cNvPr id="8" name="box"/>
          <p:cNvSpPr/>
          <p:nvPr/>
        </p:nvSpPr>
        <p:spPr>
          <a:xfrm>
            <a:off x="548640" y="2468880"/>
            <a:ext cx="2377440" cy="960120"/>
          </a:xfrm>
          <a:prstGeom prst="roundRect">
            <a:avLst>
              <a:gd name="adj" fmla="val 7619"/>
            </a:avLst>
          </a:prstGeom>
          <a:solidFill>
            <a:srgbClr val="B9772A"/>
          </a:solidFill>
          <a:ln w="12700">
            <a:solidFill>
              <a:srgbClr val="B9772A"/>
            </a:solidFill>
            <a:prstDash val="solid"/>
          </a:ln>
        </p:spPr>
      </p:sp>
      <p:sp>
        <p:nvSpPr>
          <p:cNvPr id="9" name="Text 6"/>
          <p:cNvSpPr txBox="1"/>
          <p:nvPr/>
        </p:nvSpPr>
        <p:spPr>
          <a:xfrm>
            <a:off x="548640" y="2468880"/>
            <a:ext cx="2377440" cy="960120"/>
          </a:xfrm>
          <a:prstGeom prst="rect">
            <a:avLst/>
          </a:prstGeom>
          <a:noFill/>
          <a:ln/>
        </p:spPr>
        <p:txBody>
          <a:bodyPr wrap="square" lIns="635" tIns="635" rIns="635" bIns="635" rtlCol="0" anchor="ctr"/>
          <a:lstStyle/>
          <a:p>
            <a:pPr algn="ctr" indent="0" marL="0">
              <a:buNone/>
            </a:pPr>
            <a:r>
              <a:rPr lang="en-US" sz="1500" b="1" dirty="0">
                <a:solidFill>
                  <a:srgbClr val="FFFFFF"/>
                </a:solidFill>
              </a:rPr>
              <a:t>install once</a:t>
            </a:r>
            <a:endParaRPr lang="en-US" sz="1500" dirty="0"/>
          </a:p>
        </p:txBody>
      </p:sp>
      <p:sp>
        <p:nvSpPr>
          <p:cNvPr id="10" name="box"/>
          <p:cNvSpPr/>
          <p:nvPr/>
        </p:nvSpPr>
        <p:spPr>
          <a:xfrm>
            <a:off x="3108960" y="2468880"/>
            <a:ext cx="8503920" cy="960120"/>
          </a:xfrm>
          <a:prstGeom prst="roundRect">
            <a:avLst>
              <a:gd name="adj" fmla="val 7619"/>
            </a:avLst>
          </a:prstGeom>
          <a:solidFill>
            <a:srgbClr val="EEF2F6"/>
          </a:solidFill>
          <a:ln w="12700">
            <a:solidFill>
              <a:srgbClr val="EEF2F6"/>
            </a:solidFill>
            <a:prstDash val="solid"/>
          </a:ln>
        </p:spPr>
      </p:sp>
      <p:sp>
        <p:nvSpPr>
          <p:cNvPr id="11" name="Text 8"/>
          <p:cNvSpPr txBox="1"/>
          <p:nvPr/>
        </p:nvSpPr>
        <p:spPr>
          <a:xfrm>
            <a:off x="3108960" y="2468880"/>
            <a:ext cx="8503920" cy="960120"/>
          </a:xfrm>
          <a:prstGeom prst="rect">
            <a:avLst/>
          </a:prstGeom>
          <a:noFill/>
          <a:ln/>
        </p:spPr>
        <p:txBody>
          <a:bodyPr wrap="square" lIns="635" tIns="635" rIns="635" bIns="635" rtlCol="0" anchor="ctr"/>
          <a:lstStyle/>
          <a:p>
            <a:pPr algn="ctr" indent="0" marL="0">
              <a:buNone/>
            </a:pPr>
            <a:r>
              <a:rPr lang="en-US" sz="1300" dirty="0">
                <a:solidFill>
                  <a:srgbClr val="1B2430"/>
                </a:solidFill>
              </a:rPr>
              <a:t>Python 3 (+ pyftpdlib) · MinGW-w64 or Build Tools · Wireshark + Npcap with loopback capture</a:t>
            </a:r>
            <a:endParaRPr lang="en-US" sz="1300" dirty="0"/>
          </a:p>
        </p:txBody>
      </p:sp>
      <p:sp>
        <p:nvSpPr>
          <p:cNvPr id="12" name="box"/>
          <p:cNvSpPr/>
          <p:nvPr/>
        </p:nvSpPr>
        <p:spPr>
          <a:xfrm>
            <a:off x="548640" y="3611880"/>
            <a:ext cx="2377440" cy="960120"/>
          </a:xfrm>
          <a:prstGeom prst="roundRect">
            <a:avLst>
              <a:gd name="adj" fmla="val 7619"/>
            </a:avLst>
          </a:prstGeom>
          <a:solidFill>
            <a:srgbClr val="5B6770"/>
          </a:solidFill>
          <a:ln w="12700">
            <a:solidFill>
              <a:srgbClr val="5B6770"/>
            </a:solidFill>
            <a:prstDash val="solid"/>
          </a:ln>
        </p:spPr>
      </p:sp>
      <p:sp>
        <p:nvSpPr>
          <p:cNvPr id="13" name="Text 10"/>
          <p:cNvSpPr txBox="1"/>
          <p:nvPr/>
        </p:nvSpPr>
        <p:spPr>
          <a:xfrm>
            <a:off x="548640" y="3611880"/>
            <a:ext cx="2377440" cy="960120"/>
          </a:xfrm>
          <a:prstGeom prst="rect">
            <a:avLst/>
          </a:prstGeom>
          <a:noFill/>
          <a:ln/>
        </p:spPr>
        <p:txBody>
          <a:bodyPr wrap="square" lIns="635" tIns="635" rIns="635" bIns="635" rtlCol="0" anchor="ctr"/>
          <a:lstStyle/>
          <a:p>
            <a:pPr algn="ctr" indent="0" marL="0">
              <a:buNone/>
            </a:pPr>
            <a:r>
              <a:rPr lang="en-US" sz="1500" b="1" dirty="0">
                <a:solidFill>
                  <a:srgbClr val="FFFFFF"/>
                </a:solidFill>
              </a:rPr>
              <a:t>optional</a:t>
            </a:r>
            <a:endParaRPr lang="en-US" sz="1500" dirty="0"/>
          </a:p>
        </p:txBody>
      </p:sp>
      <p:sp>
        <p:nvSpPr>
          <p:cNvPr id="14" name="box"/>
          <p:cNvSpPr/>
          <p:nvPr/>
        </p:nvSpPr>
        <p:spPr>
          <a:xfrm>
            <a:off x="3108960" y="3611880"/>
            <a:ext cx="8503920" cy="960120"/>
          </a:xfrm>
          <a:prstGeom prst="roundRect">
            <a:avLst>
              <a:gd name="adj" fmla="val 7619"/>
            </a:avLst>
          </a:prstGeom>
          <a:solidFill>
            <a:srgbClr val="EEF2F6"/>
          </a:solidFill>
          <a:ln w="12700">
            <a:solidFill>
              <a:srgbClr val="EEF2F6"/>
            </a:solidFill>
            <a:prstDash val="solid"/>
          </a:ln>
        </p:spPr>
      </p:sp>
      <p:sp>
        <p:nvSpPr>
          <p:cNvPr id="15" name="Text 12"/>
          <p:cNvSpPr txBox="1"/>
          <p:nvPr/>
        </p:nvSpPr>
        <p:spPr>
          <a:xfrm>
            <a:off x="3108960" y="3611880"/>
            <a:ext cx="8503920" cy="960120"/>
          </a:xfrm>
          <a:prstGeom prst="rect">
            <a:avLst/>
          </a:prstGeom>
          <a:noFill/>
          <a:ln/>
        </p:spPr>
        <p:txBody>
          <a:bodyPr wrap="square" lIns="635" tIns="635" rIns="635" bIns="635" rtlCol="0" anchor="ctr"/>
          <a:lstStyle/>
          <a:p>
            <a:pPr algn="ctr" indent="0" marL="0">
              <a:buNone/>
            </a:pPr>
            <a:r>
              <a:rPr lang="en-US" sz="1300" dirty="0">
                <a:solidFill>
                  <a:srgbClr val="1B2430"/>
                </a:solidFill>
              </a:rPr>
              <a:t>TELNET client: dism /online /Enable-Feature /FeatureName:TelnetClient</a:t>
            </a:r>
            <a:endParaRPr lang="en-US" sz="1300" dirty="0"/>
          </a:p>
        </p:txBody>
      </p:sp>
      <p:sp>
        <p:nvSpPr>
          <p:cNvPr id="16" name="box"/>
          <p:cNvSpPr/>
          <p:nvPr/>
        </p:nvSpPr>
        <p:spPr>
          <a:xfrm>
            <a:off x="548640" y="4846320"/>
            <a:ext cx="11064240" cy="731520"/>
          </a:xfrm>
          <a:prstGeom prst="roundRect">
            <a:avLst>
              <a:gd name="adj" fmla="val 10000"/>
            </a:avLst>
          </a:prstGeom>
          <a:solidFill>
            <a:srgbClr val="F3EAD7"/>
          </a:solidFill>
          <a:ln w="12700">
            <a:solidFill>
              <a:srgbClr val="F3EAD7"/>
            </a:solidFill>
            <a:prstDash val="solid"/>
          </a:ln>
        </p:spPr>
      </p:sp>
      <p:sp>
        <p:nvSpPr>
          <p:cNvPr id="17" name="Text 14"/>
          <p:cNvSpPr txBox="1"/>
          <p:nvPr/>
        </p:nvSpPr>
        <p:spPr>
          <a:xfrm>
            <a:off x="548640" y="4846320"/>
            <a:ext cx="11064240" cy="731520"/>
          </a:xfrm>
          <a:prstGeom prst="rect">
            <a:avLst/>
          </a:prstGeom>
          <a:noFill/>
          <a:ln/>
        </p:spPr>
        <p:txBody>
          <a:bodyPr wrap="square" lIns="635" tIns="635" rIns="635" bIns="635" rtlCol="0" anchor="ctr"/>
          <a:lstStyle/>
          <a:p>
            <a:pPr algn="ctr" indent="0" marL="0">
              <a:buNone/>
            </a:pPr>
            <a:r>
              <a:rPr lang="en-US" sz="1400" dirty="0">
                <a:solidFill>
                  <a:srgbClr val="1B2430"/>
                </a:solidFill>
              </a:rPr>
              <a:t>Type </a:t>
            </a:r>
            <a:r>
              <a:rPr lang="en-US" sz="1400" b="1" dirty="0">
                <a:solidFill>
                  <a:srgbClr val="1B2430"/>
                </a:solidFill>
              </a:rPr>
              <a:t>curl.exe</a:t>
            </a:r>
            <a:r>
              <a:rPr lang="en-US" sz="1400" dirty="0">
                <a:solidFill>
                  <a:srgbClr val="1B2430"/>
                </a:solidFill>
              </a:rPr>
              <a:t>, not curl: in Windows PowerShell 5.1, curl is an alias of Invoke-WebRequest.</a:t>
            </a:r>
            <a:endParaRPr lang="en-US" sz="1400" dirty="0"/>
          </a:p>
        </p:txBody>
      </p:sp>
      <p:sp>
        <p:nvSpPr>
          <p:cNvPr id="1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9" name="Text 1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Capture loopback traffic on Npcap’s “Adapter for loopback traffic capture”.</a:t>
            </a:r>
            <a:endParaRPr lang="en-US" sz="1400" dirty="0"/>
          </a:p>
        </p:txBody>
      </p:sp>
      <p:sp>
        <p:nvSpPr>
          <p:cNvPr id="20" name="Text 1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Npcap (packet-capture driver for Windows) · scp (secure copy)</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1 · Cookies and ETags on Windows</a:t>
            </a:r>
            <a:endParaRPr lang="en-US" sz="3000" dirty="0"/>
          </a:p>
        </p:txBody>
      </p:sp>
      <p:sp>
        <p:nvSpPr>
          <p:cNvPr id="4" name="code"/>
          <p:cNvSpPr/>
          <p:nvPr/>
        </p:nvSpPr>
        <p:spPr>
          <a:xfrm>
            <a:off x="548640" y="1280160"/>
            <a:ext cx="6949440" cy="2926080"/>
          </a:xfrm>
          <a:prstGeom prst="rect">
            <a:avLst/>
          </a:prstGeom>
          <a:solidFill>
            <a:srgbClr val="1E2A38"/>
          </a:solidFill>
          <a:ln w="12700">
            <a:solidFill>
              <a:srgbClr val="1E2A38"/>
            </a:solidFill>
            <a:prstDash val="solid"/>
          </a:ln>
        </p:spPr>
      </p:sp>
      <p:sp>
        <p:nvSpPr>
          <p:cNvPr id="5" name="Text 2"/>
          <p:cNvSpPr txBox="1"/>
          <p:nvPr/>
        </p:nvSpPr>
        <p:spPr>
          <a:xfrm>
            <a:off x="548640" y="1280160"/>
            <a:ext cx="6949440" cy="292608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curl.exe -c jar.txt -b jar.txt http://127.0.0.1:8000/</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$u = 'http://127.0.0.1:8000/'</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$r = Invoke-WebRequest $u -SessionVariable web</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$web.Cookies.GetCookies($u)</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curl.exe --etag-save etag.txt -o notes.txt $u/notes.txt</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curl.exe -i --etag-compare etag.txt $u/notes.txt</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curl.exe -X POST $u/touch</a:t>
            </a:r>
            <a:endParaRPr lang="en-US" sz="1100" dirty="0"/>
          </a:p>
        </p:txBody>
      </p:sp>
      <p:sp>
        <p:nvSpPr>
          <p:cNvPr id="6" name="box"/>
          <p:cNvSpPr/>
          <p:nvPr/>
        </p:nvSpPr>
        <p:spPr>
          <a:xfrm>
            <a:off x="7772400" y="1280160"/>
            <a:ext cx="3840480" cy="822960"/>
          </a:xfrm>
          <a:prstGeom prst="roundRect">
            <a:avLst>
              <a:gd name="adj" fmla="val 8889"/>
            </a:avLst>
          </a:prstGeom>
          <a:solidFill>
            <a:srgbClr val="F3EAD7"/>
          </a:solidFill>
          <a:ln w="12700">
            <a:solidFill>
              <a:srgbClr val="F3EAD7"/>
            </a:solidFill>
            <a:prstDash val="solid"/>
          </a:ln>
        </p:spPr>
      </p:sp>
      <p:sp>
        <p:nvSpPr>
          <p:cNvPr id="7" name="Text 4"/>
          <p:cNvSpPr txBox="1"/>
          <p:nvPr/>
        </p:nvSpPr>
        <p:spPr>
          <a:xfrm>
            <a:off x="7772400" y="1280160"/>
            <a:ext cx="3840480" cy="822960"/>
          </a:xfrm>
          <a:prstGeom prst="rect">
            <a:avLst/>
          </a:prstGeom>
          <a:noFill/>
          <a:ln/>
        </p:spPr>
        <p:txBody>
          <a:bodyPr wrap="square" lIns="635" tIns="635" rIns="635" bIns="635" rtlCol="0" anchor="ctr"/>
          <a:lstStyle/>
          <a:p>
            <a:pPr algn="ctr" indent="0" marL="0">
              <a:buNone/>
            </a:pPr>
            <a:r>
              <a:rPr lang="en-US" sz="1200" dirty="0">
                <a:solidFill>
                  <a:srgbClr val="1B2430"/>
                </a:solidFill>
              </a:rPr>
              <a:t>-SessionVariable web</a:t>
            </a:r>
            <a:endParaRPr lang="en-US" sz="1200" dirty="0"/>
          </a:p>
          <a:p>
            <a:pPr algn="ctr" indent="0" marL="0">
              <a:buNone/>
            </a:pPr>
            <a:r>
              <a:rPr lang="en-US" sz="1200" dirty="0">
                <a:solidFill>
                  <a:srgbClr val="1B2430"/>
                </a:solidFill>
              </a:rPr>
              <a:t>a browser in a variable</a:t>
            </a:r>
            <a:endParaRPr lang="en-US" sz="1200" dirty="0"/>
          </a:p>
        </p:txBody>
      </p:sp>
      <p:sp>
        <p:nvSpPr>
          <p:cNvPr id="8" name="box"/>
          <p:cNvSpPr/>
          <p:nvPr/>
        </p:nvSpPr>
        <p:spPr>
          <a:xfrm>
            <a:off x="7772400" y="2240280"/>
            <a:ext cx="3840480" cy="822960"/>
          </a:xfrm>
          <a:prstGeom prst="roundRect">
            <a:avLst>
              <a:gd name="adj" fmla="val 8889"/>
            </a:avLst>
          </a:prstGeom>
          <a:solidFill>
            <a:srgbClr val="F3EAD7"/>
          </a:solidFill>
          <a:ln w="12700">
            <a:solidFill>
              <a:srgbClr val="F3EAD7"/>
            </a:solidFill>
            <a:prstDash val="solid"/>
          </a:ln>
        </p:spPr>
      </p:sp>
      <p:sp>
        <p:nvSpPr>
          <p:cNvPr id="9" name="Text 6"/>
          <p:cNvSpPr txBox="1"/>
          <p:nvPr/>
        </p:nvSpPr>
        <p:spPr>
          <a:xfrm>
            <a:off x="7772400" y="2240280"/>
            <a:ext cx="3840480" cy="822960"/>
          </a:xfrm>
          <a:prstGeom prst="rect">
            <a:avLst/>
          </a:prstGeom>
          <a:noFill/>
          <a:ln/>
        </p:spPr>
        <p:txBody>
          <a:bodyPr wrap="square" lIns="635" tIns="635" rIns="635" bIns="635" rtlCol="0" anchor="ctr"/>
          <a:lstStyle/>
          <a:p>
            <a:pPr algn="ctr" indent="0" marL="0">
              <a:buNone/>
            </a:pPr>
            <a:r>
              <a:rPr lang="en-US" sz="1200" dirty="0">
                <a:solidFill>
                  <a:srgbClr val="1B2430"/>
                </a:solidFill>
              </a:rPr>
              <a:t>--etag-save</a:t>
            </a:r>
            <a:endParaRPr lang="en-US" sz="1200" dirty="0"/>
          </a:p>
          <a:p>
            <a:pPr algn="ctr" indent="0" marL="0">
              <a:buNone/>
            </a:pPr>
            <a:r>
              <a:rPr lang="en-US" sz="1200" dirty="0">
                <a:solidFill>
                  <a:srgbClr val="1B2430"/>
                </a:solidFill>
              </a:rPr>
              <a:t>store the ETag</a:t>
            </a:r>
            <a:endParaRPr lang="en-US" sz="1200" dirty="0"/>
          </a:p>
        </p:txBody>
      </p:sp>
      <p:sp>
        <p:nvSpPr>
          <p:cNvPr id="10" name="box"/>
          <p:cNvSpPr/>
          <p:nvPr/>
        </p:nvSpPr>
        <p:spPr>
          <a:xfrm>
            <a:off x="7772400" y="3200400"/>
            <a:ext cx="3840480" cy="822960"/>
          </a:xfrm>
          <a:prstGeom prst="roundRect">
            <a:avLst>
              <a:gd name="adj" fmla="val 8889"/>
            </a:avLst>
          </a:prstGeom>
          <a:solidFill>
            <a:srgbClr val="F3EAD7"/>
          </a:solidFill>
          <a:ln w="12700">
            <a:solidFill>
              <a:srgbClr val="F3EAD7"/>
            </a:solidFill>
            <a:prstDash val="solid"/>
          </a:ln>
        </p:spPr>
      </p:sp>
      <p:sp>
        <p:nvSpPr>
          <p:cNvPr id="11" name="Text 8"/>
          <p:cNvSpPr txBox="1"/>
          <p:nvPr/>
        </p:nvSpPr>
        <p:spPr>
          <a:xfrm>
            <a:off x="7772400" y="3200400"/>
            <a:ext cx="3840480" cy="822960"/>
          </a:xfrm>
          <a:prstGeom prst="rect">
            <a:avLst/>
          </a:prstGeom>
          <a:noFill/>
          <a:ln/>
        </p:spPr>
        <p:txBody>
          <a:bodyPr wrap="square" lIns="635" tIns="635" rIns="635" bIns="635" rtlCol="0" anchor="ctr"/>
          <a:lstStyle/>
          <a:p>
            <a:pPr algn="ctr" indent="0" marL="0">
              <a:buNone/>
            </a:pPr>
            <a:r>
              <a:rPr lang="en-US" sz="1200" dirty="0">
                <a:solidFill>
                  <a:srgbClr val="1B2430"/>
                </a:solidFill>
              </a:rPr>
              <a:t>--etag-compare</a:t>
            </a:r>
            <a:endParaRPr lang="en-US" sz="1200" dirty="0"/>
          </a:p>
          <a:p>
            <a:pPr algn="ctr" indent="0" marL="0">
              <a:buNone/>
            </a:pPr>
            <a:r>
              <a:rPr lang="en-US" sz="1200" dirty="0">
                <a:solidFill>
                  <a:srgbClr val="1B2430"/>
                </a:solidFill>
              </a:rPr>
              <a:t>send If-None-Match</a:t>
            </a:r>
            <a:endParaRPr lang="en-US" sz="1200" dirty="0"/>
          </a:p>
        </p:txBody>
      </p:sp>
      <p:sp>
        <p:nvSpPr>
          <p:cNvPr id="12" name="Shape 9"/>
          <p:cNvSpPr/>
          <p:nvPr/>
        </p:nvSpPr>
        <p:spPr>
          <a:xfrm>
            <a:off x="548640" y="4498848"/>
            <a:ext cx="384048" cy="384048"/>
          </a:xfrm>
          <a:prstGeom prst="ellipse">
            <a:avLst/>
          </a:prstGeom>
          <a:solidFill>
            <a:srgbClr val="B9772A"/>
          </a:solidFill>
          <a:ln w="12700">
            <a:solidFill>
              <a:srgbClr val="B9772A"/>
            </a:solidFill>
            <a:prstDash val="solid"/>
          </a:ln>
        </p:spPr>
      </p:sp>
      <p:sp>
        <p:nvSpPr>
          <p:cNvPr id="13" name="Text 10"/>
          <p:cNvSpPr txBox="1"/>
          <p:nvPr/>
        </p:nvSpPr>
        <p:spPr>
          <a:xfrm>
            <a:off x="548640" y="4498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11"/>
          <p:cNvSpPr txBox="1"/>
          <p:nvPr/>
        </p:nvSpPr>
        <p:spPr>
          <a:xfrm>
            <a:off x="1051560" y="4480560"/>
            <a:ext cx="10561320" cy="10058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Q1–Q2 · Same answers as on Linux: the counter is on the server; 304 before /touch, 200 after it.</a:t>
            </a:r>
            <a:endParaRPr lang="en-US" sz="1300" dirty="0"/>
          </a:p>
        </p:txBody>
      </p:sp>
      <p:sp>
        <p:nvSpPr>
          <p:cNvPr id="15"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6" name="Text 13"/>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Two clients, one protocol: the server cannot tell curl.exe, PowerShell and a browser apart.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2 · A TLS connection from PowerShell</a:t>
            </a:r>
            <a:endParaRPr lang="en-US" sz="3000" dirty="0"/>
          </a:p>
        </p:txBody>
      </p:sp>
      <p:sp>
        <p:nvSpPr>
          <p:cNvPr id="4" name="code"/>
          <p:cNvSpPr/>
          <p:nvPr/>
        </p:nvSpPr>
        <p:spPr>
          <a:xfrm>
            <a:off x="548640" y="1280160"/>
            <a:ext cx="6949440" cy="3291840"/>
          </a:xfrm>
          <a:prstGeom prst="rect">
            <a:avLst/>
          </a:prstGeom>
          <a:solidFill>
            <a:srgbClr val="1E2A38"/>
          </a:solidFill>
          <a:ln w="12700">
            <a:solidFill>
              <a:srgbClr val="1E2A38"/>
            </a:solidFill>
            <a:prstDash val="solid"/>
          </a:ln>
        </p:spPr>
      </p:sp>
      <p:sp>
        <p:nvSpPr>
          <p:cNvPr id="5" name="Text 2"/>
          <p:cNvSpPr txBox="1"/>
          <p:nvPr/>
        </p:nvSpPr>
        <p:spPr>
          <a:xfrm>
            <a:off x="548640" y="1280160"/>
            <a:ext cx="6949440" cy="329184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$tcp = New-Object Net.Sockets.TcpClient('example.org', 443)</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$tls = New-Object Net.Security.SslStream($tcp.GetStream())</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$tls.AuthenticateAsClient('example.org')   # → SNI</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$tls.SslProtocol                           # Tls13</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$cert = New-Object …X509Certificate2 $tls.RemoteCertificate</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$chain = New-Object …X509Chain</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[void]$chain.Build($cert)</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$chain.ChainElements | % { $_.Certificate.Subject }</a:t>
            </a:r>
            <a:endParaRPr lang="en-US" sz="1100" dirty="0"/>
          </a:p>
        </p:txBody>
      </p:sp>
      <p:sp>
        <p:nvSpPr>
          <p:cNvPr id="6" name="box"/>
          <p:cNvSpPr/>
          <p:nvPr/>
        </p:nvSpPr>
        <p:spPr>
          <a:xfrm>
            <a:off x="7772400" y="1280160"/>
            <a:ext cx="3840480" cy="1463040"/>
          </a:xfrm>
          <a:prstGeom prst="roundRect">
            <a:avLst>
              <a:gd name="adj" fmla="val 5000"/>
            </a:avLst>
          </a:prstGeom>
          <a:solidFill>
            <a:srgbClr val="F3EAD7"/>
          </a:solidFill>
          <a:ln w="12700">
            <a:solidFill>
              <a:srgbClr val="F3EAD7"/>
            </a:solidFill>
            <a:prstDash val="solid"/>
          </a:ln>
        </p:spPr>
      </p:sp>
      <p:sp>
        <p:nvSpPr>
          <p:cNvPr id="7" name="Text 4"/>
          <p:cNvSpPr txBox="1"/>
          <p:nvPr/>
        </p:nvSpPr>
        <p:spPr>
          <a:xfrm>
            <a:off x="7772400" y="1280160"/>
            <a:ext cx="3840480" cy="1463040"/>
          </a:xfrm>
          <a:prstGeom prst="rect">
            <a:avLst/>
          </a:prstGeom>
          <a:noFill/>
          <a:ln/>
        </p:spPr>
        <p:txBody>
          <a:bodyPr wrap="square" lIns="635" tIns="635" rIns="635" bIns="635" rtlCol="0" anchor="ctr"/>
          <a:lstStyle/>
          <a:p>
            <a:pPr algn="ctr" indent="0" marL="0">
              <a:buNone/>
            </a:pPr>
            <a:r>
              <a:rPr lang="en-US" sz="1200" b="1" dirty="0">
                <a:solidFill>
                  <a:srgbClr val="1B2430"/>
                </a:solidFill>
              </a:rPr>
              <a:t>Wireshark filter</a:t>
            </a:r>
            <a:endParaRPr lang="en-US" sz="1200" dirty="0"/>
          </a:p>
          <a:p>
            <a:pPr algn="ctr" indent="0" marL="0">
              <a:buNone/>
            </a:pPr>
            <a:r>
              <a:rPr lang="en-US" sz="1200" dirty="0">
                <a:solidFill>
                  <a:srgbClr val="1B2430"/>
                </a:solidFill>
              </a:rPr>
              <a:t>tls.handshake.type == 1</a:t>
            </a:r>
            <a:endParaRPr lang="en-US" sz="1200" dirty="0"/>
          </a:p>
          <a:p>
            <a:pPr algn="ctr" indent="0" marL="0">
              <a:buNone/>
            </a:pPr>
            <a:r>
              <a:rPr lang="en-US" sz="1200" dirty="0">
                <a:solidFill>
                  <a:srgbClr val="1B2430"/>
                </a:solidFill>
              </a:rPr>
              <a:t>→ Extension: server_name</a:t>
            </a:r>
            <a:endParaRPr lang="en-US" sz="1200" dirty="0"/>
          </a:p>
        </p:txBody>
      </p:sp>
      <p:sp>
        <p:nvSpPr>
          <p:cNvPr id="8" name="box"/>
          <p:cNvSpPr/>
          <p:nvPr/>
        </p:nvSpPr>
        <p:spPr>
          <a:xfrm>
            <a:off x="7772400" y="2926080"/>
            <a:ext cx="3840480" cy="1645920"/>
          </a:xfrm>
          <a:prstGeom prst="roundRect">
            <a:avLst>
              <a:gd name="adj" fmla="val 4444"/>
            </a:avLst>
          </a:prstGeom>
          <a:solidFill>
            <a:srgbClr val="EEF2F6"/>
          </a:solidFill>
          <a:ln w="12700">
            <a:solidFill>
              <a:srgbClr val="EEF2F6"/>
            </a:solidFill>
            <a:prstDash val="solid"/>
          </a:ln>
        </p:spPr>
      </p:sp>
      <p:sp>
        <p:nvSpPr>
          <p:cNvPr id="9" name="Text 6"/>
          <p:cNvSpPr txBox="1"/>
          <p:nvPr/>
        </p:nvSpPr>
        <p:spPr>
          <a:xfrm>
            <a:off x="7772400" y="2926080"/>
            <a:ext cx="3840480" cy="1645920"/>
          </a:xfrm>
          <a:prstGeom prst="rect">
            <a:avLst/>
          </a:prstGeom>
          <a:noFill/>
          <a:ln/>
        </p:spPr>
        <p:txBody>
          <a:bodyPr wrap="square" lIns="635" tIns="635" rIns="635" bIns="635" rtlCol="0" anchor="ctr"/>
          <a:lstStyle/>
          <a:p>
            <a:pPr algn="ctr" indent="0" marL="0">
              <a:buNone/>
            </a:pPr>
            <a:r>
              <a:rPr lang="en-US" sz="1200" b="1" dirty="0">
                <a:solidFill>
                  <a:srgbClr val="1B2430"/>
                </a:solidFill>
              </a:rPr>
              <a:t>certlm.msc</a:t>
            </a:r>
            <a:endParaRPr lang="en-US" sz="1200" dirty="0"/>
          </a:p>
          <a:p>
            <a:pPr algn="ctr" indent="0" marL="0">
              <a:buNone/>
            </a:pPr>
            <a:r>
              <a:rPr lang="en-US" sz="1200" dirty="0">
                <a:solidFill>
                  <a:srgbClr val="1B2430"/>
                </a:solidFill>
              </a:rPr>
              <a:t>Trusted Root Certification Authorities: find the root of the chain</a:t>
            </a:r>
            <a:endParaRPr lang="en-US" sz="1200" dirty="0"/>
          </a:p>
        </p:txBody>
      </p:sp>
      <p:sp>
        <p:nvSpPr>
          <p:cNvPr id="10" name="Shape 7"/>
          <p:cNvSpPr/>
          <p:nvPr/>
        </p:nvSpPr>
        <p:spPr>
          <a:xfrm>
            <a:off x="548640" y="4818888"/>
            <a:ext cx="384048" cy="384048"/>
          </a:xfrm>
          <a:prstGeom prst="ellipse">
            <a:avLst/>
          </a:prstGeom>
          <a:solidFill>
            <a:srgbClr val="B9772A"/>
          </a:solidFill>
          <a:ln w="12700">
            <a:solidFill>
              <a:srgbClr val="B9772A"/>
            </a:solidFill>
            <a:prstDash val="solid"/>
          </a:ln>
        </p:spPr>
      </p:sp>
      <p:sp>
        <p:nvSpPr>
          <p:cNvPr id="11" name="Text 8"/>
          <p:cNvSpPr txBox="1"/>
          <p:nvPr/>
        </p:nvSpPr>
        <p:spPr>
          <a:xfrm>
            <a:off x="548640" y="4818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2" name="Text 9"/>
          <p:cNvSpPr txBox="1"/>
          <p:nvPr/>
        </p:nvSpPr>
        <p:spPr>
          <a:xfrm>
            <a:off x="1051560" y="4800600"/>
            <a:ext cx="10561320" cy="7772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Q3–Q4 · The argument of AuthenticateAsClient is the name sent in clear (SNI) and checked against the certificate.</a:t>
            </a:r>
            <a:endParaRPr lang="en-US" sz="1300" dirty="0"/>
          </a:p>
        </p:txBody>
      </p:sp>
      <p:sp>
        <p:nvSpPr>
          <p:cNvPr id="13"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4" name="Text 11"/>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The trust store of the operating system decides which roots — and so which servers — Windows believes.</a:t>
            </a:r>
            <a:endParaRPr lang="en-US" sz="1400" dirty="0"/>
          </a:p>
        </p:txBody>
      </p:sp>
      <p:sp>
        <p:nvSpPr>
          <p:cNvPr id="15" name="Text 12"/>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TLS (Transport Layer Security) · SNI (Server Name Indication)</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3 · The login in clear, seen in Wireshark</a:t>
            </a:r>
            <a:endParaRPr lang="en-US" sz="3000" dirty="0"/>
          </a:p>
        </p:txBody>
      </p:sp>
      <p:sp>
        <p:nvSpPr>
          <p:cNvPr id="4" name="box"/>
          <p:cNvSpPr/>
          <p:nvPr/>
        </p:nvSpPr>
        <p:spPr>
          <a:xfrm>
            <a:off x="548640" y="1325880"/>
            <a:ext cx="5303520" cy="2194560"/>
          </a:xfrm>
          <a:prstGeom prst="roundRect">
            <a:avLst>
              <a:gd name="adj" fmla="val 3333"/>
            </a:avLst>
          </a:prstGeom>
          <a:solidFill>
            <a:srgbClr val="F2D6D6"/>
          </a:solidFill>
          <a:ln w="12700">
            <a:solidFill>
              <a:srgbClr val="F2D6D6"/>
            </a:solidFill>
            <a:prstDash val="solid"/>
          </a:ln>
        </p:spPr>
      </p:sp>
      <p:sp>
        <p:nvSpPr>
          <p:cNvPr id="5" name="Text 2"/>
          <p:cNvSpPr txBox="1"/>
          <p:nvPr/>
        </p:nvSpPr>
        <p:spPr>
          <a:xfrm>
            <a:off x="548640" y="1325880"/>
            <a:ext cx="5303520" cy="2194560"/>
          </a:xfrm>
          <a:prstGeom prst="rect">
            <a:avLst/>
          </a:prstGeom>
          <a:noFill/>
          <a:ln/>
        </p:spPr>
        <p:txBody>
          <a:bodyPr wrap="square" lIns="635" tIns="635" rIns="635" bIns="635" rtlCol="0" anchor="ctr"/>
          <a:lstStyle/>
          <a:p>
            <a:pPr algn="ctr" indent="0" marL="0">
              <a:spcAft>
                <a:spcPts val="300"/>
              </a:spcAft>
              <a:buNone/>
            </a:pPr>
            <a:r>
              <a:rPr lang="en-US" sz="1300" b="1" dirty="0">
                <a:solidFill>
                  <a:srgbClr val="1B2430"/>
                </a:solidFill>
              </a:rPr>
              <a:t>Follow TCP Stream</a:t>
            </a:r>
            <a:endParaRPr lang="en-US" sz="1300" dirty="0"/>
          </a:p>
          <a:p>
            <a:pPr algn="ctr" indent="0" marL="0">
              <a:spcAft>
                <a:spcPts val="300"/>
              </a:spcAft>
              <a:buNone/>
            </a:pPr>
            <a:r>
              <a:rPr lang="en-US" sz="1300" dirty="0">
                <a:solidFill>
                  <a:srgbClr val="1B2430"/>
                </a:solidFill>
              </a:rPr>
              <a:t>login: alice</a:t>
            </a:r>
            <a:endParaRPr lang="en-US" sz="1300" dirty="0"/>
          </a:p>
          <a:p>
            <a:pPr algn="ctr" indent="0" marL="0">
              <a:spcAft>
                <a:spcPts val="300"/>
              </a:spcAft>
              <a:buNone/>
            </a:pPr>
            <a:r>
              <a:rPr lang="en-US" sz="1300" dirty="0">
                <a:solidFill>
                  <a:srgbClr val="1B2430"/>
                </a:solidFill>
              </a:rPr>
              <a:t>password: secret123</a:t>
            </a:r>
            <a:endParaRPr lang="en-US" sz="1300" dirty="0"/>
          </a:p>
          <a:p>
            <a:pPr algn="ctr" indent="0" marL="0">
              <a:spcAft>
                <a:spcPts val="300"/>
              </a:spcAft>
              <a:buNone/>
            </a:pPr>
            <a:r>
              <a:rPr lang="en-US" sz="1300" dirty="0">
                <a:solidFill>
                  <a:srgbClr val="1B2430"/>
                </a:solidFill>
              </a:rPr>
              <a:t>(red: client · blue: server)</a:t>
            </a:r>
            <a:endParaRPr lang="en-US" sz="1300" dirty="0"/>
          </a:p>
        </p:txBody>
      </p:sp>
      <p:sp>
        <p:nvSpPr>
          <p:cNvPr id="6" name="box"/>
          <p:cNvSpPr/>
          <p:nvPr/>
        </p:nvSpPr>
        <p:spPr>
          <a:xfrm>
            <a:off x="6217920" y="1325880"/>
            <a:ext cx="5394960" cy="2194560"/>
          </a:xfrm>
          <a:prstGeom prst="roundRect">
            <a:avLst>
              <a:gd name="adj" fmla="val 3333"/>
            </a:avLst>
          </a:prstGeom>
          <a:solidFill>
            <a:srgbClr val="F3EAD7"/>
          </a:solidFill>
          <a:ln w="12700">
            <a:solidFill>
              <a:srgbClr val="F3EAD7"/>
            </a:solidFill>
            <a:prstDash val="solid"/>
          </a:ln>
        </p:spPr>
      </p:sp>
      <p:sp>
        <p:nvSpPr>
          <p:cNvPr id="7" name="Text 4"/>
          <p:cNvSpPr txBox="1"/>
          <p:nvPr/>
        </p:nvSpPr>
        <p:spPr>
          <a:xfrm>
            <a:off x="6217920" y="1325880"/>
            <a:ext cx="5394960" cy="2194560"/>
          </a:xfrm>
          <a:prstGeom prst="rect">
            <a:avLst/>
          </a:prstGeom>
          <a:noFill/>
          <a:ln/>
        </p:spPr>
        <p:txBody>
          <a:bodyPr wrap="square" lIns="635" tIns="635" rIns="635" bIns="635" rtlCol="0" anchor="ctr"/>
          <a:lstStyle/>
          <a:p>
            <a:pPr algn="ctr" indent="0" marL="0">
              <a:spcAft>
                <a:spcPts val="300"/>
              </a:spcAft>
              <a:buNone/>
            </a:pPr>
            <a:r>
              <a:rPr lang="en-US" sz="1300" b="1" dirty="0">
                <a:solidFill>
                  <a:srgbClr val="1B2430"/>
                </a:solidFill>
              </a:rPr>
              <a:t>hex view</a:t>
            </a:r>
            <a:endParaRPr lang="en-US" sz="1300" dirty="0"/>
          </a:p>
          <a:p>
            <a:pPr algn="ctr" indent="0" marL="0">
              <a:spcAft>
                <a:spcPts val="300"/>
              </a:spcAft>
              <a:buNone/>
            </a:pPr>
            <a:r>
              <a:rPr lang="en-US" sz="1300" dirty="0">
                <a:solidFill>
                  <a:srgbClr val="1B2430"/>
                </a:solidFill>
              </a:rPr>
              <a:t>FF FB 01 — before the password prompt</a:t>
            </a:r>
            <a:endParaRPr lang="en-US" sz="1300" dirty="0"/>
          </a:p>
          <a:p>
            <a:pPr algn="ctr" indent="0" marL="0">
              <a:spcAft>
                <a:spcPts val="300"/>
              </a:spcAft>
              <a:buNone/>
            </a:pPr>
            <a:r>
              <a:rPr lang="en-US" sz="1300" dirty="0">
                <a:solidFill>
                  <a:srgbClr val="1B2430"/>
                </a:solidFill>
              </a:rPr>
              <a:t>FF FC 01 — after it</a:t>
            </a:r>
            <a:endParaRPr lang="en-US" sz="1300" dirty="0"/>
          </a:p>
        </p:txBody>
      </p:sp>
      <p:sp>
        <p:nvSpPr>
          <p:cNvPr id="8" name="Shape 5"/>
          <p:cNvSpPr/>
          <p:nvPr/>
        </p:nvSpPr>
        <p:spPr>
          <a:xfrm>
            <a:off x="548640" y="3858768"/>
            <a:ext cx="384048" cy="384048"/>
          </a:xfrm>
          <a:prstGeom prst="ellipse">
            <a:avLst/>
          </a:prstGeom>
          <a:solidFill>
            <a:srgbClr val="B9772A"/>
          </a:solidFill>
          <a:ln w="12700">
            <a:solidFill>
              <a:srgbClr val="B9772A"/>
            </a:solidFill>
            <a:prstDash val="solid"/>
          </a:ln>
        </p:spPr>
      </p:sp>
      <p:sp>
        <p:nvSpPr>
          <p:cNvPr id="9" name="Text 6"/>
          <p:cNvSpPr txBox="1"/>
          <p:nvPr/>
        </p:nvSpPr>
        <p:spPr>
          <a:xfrm>
            <a:off x="548640" y="3858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51560" y="3840480"/>
            <a:ext cx="10561320" cy="73152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Without the TELNET client: a PowerShell TcpClient writes the two lines and prints the reply bytes in hexadecimal.</a:t>
            </a:r>
            <a:endParaRPr lang="en-US" sz="1300" dirty="0"/>
          </a:p>
        </p:txBody>
      </p:sp>
      <p:sp>
        <p:nvSpPr>
          <p:cNvPr id="11" name="Shape 8"/>
          <p:cNvSpPr/>
          <p:nvPr/>
        </p:nvSpPr>
        <p:spPr>
          <a:xfrm>
            <a:off x="548640" y="4681728"/>
            <a:ext cx="384048" cy="384048"/>
          </a:xfrm>
          <a:prstGeom prst="ellipse">
            <a:avLst/>
          </a:prstGeom>
          <a:solidFill>
            <a:srgbClr val="B9772A"/>
          </a:solidFill>
          <a:ln w="12700">
            <a:solidFill>
              <a:srgbClr val="B9772A"/>
            </a:solidFill>
            <a:prstDash val="solid"/>
          </a:ln>
        </p:spPr>
      </p:sp>
      <p:sp>
        <p:nvSpPr>
          <p:cNvPr id="12" name="Text 9"/>
          <p:cNvSpPr txBox="1"/>
          <p:nvPr/>
        </p:nvSpPr>
        <p:spPr>
          <a:xfrm>
            <a:off x="548640" y="46817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51560" y="4663440"/>
            <a:ext cx="10561320" cy="82296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Q5–Q6 · The password never appears on screen — and is plainly readable on the wire.</a:t>
            </a:r>
            <a:endParaRPr lang="en-US" sz="1300" dirty="0"/>
          </a:p>
        </p:txBody>
      </p:sp>
      <p:sp>
        <p:nvSpPr>
          <p:cNvPr id="1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5" name="Text 1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Wireshark’s Follow TCP Stream turns a capture back into the conversation — for you and for an attacker.</a:t>
            </a:r>
            <a:endParaRPr lang="en-US" sz="1400" dirty="0"/>
          </a:p>
        </p:txBody>
      </p:sp>
      <p:sp>
        <p:nvSpPr>
          <p:cNvPr id="16" name="Text 13"/>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TCP (Transmission Control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Tasks 4–5 · SSH from Windows to a Linux server</a:t>
            </a:r>
            <a:endParaRPr lang="en-US" sz="3000" dirty="0"/>
          </a:p>
        </p:txBody>
      </p:sp>
      <p:sp>
        <p:nvSpPr>
          <p:cNvPr id="4" name="code"/>
          <p:cNvSpPr/>
          <p:nvPr/>
        </p:nvSpPr>
        <p:spPr>
          <a:xfrm>
            <a:off x="548640" y="1280160"/>
            <a:ext cx="7132320" cy="2194560"/>
          </a:xfrm>
          <a:prstGeom prst="rect">
            <a:avLst/>
          </a:prstGeom>
          <a:solidFill>
            <a:srgbClr val="1E2A38"/>
          </a:solidFill>
          <a:ln w="12700">
            <a:solidFill>
              <a:srgbClr val="1E2A38"/>
            </a:solidFill>
            <a:prstDash val="solid"/>
          </a:ln>
        </p:spPr>
      </p:sp>
      <p:sp>
        <p:nvSpPr>
          <p:cNvPr id="5" name="Text 2"/>
          <p:cNvSpPr txBox="1"/>
          <p:nvPr/>
        </p:nvSpPr>
        <p:spPr>
          <a:xfrm>
            <a:off x="548640" y="1280160"/>
            <a:ext cx="7132320" cy="219456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ssh-keygen -t ed25519            # $HOME\.ssh\id_ed25519</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Get-Content $HOME\.ssh\id_ed25519.pub |</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  ssh user@server "mkdir -p ~/.ssh &amp;&amp; cat &gt;&gt; ~/.ssh/authorized_keys"</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ssh -N -L 8080:127.0.0.1:8000 user@server</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curl.exe -i http://localhost:8080/notes.txt</a:t>
            </a:r>
            <a:endParaRPr lang="en-US" sz="1100" dirty="0"/>
          </a:p>
        </p:txBody>
      </p:sp>
      <p:sp>
        <p:nvSpPr>
          <p:cNvPr id="6" name="box"/>
          <p:cNvSpPr/>
          <p:nvPr/>
        </p:nvSpPr>
        <p:spPr>
          <a:xfrm>
            <a:off x="7955280" y="1280160"/>
            <a:ext cx="3657600" cy="2194560"/>
          </a:xfrm>
          <a:prstGeom prst="roundRect">
            <a:avLst>
              <a:gd name="adj" fmla="val 3333"/>
            </a:avLst>
          </a:prstGeom>
          <a:solidFill>
            <a:srgbClr val="F3EAD7"/>
          </a:solidFill>
          <a:ln w="12700">
            <a:solidFill>
              <a:srgbClr val="F3EAD7"/>
            </a:solidFill>
            <a:prstDash val="solid"/>
          </a:ln>
        </p:spPr>
      </p:sp>
      <p:sp>
        <p:nvSpPr>
          <p:cNvPr id="7" name="Text 4"/>
          <p:cNvSpPr txBox="1"/>
          <p:nvPr/>
        </p:nvSpPr>
        <p:spPr>
          <a:xfrm>
            <a:off x="7955280" y="1280160"/>
            <a:ext cx="3657600" cy="2194560"/>
          </a:xfrm>
          <a:prstGeom prst="rect">
            <a:avLst/>
          </a:prstGeom>
          <a:noFill/>
          <a:ln/>
        </p:spPr>
        <p:txBody>
          <a:bodyPr wrap="square" lIns="635" tIns="635" rIns="635" bIns="635" rtlCol="0" anchor="ctr"/>
          <a:lstStyle/>
          <a:p>
            <a:pPr algn="ctr" indent="0" marL="0">
              <a:buNone/>
            </a:pPr>
            <a:r>
              <a:rPr lang="en-US" sz="1300" b="1" dirty="0">
                <a:solidFill>
                  <a:srgbClr val="1B2430"/>
                </a:solidFill>
              </a:rPr>
              <a:t>no ssh-copy-id</a:t>
            </a:r>
            <a:endParaRPr lang="en-US" sz="1300" dirty="0"/>
          </a:p>
          <a:p>
            <a:pPr algn="ctr" indent="0" marL="0">
              <a:buNone/>
            </a:pPr>
            <a:r>
              <a:rPr lang="en-US" sz="1300" dirty="0">
                <a:solidFill>
                  <a:srgbClr val="1B2430"/>
                </a:solidFill>
              </a:rPr>
              <a:t>on Windows:</a:t>
            </a:r>
            <a:endParaRPr lang="en-US" sz="1300" dirty="0"/>
          </a:p>
          <a:p>
            <a:pPr algn="ctr" indent="0" marL="0">
              <a:buNone/>
            </a:pPr>
            <a:r>
              <a:rPr lang="en-US" sz="1300" dirty="0">
                <a:solidFill>
                  <a:srgbClr val="1B2430"/>
                </a:solidFill>
              </a:rPr>
              <a:t>the pipeline does its job</a:t>
            </a:r>
            <a:endParaRPr lang="en-US" sz="1300" dirty="0"/>
          </a:p>
        </p:txBody>
      </p:sp>
      <p:sp>
        <p:nvSpPr>
          <p:cNvPr id="8" name="box"/>
          <p:cNvSpPr/>
          <p:nvPr/>
        </p:nvSpPr>
        <p:spPr>
          <a:xfrm>
            <a:off x="548640" y="3794760"/>
            <a:ext cx="2377440" cy="822960"/>
          </a:xfrm>
          <a:prstGeom prst="roundRect">
            <a:avLst>
              <a:gd name="adj" fmla="val 8889"/>
            </a:avLst>
          </a:prstGeom>
          <a:solidFill>
            <a:srgbClr val="EEF2F6"/>
          </a:solidFill>
          <a:ln w="12700">
            <a:solidFill>
              <a:srgbClr val="EEF2F6"/>
            </a:solidFill>
            <a:prstDash val="solid"/>
          </a:ln>
        </p:spPr>
      </p:sp>
      <p:sp>
        <p:nvSpPr>
          <p:cNvPr id="9" name="Text 6"/>
          <p:cNvSpPr txBox="1"/>
          <p:nvPr/>
        </p:nvSpPr>
        <p:spPr>
          <a:xfrm>
            <a:off x="548640" y="3794760"/>
            <a:ext cx="2377440" cy="822960"/>
          </a:xfrm>
          <a:prstGeom prst="rect">
            <a:avLst/>
          </a:prstGeom>
          <a:noFill/>
          <a:ln/>
        </p:spPr>
        <p:txBody>
          <a:bodyPr wrap="square" lIns="635" tIns="635" rIns="635" bIns="635" rtlCol="0" anchor="ctr"/>
          <a:lstStyle/>
          <a:p>
            <a:pPr algn="ctr" indent="0" marL="0">
              <a:buNone/>
            </a:pPr>
            <a:r>
              <a:rPr lang="en-US" sz="1200" dirty="0">
                <a:solidFill>
                  <a:srgbClr val="1B2430"/>
                </a:solidFill>
              </a:rPr>
              <a:t>curl.exe</a:t>
            </a:r>
            <a:endParaRPr lang="en-US" sz="1200" dirty="0"/>
          </a:p>
          <a:p>
            <a:pPr algn="ctr" indent="0" marL="0">
              <a:buNone/>
            </a:pPr>
            <a:r>
              <a:rPr lang="en-US" sz="1200" dirty="0">
                <a:solidFill>
                  <a:srgbClr val="1B2430"/>
                </a:solidFill>
              </a:rPr>
              <a:t>localhost:8080</a:t>
            </a:r>
            <a:endParaRPr lang="en-US" sz="1200" dirty="0"/>
          </a:p>
        </p:txBody>
      </p:sp>
      <p:sp>
        <p:nvSpPr>
          <p:cNvPr id="10" name="box"/>
          <p:cNvSpPr/>
          <p:nvPr/>
        </p:nvSpPr>
        <p:spPr>
          <a:xfrm>
            <a:off x="3657600" y="3794760"/>
            <a:ext cx="2377440" cy="822960"/>
          </a:xfrm>
          <a:prstGeom prst="roundRect">
            <a:avLst>
              <a:gd name="adj" fmla="val 8889"/>
            </a:avLst>
          </a:prstGeom>
          <a:solidFill>
            <a:srgbClr val="2A7F8E"/>
          </a:solidFill>
          <a:ln w="12700">
            <a:solidFill>
              <a:srgbClr val="2A7F8E"/>
            </a:solidFill>
            <a:prstDash val="solid"/>
          </a:ln>
        </p:spPr>
      </p:sp>
      <p:sp>
        <p:nvSpPr>
          <p:cNvPr id="11" name="Text 8"/>
          <p:cNvSpPr txBox="1"/>
          <p:nvPr/>
        </p:nvSpPr>
        <p:spPr>
          <a:xfrm>
            <a:off x="3657600" y="3794760"/>
            <a:ext cx="2377440" cy="822960"/>
          </a:xfrm>
          <a:prstGeom prst="rect">
            <a:avLst/>
          </a:prstGeom>
          <a:noFill/>
          <a:ln/>
        </p:spPr>
        <p:txBody>
          <a:bodyPr wrap="square" lIns="635" tIns="635" rIns="635" bIns="635" rtlCol="0" anchor="ctr"/>
          <a:lstStyle/>
          <a:p>
            <a:pPr algn="ctr" indent="0" marL="0">
              <a:buNone/>
            </a:pPr>
            <a:r>
              <a:rPr lang="en-US" sz="1200" dirty="0">
                <a:solidFill>
                  <a:srgbClr val="FFFFFF"/>
                </a:solidFill>
              </a:rPr>
              <a:t>ssh.exe</a:t>
            </a:r>
            <a:endParaRPr lang="en-US" sz="1200" dirty="0"/>
          </a:p>
          <a:p>
            <a:pPr algn="ctr" indent="0" marL="0">
              <a:buNone/>
            </a:pPr>
            <a:r>
              <a:rPr lang="en-US" sz="1200" dirty="0">
                <a:solidFill>
                  <a:srgbClr val="FFFFFF"/>
                </a:solidFill>
              </a:rPr>
              <a:t>tunnel</a:t>
            </a:r>
            <a:endParaRPr lang="en-US" sz="1200" dirty="0"/>
          </a:p>
        </p:txBody>
      </p:sp>
      <p:sp>
        <p:nvSpPr>
          <p:cNvPr id="12" name="box"/>
          <p:cNvSpPr/>
          <p:nvPr/>
        </p:nvSpPr>
        <p:spPr>
          <a:xfrm>
            <a:off x="6766560" y="3794760"/>
            <a:ext cx="2377440" cy="822960"/>
          </a:xfrm>
          <a:prstGeom prst="roundRect">
            <a:avLst>
              <a:gd name="adj" fmla="val 8889"/>
            </a:avLst>
          </a:prstGeom>
          <a:solidFill>
            <a:srgbClr val="2A7F8E"/>
          </a:solidFill>
          <a:ln w="12700">
            <a:solidFill>
              <a:srgbClr val="2A7F8E"/>
            </a:solidFill>
            <a:prstDash val="solid"/>
          </a:ln>
        </p:spPr>
      </p:sp>
      <p:sp>
        <p:nvSpPr>
          <p:cNvPr id="13" name="Text 10"/>
          <p:cNvSpPr txBox="1"/>
          <p:nvPr/>
        </p:nvSpPr>
        <p:spPr>
          <a:xfrm>
            <a:off x="6766560" y="3794760"/>
            <a:ext cx="2377440" cy="822960"/>
          </a:xfrm>
          <a:prstGeom prst="rect">
            <a:avLst/>
          </a:prstGeom>
          <a:noFill/>
          <a:ln/>
        </p:spPr>
        <p:txBody>
          <a:bodyPr wrap="square" lIns="635" tIns="635" rIns="635" bIns="635" rtlCol="0" anchor="ctr"/>
          <a:lstStyle/>
          <a:p>
            <a:pPr algn="ctr" indent="0" marL="0">
              <a:buNone/>
            </a:pPr>
            <a:r>
              <a:rPr lang="en-US" sz="1200" dirty="0">
                <a:solidFill>
                  <a:srgbClr val="FFFFFF"/>
                </a:solidFill>
              </a:rPr>
              <a:t>sshd</a:t>
            </a:r>
            <a:endParaRPr lang="en-US" sz="1200" dirty="0"/>
          </a:p>
          <a:p>
            <a:pPr algn="ctr" indent="0" marL="0">
              <a:buNone/>
            </a:pPr>
            <a:r>
              <a:rPr lang="en-US" sz="1200" dirty="0">
                <a:solidFill>
                  <a:srgbClr val="FFFFFF"/>
                </a:solidFill>
              </a:rPr>
              <a:t>server</a:t>
            </a:r>
            <a:endParaRPr lang="en-US" sz="1200" dirty="0"/>
          </a:p>
        </p:txBody>
      </p:sp>
      <p:sp>
        <p:nvSpPr>
          <p:cNvPr id="14" name="box"/>
          <p:cNvSpPr/>
          <p:nvPr/>
        </p:nvSpPr>
        <p:spPr>
          <a:xfrm>
            <a:off x="9509760" y="3794760"/>
            <a:ext cx="2103120" cy="822960"/>
          </a:xfrm>
          <a:prstGeom prst="roundRect">
            <a:avLst>
              <a:gd name="adj" fmla="val 8889"/>
            </a:avLst>
          </a:prstGeom>
          <a:solidFill>
            <a:srgbClr val="1F3A5F"/>
          </a:solidFill>
          <a:ln w="12700">
            <a:solidFill>
              <a:srgbClr val="1F3A5F"/>
            </a:solidFill>
            <a:prstDash val="solid"/>
          </a:ln>
        </p:spPr>
      </p:sp>
      <p:sp>
        <p:nvSpPr>
          <p:cNvPr id="15" name="Text 12"/>
          <p:cNvSpPr txBox="1"/>
          <p:nvPr/>
        </p:nvSpPr>
        <p:spPr>
          <a:xfrm>
            <a:off x="9509760" y="3794760"/>
            <a:ext cx="2103120" cy="822960"/>
          </a:xfrm>
          <a:prstGeom prst="rect">
            <a:avLst/>
          </a:prstGeom>
          <a:noFill/>
          <a:ln/>
        </p:spPr>
        <p:txBody>
          <a:bodyPr wrap="square" lIns="635" tIns="635" rIns="635" bIns="635" rtlCol="0" anchor="ctr"/>
          <a:lstStyle/>
          <a:p>
            <a:pPr algn="ctr" indent="0" marL="0">
              <a:buNone/>
            </a:pPr>
            <a:r>
              <a:rPr lang="en-US" sz="1100" dirty="0">
                <a:solidFill>
                  <a:srgbClr val="FFFFFF"/>
                </a:solidFill>
              </a:rPr>
              <a:t>web_server</a:t>
            </a:r>
            <a:endParaRPr lang="en-US" sz="1100" dirty="0"/>
          </a:p>
          <a:p>
            <a:pPr algn="ctr" indent="0" marL="0">
              <a:buNone/>
            </a:pPr>
            <a:r>
              <a:rPr lang="en-US" sz="1100" dirty="0">
                <a:solidFill>
                  <a:srgbClr val="FFFFFF"/>
                </a:solidFill>
              </a:rPr>
              <a:t>127.0.0.1:8000</a:t>
            </a:r>
            <a:endParaRPr lang="en-US" sz="1100" dirty="0"/>
          </a:p>
        </p:txBody>
      </p:sp>
      <p:sp>
        <p:nvSpPr>
          <p:cNvPr id="16" name="Shape 13"/>
          <p:cNvSpPr/>
          <p:nvPr/>
        </p:nvSpPr>
        <p:spPr>
          <a:xfrm>
            <a:off x="2926080" y="4206240"/>
            <a:ext cx="731520" cy="914"/>
          </a:xfrm>
          <a:prstGeom prst="line">
            <a:avLst/>
          </a:prstGeom>
          <a:noFill/>
          <a:ln w="22225">
            <a:solidFill>
              <a:srgbClr val="5B6770"/>
            </a:solidFill>
            <a:prstDash val="solid"/>
            <a:tailEnd type="triangle"/>
          </a:ln>
        </p:spPr>
      </p:sp>
      <p:sp>
        <p:nvSpPr>
          <p:cNvPr id="17" name="Shape 14"/>
          <p:cNvSpPr/>
          <p:nvPr/>
        </p:nvSpPr>
        <p:spPr>
          <a:xfrm>
            <a:off x="6035040" y="4206240"/>
            <a:ext cx="731520" cy="914"/>
          </a:xfrm>
          <a:prstGeom prst="line">
            <a:avLst/>
          </a:prstGeom>
          <a:noFill/>
          <a:ln w="50800">
            <a:solidFill>
              <a:srgbClr val="2E7D4F"/>
            </a:solidFill>
            <a:prstDash val="solid"/>
            <a:tailEnd type="triangle"/>
          </a:ln>
        </p:spPr>
      </p:sp>
      <p:sp>
        <p:nvSpPr>
          <p:cNvPr id="18" name="Shape 15"/>
          <p:cNvSpPr/>
          <p:nvPr/>
        </p:nvSpPr>
        <p:spPr>
          <a:xfrm>
            <a:off x="9144000" y="4206240"/>
            <a:ext cx="365760" cy="914"/>
          </a:xfrm>
          <a:prstGeom prst="line">
            <a:avLst/>
          </a:prstGeom>
          <a:noFill/>
          <a:ln w="22225">
            <a:solidFill>
              <a:srgbClr val="5B6770"/>
            </a:solidFill>
            <a:prstDash val="solid"/>
            <a:tailEnd type="triangle"/>
          </a:ln>
        </p:spPr>
      </p:sp>
      <p:sp>
        <p:nvSpPr>
          <p:cNvPr id="19" name="Shape 16"/>
          <p:cNvSpPr/>
          <p:nvPr/>
        </p:nvSpPr>
        <p:spPr>
          <a:xfrm>
            <a:off x="548640" y="4864608"/>
            <a:ext cx="384048" cy="384048"/>
          </a:xfrm>
          <a:prstGeom prst="ellipse">
            <a:avLst/>
          </a:prstGeom>
          <a:solidFill>
            <a:srgbClr val="B9772A"/>
          </a:solidFill>
          <a:ln w="12700">
            <a:solidFill>
              <a:srgbClr val="B9772A"/>
            </a:solidFill>
            <a:prstDash val="solid"/>
          </a:ln>
        </p:spPr>
      </p:sp>
      <p:sp>
        <p:nvSpPr>
          <p:cNvPr id="20" name="Text 17"/>
          <p:cNvSpPr txBox="1"/>
          <p:nvPr/>
        </p:nvSpPr>
        <p:spPr>
          <a:xfrm>
            <a:off x="548640" y="4864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1" name="Text 18"/>
          <p:cNvSpPr txBox="1"/>
          <p:nvPr/>
        </p:nvSpPr>
        <p:spPr>
          <a:xfrm>
            <a:off x="1051560" y="4846320"/>
            <a:ext cx="10561320" cy="73152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Q9 · On the network adapter you see only port 22 and ciphertext; the HTTP text exists only on the two machines.</a:t>
            </a:r>
            <a:endParaRPr lang="en-US" sz="1200" dirty="0"/>
          </a:p>
        </p:txBody>
      </p:sp>
      <p:sp>
        <p:nvSpPr>
          <p:cNvPr id="2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3" name="Text 2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Q7–Q10 · The OpenSSH client on Windows is the same program as on Linux — same keys, same files, same tunnels.</a:t>
            </a:r>
            <a:endParaRPr lang="en-US" sz="1400" dirty="0"/>
          </a:p>
        </p:txBody>
      </p:sp>
      <p:sp>
        <p:nvSpPr>
          <p:cNvPr id="24" name="Text 21"/>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HTTP (HyperText Transfer Protocol) · SSH (Secure Shell)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6 · ftp.exe is active-only; curl.exe can do both</a:t>
            </a:r>
            <a:endParaRPr lang="en-US" sz="3000" dirty="0"/>
          </a:p>
        </p:txBody>
      </p:sp>
      <p:sp>
        <p:nvSpPr>
          <p:cNvPr id="4" name="code"/>
          <p:cNvSpPr/>
          <p:nvPr/>
        </p:nvSpPr>
        <p:spPr>
          <a:xfrm>
            <a:off x="548640" y="1280160"/>
            <a:ext cx="6400800" cy="2286000"/>
          </a:xfrm>
          <a:prstGeom prst="rect">
            <a:avLst/>
          </a:prstGeom>
          <a:solidFill>
            <a:srgbClr val="1E2A38"/>
          </a:solidFill>
          <a:ln w="12700">
            <a:solidFill>
              <a:srgbClr val="1E2A38"/>
            </a:solidFill>
            <a:prstDash val="solid"/>
          </a:ln>
        </p:spPr>
      </p:sp>
      <p:sp>
        <p:nvSpPr>
          <p:cNvPr id="5" name="Text 2"/>
          <p:cNvSpPr txBox="1"/>
          <p:nvPr/>
        </p:nvSpPr>
        <p:spPr>
          <a:xfrm>
            <a:off x="548640" y="1280160"/>
            <a:ext cx="6400800" cy="228600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ftp</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  debug · open 127.0.0.1 2121</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  student · secret · ls · binary</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  get web_server.py · bye</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curl.exe -v -u student:secret ftp://127.0.0.1:2121/</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curl.exe -v … --ftp-port - ftp://127.0.0.1:2121/</a:t>
            </a:r>
            <a:endParaRPr lang="en-US" sz="1100" dirty="0"/>
          </a:p>
        </p:txBody>
      </p:sp>
      <p:sp>
        <p:nvSpPr>
          <p:cNvPr id="6" name="box"/>
          <p:cNvSpPr/>
          <p:nvPr/>
        </p:nvSpPr>
        <p:spPr>
          <a:xfrm>
            <a:off x="7223760" y="1280160"/>
            <a:ext cx="2194560" cy="658368"/>
          </a:xfrm>
          <a:prstGeom prst="roundRect">
            <a:avLst>
              <a:gd name="adj" fmla="val 11111"/>
            </a:avLst>
          </a:prstGeom>
          <a:solidFill>
            <a:srgbClr val="A23B3B"/>
          </a:solidFill>
          <a:ln w="12700">
            <a:solidFill>
              <a:srgbClr val="A23B3B"/>
            </a:solidFill>
            <a:prstDash val="solid"/>
          </a:ln>
        </p:spPr>
      </p:sp>
      <p:sp>
        <p:nvSpPr>
          <p:cNvPr id="7" name="Text 4"/>
          <p:cNvSpPr txBox="1"/>
          <p:nvPr/>
        </p:nvSpPr>
        <p:spPr>
          <a:xfrm>
            <a:off x="7223760" y="1280160"/>
            <a:ext cx="2194560" cy="658368"/>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ftp.exe</a:t>
            </a:r>
            <a:endParaRPr lang="en-US" sz="1200" dirty="0"/>
          </a:p>
        </p:txBody>
      </p:sp>
      <p:sp>
        <p:nvSpPr>
          <p:cNvPr id="8" name="Text 5"/>
          <p:cNvSpPr txBox="1"/>
          <p:nvPr/>
        </p:nvSpPr>
        <p:spPr>
          <a:xfrm>
            <a:off x="9509760" y="1389888"/>
            <a:ext cx="2103120" cy="54864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PORT → server connects in</a:t>
            </a:r>
            <a:endParaRPr lang="en-US" sz="1100" dirty="0"/>
          </a:p>
        </p:txBody>
      </p:sp>
      <p:sp>
        <p:nvSpPr>
          <p:cNvPr id="9" name="box"/>
          <p:cNvSpPr/>
          <p:nvPr/>
        </p:nvSpPr>
        <p:spPr>
          <a:xfrm>
            <a:off x="7223760" y="2057400"/>
            <a:ext cx="2194560" cy="658368"/>
          </a:xfrm>
          <a:prstGeom prst="roundRect">
            <a:avLst>
              <a:gd name="adj" fmla="val 11111"/>
            </a:avLst>
          </a:prstGeom>
          <a:solidFill>
            <a:srgbClr val="2E7D4F"/>
          </a:solidFill>
          <a:ln w="12700">
            <a:solidFill>
              <a:srgbClr val="2E7D4F"/>
            </a:solidFill>
            <a:prstDash val="solid"/>
          </a:ln>
        </p:spPr>
      </p:sp>
      <p:sp>
        <p:nvSpPr>
          <p:cNvPr id="10" name="Text 7"/>
          <p:cNvSpPr txBox="1"/>
          <p:nvPr/>
        </p:nvSpPr>
        <p:spPr>
          <a:xfrm>
            <a:off x="7223760" y="2057400"/>
            <a:ext cx="2194560" cy="658368"/>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curl.exe</a:t>
            </a:r>
            <a:endParaRPr lang="en-US" sz="1200" dirty="0"/>
          </a:p>
        </p:txBody>
      </p:sp>
      <p:sp>
        <p:nvSpPr>
          <p:cNvPr id="11" name="Text 8"/>
          <p:cNvSpPr txBox="1"/>
          <p:nvPr/>
        </p:nvSpPr>
        <p:spPr>
          <a:xfrm>
            <a:off x="9509760" y="2167128"/>
            <a:ext cx="2103120" cy="54864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EPSV → client connects out</a:t>
            </a:r>
            <a:endParaRPr lang="en-US" sz="1100" dirty="0"/>
          </a:p>
        </p:txBody>
      </p:sp>
      <p:sp>
        <p:nvSpPr>
          <p:cNvPr id="12" name="box"/>
          <p:cNvSpPr/>
          <p:nvPr/>
        </p:nvSpPr>
        <p:spPr>
          <a:xfrm>
            <a:off x="7223760" y="2834640"/>
            <a:ext cx="2194560" cy="658368"/>
          </a:xfrm>
          <a:prstGeom prst="roundRect">
            <a:avLst>
              <a:gd name="adj" fmla="val 11111"/>
            </a:avLst>
          </a:prstGeom>
          <a:solidFill>
            <a:srgbClr val="B9772A"/>
          </a:solidFill>
          <a:ln w="12700">
            <a:solidFill>
              <a:srgbClr val="B9772A"/>
            </a:solidFill>
            <a:prstDash val="solid"/>
          </a:ln>
        </p:spPr>
      </p:sp>
      <p:sp>
        <p:nvSpPr>
          <p:cNvPr id="13" name="Text 10"/>
          <p:cNvSpPr txBox="1"/>
          <p:nvPr/>
        </p:nvSpPr>
        <p:spPr>
          <a:xfrm>
            <a:off x="7223760" y="2834640"/>
            <a:ext cx="2194560" cy="658368"/>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curl.exe --ftp-port -</a:t>
            </a:r>
            <a:endParaRPr lang="en-US" sz="1200" dirty="0"/>
          </a:p>
        </p:txBody>
      </p:sp>
      <p:sp>
        <p:nvSpPr>
          <p:cNvPr id="14" name="Text 11"/>
          <p:cNvSpPr txBox="1"/>
          <p:nvPr/>
        </p:nvSpPr>
        <p:spPr>
          <a:xfrm>
            <a:off x="9509760" y="2944368"/>
            <a:ext cx="2103120" cy="54864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EPRT/PORT → active</a:t>
            </a:r>
            <a:endParaRPr lang="en-US" sz="1100" dirty="0"/>
          </a:p>
        </p:txBody>
      </p:sp>
      <p:sp>
        <p:nvSpPr>
          <p:cNvPr id="15" name="box"/>
          <p:cNvSpPr/>
          <p:nvPr/>
        </p:nvSpPr>
        <p:spPr>
          <a:xfrm>
            <a:off x="548640" y="3840480"/>
            <a:ext cx="11064240" cy="731520"/>
          </a:xfrm>
          <a:prstGeom prst="roundRect">
            <a:avLst>
              <a:gd name="adj" fmla="val 10000"/>
            </a:avLst>
          </a:prstGeom>
          <a:solidFill>
            <a:srgbClr val="F3EAD7"/>
          </a:solidFill>
          <a:ln w="12700">
            <a:solidFill>
              <a:srgbClr val="F3EAD7"/>
            </a:solidFill>
            <a:prstDash val="solid"/>
          </a:ln>
        </p:spPr>
      </p:sp>
      <p:sp>
        <p:nvSpPr>
          <p:cNvPr id="16" name="Text 13"/>
          <p:cNvSpPr txBox="1"/>
          <p:nvPr/>
        </p:nvSpPr>
        <p:spPr>
          <a:xfrm>
            <a:off x="548640" y="3840480"/>
            <a:ext cx="11064240" cy="731520"/>
          </a:xfrm>
          <a:prstGeom prst="rect">
            <a:avLst/>
          </a:prstGeom>
          <a:noFill/>
          <a:ln/>
        </p:spPr>
        <p:txBody>
          <a:bodyPr wrap="square" lIns="635" tIns="635" rIns="635" bIns="635" rtlCol="0" anchor="ctr"/>
          <a:lstStyle/>
          <a:p>
            <a:pPr algn="ctr" indent="0" marL="0">
              <a:buNone/>
            </a:pPr>
            <a:r>
              <a:rPr lang="en-US" sz="1300" dirty="0">
                <a:solidFill>
                  <a:srgbClr val="1B2430"/>
                </a:solidFill>
              </a:rPr>
              <a:t>The firewall prompt for ftp.exe </a:t>
            </a:r>
            <a:r>
              <a:rPr lang="en-US" sz="1300" b="1" dirty="0">
                <a:solidFill>
                  <a:srgbClr val="1B2430"/>
                </a:solidFill>
              </a:rPr>
              <a:t>is</a:t>
            </a:r>
            <a:r>
              <a:rPr lang="en-US" sz="1300" dirty="0">
                <a:solidFill>
                  <a:srgbClr val="1B2430"/>
                </a:solidFill>
              </a:rPr>
              <a:t> the active-mode problem of Lecture 4: an incoming connection to the client.</a:t>
            </a:r>
            <a:endParaRPr lang="en-US" sz="1300" dirty="0"/>
          </a:p>
        </p:txBody>
      </p:sp>
      <p:sp>
        <p:nvSpPr>
          <p:cNvPr id="17" name="Shape 14"/>
          <p:cNvSpPr/>
          <p:nvPr/>
        </p:nvSpPr>
        <p:spPr>
          <a:xfrm>
            <a:off x="548640" y="4773168"/>
            <a:ext cx="384048" cy="384048"/>
          </a:xfrm>
          <a:prstGeom prst="ellipse">
            <a:avLst/>
          </a:prstGeom>
          <a:solidFill>
            <a:srgbClr val="B9772A"/>
          </a:solidFill>
          <a:ln w="12700">
            <a:solidFill>
              <a:srgbClr val="B9772A"/>
            </a:solidFill>
            <a:prstDash val="solid"/>
          </a:ln>
        </p:spPr>
      </p:sp>
      <p:sp>
        <p:nvSpPr>
          <p:cNvPr id="18" name="Text 15"/>
          <p:cNvSpPr txBox="1"/>
          <p:nvPr/>
        </p:nvSpPr>
        <p:spPr>
          <a:xfrm>
            <a:off x="548640" y="4773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9" name="Text 16"/>
          <p:cNvSpPr txBox="1"/>
          <p:nvPr/>
        </p:nvSpPr>
        <p:spPr>
          <a:xfrm>
            <a:off x="1051560" y="4754880"/>
            <a:ext cx="10561320" cy="8229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Q11–Q12 · Compute the PORT and EPSV ports; netstat -ano | findstr 2121 shows control and data connections.</a:t>
            </a:r>
            <a:endParaRPr lang="en-US" sz="1200" dirty="0"/>
          </a:p>
        </p:txBody>
      </p:sp>
      <p:sp>
        <p:nvSpPr>
          <p:cNvPr id="2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1" name="Text 1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Same server, two clients, two modes — and only the passive one survives a NAT router.</a:t>
            </a:r>
            <a:endParaRPr lang="en-US" sz="1400" dirty="0"/>
          </a:p>
        </p:txBody>
      </p:sp>
      <p:sp>
        <p:nvSpPr>
          <p:cNvPr id="22" name="Text 19"/>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EPSV (extended passive) · EPRT (extended port) · NAT (network address translation)</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7 · The FTP client with Winsock</a:t>
            </a:r>
            <a:endParaRPr lang="en-US" sz="3000" dirty="0"/>
          </a:p>
        </p:txBody>
      </p:sp>
      <p:sp>
        <p:nvSpPr>
          <p:cNvPr id="4" name="Text 1"/>
          <p:cNvSpPr txBox="1"/>
          <p:nvPr/>
        </p:nvSpPr>
        <p:spPr>
          <a:xfrm>
            <a:off x="548640" y="1188720"/>
            <a:ext cx="4572000" cy="365760"/>
          </a:xfrm>
          <a:prstGeom prst="rect">
            <a:avLst/>
          </a:prstGeom>
          <a:noFill/>
          <a:ln/>
        </p:spPr>
        <p:txBody>
          <a:bodyPr wrap="square" lIns="0" tIns="0" rIns="0" bIns="0" rtlCol="0" anchor="t"/>
          <a:lstStyle/>
          <a:p>
            <a:pPr algn="l" indent="0" marL="0">
              <a:spcAft>
                <a:spcPts val="400"/>
              </a:spcAft>
              <a:buNone/>
            </a:pPr>
            <a:r>
              <a:rPr lang="en-US" sz="1400" b="1" dirty="0">
                <a:solidFill>
                  <a:srgbClr val="1F3A5F"/>
                </a:solidFill>
              </a:rPr>
              <a:t>Linux</a:t>
            </a:r>
            <a:endParaRPr lang="en-US" sz="1400" dirty="0"/>
          </a:p>
        </p:txBody>
      </p:sp>
      <p:sp>
        <p:nvSpPr>
          <p:cNvPr id="5" name="Text 2"/>
          <p:cNvSpPr txBox="1"/>
          <p:nvPr/>
        </p:nvSpPr>
        <p:spPr>
          <a:xfrm>
            <a:off x="6583680" y="1188720"/>
            <a:ext cx="4572000" cy="365760"/>
          </a:xfrm>
          <a:prstGeom prst="rect">
            <a:avLst/>
          </a:prstGeom>
          <a:noFill/>
          <a:ln/>
        </p:spPr>
        <p:txBody>
          <a:bodyPr wrap="square" lIns="0" tIns="0" rIns="0" bIns="0" rtlCol="0" anchor="t"/>
          <a:lstStyle/>
          <a:p>
            <a:pPr algn="l" indent="0" marL="0">
              <a:spcAft>
                <a:spcPts val="400"/>
              </a:spcAft>
              <a:buNone/>
            </a:pPr>
            <a:r>
              <a:rPr lang="en-US" sz="1400" b="1" dirty="0">
                <a:solidFill>
                  <a:srgbClr val="1F3A5F"/>
                </a:solidFill>
              </a:rPr>
              <a:t>Windows</a:t>
            </a:r>
            <a:endParaRPr lang="en-US" sz="1400" dirty="0"/>
          </a:p>
        </p:txBody>
      </p:sp>
      <p:sp>
        <p:nvSpPr>
          <p:cNvPr id="6" name="box"/>
          <p:cNvSpPr/>
          <p:nvPr/>
        </p:nvSpPr>
        <p:spPr>
          <a:xfrm>
            <a:off x="548640" y="1600200"/>
            <a:ext cx="4937760" cy="457200"/>
          </a:xfrm>
          <a:prstGeom prst="roundRect">
            <a:avLst>
              <a:gd name="adj" fmla="val 16000"/>
            </a:avLst>
          </a:prstGeom>
          <a:solidFill>
            <a:srgbClr val="EEF2F6"/>
          </a:solidFill>
          <a:ln w="12700">
            <a:solidFill>
              <a:srgbClr val="EEF2F6"/>
            </a:solidFill>
            <a:prstDash val="solid"/>
          </a:ln>
        </p:spPr>
      </p:sp>
      <p:sp>
        <p:nvSpPr>
          <p:cNvPr id="7" name="Text 4"/>
          <p:cNvSpPr txBox="1"/>
          <p:nvPr/>
        </p:nvSpPr>
        <p:spPr>
          <a:xfrm>
            <a:off x="548640" y="1600200"/>
            <a:ext cx="493776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(nothing)</a:t>
            </a:r>
            <a:endParaRPr lang="en-US" sz="1200" dirty="0"/>
          </a:p>
        </p:txBody>
      </p:sp>
      <p:sp>
        <p:nvSpPr>
          <p:cNvPr id="8" name="Shape 5"/>
          <p:cNvSpPr/>
          <p:nvPr/>
        </p:nvSpPr>
        <p:spPr>
          <a:xfrm>
            <a:off x="5486400" y="1828800"/>
            <a:ext cx="1097280" cy="914"/>
          </a:xfrm>
          <a:prstGeom prst="line">
            <a:avLst/>
          </a:prstGeom>
          <a:noFill/>
          <a:ln w="22225">
            <a:solidFill>
              <a:srgbClr val="B9772A"/>
            </a:solidFill>
            <a:prstDash val="solid"/>
            <a:tailEnd type="triangle"/>
          </a:ln>
        </p:spPr>
      </p:sp>
      <p:sp>
        <p:nvSpPr>
          <p:cNvPr id="9" name="box"/>
          <p:cNvSpPr/>
          <p:nvPr/>
        </p:nvSpPr>
        <p:spPr>
          <a:xfrm>
            <a:off x="6583680" y="1600200"/>
            <a:ext cx="5029200" cy="457200"/>
          </a:xfrm>
          <a:prstGeom prst="roundRect">
            <a:avLst>
              <a:gd name="adj" fmla="val 16000"/>
            </a:avLst>
          </a:prstGeom>
          <a:solidFill>
            <a:srgbClr val="DDF0F2"/>
          </a:solidFill>
          <a:ln w="12700">
            <a:solidFill>
              <a:srgbClr val="DDF0F2"/>
            </a:solidFill>
            <a:prstDash val="solid"/>
          </a:ln>
        </p:spPr>
      </p:sp>
      <p:sp>
        <p:nvSpPr>
          <p:cNvPr id="10" name="Text 7"/>
          <p:cNvSpPr txBox="1"/>
          <p:nvPr/>
        </p:nvSpPr>
        <p:spPr>
          <a:xfrm>
            <a:off x="6583680" y="1600200"/>
            <a:ext cx="502920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WSAStartup / WSACleanup</a:t>
            </a:r>
            <a:endParaRPr lang="en-US" sz="1200" dirty="0"/>
          </a:p>
        </p:txBody>
      </p:sp>
      <p:sp>
        <p:nvSpPr>
          <p:cNvPr id="11" name="box"/>
          <p:cNvSpPr/>
          <p:nvPr/>
        </p:nvSpPr>
        <p:spPr>
          <a:xfrm>
            <a:off x="548640" y="2148840"/>
            <a:ext cx="4937760" cy="457200"/>
          </a:xfrm>
          <a:prstGeom prst="roundRect">
            <a:avLst>
              <a:gd name="adj" fmla="val 16000"/>
            </a:avLst>
          </a:prstGeom>
          <a:solidFill>
            <a:srgbClr val="EEF2F6"/>
          </a:solidFill>
          <a:ln w="12700">
            <a:solidFill>
              <a:srgbClr val="EEF2F6"/>
            </a:solidFill>
            <a:prstDash val="solid"/>
          </a:ln>
        </p:spPr>
      </p:sp>
      <p:sp>
        <p:nvSpPr>
          <p:cNvPr id="12" name="Text 9"/>
          <p:cNvSpPr txBox="1"/>
          <p:nvPr/>
        </p:nvSpPr>
        <p:spPr>
          <a:xfrm>
            <a:off x="548640" y="2148840"/>
            <a:ext cx="493776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int fd</a:t>
            </a:r>
            <a:endParaRPr lang="en-US" sz="1200" dirty="0"/>
          </a:p>
        </p:txBody>
      </p:sp>
      <p:sp>
        <p:nvSpPr>
          <p:cNvPr id="13" name="Shape 10"/>
          <p:cNvSpPr/>
          <p:nvPr/>
        </p:nvSpPr>
        <p:spPr>
          <a:xfrm>
            <a:off x="5486400" y="2377440"/>
            <a:ext cx="1097280" cy="914"/>
          </a:xfrm>
          <a:prstGeom prst="line">
            <a:avLst/>
          </a:prstGeom>
          <a:noFill/>
          <a:ln w="22225">
            <a:solidFill>
              <a:srgbClr val="B9772A"/>
            </a:solidFill>
            <a:prstDash val="solid"/>
            <a:tailEnd type="triangle"/>
          </a:ln>
        </p:spPr>
      </p:sp>
      <p:sp>
        <p:nvSpPr>
          <p:cNvPr id="14" name="box"/>
          <p:cNvSpPr/>
          <p:nvPr/>
        </p:nvSpPr>
        <p:spPr>
          <a:xfrm>
            <a:off x="6583680" y="2148840"/>
            <a:ext cx="5029200" cy="457200"/>
          </a:xfrm>
          <a:prstGeom prst="roundRect">
            <a:avLst>
              <a:gd name="adj" fmla="val 16000"/>
            </a:avLst>
          </a:prstGeom>
          <a:solidFill>
            <a:srgbClr val="DDF0F2"/>
          </a:solidFill>
          <a:ln w="12700">
            <a:solidFill>
              <a:srgbClr val="DDF0F2"/>
            </a:solidFill>
            <a:prstDash val="solid"/>
          </a:ln>
        </p:spPr>
      </p:sp>
      <p:sp>
        <p:nvSpPr>
          <p:cNvPr id="15" name="Text 12"/>
          <p:cNvSpPr txBox="1"/>
          <p:nvPr/>
        </p:nvSpPr>
        <p:spPr>
          <a:xfrm>
            <a:off x="6583680" y="2148840"/>
            <a:ext cx="502920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SOCKET</a:t>
            </a:r>
            <a:endParaRPr lang="en-US" sz="1200" dirty="0"/>
          </a:p>
        </p:txBody>
      </p:sp>
      <p:sp>
        <p:nvSpPr>
          <p:cNvPr id="16" name="box"/>
          <p:cNvSpPr/>
          <p:nvPr/>
        </p:nvSpPr>
        <p:spPr>
          <a:xfrm>
            <a:off x="548640" y="2697480"/>
            <a:ext cx="4937760" cy="457200"/>
          </a:xfrm>
          <a:prstGeom prst="roundRect">
            <a:avLst>
              <a:gd name="adj" fmla="val 16000"/>
            </a:avLst>
          </a:prstGeom>
          <a:solidFill>
            <a:srgbClr val="EEF2F6"/>
          </a:solidFill>
          <a:ln w="12700">
            <a:solidFill>
              <a:srgbClr val="EEF2F6"/>
            </a:solidFill>
            <a:prstDash val="solid"/>
          </a:ln>
        </p:spPr>
      </p:sp>
      <p:sp>
        <p:nvSpPr>
          <p:cNvPr id="17" name="Text 14"/>
          <p:cNvSpPr txBox="1"/>
          <p:nvPr/>
        </p:nvSpPr>
        <p:spPr>
          <a:xfrm>
            <a:off x="548640" y="2697480"/>
            <a:ext cx="493776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close(fd)</a:t>
            </a:r>
            <a:endParaRPr lang="en-US" sz="1200" dirty="0"/>
          </a:p>
        </p:txBody>
      </p:sp>
      <p:sp>
        <p:nvSpPr>
          <p:cNvPr id="18" name="Shape 15"/>
          <p:cNvSpPr/>
          <p:nvPr/>
        </p:nvSpPr>
        <p:spPr>
          <a:xfrm>
            <a:off x="5486400" y="2926080"/>
            <a:ext cx="1097280" cy="914"/>
          </a:xfrm>
          <a:prstGeom prst="line">
            <a:avLst/>
          </a:prstGeom>
          <a:noFill/>
          <a:ln w="22225">
            <a:solidFill>
              <a:srgbClr val="B9772A"/>
            </a:solidFill>
            <a:prstDash val="solid"/>
            <a:tailEnd type="triangle"/>
          </a:ln>
        </p:spPr>
      </p:sp>
      <p:sp>
        <p:nvSpPr>
          <p:cNvPr id="19" name="box"/>
          <p:cNvSpPr/>
          <p:nvPr/>
        </p:nvSpPr>
        <p:spPr>
          <a:xfrm>
            <a:off x="6583680" y="2697480"/>
            <a:ext cx="5029200" cy="457200"/>
          </a:xfrm>
          <a:prstGeom prst="roundRect">
            <a:avLst>
              <a:gd name="adj" fmla="val 16000"/>
            </a:avLst>
          </a:prstGeom>
          <a:solidFill>
            <a:srgbClr val="DDF0F2"/>
          </a:solidFill>
          <a:ln w="12700">
            <a:solidFill>
              <a:srgbClr val="DDF0F2"/>
            </a:solidFill>
            <a:prstDash val="solid"/>
          </a:ln>
        </p:spPr>
      </p:sp>
      <p:sp>
        <p:nvSpPr>
          <p:cNvPr id="20" name="Text 17"/>
          <p:cNvSpPr txBox="1"/>
          <p:nvPr/>
        </p:nvSpPr>
        <p:spPr>
          <a:xfrm>
            <a:off x="6583680" y="2697480"/>
            <a:ext cx="502920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closesocket(s)</a:t>
            </a:r>
            <a:endParaRPr lang="en-US" sz="1200" dirty="0"/>
          </a:p>
        </p:txBody>
      </p:sp>
      <p:sp>
        <p:nvSpPr>
          <p:cNvPr id="21" name="box"/>
          <p:cNvSpPr/>
          <p:nvPr/>
        </p:nvSpPr>
        <p:spPr>
          <a:xfrm>
            <a:off x="548640" y="3246120"/>
            <a:ext cx="4937760" cy="457200"/>
          </a:xfrm>
          <a:prstGeom prst="roundRect">
            <a:avLst>
              <a:gd name="adj" fmla="val 16000"/>
            </a:avLst>
          </a:prstGeom>
          <a:solidFill>
            <a:srgbClr val="EEF2F6"/>
          </a:solidFill>
          <a:ln w="12700">
            <a:solidFill>
              <a:srgbClr val="EEF2F6"/>
            </a:solidFill>
            <a:prstDash val="solid"/>
          </a:ln>
        </p:spPr>
      </p:sp>
      <p:sp>
        <p:nvSpPr>
          <p:cNvPr id="22" name="Text 19"/>
          <p:cNvSpPr txBox="1"/>
          <p:nvPr/>
        </p:nvSpPr>
        <p:spPr>
          <a:xfrm>
            <a:off x="548640" y="3246120"/>
            <a:ext cx="493776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errno</a:t>
            </a:r>
            <a:endParaRPr lang="en-US" sz="1200" dirty="0"/>
          </a:p>
        </p:txBody>
      </p:sp>
      <p:sp>
        <p:nvSpPr>
          <p:cNvPr id="23" name="Shape 20"/>
          <p:cNvSpPr/>
          <p:nvPr/>
        </p:nvSpPr>
        <p:spPr>
          <a:xfrm>
            <a:off x="5486400" y="3474720"/>
            <a:ext cx="1097280" cy="914"/>
          </a:xfrm>
          <a:prstGeom prst="line">
            <a:avLst/>
          </a:prstGeom>
          <a:noFill/>
          <a:ln w="22225">
            <a:solidFill>
              <a:srgbClr val="B9772A"/>
            </a:solidFill>
            <a:prstDash val="solid"/>
            <a:tailEnd type="triangle"/>
          </a:ln>
        </p:spPr>
      </p:sp>
      <p:sp>
        <p:nvSpPr>
          <p:cNvPr id="24" name="box"/>
          <p:cNvSpPr/>
          <p:nvPr/>
        </p:nvSpPr>
        <p:spPr>
          <a:xfrm>
            <a:off x="6583680" y="3246120"/>
            <a:ext cx="5029200" cy="457200"/>
          </a:xfrm>
          <a:prstGeom prst="roundRect">
            <a:avLst>
              <a:gd name="adj" fmla="val 16000"/>
            </a:avLst>
          </a:prstGeom>
          <a:solidFill>
            <a:srgbClr val="DDF0F2"/>
          </a:solidFill>
          <a:ln w="12700">
            <a:solidFill>
              <a:srgbClr val="DDF0F2"/>
            </a:solidFill>
            <a:prstDash val="solid"/>
          </a:ln>
        </p:spPr>
      </p:sp>
      <p:sp>
        <p:nvSpPr>
          <p:cNvPr id="25" name="Text 22"/>
          <p:cNvSpPr txBox="1"/>
          <p:nvPr/>
        </p:nvSpPr>
        <p:spPr>
          <a:xfrm>
            <a:off x="6583680" y="3246120"/>
            <a:ext cx="502920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WSAGetLastError()</a:t>
            </a:r>
            <a:endParaRPr lang="en-US" sz="1200" dirty="0"/>
          </a:p>
        </p:txBody>
      </p:sp>
      <p:sp>
        <p:nvSpPr>
          <p:cNvPr id="26" name="box"/>
          <p:cNvSpPr/>
          <p:nvPr/>
        </p:nvSpPr>
        <p:spPr>
          <a:xfrm>
            <a:off x="548640" y="3794760"/>
            <a:ext cx="4937760" cy="457200"/>
          </a:xfrm>
          <a:prstGeom prst="roundRect">
            <a:avLst>
              <a:gd name="adj" fmla="val 16000"/>
            </a:avLst>
          </a:prstGeom>
          <a:solidFill>
            <a:srgbClr val="EEF2F6"/>
          </a:solidFill>
          <a:ln w="12700">
            <a:solidFill>
              <a:srgbClr val="EEF2F6"/>
            </a:solidFill>
            <a:prstDash val="solid"/>
          </a:ln>
        </p:spPr>
      </p:sp>
      <p:sp>
        <p:nvSpPr>
          <p:cNvPr id="27" name="Text 24"/>
          <p:cNvSpPr txBox="1"/>
          <p:nvPr/>
        </p:nvSpPr>
        <p:spPr>
          <a:xfrm>
            <a:off x="548640" y="3794760"/>
            <a:ext cx="493776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gcc … </a:t>
            </a:r>
            <a:endParaRPr lang="en-US" sz="1200" dirty="0"/>
          </a:p>
        </p:txBody>
      </p:sp>
      <p:sp>
        <p:nvSpPr>
          <p:cNvPr id="28" name="Shape 25"/>
          <p:cNvSpPr/>
          <p:nvPr/>
        </p:nvSpPr>
        <p:spPr>
          <a:xfrm>
            <a:off x="5486400" y="4023360"/>
            <a:ext cx="1097280" cy="914"/>
          </a:xfrm>
          <a:prstGeom prst="line">
            <a:avLst/>
          </a:prstGeom>
          <a:noFill/>
          <a:ln w="22225">
            <a:solidFill>
              <a:srgbClr val="B9772A"/>
            </a:solidFill>
            <a:prstDash val="solid"/>
            <a:tailEnd type="triangle"/>
          </a:ln>
        </p:spPr>
      </p:sp>
      <p:sp>
        <p:nvSpPr>
          <p:cNvPr id="29" name="box"/>
          <p:cNvSpPr/>
          <p:nvPr/>
        </p:nvSpPr>
        <p:spPr>
          <a:xfrm>
            <a:off x="6583680" y="3794760"/>
            <a:ext cx="5029200" cy="457200"/>
          </a:xfrm>
          <a:prstGeom prst="roundRect">
            <a:avLst>
              <a:gd name="adj" fmla="val 16000"/>
            </a:avLst>
          </a:prstGeom>
          <a:solidFill>
            <a:srgbClr val="DDF0F2"/>
          </a:solidFill>
          <a:ln w="12700">
            <a:solidFill>
              <a:srgbClr val="DDF0F2"/>
            </a:solidFill>
            <a:prstDash val="solid"/>
          </a:ln>
        </p:spPr>
      </p:sp>
      <p:sp>
        <p:nvSpPr>
          <p:cNvPr id="30" name="Text 27"/>
          <p:cNvSpPr txBox="1"/>
          <p:nvPr/>
        </p:nvSpPr>
        <p:spPr>
          <a:xfrm>
            <a:off x="6583680" y="3794760"/>
            <a:ext cx="502920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gcc … -lws2_32  ·  cl … ws2_32.lib</a:t>
            </a:r>
            <a:endParaRPr lang="en-US" sz="1200" dirty="0"/>
          </a:p>
        </p:txBody>
      </p:sp>
      <p:sp>
        <p:nvSpPr>
          <p:cNvPr id="31" name="code"/>
          <p:cNvSpPr/>
          <p:nvPr/>
        </p:nvSpPr>
        <p:spPr>
          <a:xfrm>
            <a:off x="548640" y="4480560"/>
            <a:ext cx="11064240" cy="1097280"/>
          </a:xfrm>
          <a:prstGeom prst="rect">
            <a:avLst/>
          </a:prstGeom>
          <a:solidFill>
            <a:srgbClr val="1E2A38"/>
          </a:solidFill>
          <a:ln w="12700">
            <a:solidFill>
              <a:srgbClr val="1E2A38"/>
            </a:solidFill>
            <a:prstDash val="solid"/>
          </a:ln>
        </p:spPr>
      </p:sp>
      <p:sp>
        <p:nvSpPr>
          <p:cNvPr id="32" name="Text 29"/>
          <p:cNvSpPr txBox="1"/>
          <p:nvPr/>
        </p:nvSpPr>
        <p:spPr>
          <a:xfrm>
            <a:off x="548640" y="4480560"/>
            <a:ext cx="11064240" cy="109728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.\ftp_client_win.exe 127.0.0.1 2121 student secret get web_server.py</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fc.exe /b web_server.py $HOME\ftproot\web_server.py</a:t>
            </a:r>
            <a:endParaRPr lang="en-US" sz="1200" dirty="0"/>
          </a:p>
        </p:txBody>
      </p:sp>
      <p:sp>
        <p:nvSpPr>
          <p:cNvPr id="33"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4" name="Text 31"/>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Q13–Q16 · FEAT, the 226 after close, EPSV and put: the same extensions as on Linux.</a:t>
            </a:r>
            <a:endParaRPr lang="en-US" sz="1400" dirty="0"/>
          </a:p>
        </p:txBody>
      </p:sp>
      <p:sp>
        <p:nvSpPr>
          <p:cNvPr id="35" name="Text 32"/>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WSAGetLastError (last Windows Sockets error) · WSAStartup (starts Windows Sockets) · WSACleanup (stops Windows Sockets) · EPSV (extended passive) · FEAT (list features) · FTP (File Transfer Protocol) · fd (file descriptor)</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Next week</a:t>
            </a:r>
            <a:endParaRPr lang="en-US" sz="3000" dirty="0"/>
          </a:p>
        </p:txBody>
      </p:sp>
      <p:sp>
        <p:nvSpPr>
          <p:cNvPr id="4" name="box"/>
          <p:cNvSpPr/>
          <p:nvPr/>
        </p:nvSpPr>
        <p:spPr>
          <a:xfrm>
            <a:off x="548640" y="1645920"/>
            <a:ext cx="3566160" cy="3108960"/>
          </a:xfrm>
          <a:prstGeom prst="roundRect">
            <a:avLst>
              <a:gd name="adj" fmla="val 2353"/>
            </a:avLst>
          </a:prstGeom>
          <a:solidFill>
            <a:srgbClr val="1F3A5F"/>
          </a:solidFill>
          <a:ln w="12700">
            <a:solidFill>
              <a:srgbClr val="1F3A5F"/>
            </a:solidFill>
            <a:prstDash val="solid"/>
          </a:ln>
        </p:spPr>
      </p:sp>
      <p:sp>
        <p:nvSpPr>
          <p:cNvPr id="5" name="Text 2"/>
          <p:cNvSpPr txBox="1"/>
          <p:nvPr/>
        </p:nvSpPr>
        <p:spPr>
          <a:xfrm>
            <a:off x="548640" y="1645920"/>
            <a:ext cx="3566160" cy="3108960"/>
          </a:xfrm>
          <a:prstGeom prst="rect">
            <a:avLst/>
          </a:prstGeom>
          <a:noFill/>
          <a:ln/>
        </p:spPr>
        <p:txBody>
          <a:bodyPr wrap="square" lIns="152400" tIns="152400" rIns="152400" bIns="152400" rtlCol="0" anchor="t"/>
          <a:lstStyle/>
          <a:p>
            <a:pPr algn="ctr" indent="0" marL="0">
              <a:spcAft>
                <a:spcPts val="800"/>
              </a:spcAft>
              <a:buNone/>
            </a:pPr>
            <a:r>
              <a:rPr lang="en-US" sz="1400" b="1" dirty="0">
                <a:solidFill>
                  <a:srgbClr val="FFFFFF"/>
                </a:solidFill>
              </a:rPr>
              <a:t>Lecture 5</a:t>
            </a:r>
            <a:endParaRPr lang="en-US" sz="1400" dirty="0"/>
          </a:p>
          <a:p>
            <a:pPr algn="ctr" indent="0" marL="0">
              <a:spcAft>
                <a:spcPts val="800"/>
              </a:spcAft>
              <a:buNone/>
            </a:pPr>
            <a:r>
              <a:rPr lang="en-US" sz="1400" dirty="0">
                <a:solidFill>
                  <a:srgbClr val="FFFFFF"/>
                </a:solidFill>
              </a:rPr>
              <a:t>SMTP · message format and MIME · POP3 and IMAP · SPF, DKIM, DMARC · Usenet and NNTP · DNS: hierarchy, resolution, records, messages · NAT</a:t>
            </a:r>
            <a:endParaRPr lang="en-US" sz="1400" dirty="0"/>
          </a:p>
        </p:txBody>
      </p:sp>
      <p:sp>
        <p:nvSpPr>
          <p:cNvPr id="6" name="Shape 3"/>
          <p:cNvSpPr/>
          <p:nvPr/>
        </p:nvSpPr>
        <p:spPr>
          <a:xfrm>
            <a:off x="4114800" y="3200400"/>
            <a:ext cx="182880" cy="914"/>
          </a:xfrm>
          <a:prstGeom prst="line">
            <a:avLst/>
          </a:prstGeom>
          <a:noFill/>
          <a:ln w="22225">
            <a:solidFill>
              <a:srgbClr val="9AA5AE"/>
            </a:solidFill>
            <a:prstDash val="solid"/>
            <a:tailEnd type="triangle"/>
          </a:ln>
        </p:spPr>
      </p:sp>
      <p:sp>
        <p:nvSpPr>
          <p:cNvPr id="7" name="box"/>
          <p:cNvSpPr/>
          <p:nvPr/>
        </p:nvSpPr>
        <p:spPr>
          <a:xfrm>
            <a:off x="4297680" y="1645920"/>
            <a:ext cx="3566160" cy="3108960"/>
          </a:xfrm>
          <a:prstGeom prst="roundRect">
            <a:avLst>
              <a:gd name="adj" fmla="val 2353"/>
            </a:avLst>
          </a:prstGeom>
          <a:solidFill>
            <a:srgbClr val="EEF2F6"/>
          </a:solidFill>
          <a:ln w="12700">
            <a:solidFill>
              <a:srgbClr val="EEF2F6"/>
            </a:solidFill>
            <a:prstDash val="solid"/>
          </a:ln>
        </p:spPr>
      </p:sp>
      <p:sp>
        <p:nvSpPr>
          <p:cNvPr id="8" name="Text 5"/>
          <p:cNvSpPr txBox="1"/>
          <p:nvPr/>
        </p:nvSpPr>
        <p:spPr>
          <a:xfrm>
            <a:off x="4297680" y="1645920"/>
            <a:ext cx="3566160" cy="3108960"/>
          </a:xfrm>
          <a:prstGeom prst="rect">
            <a:avLst/>
          </a:prstGeom>
          <a:noFill/>
          <a:ln/>
        </p:spPr>
        <p:txBody>
          <a:bodyPr wrap="square" lIns="152400" tIns="152400" rIns="152400" bIns="152400" rtlCol="0" anchor="t"/>
          <a:lstStyle/>
          <a:p>
            <a:pPr algn="ctr" indent="0" marL="0">
              <a:spcAft>
                <a:spcPts val="800"/>
              </a:spcAft>
              <a:buNone/>
            </a:pPr>
            <a:r>
              <a:rPr lang="en-US" sz="1400" b="1" dirty="0">
                <a:solidFill>
                  <a:srgbClr val="1B2430"/>
                </a:solidFill>
              </a:rPr>
              <a:t>Seminar 5</a:t>
            </a:r>
            <a:endParaRPr lang="en-US" sz="1400" dirty="0"/>
          </a:p>
          <a:p>
            <a:pPr algn="ctr" indent="0" marL="0">
              <a:spcAft>
                <a:spcPts val="800"/>
              </a:spcAft>
              <a:buNone/>
            </a:pPr>
            <a:r>
              <a:rPr lang="en-US" sz="1400" dirty="0">
                <a:solidFill>
                  <a:srgbClr val="1B2430"/>
                </a:solidFill>
              </a:rPr>
              <a:t>SMTP and IMAP transcripts · base64 sizes · flooding news · DNS timing and a hex dump · NAT tables</a:t>
            </a:r>
            <a:endParaRPr lang="en-US" sz="1400" dirty="0"/>
          </a:p>
        </p:txBody>
      </p:sp>
      <p:sp>
        <p:nvSpPr>
          <p:cNvPr id="9" name="Shape 6"/>
          <p:cNvSpPr/>
          <p:nvPr/>
        </p:nvSpPr>
        <p:spPr>
          <a:xfrm>
            <a:off x="7863840" y="3200400"/>
            <a:ext cx="182880" cy="914"/>
          </a:xfrm>
          <a:prstGeom prst="line">
            <a:avLst/>
          </a:prstGeom>
          <a:noFill/>
          <a:ln w="22225">
            <a:solidFill>
              <a:srgbClr val="9AA5AE"/>
            </a:solidFill>
            <a:prstDash val="solid"/>
            <a:tailEnd type="triangle"/>
          </a:ln>
        </p:spPr>
      </p:sp>
      <p:sp>
        <p:nvSpPr>
          <p:cNvPr id="10" name="box"/>
          <p:cNvSpPr/>
          <p:nvPr/>
        </p:nvSpPr>
        <p:spPr>
          <a:xfrm>
            <a:off x="8046720" y="1645920"/>
            <a:ext cx="3566160" cy="3108960"/>
          </a:xfrm>
          <a:prstGeom prst="roundRect">
            <a:avLst>
              <a:gd name="adj" fmla="val 2353"/>
            </a:avLst>
          </a:prstGeom>
          <a:solidFill>
            <a:srgbClr val="EEF2F6"/>
          </a:solidFill>
          <a:ln w="12700">
            <a:solidFill>
              <a:srgbClr val="EEF2F6"/>
            </a:solidFill>
            <a:prstDash val="solid"/>
          </a:ln>
        </p:spPr>
      </p:sp>
      <p:sp>
        <p:nvSpPr>
          <p:cNvPr id="11" name="Text 8"/>
          <p:cNvSpPr txBox="1"/>
          <p:nvPr/>
        </p:nvSpPr>
        <p:spPr>
          <a:xfrm>
            <a:off x="8046720" y="1645920"/>
            <a:ext cx="3566160" cy="3108960"/>
          </a:xfrm>
          <a:prstGeom prst="rect">
            <a:avLst/>
          </a:prstGeom>
          <a:noFill/>
          <a:ln/>
        </p:spPr>
        <p:txBody>
          <a:bodyPr wrap="square" lIns="152400" tIns="152400" rIns="152400" bIns="152400" rtlCol="0" anchor="t"/>
          <a:lstStyle/>
          <a:p>
            <a:pPr algn="ctr" indent="0" marL="0">
              <a:spcAft>
                <a:spcPts val="800"/>
              </a:spcAft>
              <a:buNone/>
            </a:pPr>
            <a:r>
              <a:rPr lang="en-US" sz="1400" b="1" dirty="0">
                <a:solidFill>
                  <a:srgbClr val="1B2430"/>
                </a:solidFill>
              </a:rPr>
              <a:t>Laboratory 5</a:t>
            </a:r>
            <a:endParaRPr lang="en-US" sz="1400" dirty="0"/>
          </a:p>
          <a:p>
            <a:pPr algn="ctr" indent="0" marL="0">
              <a:spcAft>
                <a:spcPts val="800"/>
              </a:spcAft>
              <a:buNone/>
            </a:pPr>
            <a:r>
              <a:rPr lang="en-US" sz="1400" dirty="0">
                <a:solidFill>
                  <a:srgbClr val="1B2430"/>
                </a:solidFill>
              </a:rPr>
              <a:t>SMTP and POP3 by hand · dig · a DNS client over UDP · a NAT router of your own</a:t>
            </a:r>
            <a:endParaRPr lang="en-US" sz="1400" dirty="0"/>
          </a:p>
        </p:txBody>
      </p:sp>
      <p:sp>
        <p:nvSpPr>
          <p:cNvPr id="1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3" name="Text 1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Every protocol this week began with a name lookup — next week we open the DNS itself.</a:t>
            </a:r>
            <a:endParaRPr lang="en-US" sz="1400" dirty="0"/>
          </a:p>
        </p:txBody>
      </p:sp>
      <p:sp>
        <p:nvSpPr>
          <p:cNvPr id="14" name="Text 11"/>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SMTP (Simple Mail Transfer Protocol) · UDP (User Datagram Protocol) · DNS (Domain Name System) · NAT (network address translation)</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76</a:t>
            </a:fld>
            <a:endParaRPr lang="en-US"/>
          </a:p>
        </p:txBody>
      </p:sp>
    </p:spTree>
  </p:cSld>
  <p:clrMapOvr>
    <a:masterClrMapping/>
  </p:clrMapOvr>
</p:sld>
</file>

<file path=ppt/theme/theme1.xml><?xml version="1.0" encoding="utf-8"?>
<a:theme xmlns:a="http://schemas.openxmlformats.org/drawingml/2006/main" name="Computer Networks">
  <a:themeElements>
    <a:clrScheme name="Computer Networks">
      <a:dk1>
        <a:srgbClr val="1B2430"/>
      </a:dk1>
      <a:lt1>
        <a:srgbClr val="FFFFFF"/>
      </a:lt1>
      <a:dk2>
        <a:srgbClr val="1F3A5F"/>
      </a:dk2>
      <a:lt2>
        <a:srgbClr val="EEF2F6"/>
      </a:lt2>
      <a:accent1>
        <a:srgbClr val="2A7F8E"/>
      </a:accent1>
      <a:accent2>
        <a:srgbClr val="1F3A5F"/>
      </a:accent2>
      <a:accent3>
        <a:srgbClr val="B9772A"/>
      </a:accent3>
      <a:accent4>
        <a:srgbClr val="5B6770"/>
      </a:accent4>
      <a:accent5>
        <a:srgbClr val="DDF0F2"/>
      </a:accent5>
      <a:accent6>
        <a:srgbClr val="F3EAD7"/>
      </a:accent6>
      <a:hlink>
        <a:srgbClr val="2A7F8E"/>
      </a:hlink>
      <a:folHlink>
        <a:srgbClr val="5B6770"/>
      </a:folHlink>
    </a:clrScheme>
    <a:fontScheme name="Computer Network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 Week 4 in schemes</dc:title>
  <dc:subject>PptxGenJS Presentation</dc:subject>
  <dc:creator>Nicolaie Popescu-Bodorin</dc:creator>
  <cp:lastModifiedBy>Nicolaie Popescu-Bodorin</cp:lastModifiedBy>
  <cp:revision>1</cp:revision>
  <dcterms:created xsi:type="dcterms:W3CDTF">2026-10-26T10:13:01Z</dcterms:created>
  <dcterms:modified xsi:type="dcterms:W3CDTF">2026-10-26T10:13:01Z</dcterms:modified>
</cp:coreProperties>
</file>